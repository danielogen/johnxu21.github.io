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75875"/>
  </p:normalViewPr>
  <p:slideViewPr>
    <p:cSldViewPr snapToGrid="0" snapToObjects="1">
      <p:cViewPr varScale="1">
        <p:scale>
          <a:sx n="100" d="100"/>
          <a:sy n="100" d="100"/>
        </p:scale>
        <p:origin x="119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0302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generic prompt engineering project. The research question is about whether software evidence can reconstruct missing developer intent before code generation. Emphasize that C/S/V comes from our Prompt Quality study, and the downstream comparison comes from PatchTrack's ability to relate generated code to later PR code.
[Sources]
- Sserunjogi, Ogenrwot, and Businge. Prompt Quality and Pull Request Outcomes: A Stage-Based Empirical Study of LLM-Assisted Development.
- Ogenrwot and Businge. PatchTrack: A Comprehensive Analysis of ChatGPT's Influence on Pull Request Outcomes.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motivation in three steps. First, PatchTrack showed that developers rarely treat generated code as final. Second, Prompt Quality showed that what developers communicate in prompts has stage-dependent consequences. Third, Tokumasu et al. reminds us that prompt wording and organization affect generation, so the goal is not to dump everything into a longer prompt. The goal is selective, evidence-grounded reconstruction.
[Sources]
- Ogenrwot and Businge. PatchTrack: A Comprehensive Analysis of ChatGPT's Influence on Pull Request Outcomes.
- Sserunjogi, Ogenrwot, and Businge. Prompt Quality and Pull Request Outcomes.
- Tokumasu et al. A Study on the Impact of Natural Language Differences in Prompts on Automatic Code Generation Using LLMs.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prevent a common misunderstanding. We are not claiming the final implementation is the developer's true mental intent. We separate intent into explicit, latent/recoverable, and emergent. The planned system targets only latent/recoverable information that was available before the prompt. Emergent information explains why even a good reconstruction may still differ from the final code.
[Sources]
- Sserunjogi, Ogenrwot, and Businge. Prompt Quality and Pull Request Outcomes.
- Wang et al. Multi-Modal Requirements Data-based Acceptance Criteria Generation using LLMs.
- Arora, Herda, and Homm. Generating Test Scenarios from NL Requirements using Retrieval-Augmented LLMs.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alignment slide. Emphasize that RQ1 and RQ2 can support a short NIER-style paper because they establish the feasibility premise. RQ3 needs the full system and more data, so it is the bridge to a future TOSEM-scale paper.
[Sources]
- Sserunjogi, Ogenrwot, and Businge. Prompt Quality and Pull Request Outcomes.
- ICSE 2027 NIER call: forward-looking ideas with promising initial results and future plans.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students that this slide is a rule, not a suggestion. RQ1 and RQ2 cannot inspect anything created after the original prompt. Proj_post is useful, but only after Code_recon is generated and frozen. It helps explain why Code_recon still differs from Code_final. This prevents circular reasoning.
[Sources]
- Onboarding plan: temporal boundary and leakage safeguards.
- PatchTrack methodology motivates using the final implementation only as a held-out downstream outcome.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students through one example. If the original prompt says "fix this bug" but the issue specifies the expected behavior and the test contains the failing case, then the prompt is missing Specificity and Verification. RQ2 asks whether those missing pieces can be recovered from Proj_pre with evidence provenance.
[Sources]
- Sserunjogi, Ogenrwot, and Businge. Prompt Quality and Pull Request Outcomes.
- Wang et al. Requirements-Driven Automated Software Testing: A Systematic Review.
- Wang et al. Multi-Modal Requirements Data-based Acceptance Criteria Generation using LLMs.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RQ3 is the TOSEM-scale extension. We compare generated code from the original prompt with generated code from the reconstructed prompt against the historical final implementation. Only after that do we inspect Proj_post to explain what happened. This avoids using future information to build the reconstruction.
[Sources]
- Ogenrwot and Businge. PatchTrack: A Comprehensive Analysis of ChatGPT's Influence on Pull Request Outcomes.
- Tokumasu et al. A Study on the Impact of Natural Language Differences in Prompts on Automatic Code Generation Using LLMs.
- Khati et al. Detecting and Correcting Hallucinations in LLM-Generated Code via Deterministic AST Analysis.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moving from idea to action. The immediate work is not to build the full tool immediately. First we need a feasibility census and several carefully inspected cases. The NIER version should answer whether C/S/V information is missing and recoverable. The TOSEM version should build the automated system, expand the dataset, and test whether Code_recon moves closer to Code_final.
[Sources]
- Onboarding plan: two-stage roadmap for ICSE NIER feasibility study followed by TOSEM-scale extension.
- ICSE 2027 NIER call: future plans section and early evidence expectations.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594360" y="502920"/>
            <a:ext cx="8778240" cy="502920"/>
          </a:xfrm>
          <a:prstGeom prst="rect">
            <a:avLst/>
          </a:prstGeom>
          <a:noFill/>
          <a:ln/>
        </p:spPr>
        <p:txBody>
          <a:bodyPr wrap="square" lIns="0" tIns="0" rIns="0" bIns="0" rtlCol="0" anchor="ctr"/>
          <a:lstStyle/>
          <a:p>
            <a:pPr marL="0" indent="0">
              <a:buNone/>
            </a:pPr>
            <a:r>
              <a:rPr lang="en-US" sz="3100" b="1" dirty="0">
                <a:solidFill>
                  <a:srgbClr val="0B2559"/>
                </a:solidFill>
                <a:latin typeface="Aptos Display" pitchFamily="34" charset="0"/>
                <a:ea typeface="Aptos Display" pitchFamily="34" charset="-122"/>
                <a:cs typeface="Aptos Display" pitchFamily="34" charset="-120"/>
              </a:rPr>
              <a:t>Developer Intent Reconstruction</a:t>
            </a:r>
            <a:endParaRPr lang="en-US" sz="3100" dirty="0"/>
          </a:p>
        </p:txBody>
      </p:sp>
      <p:sp>
        <p:nvSpPr>
          <p:cNvPr id="3" name="Text 1"/>
          <p:cNvSpPr/>
          <p:nvPr/>
        </p:nvSpPr>
        <p:spPr>
          <a:xfrm>
            <a:off x="612648" y="1033272"/>
            <a:ext cx="8686800" cy="320040"/>
          </a:xfrm>
          <a:prstGeom prst="rect">
            <a:avLst/>
          </a:prstGeom>
          <a:noFill/>
          <a:ln/>
        </p:spPr>
        <p:txBody>
          <a:bodyPr wrap="square" lIns="0" tIns="0" rIns="0" bIns="0" rtlCol="0" anchor="ctr"/>
          <a:lstStyle/>
          <a:p>
            <a:pPr marL="0" indent="0">
              <a:buNone/>
            </a:pPr>
            <a:r>
              <a:rPr lang="en-US" sz="1500" dirty="0">
                <a:solidFill>
                  <a:srgbClr val="667085"/>
                </a:solidFill>
              </a:rPr>
              <a:t>Recovering missing Context, Specificity, and Verification from software evidence</a:t>
            </a:r>
            <a:endParaRPr lang="en-US" sz="1500" dirty="0"/>
          </a:p>
        </p:txBody>
      </p:sp>
      <p:sp>
        <p:nvSpPr>
          <p:cNvPr id="4" name="Text 2"/>
          <p:cNvSpPr/>
          <p:nvPr/>
        </p:nvSpPr>
        <p:spPr>
          <a:xfrm>
            <a:off x="804672" y="2057400"/>
            <a:ext cx="1645920" cy="1005840"/>
          </a:xfrm>
          <a:prstGeom prst="rect">
            <a:avLst/>
          </a:prstGeom>
          <a:solidFill>
            <a:srgbClr val="FFFFFF"/>
          </a:solidFill>
          <a:ln w="13970">
            <a:solidFill>
              <a:srgbClr val="0B2559"/>
            </a:solidFill>
          </a:ln>
          <a:effectLst>
            <a:outerShdw blurRad="25400" dist="12700" dir="2700000" algn="bl" rotWithShape="0">
              <a:srgbClr val="000000">
                <a:alpha val="12000"/>
              </a:srgbClr>
            </a:outerShdw>
          </a:effectLst>
        </p:spPr>
        <p:txBody>
          <a:bodyPr wrap="square" lIns="1270" tIns="1270" rIns="1270" bIns="1270" rtlCol="0" anchor="ctr">
            <a:normAutofit/>
          </a:bodyPr>
          <a:lstStyle/>
          <a:p>
            <a:pPr marL="0" indent="0" algn="ctr">
              <a:buNone/>
            </a:pPr>
            <a:r>
              <a:rPr lang="en-US" sz="1500" b="1" dirty="0">
                <a:solidFill>
                  <a:srgbClr val="0B2559"/>
                </a:solidFill>
              </a:rPr>
              <a:t>Original</a:t>
            </a:r>
            <a:endParaRPr lang="en-US" sz="1500" dirty="0"/>
          </a:p>
          <a:p>
            <a:pPr marL="0" indent="0" algn="ctr">
              <a:buNone/>
            </a:pPr>
            <a:r>
              <a:rPr lang="en-US" sz="1500" b="1" dirty="0">
                <a:solidFill>
                  <a:srgbClr val="0B2559"/>
                </a:solidFill>
              </a:rPr>
              <a:t>prompt</a:t>
            </a:r>
            <a:endParaRPr lang="en-US" sz="1500" dirty="0"/>
          </a:p>
        </p:txBody>
      </p:sp>
      <p:sp>
        <p:nvSpPr>
          <p:cNvPr id="5" name="Text 3"/>
          <p:cNvSpPr/>
          <p:nvPr/>
        </p:nvSpPr>
        <p:spPr>
          <a:xfrm>
            <a:off x="2971800" y="1947672"/>
            <a:ext cx="2148840" cy="1234440"/>
          </a:xfrm>
          <a:prstGeom prst="rect">
            <a:avLst/>
          </a:prstGeom>
          <a:solidFill>
            <a:srgbClr val="E6F6F4"/>
          </a:solidFill>
          <a:ln w="13970">
            <a:solidFill>
              <a:srgbClr val="0B7A75"/>
            </a:solidFill>
          </a:ln>
          <a:effectLst>
            <a:outerShdw blurRad="25400" dist="12700" dir="2700000" algn="bl" rotWithShape="0">
              <a:srgbClr val="000000">
                <a:alpha val="12000"/>
              </a:srgbClr>
            </a:outerShdw>
          </a:effectLst>
        </p:spPr>
        <p:txBody>
          <a:bodyPr wrap="square" lIns="1270" tIns="1270" rIns="1270" bIns="1270" rtlCol="0" anchor="ctr">
            <a:normAutofit/>
          </a:bodyPr>
          <a:lstStyle/>
          <a:p>
            <a:pPr marL="0" indent="0" algn="ctr">
              <a:buNone/>
            </a:pPr>
            <a:r>
              <a:rPr lang="en-US" sz="1400" b="1" dirty="0">
                <a:solidFill>
                  <a:srgbClr val="0B7A75"/>
                </a:solidFill>
              </a:rPr>
              <a:t>Project evidence</a:t>
            </a:r>
            <a:endParaRPr lang="en-US" sz="1400" dirty="0"/>
          </a:p>
          <a:p>
            <a:pPr marL="0" indent="0" algn="ctr">
              <a:buNone/>
            </a:pPr>
            <a:r>
              <a:rPr lang="en-US" sz="1400" b="1" dirty="0">
                <a:solidFill>
                  <a:srgbClr val="0B7A75"/>
                </a:solidFill>
              </a:rPr>
              <a:t>at prompt time</a:t>
            </a:r>
            <a:endParaRPr lang="en-US" sz="1400" dirty="0"/>
          </a:p>
        </p:txBody>
      </p:sp>
      <p:sp>
        <p:nvSpPr>
          <p:cNvPr id="6" name="Text 4"/>
          <p:cNvSpPr/>
          <p:nvPr/>
        </p:nvSpPr>
        <p:spPr>
          <a:xfrm>
            <a:off x="5715000" y="2057400"/>
            <a:ext cx="1965960" cy="1005840"/>
          </a:xfrm>
          <a:prstGeom prst="rect">
            <a:avLst/>
          </a:prstGeom>
          <a:solidFill>
            <a:srgbClr val="FFF3DA"/>
          </a:solidFill>
          <a:ln w="13970">
            <a:solidFill>
              <a:srgbClr val="F28C28"/>
            </a:solidFill>
          </a:ln>
          <a:effectLst>
            <a:outerShdw blurRad="25400" dist="12700" dir="2700000" algn="bl" rotWithShape="0">
              <a:srgbClr val="000000">
                <a:alpha val="12000"/>
              </a:srgbClr>
            </a:outerShdw>
          </a:effectLst>
        </p:spPr>
        <p:txBody>
          <a:bodyPr wrap="square" lIns="1270" tIns="1270" rIns="1270" bIns="1270" rtlCol="0" anchor="ctr">
            <a:normAutofit/>
          </a:bodyPr>
          <a:lstStyle/>
          <a:p>
            <a:pPr marL="0" indent="0" algn="ctr">
              <a:buNone/>
            </a:pPr>
            <a:r>
              <a:rPr lang="en-US" sz="1400" b="1" dirty="0">
                <a:solidFill>
                  <a:srgbClr val="F28C28"/>
                </a:solidFill>
              </a:rPr>
              <a:t>Reconstructed</a:t>
            </a:r>
            <a:endParaRPr lang="en-US" sz="1400" dirty="0"/>
          </a:p>
          <a:p>
            <a:pPr marL="0" indent="0" algn="ctr">
              <a:buNone/>
            </a:pPr>
            <a:r>
              <a:rPr lang="en-US" sz="1400" b="1" dirty="0">
                <a:solidFill>
                  <a:srgbClr val="F28C28"/>
                </a:solidFill>
              </a:rPr>
              <a:t>prompt</a:t>
            </a:r>
            <a:endParaRPr lang="en-US" sz="1400" dirty="0"/>
          </a:p>
        </p:txBody>
      </p:sp>
      <p:sp>
        <p:nvSpPr>
          <p:cNvPr id="7" name="Text 5"/>
          <p:cNvSpPr/>
          <p:nvPr/>
        </p:nvSpPr>
        <p:spPr>
          <a:xfrm>
            <a:off x="8275320" y="1947672"/>
            <a:ext cx="2331720" cy="1234440"/>
          </a:xfrm>
          <a:prstGeom prst="rect">
            <a:avLst/>
          </a:prstGeom>
          <a:solidFill>
            <a:srgbClr val="EAF6EA"/>
          </a:solidFill>
          <a:ln w="13970">
            <a:solidFill>
              <a:srgbClr val="2E7D32"/>
            </a:solidFill>
          </a:ln>
          <a:effectLst>
            <a:outerShdw blurRad="25400" dist="12700" dir="2700000" algn="bl" rotWithShape="0">
              <a:srgbClr val="000000">
                <a:alpha val="12000"/>
              </a:srgbClr>
            </a:outerShdw>
          </a:effectLst>
        </p:spPr>
        <p:txBody>
          <a:bodyPr wrap="square" lIns="1270" tIns="1270" rIns="1270" bIns="1270" rtlCol="0" anchor="ctr">
            <a:normAutofit/>
          </a:bodyPr>
          <a:lstStyle/>
          <a:p>
            <a:pPr marL="0" indent="0" algn="ctr">
              <a:buNone/>
            </a:pPr>
            <a:r>
              <a:rPr lang="en-US" sz="1400" b="1" dirty="0">
                <a:solidFill>
                  <a:srgbClr val="2E7D32"/>
                </a:solidFill>
              </a:rPr>
              <a:t>Better-grounded</a:t>
            </a:r>
            <a:endParaRPr lang="en-US" sz="1400" dirty="0"/>
          </a:p>
          <a:p>
            <a:pPr marL="0" indent="0" algn="ctr">
              <a:buNone/>
            </a:pPr>
            <a:r>
              <a:rPr lang="en-US" sz="1400" b="1" dirty="0">
                <a:solidFill>
                  <a:srgbClr val="2E7D32"/>
                </a:solidFill>
              </a:rPr>
              <a:t>code generation</a:t>
            </a:r>
            <a:endParaRPr lang="en-US" sz="1400" dirty="0"/>
          </a:p>
        </p:txBody>
      </p:sp>
      <p:sp>
        <p:nvSpPr>
          <p:cNvPr id="8" name="Shape 6"/>
          <p:cNvSpPr/>
          <p:nvPr/>
        </p:nvSpPr>
        <p:spPr>
          <a:xfrm>
            <a:off x="2514600" y="2560320"/>
            <a:ext cx="365760" cy="0"/>
          </a:xfrm>
          <a:prstGeom prst="line">
            <a:avLst/>
          </a:prstGeom>
          <a:noFill/>
          <a:ln w="27940">
            <a:solidFill>
              <a:srgbClr val="0B2559"/>
            </a:solidFill>
            <a:prstDash val="solid"/>
            <a:headEnd type="none"/>
            <a:tailEnd type="triangle"/>
          </a:ln>
        </p:spPr>
        <p:txBody>
          <a:bodyPr/>
          <a:lstStyle/>
          <a:p>
            <a:endParaRPr lang="en-US"/>
          </a:p>
        </p:txBody>
      </p:sp>
      <p:sp>
        <p:nvSpPr>
          <p:cNvPr id="9" name="Shape 7"/>
          <p:cNvSpPr/>
          <p:nvPr/>
        </p:nvSpPr>
        <p:spPr>
          <a:xfrm>
            <a:off x="5212080" y="2560320"/>
            <a:ext cx="365760" cy="0"/>
          </a:xfrm>
          <a:prstGeom prst="line">
            <a:avLst/>
          </a:prstGeom>
          <a:noFill/>
          <a:ln w="27940">
            <a:solidFill>
              <a:srgbClr val="0B2559"/>
            </a:solidFill>
            <a:prstDash val="solid"/>
            <a:headEnd type="none"/>
            <a:tailEnd type="triangle"/>
          </a:ln>
        </p:spPr>
        <p:txBody>
          <a:bodyPr/>
          <a:lstStyle/>
          <a:p>
            <a:endParaRPr lang="en-US"/>
          </a:p>
        </p:txBody>
      </p:sp>
      <p:sp>
        <p:nvSpPr>
          <p:cNvPr id="10" name="Shape 8"/>
          <p:cNvSpPr/>
          <p:nvPr/>
        </p:nvSpPr>
        <p:spPr>
          <a:xfrm>
            <a:off x="7772400" y="2560320"/>
            <a:ext cx="365760" cy="0"/>
          </a:xfrm>
          <a:prstGeom prst="line">
            <a:avLst/>
          </a:prstGeom>
          <a:noFill/>
          <a:ln w="27940">
            <a:solidFill>
              <a:srgbClr val="0B2559"/>
            </a:solidFill>
            <a:prstDash val="solid"/>
            <a:headEnd type="none"/>
            <a:tailEnd type="triangle"/>
          </a:ln>
        </p:spPr>
        <p:txBody>
          <a:bodyPr/>
          <a:lstStyle/>
          <a:p>
            <a:endParaRPr lang="en-US"/>
          </a:p>
        </p:txBody>
      </p:sp>
      <p:sp>
        <p:nvSpPr>
          <p:cNvPr id="11" name="Text 9"/>
          <p:cNvSpPr/>
          <p:nvPr/>
        </p:nvSpPr>
        <p:spPr>
          <a:xfrm>
            <a:off x="868680" y="3977640"/>
            <a:ext cx="1371600" cy="274320"/>
          </a:xfrm>
          <a:prstGeom prst="rect">
            <a:avLst/>
          </a:prstGeom>
          <a:noFill/>
          <a:ln/>
        </p:spPr>
        <p:txBody>
          <a:bodyPr wrap="square" lIns="0" tIns="0" rIns="0" bIns="0" rtlCol="0" anchor="ctr"/>
          <a:lstStyle/>
          <a:p>
            <a:pPr marL="0" indent="0">
              <a:buNone/>
            </a:pPr>
            <a:r>
              <a:rPr lang="en-US" sz="1200" b="1" dirty="0">
                <a:solidFill>
                  <a:srgbClr val="F28C28"/>
                </a:solidFill>
              </a:rPr>
              <a:t>Core idea</a:t>
            </a:r>
            <a:endParaRPr lang="en-US" sz="1200" dirty="0"/>
          </a:p>
        </p:txBody>
      </p:sp>
      <p:sp>
        <p:nvSpPr>
          <p:cNvPr id="12" name="Text 10"/>
          <p:cNvSpPr/>
          <p:nvPr/>
        </p:nvSpPr>
        <p:spPr>
          <a:xfrm>
            <a:off x="868680" y="4315968"/>
            <a:ext cx="9966960" cy="502920"/>
          </a:xfrm>
          <a:prstGeom prst="rect">
            <a:avLst/>
          </a:prstGeom>
          <a:noFill/>
          <a:ln/>
        </p:spPr>
        <p:txBody>
          <a:bodyPr wrap="square" lIns="254" tIns="254" rIns="254" bIns="254" rtlCol="0" anchor="ctr">
            <a:normAutofit/>
          </a:bodyPr>
          <a:lstStyle/>
          <a:p>
            <a:pPr marL="0" indent="0">
              <a:buNone/>
            </a:pPr>
            <a:r>
              <a:rPr lang="en-US" sz="1700" b="1" dirty="0">
                <a:solidFill>
                  <a:srgbClr val="0B2559"/>
                </a:solidFill>
              </a:rPr>
              <a:t>A developer may omit important intent from a prompt. Some of that intent may already be latent in the repository, issue, tests, documentation, or history.</a:t>
            </a:r>
            <a:endParaRPr lang="en-US" sz="1700" dirty="0"/>
          </a:p>
        </p:txBody>
      </p:sp>
      <p:sp>
        <p:nvSpPr>
          <p:cNvPr id="13" name="Text 11"/>
          <p:cNvSpPr/>
          <p:nvPr/>
        </p:nvSpPr>
        <p:spPr>
          <a:xfrm>
            <a:off x="868680" y="5074920"/>
            <a:ext cx="9326880" cy="320040"/>
          </a:xfrm>
          <a:prstGeom prst="rect">
            <a:avLst/>
          </a:prstGeom>
          <a:noFill/>
          <a:ln/>
        </p:spPr>
        <p:txBody>
          <a:bodyPr wrap="square" lIns="0" tIns="0" rIns="0" bIns="0" rtlCol="0" anchor="ctr"/>
          <a:lstStyle/>
          <a:p>
            <a:pPr marL="0" indent="0">
              <a:buNone/>
            </a:pPr>
            <a:r>
              <a:rPr lang="en-US" sz="1350" dirty="0">
                <a:solidFill>
                  <a:srgbClr val="667085"/>
                </a:solidFill>
              </a:rPr>
              <a:t>Today: align on the research question, the data boundary, and the first investigation steps.</a:t>
            </a:r>
            <a:endParaRPr lang="en-US" sz="1350" dirty="0"/>
          </a:p>
        </p:txBody>
      </p:sp>
      <p:sp>
        <p:nvSpPr>
          <p:cNvPr id="14" name="Text 12"/>
          <p:cNvSpPr/>
          <p:nvPr/>
        </p:nvSpPr>
        <p:spPr>
          <a:xfrm>
            <a:off x="411480" y="6556248"/>
            <a:ext cx="6583680" cy="164592"/>
          </a:xfrm>
          <a:prstGeom prst="rect">
            <a:avLst/>
          </a:prstGeom>
          <a:noFill/>
          <a:ln/>
        </p:spPr>
        <p:txBody>
          <a:bodyPr wrap="square" lIns="0" tIns="0" rIns="0" bIns="0" rtlCol="0" anchor="ctr"/>
          <a:lstStyle/>
          <a:p>
            <a:pPr marL="0" indent="0">
              <a:buNone/>
            </a:pPr>
            <a:r>
              <a:rPr lang="en-US" sz="750" dirty="0">
                <a:solidFill>
                  <a:srgbClr val="667085"/>
                </a:solidFill>
              </a:rPr>
              <a:t>Developer Intent Reconstruction | SEVOL Lab</a:t>
            </a:r>
            <a:endParaRPr lang="en-US" sz="750" dirty="0"/>
          </a:p>
        </p:txBody>
      </p:sp>
      <p:sp>
        <p:nvSpPr>
          <p:cNvPr id="15" name="Text 13"/>
          <p:cNvSpPr/>
          <p:nvPr/>
        </p:nvSpPr>
        <p:spPr>
          <a:xfrm>
            <a:off x="11292840" y="6556248"/>
            <a:ext cx="457200" cy="164592"/>
          </a:xfrm>
          <a:prstGeom prst="rect">
            <a:avLst/>
          </a:prstGeom>
          <a:noFill/>
          <a:ln/>
        </p:spPr>
        <p:txBody>
          <a:bodyPr wrap="square" lIns="0" tIns="0" rIns="0" bIns="0" rtlCol="0" anchor="ctr"/>
          <a:lstStyle/>
          <a:p>
            <a:pPr marL="0" indent="0" algn="r">
              <a:buNone/>
            </a:pPr>
            <a:r>
              <a:rPr lang="en-US" sz="750" dirty="0">
                <a:solidFill>
                  <a:srgbClr val="667085"/>
                </a:solidFill>
              </a:rPr>
              <a:t>1</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lstStyle/>
          <a:p>
            <a:pPr marL="0" indent="0">
              <a:buNone/>
            </a:pPr>
            <a:r>
              <a:rPr lang="en-US" sz="2500" b="1" dirty="0">
                <a:solidFill>
                  <a:srgbClr val="0B2559"/>
                </a:solidFill>
                <a:latin typeface="Aptos Display" pitchFamily="34" charset="0"/>
                <a:ea typeface="Aptos Display" pitchFamily="34" charset="-122"/>
                <a:cs typeface="Aptos Display" pitchFamily="34" charset="-120"/>
              </a:rPr>
              <a:t>Why this problem matters</a:t>
            </a:r>
            <a:endParaRPr lang="en-US" sz="2500" dirty="0"/>
          </a:p>
        </p:txBody>
      </p:sp>
      <p:sp>
        <p:nvSpPr>
          <p:cNvPr id="3" name="Text 1"/>
          <p:cNvSpPr/>
          <p:nvPr/>
        </p:nvSpPr>
        <p:spPr>
          <a:xfrm>
            <a:off x="429768" y="667512"/>
            <a:ext cx="10789920" cy="256032"/>
          </a:xfrm>
          <a:prstGeom prst="rect">
            <a:avLst/>
          </a:prstGeom>
          <a:noFill/>
          <a:ln/>
        </p:spPr>
        <p:txBody>
          <a:bodyPr wrap="square" lIns="0" tIns="0" rIns="0" bIns="0" rtlCol="0" anchor="ctr"/>
          <a:lstStyle/>
          <a:p>
            <a:pPr marL="0" indent="0">
              <a:buNone/>
            </a:pPr>
            <a:r>
              <a:rPr lang="en-US" sz="1050" dirty="0">
                <a:solidFill>
                  <a:srgbClr val="667085"/>
                </a:solidFill>
              </a:rPr>
              <a:t>LLM code generation is not only a model problem; it is also an information problem.</a:t>
            </a:r>
            <a:endParaRPr lang="en-US" sz="1050" dirty="0"/>
          </a:p>
        </p:txBody>
      </p:sp>
      <p:sp>
        <p:nvSpPr>
          <p:cNvPr id="4" name="Shape 2"/>
          <p:cNvSpPr/>
          <p:nvPr/>
        </p:nvSpPr>
        <p:spPr>
          <a:xfrm>
            <a:off x="411480" y="941832"/>
            <a:ext cx="11292840" cy="0"/>
          </a:xfrm>
          <a:prstGeom prst="line">
            <a:avLst/>
          </a:prstGeom>
          <a:noFill/>
          <a:ln w="12700">
            <a:solidFill>
              <a:srgbClr val="D0D7E2"/>
            </a:solidFill>
            <a:prstDash val="solid"/>
          </a:ln>
        </p:spPr>
        <p:txBody>
          <a:bodyPr/>
          <a:lstStyle/>
          <a:p>
            <a:endParaRPr lang="en-US"/>
          </a:p>
        </p:txBody>
      </p:sp>
      <p:sp>
        <p:nvSpPr>
          <p:cNvPr id="5" name="Text 3"/>
          <p:cNvSpPr/>
          <p:nvPr/>
        </p:nvSpPr>
        <p:spPr>
          <a:xfrm>
            <a:off x="640080" y="1325880"/>
            <a:ext cx="3108960" cy="640080"/>
          </a:xfrm>
          <a:prstGeom prst="rect">
            <a:avLst/>
          </a:prstGeom>
          <a:solidFill>
            <a:srgbClr val="FDECEC"/>
          </a:solidFill>
          <a:ln w="13970">
            <a:solidFill>
              <a:srgbClr val="C62828"/>
            </a:solidFill>
          </a:ln>
        </p:spPr>
        <p:txBody>
          <a:bodyPr wrap="square" lIns="1270" tIns="1270" rIns="1270" bIns="1270" rtlCol="0" anchor="ctr">
            <a:normAutofit/>
          </a:bodyPr>
          <a:lstStyle/>
          <a:p>
            <a:pPr marL="0" indent="0" algn="ctr">
              <a:buNone/>
            </a:pPr>
            <a:r>
              <a:rPr lang="en-US" sz="1500" b="1" dirty="0">
                <a:solidFill>
                  <a:srgbClr val="C62828"/>
                </a:solidFill>
              </a:rPr>
              <a:t>Prompt may be incomplete</a:t>
            </a:r>
            <a:endParaRPr lang="en-US" sz="1500" dirty="0"/>
          </a:p>
        </p:txBody>
      </p:sp>
      <p:sp>
        <p:nvSpPr>
          <p:cNvPr id="6" name="Text 4"/>
          <p:cNvSpPr/>
          <p:nvPr/>
        </p:nvSpPr>
        <p:spPr>
          <a:xfrm>
            <a:off x="4434840" y="1325880"/>
            <a:ext cx="3246120" cy="640080"/>
          </a:xfrm>
          <a:prstGeom prst="rect">
            <a:avLst/>
          </a:prstGeom>
          <a:solidFill>
            <a:srgbClr val="FFF3DA"/>
          </a:solidFill>
          <a:ln w="13970">
            <a:solidFill>
              <a:srgbClr val="F28C28"/>
            </a:solidFill>
          </a:ln>
        </p:spPr>
        <p:txBody>
          <a:bodyPr wrap="square" lIns="1270" tIns="1270" rIns="1270" bIns="1270" rtlCol="0" anchor="ctr">
            <a:normAutofit/>
          </a:bodyPr>
          <a:lstStyle/>
          <a:p>
            <a:pPr marL="0" indent="0" algn="ctr">
              <a:buNone/>
            </a:pPr>
            <a:r>
              <a:rPr lang="en-US" sz="1500" b="1" dirty="0">
                <a:solidFill>
                  <a:srgbClr val="F28C28"/>
                </a:solidFill>
              </a:rPr>
              <a:t>LLM generates plausible code</a:t>
            </a:r>
            <a:endParaRPr lang="en-US" sz="1500" dirty="0"/>
          </a:p>
        </p:txBody>
      </p:sp>
      <p:sp>
        <p:nvSpPr>
          <p:cNvPr id="7" name="Text 5"/>
          <p:cNvSpPr/>
          <p:nvPr/>
        </p:nvSpPr>
        <p:spPr>
          <a:xfrm>
            <a:off x="8366760" y="1325880"/>
            <a:ext cx="3108960" cy="640080"/>
          </a:xfrm>
          <a:prstGeom prst="rect">
            <a:avLst/>
          </a:prstGeom>
          <a:solidFill>
            <a:srgbClr val="E6F6F4"/>
          </a:solidFill>
          <a:ln w="13970">
            <a:solidFill>
              <a:srgbClr val="0B7A75"/>
            </a:solidFill>
          </a:ln>
        </p:spPr>
        <p:txBody>
          <a:bodyPr wrap="square" lIns="1270" tIns="1270" rIns="1270" bIns="1270" rtlCol="0" anchor="ctr">
            <a:normAutofit/>
          </a:bodyPr>
          <a:lstStyle/>
          <a:p>
            <a:pPr marL="0" indent="0" algn="ctr">
              <a:buNone/>
            </a:pPr>
            <a:r>
              <a:rPr lang="en-US" sz="1500" b="1" dirty="0">
                <a:solidFill>
                  <a:srgbClr val="0B7A75"/>
                </a:solidFill>
              </a:rPr>
              <a:t>Developer adapts before integration</a:t>
            </a:r>
            <a:endParaRPr lang="en-US" sz="1500" dirty="0"/>
          </a:p>
        </p:txBody>
      </p:sp>
      <p:sp>
        <p:nvSpPr>
          <p:cNvPr id="8" name="Shape 6"/>
          <p:cNvSpPr/>
          <p:nvPr/>
        </p:nvSpPr>
        <p:spPr>
          <a:xfrm>
            <a:off x="3858768" y="1645920"/>
            <a:ext cx="457200" cy="0"/>
          </a:xfrm>
          <a:prstGeom prst="line">
            <a:avLst/>
          </a:prstGeom>
          <a:noFill/>
          <a:ln w="27940">
            <a:solidFill>
              <a:srgbClr val="0B2559"/>
            </a:solidFill>
            <a:prstDash val="solid"/>
            <a:headEnd type="none"/>
            <a:tailEnd type="triangle"/>
          </a:ln>
        </p:spPr>
        <p:txBody>
          <a:bodyPr/>
          <a:lstStyle/>
          <a:p>
            <a:endParaRPr lang="en-US"/>
          </a:p>
        </p:txBody>
      </p:sp>
      <p:sp>
        <p:nvSpPr>
          <p:cNvPr id="9" name="Shape 7"/>
          <p:cNvSpPr/>
          <p:nvPr/>
        </p:nvSpPr>
        <p:spPr>
          <a:xfrm>
            <a:off x="7790688" y="1645920"/>
            <a:ext cx="457200" cy="0"/>
          </a:xfrm>
          <a:prstGeom prst="line">
            <a:avLst/>
          </a:prstGeom>
          <a:noFill/>
          <a:ln w="27940">
            <a:solidFill>
              <a:srgbClr val="0B2559"/>
            </a:solidFill>
            <a:prstDash val="solid"/>
            <a:headEnd type="none"/>
            <a:tailEnd type="triangle"/>
          </a:ln>
        </p:spPr>
        <p:txBody>
          <a:bodyPr/>
          <a:lstStyle/>
          <a:p>
            <a:endParaRPr lang="en-US"/>
          </a:p>
        </p:txBody>
      </p:sp>
      <p:sp>
        <p:nvSpPr>
          <p:cNvPr id="10" name="Text 8"/>
          <p:cNvSpPr/>
          <p:nvPr/>
        </p:nvSpPr>
        <p:spPr>
          <a:xfrm>
            <a:off x="694944" y="2487168"/>
            <a:ext cx="2011680" cy="320040"/>
          </a:xfrm>
          <a:prstGeom prst="rect">
            <a:avLst/>
          </a:prstGeom>
          <a:noFill/>
          <a:ln/>
        </p:spPr>
        <p:txBody>
          <a:bodyPr wrap="square" lIns="0" tIns="0" rIns="0" bIns="0" rtlCol="0" anchor="ctr"/>
          <a:lstStyle/>
          <a:p>
            <a:pPr marL="0" indent="0">
              <a:buNone/>
            </a:pPr>
            <a:r>
              <a:rPr lang="en-US" sz="1300" b="1" dirty="0">
                <a:solidFill>
                  <a:srgbClr val="0B2559"/>
                </a:solidFill>
              </a:rPr>
              <a:t>Prior evidence</a:t>
            </a:r>
            <a:endParaRPr lang="en-US" sz="1300" dirty="0"/>
          </a:p>
        </p:txBody>
      </p:sp>
      <p:sp>
        <p:nvSpPr>
          <p:cNvPr id="11" name="Text 9"/>
          <p:cNvSpPr/>
          <p:nvPr/>
        </p:nvSpPr>
        <p:spPr>
          <a:xfrm>
            <a:off x="804672" y="2880360"/>
            <a:ext cx="4937760" cy="1874520"/>
          </a:xfrm>
          <a:prstGeom prst="rect">
            <a:avLst/>
          </a:prstGeom>
          <a:noFill/>
          <a:ln/>
        </p:spPr>
        <p:txBody>
          <a:bodyPr wrap="square" lIns="254" tIns="254" rIns="254" bIns="254" rtlCol="0" anchor="t">
            <a:normAutofit/>
          </a:bodyPr>
          <a:lstStyle/>
          <a:p>
            <a:pPr marL="152400" indent="-152400">
              <a:buSzPct val="100000"/>
              <a:buChar char="•"/>
            </a:pPr>
            <a:r>
              <a:rPr lang="en-US" sz="1450" dirty="0">
                <a:solidFill>
                  <a:srgbClr val="101828"/>
                </a:solidFill>
              </a:rPr>
              <a:t>Generated code is often adapted, selectively reused, or rejected in pull-request workflows.</a:t>
            </a:r>
            <a:endParaRPr lang="en-US" sz="1450" dirty="0"/>
          </a:p>
          <a:p>
            <a:pPr marL="152400" indent="-152400">
              <a:buSzPct val="100000"/>
              <a:buChar char="•"/>
            </a:pPr>
            <a:r>
              <a:rPr lang="en-US" sz="1450" dirty="0">
                <a:solidFill>
                  <a:srgbClr val="101828"/>
                </a:solidFill>
              </a:rPr>
              <a:t>Prompt Context, Specificity, and Verification influence different downstream stages.</a:t>
            </a:r>
            <a:endParaRPr lang="en-US" sz="1450" dirty="0"/>
          </a:p>
          <a:p>
            <a:pPr marL="152400" indent="-152400">
              <a:buSzPct val="100000"/>
              <a:buChar char="•"/>
            </a:pPr>
            <a:r>
              <a:rPr lang="en-US" sz="1450" dirty="0">
                <a:solidFill>
                  <a:srgbClr val="101828"/>
                </a:solidFill>
              </a:rPr>
              <a:t>Natural-language realization, prompt length, and narrative structure can affect code generation.</a:t>
            </a:r>
            <a:endParaRPr lang="en-US" sz="1450" dirty="0"/>
          </a:p>
        </p:txBody>
      </p:sp>
      <p:sp>
        <p:nvSpPr>
          <p:cNvPr id="12" name="Text 10"/>
          <p:cNvSpPr/>
          <p:nvPr/>
        </p:nvSpPr>
        <p:spPr>
          <a:xfrm>
            <a:off x="6400800" y="2487168"/>
            <a:ext cx="2926080" cy="320040"/>
          </a:xfrm>
          <a:prstGeom prst="rect">
            <a:avLst/>
          </a:prstGeom>
          <a:noFill/>
          <a:ln/>
        </p:spPr>
        <p:txBody>
          <a:bodyPr wrap="square" lIns="0" tIns="0" rIns="0" bIns="0" rtlCol="0" anchor="ctr"/>
          <a:lstStyle/>
          <a:p>
            <a:pPr marL="0" indent="0">
              <a:buNone/>
            </a:pPr>
            <a:r>
              <a:rPr lang="en-US" sz="1300" b="1" dirty="0">
                <a:solidFill>
                  <a:srgbClr val="0B2559"/>
                </a:solidFill>
              </a:rPr>
              <a:t>Implication for this study</a:t>
            </a:r>
            <a:endParaRPr lang="en-US" sz="1300" dirty="0"/>
          </a:p>
        </p:txBody>
      </p:sp>
      <p:sp>
        <p:nvSpPr>
          <p:cNvPr id="13" name="Text 11"/>
          <p:cNvSpPr/>
          <p:nvPr/>
        </p:nvSpPr>
        <p:spPr>
          <a:xfrm>
            <a:off x="6446520" y="2880360"/>
            <a:ext cx="4892040" cy="1600200"/>
          </a:xfrm>
          <a:prstGeom prst="rect">
            <a:avLst/>
          </a:prstGeom>
          <a:noFill/>
          <a:ln/>
        </p:spPr>
        <p:txBody>
          <a:bodyPr wrap="square" lIns="508" tIns="508" rIns="508" bIns="508" rtlCol="0" anchor="ctr">
            <a:normAutofit/>
          </a:bodyPr>
          <a:lstStyle/>
          <a:p>
            <a:pPr marL="0" indent="0">
              <a:buNone/>
            </a:pPr>
            <a:r>
              <a:rPr lang="en-US" sz="1800" b="1" dirty="0">
                <a:solidFill>
                  <a:srgbClr val="0B2559"/>
                </a:solidFill>
              </a:rPr>
              <a:t>We should not simply ask developers to write better prompts.</a:t>
            </a:r>
            <a:endParaRPr lang="en-US" sz="1800" dirty="0"/>
          </a:p>
          <a:p>
            <a:pPr marL="0" indent="0">
              <a:buNone/>
            </a:pPr>
            <a:endParaRPr lang="en-US" sz="1800" dirty="0"/>
          </a:p>
          <a:p>
            <a:pPr marL="0" indent="0">
              <a:buNone/>
            </a:pPr>
            <a:r>
              <a:rPr lang="en-US" sz="1800" b="1" dirty="0">
                <a:solidFill>
                  <a:srgbClr val="0B2559"/>
                </a:solidFill>
              </a:rPr>
              <a:t>We ask whether the project can supply the missing information automatically.</a:t>
            </a:r>
            <a:endParaRPr lang="en-US" sz="1800" dirty="0"/>
          </a:p>
        </p:txBody>
      </p:sp>
      <p:sp>
        <p:nvSpPr>
          <p:cNvPr id="14" name="Text 12"/>
          <p:cNvSpPr/>
          <p:nvPr/>
        </p:nvSpPr>
        <p:spPr>
          <a:xfrm>
            <a:off x="6537960" y="4892040"/>
            <a:ext cx="1463040" cy="320040"/>
          </a:xfrm>
          <a:prstGeom prst="rect">
            <a:avLst/>
          </a:prstGeom>
          <a:solidFill>
            <a:srgbClr val="F7F9FC"/>
          </a:solidFill>
          <a:ln>
            <a:solidFill>
              <a:srgbClr val="F7F9FC"/>
            </a:solidFill>
          </a:ln>
        </p:spPr>
        <p:txBody>
          <a:bodyPr wrap="square" lIns="381" tIns="381" rIns="381" bIns="381" rtlCol="0" anchor="ctr"/>
          <a:lstStyle/>
          <a:p>
            <a:pPr marL="0" indent="0" algn="ctr">
              <a:buNone/>
            </a:pPr>
            <a:r>
              <a:rPr lang="en-US" sz="1100" b="1" dirty="0">
                <a:solidFill>
                  <a:srgbClr val="667085"/>
                </a:solidFill>
              </a:rPr>
              <a:t>Not prompt length</a:t>
            </a:r>
            <a:endParaRPr lang="en-US" sz="1100" dirty="0"/>
          </a:p>
        </p:txBody>
      </p:sp>
      <p:sp>
        <p:nvSpPr>
          <p:cNvPr id="15" name="Text 13"/>
          <p:cNvSpPr/>
          <p:nvPr/>
        </p:nvSpPr>
        <p:spPr>
          <a:xfrm>
            <a:off x="8156448" y="4892040"/>
            <a:ext cx="1600200" cy="320040"/>
          </a:xfrm>
          <a:prstGeom prst="rect">
            <a:avLst/>
          </a:prstGeom>
          <a:solidFill>
            <a:srgbClr val="E6F6F4"/>
          </a:solidFill>
          <a:ln>
            <a:solidFill>
              <a:srgbClr val="E6F6F4"/>
            </a:solidFill>
          </a:ln>
        </p:spPr>
        <p:txBody>
          <a:bodyPr wrap="square" lIns="381" tIns="381" rIns="381" bIns="381" rtlCol="0" anchor="ctr"/>
          <a:lstStyle/>
          <a:p>
            <a:pPr marL="0" indent="0" algn="ctr">
              <a:buNone/>
            </a:pPr>
            <a:r>
              <a:rPr lang="en-US" sz="1100" b="1" dirty="0">
                <a:solidFill>
                  <a:srgbClr val="0B7A75"/>
                </a:solidFill>
              </a:rPr>
              <a:t>Relevant evidence</a:t>
            </a:r>
            <a:endParaRPr lang="en-US" sz="1100" dirty="0"/>
          </a:p>
        </p:txBody>
      </p:sp>
      <p:sp>
        <p:nvSpPr>
          <p:cNvPr id="16" name="Text 14"/>
          <p:cNvSpPr/>
          <p:nvPr/>
        </p:nvSpPr>
        <p:spPr>
          <a:xfrm>
            <a:off x="9921240" y="4892040"/>
            <a:ext cx="1508760" cy="320040"/>
          </a:xfrm>
          <a:prstGeom prst="rect">
            <a:avLst/>
          </a:prstGeom>
          <a:solidFill>
            <a:srgbClr val="FFF3DA"/>
          </a:solidFill>
          <a:ln>
            <a:solidFill>
              <a:srgbClr val="FFF3DA"/>
            </a:solidFill>
          </a:ln>
        </p:spPr>
        <p:txBody>
          <a:bodyPr wrap="square" lIns="381" tIns="381" rIns="381" bIns="381" rtlCol="0" anchor="ctr"/>
          <a:lstStyle/>
          <a:p>
            <a:pPr marL="0" indent="0" algn="ctr">
              <a:buNone/>
            </a:pPr>
            <a:r>
              <a:rPr lang="en-US" sz="1100" b="1" dirty="0">
                <a:solidFill>
                  <a:srgbClr val="F28C28"/>
                </a:solidFill>
              </a:rPr>
              <a:t>Held-out outcome</a:t>
            </a:r>
            <a:endParaRPr lang="en-US" sz="1100" dirty="0"/>
          </a:p>
        </p:txBody>
      </p:sp>
      <p:sp>
        <p:nvSpPr>
          <p:cNvPr id="17" name="Text 15"/>
          <p:cNvSpPr/>
          <p:nvPr/>
        </p:nvSpPr>
        <p:spPr>
          <a:xfrm>
            <a:off x="411480" y="6556248"/>
            <a:ext cx="6583680" cy="164592"/>
          </a:xfrm>
          <a:prstGeom prst="rect">
            <a:avLst/>
          </a:prstGeom>
          <a:noFill/>
          <a:ln/>
        </p:spPr>
        <p:txBody>
          <a:bodyPr wrap="square" lIns="0" tIns="0" rIns="0" bIns="0" rtlCol="0" anchor="ctr"/>
          <a:lstStyle/>
          <a:p>
            <a:pPr marL="0" indent="0">
              <a:buNone/>
            </a:pPr>
            <a:r>
              <a:rPr lang="en-US" sz="750" dirty="0">
                <a:solidFill>
                  <a:srgbClr val="667085"/>
                </a:solidFill>
              </a:rPr>
              <a:t>Developer Intent Reconstruction | SEVOL Lab</a:t>
            </a:r>
            <a:endParaRPr lang="en-US" sz="750" dirty="0"/>
          </a:p>
        </p:txBody>
      </p:sp>
      <p:sp>
        <p:nvSpPr>
          <p:cNvPr id="18" name="Text 16"/>
          <p:cNvSpPr/>
          <p:nvPr/>
        </p:nvSpPr>
        <p:spPr>
          <a:xfrm>
            <a:off x="11292840" y="6556248"/>
            <a:ext cx="457200" cy="164592"/>
          </a:xfrm>
          <a:prstGeom prst="rect">
            <a:avLst/>
          </a:prstGeom>
          <a:noFill/>
          <a:ln/>
        </p:spPr>
        <p:txBody>
          <a:bodyPr wrap="square" lIns="0" tIns="0" rIns="0" bIns="0" rtlCol="0" anchor="ctr"/>
          <a:lstStyle/>
          <a:p>
            <a:pPr marL="0" indent="0" algn="r">
              <a:buNone/>
            </a:pPr>
            <a:r>
              <a:rPr lang="en-US" sz="750" dirty="0">
                <a:solidFill>
                  <a:srgbClr val="667085"/>
                </a:solidFill>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lstStyle/>
          <a:p>
            <a:pPr marL="0" indent="0">
              <a:buNone/>
            </a:pPr>
            <a:r>
              <a:rPr lang="en-US" sz="2500" b="1" dirty="0">
                <a:solidFill>
                  <a:srgbClr val="0B2559"/>
                </a:solidFill>
                <a:latin typeface="Aptos Display" pitchFamily="34" charset="0"/>
                <a:ea typeface="Aptos Display" pitchFamily="34" charset="-122"/>
                <a:cs typeface="Aptos Display" pitchFamily="34" charset="-120"/>
              </a:rPr>
              <a:t>The central hypothesis</a:t>
            </a:r>
            <a:endParaRPr lang="en-US" sz="2500" dirty="0"/>
          </a:p>
        </p:txBody>
      </p:sp>
      <p:sp>
        <p:nvSpPr>
          <p:cNvPr id="3" name="Text 1"/>
          <p:cNvSpPr/>
          <p:nvPr/>
        </p:nvSpPr>
        <p:spPr>
          <a:xfrm>
            <a:off x="429768" y="667512"/>
            <a:ext cx="10789920" cy="256032"/>
          </a:xfrm>
          <a:prstGeom prst="rect">
            <a:avLst/>
          </a:prstGeom>
          <a:noFill/>
          <a:ln/>
        </p:spPr>
        <p:txBody>
          <a:bodyPr wrap="square" lIns="0" tIns="0" rIns="0" bIns="0" rtlCol="0" anchor="ctr"/>
          <a:lstStyle/>
          <a:p>
            <a:pPr marL="0" indent="0">
              <a:buNone/>
            </a:pPr>
            <a:r>
              <a:rPr lang="en-US" sz="1050" dirty="0">
                <a:solidFill>
                  <a:srgbClr val="667085"/>
                </a:solidFill>
              </a:rPr>
              <a:t>Missing prompt intent is often not missing from the project.</a:t>
            </a:r>
            <a:endParaRPr lang="en-US" sz="1050" dirty="0"/>
          </a:p>
        </p:txBody>
      </p:sp>
      <p:sp>
        <p:nvSpPr>
          <p:cNvPr id="4" name="Shape 2"/>
          <p:cNvSpPr/>
          <p:nvPr/>
        </p:nvSpPr>
        <p:spPr>
          <a:xfrm>
            <a:off x="411480" y="941832"/>
            <a:ext cx="11292840" cy="0"/>
          </a:xfrm>
          <a:prstGeom prst="line">
            <a:avLst/>
          </a:prstGeom>
          <a:noFill/>
          <a:ln w="12700">
            <a:solidFill>
              <a:srgbClr val="D0D7E2"/>
            </a:solidFill>
            <a:prstDash val="solid"/>
          </a:ln>
        </p:spPr>
        <p:txBody>
          <a:bodyPr/>
          <a:lstStyle/>
          <a:p>
            <a:endParaRPr lang="en-US"/>
          </a:p>
        </p:txBody>
      </p:sp>
      <p:sp>
        <p:nvSpPr>
          <p:cNvPr id="5" name="Text 3"/>
          <p:cNvSpPr/>
          <p:nvPr/>
        </p:nvSpPr>
        <p:spPr>
          <a:xfrm>
            <a:off x="777240" y="1508760"/>
            <a:ext cx="2971800" cy="1097280"/>
          </a:xfrm>
          <a:prstGeom prst="rect">
            <a:avLst/>
          </a:prstGeom>
          <a:solidFill>
            <a:srgbClr val="EAF6EA"/>
          </a:solidFill>
          <a:ln w="13970">
            <a:solidFill>
              <a:srgbClr val="2E7D32"/>
            </a:solidFill>
          </a:ln>
        </p:spPr>
        <p:txBody>
          <a:bodyPr wrap="square" lIns="1270" tIns="1270" rIns="1270" bIns="1270" rtlCol="0" anchor="ctr">
            <a:normAutofit/>
          </a:bodyPr>
          <a:lstStyle/>
          <a:p>
            <a:pPr marL="0" indent="0" algn="ctr">
              <a:buNone/>
            </a:pPr>
            <a:r>
              <a:rPr lang="en-US" sz="1500" b="1" dirty="0">
                <a:solidFill>
                  <a:srgbClr val="2E7D32"/>
                </a:solidFill>
              </a:rPr>
              <a:t>Explicit intent</a:t>
            </a:r>
            <a:endParaRPr lang="en-US" sz="1500" dirty="0"/>
          </a:p>
          <a:p>
            <a:pPr marL="0" indent="0" algn="ctr">
              <a:buNone/>
            </a:pPr>
            <a:r>
              <a:rPr lang="en-US" sz="1500" b="1" dirty="0">
                <a:solidFill>
                  <a:srgbClr val="2E7D32"/>
                </a:solidFill>
              </a:rPr>
              <a:t>Already in the prompt</a:t>
            </a:r>
            <a:endParaRPr lang="en-US" sz="1500" dirty="0"/>
          </a:p>
        </p:txBody>
      </p:sp>
      <p:sp>
        <p:nvSpPr>
          <p:cNvPr id="6" name="Text 4"/>
          <p:cNvSpPr/>
          <p:nvPr/>
        </p:nvSpPr>
        <p:spPr>
          <a:xfrm>
            <a:off x="4617720" y="1325880"/>
            <a:ext cx="2971800" cy="1463040"/>
          </a:xfrm>
          <a:prstGeom prst="rect">
            <a:avLst/>
          </a:prstGeom>
          <a:solidFill>
            <a:srgbClr val="FFF3DA"/>
          </a:solidFill>
          <a:ln w="13970">
            <a:solidFill>
              <a:srgbClr val="F28C28"/>
            </a:solidFill>
          </a:ln>
        </p:spPr>
        <p:txBody>
          <a:bodyPr wrap="square" lIns="1270" tIns="1270" rIns="1270" bIns="1270" rtlCol="0" anchor="ctr">
            <a:normAutofit/>
          </a:bodyPr>
          <a:lstStyle/>
          <a:p>
            <a:pPr marL="0" indent="0" algn="ctr">
              <a:buNone/>
            </a:pPr>
            <a:r>
              <a:rPr lang="en-US" sz="1500" b="1" dirty="0">
                <a:solidFill>
                  <a:srgbClr val="F28C28"/>
                </a:solidFill>
              </a:rPr>
              <a:t>Latent intent</a:t>
            </a:r>
            <a:endParaRPr lang="en-US" sz="1500" dirty="0"/>
          </a:p>
          <a:p>
            <a:pPr marL="0" indent="0" algn="ctr">
              <a:buNone/>
            </a:pPr>
            <a:r>
              <a:rPr lang="en-US" sz="1500" b="1" dirty="0">
                <a:solidFill>
                  <a:srgbClr val="F28C28"/>
                </a:solidFill>
              </a:rPr>
              <a:t>Absent from prompt, present in project evidence</a:t>
            </a:r>
            <a:endParaRPr lang="en-US" sz="1500" dirty="0"/>
          </a:p>
        </p:txBody>
      </p:sp>
      <p:sp>
        <p:nvSpPr>
          <p:cNvPr id="7" name="Text 5"/>
          <p:cNvSpPr/>
          <p:nvPr/>
        </p:nvSpPr>
        <p:spPr>
          <a:xfrm>
            <a:off x="8458200" y="1508760"/>
            <a:ext cx="2971800" cy="1097280"/>
          </a:xfrm>
          <a:prstGeom prst="rect">
            <a:avLst/>
          </a:prstGeom>
          <a:solidFill>
            <a:srgbClr val="F1ECF8"/>
          </a:solidFill>
          <a:ln w="13970">
            <a:solidFill>
              <a:srgbClr val="563D7C"/>
            </a:solidFill>
          </a:ln>
        </p:spPr>
        <p:txBody>
          <a:bodyPr wrap="square" lIns="1270" tIns="1270" rIns="1270" bIns="1270" rtlCol="0" anchor="ctr">
            <a:normAutofit/>
          </a:bodyPr>
          <a:lstStyle/>
          <a:p>
            <a:pPr marL="0" indent="0" algn="ctr">
              <a:buNone/>
            </a:pPr>
            <a:r>
              <a:rPr lang="en-US" sz="1450" b="1" dirty="0">
                <a:solidFill>
                  <a:srgbClr val="563D7C"/>
                </a:solidFill>
              </a:rPr>
              <a:t>Emergent intent</a:t>
            </a:r>
            <a:endParaRPr lang="en-US" sz="1450" dirty="0"/>
          </a:p>
          <a:p>
            <a:pPr marL="0" indent="0" algn="ctr">
              <a:buNone/>
            </a:pPr>
            <a:r>
              <a:rPr lang="en-US" sz="1450" b="1" dirty="0">
                <a:solidFill>
                  <a:srgbClr val="563D7C"/>
                </a:solidFill>
              </a:rPr>
              <a:t>Appears only after prompt through review/debugging</a:t>
            </a:r>
            <a:endParaRPr lang="en-US" sz="1450" dirty="0"/>
          </a:p>
        </p:txBody>
      </p:sp>
      <p:sp>
        <p:nvSpPr>
          <p:cNvPr id="8" name="Shape 6"/>
          <p:cNvSpPr/>
          <p:nvPr/>
        </p:nvSpPr>
        <p:spPr>
          <a:xfrm>
            <a:off x="3840480" y="2057400"/>
            <a:ext cx="640080" cy="0"/>
          </a:xfrm>
          <a:prstGeom prst="line">
            <a:avLst/>
          </a:prstGeom>
          <a:noFill/>
          <a:ln w="27940">
            <a:solidFill>
              <a:srgbClr val="667085"/>
            </a:solidFill>
            <a:prstDash val="solid"/>
            <a:headEnd type="none"/>
            <a:tailEnd type="triangle"/>
          </a:ln>
        </p:spPr>
        <p:txBody>
          <a:bodyPr/>
          <a:lstStyle/>
          <a:p>
            <a:endParaRPr lang="en-US"/>
          </a:p>
        </p:txBody>
      </p:sp>
      <p:sp>
        <p:nvSpPr>
          <p:cNvPr id="9" name="Shape 7"/>
          <p:cNvSpPr/>
          <p:nvPr/>
        </p:nvSpPr>
        <p:spPr>
          <a:xfrm>
            <a:off x="7680960" y="2057400"/>
            <a:ext cx="640080" cy="0"/>
          </a:xfrm>
          <a:prstGeom prst="line">
            <a:avLst/>
          </a:prstGeom>
          <a:noFill/>
          <a:ln w="27940">
            <a:solidFill>
              <a:srgbClr val="667085"/>
            </a:solidFill>
            <a:prstDash val="solid"/>
            <a:headEnd type="none"/>
            <a:tailEnd type="triangle"/>
          </a:ln>
        </p:spPr>
        <p:txBody>
          <a:bodyPr/>
          <a:lstStyle/>
          <a:p>
            <a:endParaRPr lang="en-US"/>
          </a:p>
        </p:txBody>
      </p:sp>
      <p:sp>
        <p:nvSpPr>
          <p:cNvPr id="10" name="Text 8"/>
          <p:cNvSpPr/>
          <p:nvPr/>
        </p:nvSpPr>
        <p:spPr>
          <a:xfrm>
            <a:off x="2057400" y="3703320"/>
            <a:ext cx="8138160" cy="347472"/>
          </a:xfrm>
          <a:prstGeom prst="rect">
            <a:avLst/>
          </a:prstGeom>
          <a:noFill/>
          <a:ln/>
        </p:spPr>
        <p:txBody>
          <a:bodyPr wrap="square" lIns="0" tIns="0" rIns="0" bIns="0" rtlCol="0" anchor="ctr"/>
          <a:lstStyle/>
          <a:p>
            <a:pPr marL="0" indent="0" algn="ctr">
              <a:buNone/>
            </a:pPr>
            <a:r>
              <a:rPr lang="en-US" sz="2300" b="1" dirty="0">
                <a:solidFill>
                  <a:srgbClr val="0B2559"/>
                </a:solidFill>
              </a:rPr>
              <a:t>Our tool targets the middle bucket.</a:t>
            </a:r>
            <a:endParaRPr lang="en-US" sz="2300" dirty="0"/>
          </a:p>
        </p:txBody>
      </p:sp>
      <p:sp>
        <p:nvSpPr>
          <p:cNvPr id="11" name="Text 9"/>
          <p:cNvSpPr/>
          <p:nvPr/>
        </p:nvSpPr>
        <p:spPr>
          <a:xfrm>
            <a:off x="1463040" y="4279392"/>
            <a:ext cx="9235440" cy="411480"/>
          </a:xfrm>
          <a:prstGeom prst="rect">
            <a:avLst/>
          </a:prstGeom>
          <a:noFill/>
          <a:ln/>
        </p:spPr>
        <p:txBody>
          <a:bodyPr wrap="square" lIns="0" tIns="0" rIns="0" bIns="0" rtlCol="0" anchor="ctr"/>
          <a:lstStyle/>
          <a:p>
            <a:pPr marL="0" indent="0" algn="ctr">
              <a:buNone/>
            </a:pPr>
            <a:r>
              <a:rPr lang="en-US" sz="1550" dirty="0">
                <a:solidFill>
                  <a:srgbClr val="667085"/>
                </a:solidFill>
              </a:rPr>
              <a:t>It should recover only task-relevant, evidence-supported C/S/V from the pre-prompt project state.</a:t>
            </a:r>
            <a:endParaRPr lang="en-US" sz="1550" dirty="0"/>
          </a:p>
        </p:txBody>
      </p:sp>
      <p:sp>
        <p:nvSpPr>
          <p:cNvPr id="12" name="Text 10"/>
          <p:cNvSpPr/>
          <p:nvPr/>
        </p:nvSpPr>
        <p:spPr>
          <a:xfrm>
            <a:off x="3200400" y="5074920"/>
            <a:ext cx="2560320" cy="594360"/>
          </a:xfrm>
          <a:prstGeom prst="rect">
            <a:avLst/>
          </a:prstGeom>
          <a:solidFill>
            <a:srgbClr val="FFFFFF"/>
          </a:solidFill>
          <a:ln w="13970">
            <a:solidFill>
              <a:srgbClr val="0B2559"/>
            </a:solidFill>
          </a:ln>
        </p:spPr>
        <p:txBody>
          <a:bodyPr wrap="square" lIns="1270" tIns="1270" rIns="1270" bIns="1270" rtlCol="0" anchor="ctr">
            <a:normAutofit/>
          </a:bodyPr>
          <a:lstStyle/>
          <a:p>
            <a:pPr marL="0" indent="0" algn="ctr">
              <a:buNone/>
            </a:pPr>
            <a:r>
              <a:rPr lang="en-US" sz="1300" b="1" dirty="0">
                <a:solidFill>
                  <a:srgbClr val="0B2559"/>
                </a:solidFill>
              </a:rPr>
              <a:t>Recovered evidence must have provenance</a:t>
            </a:r>
            <a:endParaRPr lang="en-US" sz="1300" dirty="0"/>
          </a:p>
        </p:txBody>
      </p:sp>
      <p:sp>
        <p:nvSpPr>
          <p:cNvPr id="13" name="Text 11"/>
          <p:cNvSpPr/>
          <p:nvPr/>
        </p:nvSpPr>
        <p:spPr>
          <a:xfrm>
            <a:off x="6400800" y="5074920"/>
            <a:ext cx="3017520" cy="594360"/>
          </a:xfrm>
          <a:prstGeom prst="rect">
            <a:avLst/>
          </a:prstGeom>
          <a:solidFill>
            <a:srgbClr val="FFFFFF"/>
          </a:solidFill>
          <a:ln w="13970">
            <a:solidFill>
              <a:srgbClr val="C62828"/>
            </a:solidFill>
          </a:ln>
        </p:spPr>
        <p:txBody>
          <a:bodyPr wrap="square" lIns="1270" tIns="1270" rIns="1270" bIns="1270" rtlCol="0" anchor="ctr">
            <a:normAutofit/>
          </a:bodyPr>
          <a:lstStyle/>
          <a:p>
            <a:pPr marL="0" indent="0" algn="ctr">
              <a:buNone/>
            </a:pPr>
            <a:r>
              <a:rPr lang="en-US" sz="1300" b="1" dirty="0">
                <a:solidFill>
                  <a:srgbClr val="C62828"/>
                </a:solidFill>
              </a:rPr>
              <a:t>Final implementation stays sealed until evaluation</a:t>
            </a:r>
            <a:endParaRPr lang="en-US" sz="1300" dirty="0"/>
          </a:p>
        </p:txBody>
      </p:sp>
      <p:sp>
        <p:nvSpPr>
          <p:cNvPr id="14" name="Text 12"/>
          <p:cNvSpPr/>
          <p:nvPr/>
        </p:nvSpPr>
        <p:spPr>
          <a:xfrm>
            <a:off x="411480" y="6556248"/>
            <a:ext cx="6583680" cy="164592"/>
          </a:xfrm>
          <a:prstGeom prst="rect">
            <a:avLst/>
          </a:prstGeom>
          <a:noFill/>
          <a:ln/>
        </p:spPr>
        <p:txBody>
          <a:bodyPr wrap="square" lIns="0" tIns="0" rIns="0" bIns="0" rtlCol="0" anchor="ctr"/>
          <a:lstStyle/>
          <a:p>
            <a:pPr marL="0" indent="0">
              <a:buNone/>
            </a:pPr>
            <a:r>
              <a:rPr lang="en-US" sz="750" dirty="0">
                <a:solidFill>
                  <a:srgbClr val="667085"/>
                </a:solidFill>
              </a:rPr>
              <a:t>Developer Intent Reconstruction | SEVOL Lab</a:t>
            </a:r>
            <a:endParaRPr lang="en-US" sz="750" dirty="0"/>
          </a:p>
        </p:txBody>
      </p:sp>
      <p:sp>
        <p:nvSpPr>
          <p:cNvPr id="15" name="Text 13"/>
          <p:cNvSpPr/>
          <p:nvPr/>
        </p:nvSpPr>
        <p:spPr>
          <a:xfrm>
            <a:off x="11292840" y="6556248"/>
            <a:ext cx="457200" cy="164592"/>
          </a:xfrm>
          <a:prstGeom prst="rect">
            <a:avLst/>
          </a:prstGeom>
          <a:noFill/>
          <a:ln/>
        </p:spPr>
        <p:txBody>
          <a:bodyPr wrap="square" lIns="0" tIns="0" rIns="0" bIns="0" rtlCol="0" anchor="ctr"/>
          <a:lstStyle/>
          <a:p>
            <a:pPr marL="0" indent="0" algn="r">
              <a:buNone/>
            </a:pPr>
            <a:r>
              <a:rPr lang="en-US" sz="750" dirty="0">
                <a:solidFill>
                  <a:srgbClr val="667085"/>
                </a:solidFill>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lstStyle/>
          <a:p>
            <a:pPr marL="0" indent="0">
              <a:buNone/>
            </a:pPr>
            <a:r>
              <a:rPr lang="en-US" sz="2500" b="1" dirty="0">
                <a:solidFill>
                  <a:srgbClr val="0B2559"/>
                </a:solidFill>
                <a:latin typeface="Aptos Display" pitchFamily="34" charset="0"/>
                <a:ea typeface="Aptos Display" pitchFamily="34" charset="-122"/>
                <a:cs typeface="Aptos Display" pitchFamily="34" charset="-120"/>
              </a:rPr>
              <a:t>Three research questions</a:t>
            </a:r>
            <a:endParaRPr lang="en-US" sz="2500" dirty="0"/>
          </a:p>
        </p:txBody>
      </p:sp>
      <p:sp>
        <p:nvSpPr>
          <p:cNvPr id="3" name="Text 1"/>
          <p:cNvSpPr/>
          <p:nvPr/>
        </p:nvSpPr>
        <p:spPr>
          <a:xfrm>
            <a:off x="429768" y="667512"/>
            <a:ext cx="10789920" cy="256032"/>
          </a:xfrm>
          <a:prstGeom prst="rect">
            <a:avLst/>
          </a:prstGeom>
          <a:noFill/>
          <a:ln/>
        </p:spPr>
        <p:txBody>
          <a:bodyPr wrap="square" lIns="0" tIns="0" rIns="0" bIns="0" rtlCol="0" anchor="ctr"/>
          <a:lstStyle/>
          <a:p>
            <a:pPr marL="0" indent="0">
              <a:buNone/>
            </a:pPr>
            <a:r>
              <a:rPr lang="en-US" sz="1050" dirty="0">
                <a:solidFill>
                  <a:srgbClr val="667085"/>
                </a:solidFill>
              </a:rPr>
              <a:t>The questions move from prompt underspecification to evidence recovery to downstream effect.</a:t>
            </a:r>
            <a:endParaRPr lang="en-US" sz="1050" dirty="0"/>
          </a:p>
        </p:txBody>
      </p:sp>
      <p:sp>
        <p:nvSpPr>
          <p:cNvPr id="4" name="Shape 2"/>
          <p:cNvSpPr/>
          <p:nvPr/>
        </p:nvSpPr>
        <p:spPr>
          <a:xfrm>
            <a:off x="411480" y="941832"/>
            <a:ext cx="11292840" cy="0"/>
          </a:xfrm>
          <a:prstGeom prst="line">
            <a:avLst/>
          </a:prstGeom>
          <a:noFill/>
          <a:ln w="12700">
            <a:solidFill>
              <a:srgbClr val="D0D7E2"/>
            </a:solidFill>
            <a:prstDash val="solid"/>
          </a:ln>
        </p:spPr>
        <p:txBody>
          <a:bodyPr/>
          <a:lstStyle/>
          <a:p>
            <a:endParaRPr lang="en-US"/>
          </a:p>
        </p:txBody>
      </p:sp>
      <p:sp>
        <p:nvSpPr>
          <p:cNvPr id="5" name="Text 3"/>
          <p:cNvSpPr/>
          <p:nvPr/>
        </p:nvSpPr>
        <p:spPr>
          <a:xfrm>
            <a:off x="685800" y="1417320"/>
            <a:ext cx="3291840" cy="2011680"/>
          </a:xfrm>
          <a:prstGeom prst="rect">
            <a:avLst/>
          </a:prstGeom>
          <a:solidFill>
            <a:srgbClr val="FFFFFF"/>
          </a:solidFill>
          <a:ln w="13970">
            <a:solidFill>
              <a:srgbClr val="0B2559"/>
            </a:solidFill>
          </a:ln>
        </p:spPr>
        <p:txBody>
          <a:bodyPr wrap="square" lIns="1270" tIns="1270" rIns="1270" bIns="1270" rtlCol="0" anchor="ctr">
            <a:normAutofit/>
          </a:bodyPr>
          <a:lstStyle/>
          <a:p>
            <a:pPr marL="0" indent="0" algn="ctr">
              <a:buNone/>
            </a:pPr>
            <a:r>
              <a:rPr lang="en-US" sz="1500" b="1" dirty="0">
                <a:solidFill>
                  <a:srgbClr val="0B2559"/>
                </a:solidFill>
              </a:rPr>
              <a:t>RQ1</a:t>
            </a:r>
            <a:endParaRPr lang="en-US" sz="1500" dirty="0"/>
          </a:p>
          <a:p>
            <a:pPr marL="0" indent="0" algn="ctr">
              <a:buNone/>
            </a:pPr>
            <a:r>
              <a:rPr lang="en-US" sz="1500" b="1" dirty="0">
                <a:solidFill>
                  <a:srgbClr val="0B2559"/>
                </a:solidFill>
              </a:rPr>
              <a:t>Prompt underspecification</a:t>
            </a:r>
            <a:endParaRPr lang="en-US" sz="1500" dirty="0"/>
          </a:p>
          <a:p>
            <a:pPr marL="0" indent="0" algn="ctr">
              <a:buNone/>
            </a:pPr>
            <a:endParaRPr lang="en-US" sz="1500" dirty="0"/>
          </a:p>
          <a:p>
            <a:pPr marL="0" indent="0" algn="ctr">
              <a:buNone/>
            </a:pPr>
            <a:r>
              <a:rPr lang="en-US" sz="1500" b="1" dirty="0">
                <a:solidFill>
                  <a:srgbClr val="0B2559"/>
                </a:solidFill>
              </a:rPr>
              <a:t>What C/S/V information is absent or insufficiently expressed?</a:t>
            </a:r>
            <a:endParaRPr lang="en-US" sz="1500" dirty="0"/>
          </a:p>
        </p:txBody>
      </p:sp>
      <p:sp>
        <p:nvSpPr>
          <p:cNvPr id="6" name="Text 4"/>
          <p:cNvSpPr/>
          <p:nvPr/>
        </p:nvSpPr>
        <p:spPr>
          <a:xfrm>
            <a:off x="4443984" y="1417320"/>
            <a:ext cx="3291840" cy="2011680"/>
          </a:xfrm>
          <a:prstGeom prst="rect">
            <a:avLst/>
          </a:prstGeom>
          <a:solidFill>
            <a:srgbClr val="E6F6F4"/>
          </a:solidFill>
          <a:ln w="13970">
            <a:solidFill>
              <a:srgbClr val="0B7A75"/>
            </a:solidFill>
          </a:ln>
        </p:spPr>
        <p:txBody>
          <a:bodyPr wrap="square" lIns="1270" tIns="1270" rIns="1270" bIns="1270" rtlCol="0" anchor="ctr">
            <a:normAutofit/>
          </a:bodyPr>
          <a:lstStyle/>
          <a:p>
            <a:pPr marL="0" indent="0" algn="ctr">
              <a:buNone/>
            </a:pPr>
            <a:r>
              <a:rPr lang="en-US" sz="1420" b="1" dirty="0">
                <a:solidFill>
                  <a:srgbClr val="0B7A75"/>
                </a:solidFill>
              </a:rPr>
              <a:t>RQ2</a:t>
            </a:r>
            <a:endParaRPr lang="en-US" sz="1420" dirty="0"/>
          </a:p>
          <a:p>
            <a:pPr marL="0" indent="0" algn="ctr">
              <a:buNone/>
            </a:pPr>
            <a:r>
              <a:rPr lang="en-US" sz="1420" b="1" dirty="0">
                <a:solidFill>
                  <a:srgbClr val="0B7A75"/>
                </a:solidFill>
              </a:rPr>
              <a:t>Evidence-grounded reconstruction</a:t>
            </a:r>
            <a:endParaRPr lang="en-US" sz="1420" dirty="0"/>
          </a:p>
          <a:p>
            <a:pPr marL="0" indent="0" algn="ctr">
              <a:buNone/>
            </a:pPr>
            <a:endParaRPr lang="en-US" sz="1420" dirty="0"/>
          </a:p>
          <a:p>
            <a:pPr marL="0" indent="0" algn="ctr">
              <a:buNone/>
            </a:pPr>
            <a:r>
              <a:rPr lang="en-US" sz="1420" b="1" dirty="0">
                <a:solidFill>
                  <a:srgbClr val="0B7A75"/>
                </a:solidFill>
              </a:rPr>
              <a:t>Can missing C/S/V be recovered from artifacts available at prompt time?</a:t>
            </a:r>
            <a:endParaRPr lang="en-US" sz="1420" dirty="0"/>
          </a:p>
        </p:txBody>
      </p:sp>
      <p:sp>
        <p:nvSpPr>
          <p:cNvPr id="7" name="Text 5"/>
          <p:cNvSpPr/>
          <p:nvPr/>
        </p:nvSpPr>
        <p:spPr>
          <a:xfrm>
            <a:off x="8211312" y="1417320"/>
            <a:ext cx="3291840" cy="2011680"/>
          </a:xfrm>
          <a:prstGeom prst="rect">
            <a:avLst/>
          </a:prstGeom>
          <a:solidFill>
            <a:srgbClr val="FFF3DA"/>
          </a:solidFill>
          <a:ln w="13970">
            <a:solidFill>
              <a:srgbClr val="F28C28"/>
            </a:solidFill>
          </a:ln>
        </p:spPr>
        <p:txBody>
          <a:bodyPr wrap="square" lIns="1270" tIns="1270" rIns="1270" bIns="1270" rtlCol="0" anchor="ctr">
            <a:normAutofit/>
          </a:bodyPr>
          <a:lstStyle/>
          <a:p>
            <a:pPr marL="0" indent="0" algn="ctr">
              <a:buNone/>
            </a:pPr>
            <a:r>
              <a:rPr lang="en-US" sz="1420" b="1" dirty="0">
                <a:solidFill>
                  <a:srgbClr val="F28C28"/>
                </a:solidFill>
              </a:rPr>
              <a:t>RQ3</a:t>
            </a:r>
            <a:endParaRPr lang="en-US" sz="1420" dirty="0"/>
          </a:p>
          <a:p>
            <a:pPr marL="0" indent="0" algn="ctr">
              <a:buNone/>
            </a:pPr>
            <a:r>
              <a:rPr lang="en-US" sz="1420" b="1" dirty="0">
                <a:solidFill>
                  <a:srgbClr val="F28C28"/>
                </a:solidFill>
              </a:rPr>
              <a:t>Effectiveness and limits</a:t>
            </a:r>
            <a:endParaRPr lang="en-US" sz="1420" dirty="0"/>
          </a:p>
          <a:p>
            <a:pPr marL="0" indent="0" algn="ctr">
              <a:buNone/>
            </a:pPr>
            <a:endParaRPr lang="en-US" sz="1420" dirty="0"/>
          </a:p>
          <a:p>
            <a:pPr marL="0" indent="0" algn="ctr">
              <a:buNone/>
            </a:pPr>
            <a:r>
              <a:rPr lang="en-US" sz="1420" b="1" dirty="0">
                <a:solidFill>
                  <a:srgbClr val="F28C28"/>
                </a:solidFill>
              </a:rPr>
              <a:t>Does reconstruction improve generated code, and why do differences remain?</a:t>
            </a:r>
            <a:endParaRPr lang="en-US" sz="1420" dirty="0"/>
          </a:p>
        </p:txBody>
      </p:sp>
      <p:sp>
        <p:nvSpPr>
          <p:cNvPr id="8" name="Shape 6"/>
          <p:cNvSpPr/>
          <p:nvPr/>
        </p:nvSpPr>
        <p:spPr>
          <a:xfrm>
            <a:off x="4041648" y="2423160"/>
            <a:ext cx="329184" cy="0"/>
          </a:xfrm>
          <a:prstGeom prst="line">
            <a:avLst/>
          </a:prstGeom>
          <a:noFill/>
          <a:ln w="27940">
            <a:solidFill>
              <a:srgbClr val="0B2559"/>
            </a:solidFill>
            <a:prstDash val="solid"/>
            <a:headEnd type="none"/>
            <a:tailEnd type="triangle"/>
          </a:ln>
        </p:spPr>
        <p:txBody>
          <a:bodyPr/>
          <a:lstStyle/>
          <a:p>
            <a:endParaRPr lang="en-US"/>
          </a:p>
        </p:txBody>
      </p:sp>
      <p:sp>
        <p:nvSpPr>
          <p:cNvPr id="9" name="Shape 7"/>
          <p:cNvSpPr/>
          <p:nvPr/>
        </p:nvSpPr>
        <p:spPr>
          <a:xfrm>
            <a:off x="7808976" y="2423160"/>
            <a:ext cx="329184" cy="0"/>
          </a:xfrm>
          <a:prstGeom prst="line">
            <a:avLst/>
          </a:prstGeom>
          <a:noFill/>
          <a:ln w="27940">
            <a:solidFill>
              <a:srgbClr val="0B2559"/>
            </a:solidFill>
            <a:prstDash val="solid"/>
            <a:headEnd type="none"/>
            <a:tailEnd type="triangle"/>
          </a:ln>
        </p:spPr>
        <p:txBody>
          <a:bodyPr/>
          <a:lstStyle/>
          <a:p>
            <a:endParaRPr lang="en-US"/>
          </a:p>
        </p:txBody>
      </p:sp>
      <p:sp>
        <p:nvSpPr>
          <p:cNvPr id="10" name="Text 8"/>
          <p:cNvSpPr/>
          <p:nvPr/>
        </p:nvSpPr>
        <p:spPr>
          <a:xfrm>
            <a:off x="868680" y="4187952"/>
            <a:ext cx="1828800" cy="256032"/>
          </a:xfrm>
          <a:prstGeom prst="rect">
            <a:avLst/>
          </a:prstGeom>
          <a:noFill/>
          <a:ln/>
        </p:spPr>
        <p:txBody>
          <a:bodyPr wrap="square" lIns="0" tIns="0" rIns="0" bIns="0" rtlCol="0" anchor="ctr"/>
          <a:lstStyle/>
          <a:p>
            <a:pPr marL="0" indent="0">
              <a:buNone/>
            </a:pPr>
            <a:r>
              <a:rPr lang="en-US" sz="1200" b="1" dirty="0">
                <a:solidFill>
                  <a:srgbClr val="0B2559"/>
                </a:solidFill>
              </a:rPr>
              <a:t>Working outputs</a:t>
            </a:r>
            <a:endParaRPr lang="en-US" sz="1200" dirty="0"/>
          </a:p>
        </p:txBody>
      </p:sp>
      <p:sp>
        <p:nvSpPr>
          <p:cNvPr id="11" name="Text 9"/>
          <p:cNvSpPr/>
          <p:nvPr/>
        </p:nvSpPr>
        <p:spPr>
          <a:xfrm>
            <a:off x="960120" y="4526280"/>
            <a:ext cx="4572000" cy="1143000"/>
          </a:xfrm>
          <a:prstGeom prst="rect">
            <a:avLst/>
          </a:prstGeom>
          <a:noFill/>
          <a:ln/>
        </p:spPr>
        <p:txBody>
          <a:bodyPr wrap="square" lIns="254" tIns="254" rIns="254" bIns="254" rtlCol="0" anchor="t">
            <a:normAutofit/>
          </a:bodyPr>
          <a:lstStyle/>
          <a:p>
            <a:pPr marL="152400" indent="-152400">
              <a:buSzPct val="100000"/>
              <a:buChar char="•"/>
            </a:pPr>
            <a:r>
              <a:rPr lang="en-US" sz="1350" dirty="0">
                <a:solidFill>
                  <a:srgbClr val="101828"/>
                </a:solidFill>
              </a:rPr>
              <a:t>CSV deficiency profile</a:t>
            </a:r>
            <a:endParaRPr lang="en-US" sz="1350" dirty="0"/>
          </a:p>
          <a:p>
            <a:pPr marL="152400" indent="-152400">
              <a:buSzPct val="100000"/>
              <a:buChar char="•"/>
            </a:pPr>
            <a:r>
              <a:rPr lang="en-US" sz="1350" dirty="0">
                <a:solidFill>
                  <a:srgbClr val="101828"/>
                </a:solidFill>
              </a:rPr>
              <a:t>Recoverable evidence map</a:t>
            </a:r>
            <a:endParaRPr lang="en-US" sz="1350" dirty="0"/>
          </a:p>
          <a:p>
            <a:pPr marL="152400" indent="-152400">
              <a:buSzPct val="100000"/>
              <a:buChar char="•"/>
            </a:pPr>
            <a:r>
              <a:rPr lang="en-US" sz="1350" dirty="0">
                <a:solidFill>
                  <a:srgbClr val="101828"/>
                </a:solidFill>
              </a:rPr>
              <a:t>Reconstructed prompts</a:t>
            </a:r>
            <a:endParaRPr lang="en-US" sz="1350" dirty="0"/>
          </a:p>
          <a:p>
            <a:pPr marL="152400" indent="-152400">
              <a:buSzPct val="100000"/>
              <a:buChar char="•"/>
            </a:pPr>
            <a:r>
              <a:rPr lang="en-US" sz="1350" dirty="0">
                <a:solidFill>
                  <a:srgbClr val="101828"/>
                </a:solidFill>
              </a:rPr>
              <a:t>Code comparisons and residual taxonomy</a:t>
            </a:r>
            <a:endParaRPr lang="en-US" sz="1350" dirty="0"/>
          </a:p>
        </p:txBody>
      </p:sp>
      <p:sp>
        <p:nvSpPr>
          <p:cNvPr id="12" name="Text 10"/>
          <p:cNvSpPr/>
          <p:nvPr/>
        </p:nvSpPr>
        <p:spPr>
          <a:xfrm>
            <a:off x="6446520" y="4187952"/>
            <a:ext cx="1645920" cy="256032"/>
          </a:xfrm>
          <a:prstGeom prst="rect">
            <a:avLst/>
          </a:prstGeom>
          <a:noFill/>
          <a:ln/>
        </p:spPr>
        <p:txBody>
          <a:bodyPr wrap="square" lIns="0" tIns="0" rIns="0" bIns="0" rtlCol="0" anchor="ctr"/>
          <a:lstStyle/>
          <a:p>
            <a:pPr marL="0" indent="0">
              <a:buNone/>
            </a:pPr>
            <a:r>
              <a:rPr lang="en-US" sz="1200" b="1" dirty="0">
                <a:solidFill>
                  <a:srgbClr val="0B2559"/>
                </a:solidFill>
              </a:rPr>
              <a:t>Strategic path</a:t>
            </a:r>
            <a:endParaRPr lang="en-US" sz="1200" dirty="0"/>
          </a:p>
        </p:txBody>
      </p:sp>
      <p:sp>
        <p:nvSpPr>
          <p:cNvPr id="13" name="Text 11"/>
          <p:cNvSpPr/>
          <p:nvPr/>
        </p:nvSpPr>
        <p:spPr>
          <a:xfrm>
            <a:off x="6446520" y="4553712"/>
            <a:ext cx="4754880" cy="685800"/>
          </a:xfrm>
          <a:prstGeom prst="rect">
            <a:avLst/>
          </a:prstGeom>
          <a:noFill/>
          <a:ln/>
        </p:spPr>
        <p:txBody>
          <a:bodyPr wrap="square" lIns="508" tIns="508" rIns="508" bIns="508" rtlCol="0" anchor="ctr">
            <a:normAutofit/>
          </a:bodyPr>
          <a:lstStyle/>
          <a:p>
            <a:pPr marL="0" indent="0">
              <a:buNone/>
            </a:pPr>
            <a:r>
              <a:rPr lang="en-US" sz="1600" b="1" dirty="0">
                <a:solidFill>
                  <a:srgbClr val="0B2559"/>
                </a:solidFill>
              </a:rPr>
              <a:t>Short paper: RQ1 + RQ2 feasibility on current data</a:t>
            </a:r>
            <a:endParaRPr lang="en-US" sz="1600" dirty="0"/>
          </a:p>
          <a:p>
            <a:pPr marL="0" indent="0">
              <a:buNone/>
            </a:pPr>
            <a:r>
              <a:rPr lang="en-US" sz="1600" b="1" dirty="0">
                <a:solidFill>
                  <a:srgbClr val="0B2559"/>
                </a:solidFill>
              </a:rPr>
              <a:t>Full paper: automated reconstruction + expanded evaluation</a:t>
            </a:r>
            <a:endParaRPr lang="en-US" sz="1600" dirty="0"/>
          </a:p>
        </p:txBody>
      </p:sp>
      <p:sp>
        <p:nvSpPr>
          <p:cNvPr id="14" name="Text 12"/>
          <p:cNvSpPr/>
          <p:nvPr/>
        </p:nvSpPr>
        <p:spPr>
          <a:xfrm>
            <a:off x="411480" y="6556248"/>
            <a:ext cx="6583680" cy="164592"/>
          </a:xfrm>
          <a:prstGeom prst="rect">
            <a:avLst/>
          </a:prstGeom>
          <a:noFill/>
          <a:ln/>
        </p:spPr>
        <p:txBody>
          <a:bodyPr wrap="square" lIns="0" tIns="0" rIns="0" bIns="0" rtlCol="0" anchor="ctr"/>
          <a:lstStyle/>
          <a:p>
            <a:pPr marL="0" indent="0">
              <a:buNone/>
            </a:pPr>
            <a:r>
              <a:rPr lang="en-US" sz="750" dirty="0">
                <a:solidFill>
                  <a:srgbClr val="667085"/>
                </a:solidFill>
              </a:rPr>
              <a:t>Developer Intent Reconstruction | SEVOL Lab</a:t>
            </a:r>
            <a:endParaRPr lang="en-US" sz="750" dirty="0"/>
          </a:p>
        </p:txBody>
      </p:sp>
      <p:sp>
        <p:nvSpPr>
          <p:cNvPr id="15" name="Text 13"/>
          <p:cNvSpPr/>
          <p:nvPr/>
        </p:nvSpPr>
        <p:spPr>
          <a:xfrm>
            <a:off x="11292840" y="6556248"/>
            <a:ext cx="457200" cy="164592"/>
          </a:xfrm>
          <a:prstGeom prst="rect">
            <a:avLst/>
          </a:prstGeom>
          <a:noFill/>
          <a:ln/>
        </p:spPr>
        <p:txBody>
          <a:bodyPr wrap="square" lIns="0" tIns="0" rIns="0" bIns="0" rtlCol="0" anchor="ctr"/>
          <a:lstStyle/>
          <a:p>
            <a:pPr marL="0" indent="0" algn="r">
              <a:buNone/>
            </a:pPr>
            <a:r>
              <a:rPr lang="en-US" sz="750" dirty="0">
                <a:solidFill>
                  <a:srgbClr val="667085"/>
                </a:solidFill>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lstStyle/>
          <a:p>
            <a:pPr marL="0" indent="0">
              <a:buNone/>
            </a:pPr>
            <a:r>
              <a:rPr lang="en-US" sz="2500" b="1" dirty="0">
                <a:solidFill>
                  <a:srgbClr val="0B2559"/>
                </a:solidFill>
                <a:latin typeface="Aptos Display" pitchFamily="34" charset="0"/>
                <a:ea typeface="Aptos Display" pitchFamily="34" charset="-122"/>
                <a:cs typeface="Aptos Display" pitchFamily="34" charset="-120"/>
              </a:rPr>
              <a:t>The temporal boundary is non-negotiable</a:t>
            </a:r>
            <a:endParaRPr lang="en-US" sz="2500" dirty="0"/>
          </a:p>
        </p:txBody>
      </p:sp>
      <p:sp>
        <p:nvSpPr>
          <p:cNvPr id="3" name="Text 1"/>
          <p:cNvSpPr/>
          <p:nvPr/>
        </p:nvSpPr>
        <p:spPr>
          <a:xfrm>
            <a:off x="429768" y="667512"/>
            <a:ext cx="10789920" cy="256032"/>
          </a:xfrm>
          <a:prstGeom prst="rect">
            <a:avLst/>
          </a:prstGeom>
          <a:noFill/>
          <a:ln/>
        </p:spPr>
        <p:txBody>
          <a:bodyPr wrap="square" lIns="0" tIns="0" rIns="0" bIns="0" rtlCol="0" anchor="ctr"/>
          <a:lstStyle/>
          <a:p>
            <a:pPr marL="0" indent="0">
              <a:buNone/>
            </a:pPr>
            <a:r>
              <a:rPr lang="en-US" sz="1050" dirty="0">
                <a:solidFill>
                  <a:srgbClr val="667085"/>
                </a:solidFill>
              </a:rPr>
              <a:t>This is how we avoid circular reasoning and overfitting to the final patch.</a:t>
            </a:r>
            <a:endParaRPr lang="en-US" sz="1050" dirty="0"/>
          </a:p>
        </p:txBody>
      </p:sp>
      <p:sp>
        <p:nvSpPr>
          <p:cNvPr id="4" name="Shape 2"/>
          <p:cNvSpPr/>
          <p:nvPr/>
        </p:nvSpPr>
        <p:spPr>
          <a:xfrm>
            <a:off x="411480" y="941832"/>
            <a:ext cx="11292840" cy="0"/>
          </a:xfrm>
          <a:prstGeom prst="line">
            <a:avLst/>
          </a:prstGeom>
          <a:noFill/>
          <a:ln w="12700">
            <a:solidFill>
              <a:srgbClr val="D0D7E2"/>
            </a:solidFill>
            <a:prstDash val="solid"/>
          </a:ln>
        </p:spPr>
        <p:txBody>
          <a:bodyPr/>
          <a:lstStyle/>
          <a:p>
            <a:endParaRPr lang="en-US"/>
          </a:p>
        </p:txBody>
      </p:sp>
      <p:sp>
        <p:nvSpPr>
          <p:cNvPr id="5" name="Shape 3"/>
          <p:cNvSpPr/>
          <p:nvPr/>
        </p:nvSpPr>
        <p:spPr>
          <a:xfrm>
            <a:off x="868680" y="2743200"/>
            <a:ext cx="10332720" cy="0"/>
          </a:xfrm>
          <a:prstGeom prst="line">
            <a:avLst/>
          </a:prstGeom>
          <a:noFill/>
          <a:ln w="25400">
            <a:solidFill>
              <a:srgbClr val="0B2559"/>
            </a:solidFill>
            <a:prstDash val="solid"/>
          </a:ln>
        </p:spPr>
        <p:txBody>
          <a:bodyPr/>
          <a:lstStyle/>
          <a:p>
            <a:endParaRPr lang="en-US"/>
          </a:p>
        </p:txBody>
      </p:sp>
      <p:sp>
        <p:nvSpPr>
          <p:cNvPr id="6" name="Shape 4"/>
          <p:cNvSpPr/>
          <p:nvPr/>
        </p:nvSpPr>
        <p:spPr>
          <a:xfrm>
            <a:off x="868680" y="2743200"/>
            <a:ext cx="10332720" cy="0"/>
          </a:xfrm>
          <a:prstGeom prst="line">
            <a:avLst/>
          </a:prstGeom>
          <a:noFill/>
          <a:ln w="25400">
            <a:solidFill>
              <a:srgbClr val="0B2559"/>
            </a:solidFill>
            <a:prstDash val="solid"/>
            <a:headEnd type="none"/>
            <a:tailEnd type="triangle"/>
          </a:ln>
        </p:spPr>
        <p:txBody>
          <a:bodyPr/>
          <a:lstStyle/>
          <a:p>
            <a:endParaRPr lang="en-US"/>
          </a:p>
        </p:txBody>
      </p:sp>
      <p:sp>
        <p:nvSpPr>
          <p:cNvPr id="7" name="Text 5"/>
          <p:cNvSpPr/>
          <p:nvPr/>
        </p:nvSpPr>
        <p:spPr>
          <a:xfrm>
            <a:off x="914400" y="1691640"/>
            <a:ext cx="2514600" cy="960120"/>
          </a:xfrm>
          <a:prstGeom prst="rect">
            <a:avLst/>
          </a:prstGeom>
          <a:solidFill>
            <a:srgbClr val="EAF6EA"/>
          </a:solidFill>
          <a:ln w="13970">
            <a:solidFill>
              <a:srgbClr val="2E7D32"/>
            </a:solidFill>
          </a:ln>
        </p:spPr>
        <p:txBody>
          <a:bodyPr wrap="square" lIns="1270" tIns="1270" rIns="1270" bIns="1270" rtlCol="0" anchor="ctr">
            <a:normAutofit/>
          </a:bodyPr>
          <a:lstStyle/>
          <a:p>
            <a:pPr marL="0" indent="0" algn="ctr">
              <a:buNone/>
            </a:pPr>
            <a:r>
              <a:rPr lang="en-US" sz="1400" b="1" dirty="0">
                <a:solidFill>
                  <a:srgbClr val="2E7D32"/>
                </a:solidFill>
              </a:rPr>
              <a:t>Proj_pre</a:t>
            </a:r>
            <a:endParaRPr lang="en-US" sz="1400" dirty="0"/>
          </a:p>
          <a:p>
            <a:pPr marL="0" indent="0" algn="ctr">
              <a:buNone/>
            </a:pPr>
            <a:r>
              <a:rPr lang="en-US" sz="1400" b="1" dirty="0">
                <a:solidFill>
                  <a:srgbClr val="2E7D32"/>
                </a:solidFill>
              </a:rPr>
              <a:t>Allowed for reconstruction</a:t>
            </a:r>
            <a:endParaRPr lang="en-US" sz="1400" dirty="0"/>
          </a:p>
        </p:txBody>
      </p:sp>
      <p:sp>
        <p:nvSpPr>
          <p:cNvPr id="8" name="Text 6"/>
          <p:cNvSpPr/>
          <p:nvPr/>
        </p:nvSpPr>
        <p:spPr>
          <a:xfrm>
            <a:off x="4709160" y="1691640"/>
            <a:ext cx="2011680" cy="960120"/>
          </a:xfrm>
          <a:prstGeom prst="rect">
            <a:avLst/>
          </a:prstGeom>
          <a:solidFill>
            <a:srgbClr val="FFFFFF"/>
          </a:solidFill>
          <a:ln w="13970">
            <a:solidFill>
              <a:srgbClr val="0B2559"/>
            </a:solidFill>
          </a:ln>
        </p:spPr>
        <p:txBody>
          <a:bodyPr wrap="square" lIns="1270" tIns="1270" rIns="1270" bIns="1270" rtlCol="0" anchor="ctr">
            <a:normAutofit/>
          </a:bodyPr>
          <a:lstStyle/>
          <a:p>
            <a:pPr marL="0" indent="0" algn="ctr">
              <a:buNone/>
            </a:pPr>
            <a:r>
              <a:rPr lang="en-US" sz="1400" b="1" dirty="0">
                <a:solidFill>
                  <a:srgbClr val="0B2559"/>
                </a:solidFill>
              </a:rPr>
              <a:t>Prpt_orig</a:t>
            </a:r>
            <a:endParaRPr lang="en-US" sz="1400" dirty="0"/>
          </a:p>
          <a:p>
            <a:pPr marL="0" indent="0" algn="ctr">
              <a:buNone/>
            </a:pPr>
            <a:r>
              <a:rPr lang="en-US" sz="1400" b="1" dirty="0">
                <a:solidFill>
                  <a:srgbClr val="0B2559"/>
                </a:solidFill>
              </a:rPr>
              <a:t>Prompt issued</a:t>
            </a:r>
            <a:endParaRPr lang="en-US" sz="1400" dirty="0"/>
          </a:p>
        </p:txBody>
      </p:sp>
      <p:sp>
        <p:nvSpPr>
          <p:cNvPr id="9" name="Text 7"/>
          <p:cNvSpPr/>
          <p:nvPr/>
        </p:nvSpPr>
        <p:spPr>
          <a:xfrm>
            <a:off x="8275320" y="1691640"/>
            <a:ext cx="2514600" cy="960120"/>
          </a:xfrm>
          <a:prstGeom prst="rect">
            <a:avLst/>
          </a:prstGeom>
          <a:solidFill>
            <a:srgbClr val="FDECEC"/>
          </a:solidFill>
          <a:ln w="13970">
            <a:solidFill>
              <a:srgbClr val="C62828"/>
            </a:solidFill>
          </a:ln>
        </p:spPr>
        <p:txBody>
          <a:bodyPr wrap="square" lIns="1270" tIns="1270" rIns="1270" bIns="1270" rtlCol="0" anchor="ctr">
            <a:normAutofit/>
          </a:bodyPr>
          <a:lstStyle/>
          <a:p>
            <a:pPr marL="0" indent="0" algn="ctr">
              <a:buNone/>
            </a:pPr>
            <a:r>
              <a:rPr lang="en-US" sz="1400" b="1" dirty="0">
                <a:solidFill>
                  <a:srgbClr val="C62828"/>
                </a:solidFill>
              </a:rPr>
              <a:t>Proj_post</a:t>
            </a:r>
            <a:endParaRPr lang="en-US" sz="1400" dirty="0"/>
          </a:p>
          <a:p>
            <a:pPr marL="0" indent="0" algn="ctr">
              <a:buNone/>
            </a:pPr>
            <a:r>
              <a:rPr lang="en-US" sz="1400" b="1" dirty="0">
                <a:solidFill>
                  <a:srgbClr val="C62828"/>
                </a:solidFill>
              </a:rPr>
              <a:t>Explanation only</a:t>
            </a:r>
            <a:endParaRPr lang="en-US" sz="1400" dirty="0"/>
          </a:p>
        </p:txBody>
      </p:sp>
      <p:sp>
        <p:nvSpPr>
          <p:cNvPr id="10" name="Shape 8"/>
          <p:cNvSpPr/>
          <p:nvPr/>
        </p:nvSpPr>
        <p:spPr>
          <a:xfrm>
            <a:off x="7269480" y="1234440"/>
            <a:ext cx="0" cy="3154680"/>
          </a:xfrm>
          <a:prstGeom prst="line">
            <a:avLst/>
          </a:prstGeom>
          <a:noFill/>
          <a:ln w="25400">
            <a:solidFill>
              <a:srgbClr val="C62828"/>
            </a:solidFill>
            <a:prstDash val="solid"/>
          </a:ln>
        </p:spPr>
        <p:txBody>
          <a:bodyPr/>
          <a:lstStyle/>
          <a:p>
            <a:endParaRPr lang="en-US"/>
          </a:p>
        </p:txBody>
      </p:sp>
      <p:sp>
        <p:nvSpPr>
          <p:cNvPr id="11" name="Text 9"/>
          <p:cNvSpPr/>
          <p:nvPr/>
        </p:nvSpPr>
        <p:spPr>
          <a:xfrm>
            <a:off x="7406640" y="4315968"/>
            <a:ext cx="2194560" cy="228600"/>
          </a:xfrm>
          <a:prstGeom prst="rect">
            <a:avLst/>
          </a:prstGeom>
          <a:noFill/>
          <a:ln/>
        </p:spPr>
        <p:txBody>
          <a:bodyPr wrap="square" lIns="0" tIns="0" rIns="0" bIns="0" rtlCol="0" anchor="ctr"/>
          <a:lstStyle/>
          <a:p>
            <a:pPr marL="0" indent="0">
              <a:buNone/>
            </a:pPr>
            <a:r>
              <a:rPr lang="en-US" sz="1100" b="1" dirty="0">
                <a:solidFill>
                  <a:srgbClr val="C62828"/>
                </a:solidFill>
              </a:rPr>
              <a:t>sealed until evaluation</a:t>
            </a:r>
            <a:endParaRPr lang="en-US" sz="1100" dirty="0"/>
          </a:p>
        </p:txBody>
      </p:sp>
      <p:sp>
        <p:nvSpPr>
          <p:cNvPr id="12" name="Text 10"/>
          <p:cNvSpPr/>
          <p:nvPr/>
        </p:nvSpPr>
        <p:spPr>
          <a:xfrm>
            <a:off x="731520" y="4892040"/>
            <a:ext cx="4892040" cy="868680"/>
          </a:xfrm>
          <a:prstGeom prst="rect">
            <a:avLst/>
          </a:prstGeom>
          <a:solidFill>
            <a:srgbClr val="FFFFFF"/>
          </a:solidFill>
          <a:ln w="13970">
            <a:solidFill>
              <a:srgbClr val="2E7D32"/>
            </a:solidFill>
          </a:ln>
        </p:spPr>
        <p:txBody>
          <a:bodyPr wrap="square" lIns="1270" tIns="1270" rIns="1270" bIns="1270" rtlCol="0" anchor="ctr">
            <a:normAutofit/>
          </a:bodyPr>
          <a:lstStyle/>
          <a:p>
            <a:pPr marL="0" indent="0" algn="ctr">
              <a:buNone/>
            </a:pPr>
            <a:r>
              <a:rPr lang="en-US" sz="1270" dirty="0">
                <a:solidFill>
                  <a:srgbClr val="101828"/>
                </a:solidFill>
              </a:rPr>
              <a:t>Use for RQ1/RQ2:</a:t>
            </a:r>
            <a:endParaRPr lang="en-US" sz="1270" dirty="0"/>
          </a:p>
          <a:p>
            <a:pPr marL="0" indent="0" algn="ctr">
              <a:buNone/>
            </a:pPr>
            <a:r>
              <a:rPr lang="en-US" sz="1270" dirty="0">
                <a:solidFill>
                  <a:srgbClr val="101828"/>
                </a:solidFill>
              </a:rPr>
              <a:t>source code, tests, docs, issues, history, prior PR commits, prior conversation</a:t>
            </a:r>
            <a:endParaRPr lang="en-US" sz="1270" dirty="0"/>
          </a:p>
        </p:txBody>
      </p:sp>
      <p:sp>
        <p:nvSpPr>
          <p:cNvPr id="13" name="Text 11"/>
          <p:cNvSpPr/>
          <p:nvPr/>
        </p:nvSpPr>
        <p:spPr>
          <a:xfrm>
            <a:off x="6446520" y="4892040"/>
            <a:ext cx="4983480" cy="868680"/>
          </a:xfrm>
          <a:prstGeom prst="rect">
            <a:avLst/>
          </a:prstGeom>
          <a:solidFill>
            <a:srgbClr val="FFFFFF"/>
          </a:solidFill>
          <a:ln w="13970">
            <a:solidFill>
              <a:srgbClr val="C62828"/>
            </a:solidFill>
          </a:ln>
        </p:spPr>
        <p:txBody>
          <a:bodyPr wrap="square" lIns="1270" tIns="1270" rIns="1270" bIns="1270" rtlCol="0" anchor="ctr">
            <a:normAutofit/>
          </a:bodyPr>
          <a:lstStyle/>
          <a:p>
            <a:pPr marL="0" indent="0" algn="ctr">
              <a:buNone/>
            </a:pPr>
            <a:r>
              <a:rPr lang="en-US" sz="1270" dirty="0">
                <a:solidFill>
                  <a:srgbClr val="101828"/>
                </a:solidFill>
              </a:rPr>
              <a:t>Use only in RQ3 after generation is frozen:</a:t>
            </a:r>
            <a:endParaRPr lang="en-US" sz="1270" dirty="0"/>
          </a:p>
          <a:p>
            <a:pPr marL="0" indent="0" algn="ctr">
              <a:buNone/>
            </a:pPr>
            <a:r>
              <a:rPr lang="en-US" sz="1270" dirty="0">
                <a:solidFill>
                  <a:srgbClr val="101828"/>
                </a:solidFill>
              </a:rPr>
              <a:t>later commits, review comments, CI failures, new tests, final code</a:t>
            </a:r>
            <a:endParaRPr lang="en-US" sz="1270" dirty="0"/>
          </a:p>
        </p:txBody>
      </p:sp>
      <p:sp>
        <p:nvSpPr>
          <p:cNvPr id="14" name="Text 12"/>
          <p:cNvSpPr/>
          <p:nvPr/>
        </p:nvSpPr>
        <p:spPr>
          <a:xfrm>
            <a:off x="411480" y="6556248"/>
            <a:ext cx="6583680" cy="164592"/>
          </a:xfrm>
          <a:prstGeom prst="rect">
            <a:avLst/>
          </a:prstGeom>
          <a:noFill/>
          <a:ln/>
        </p:spPr>
        <p:txBody>
          <a:bodyPr wrap="square" lIns="0" tIns="0" rIns="0" bIns="0" rtlCol="0" anchor="ctr"/>
          <a:lstStyle/>
          <a:p>
            <a:pPr marL="0" indent="0">
              <a:buNone/>
            </a:pPr>
            <a:r>
              <a:rPr lang="en-US" sz="750" dirty="0">
                <a:solidFill>
                  <a:srgbClr val="667085"/>
                </a:solidFill>
              </a:rPr>
              <a:t>Developer Intent Reconstruction | SEVOL Lab</a:t>
            </a:r>
            <a:endParaRPr lang="en-US" sz="750" dirty="0"/>
          </a:p>
        </p:txBody>
      </p:sp>
      <p:sp>
        <p:nvSpPr>
          <p:cNvPr id="15" name="Text 13"/>
          <p:cNvSpPr/>
          <p:nvPr/>
        </p:nvSpPr>
        <p:spPr>
          <a:xfrm>
            <a:off x="11292840" y="6556248"/>
            <a:ext cx="457200" cy="164592"/>
          </a:xfrm>
          <a:prstGeom prst="rect">
            <a:avLst/>
          </a:prstGeom>
          <a:noFill/>
          <a:ln/>
        </p:spPr>
        <p:txBody>
          <a:bodyPr wrap="square" lIns="0" tIns="0" rIns="0" bIns="0" rtlCol="0" anchor="ctr"/>
          <a:lstStyle/>
          <a:p>
            <a:pPr marL="0" indent="0" algn="r">
              <a:buNone/>
            </a:pPr>
            <a:r>
              <a:rPr lang="en-US" sz="750" dirty="0">
                <a:solidFill>
                  <a:srgbClr val="667085"/>
                </a:solidFill>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lstStyle/>
          <a:p>
            <a:pPr marL="0" indent="0">
              <a:buNone/>
            </a:pPr>
            <a:r>
              <a:rPr lang="en-US" sz="2500" b="1" dirty="0">
                <a:solidFill>
                  <a:srgbClr val="0B2559"/>
                </a:solidFill>
                <a:latin typeface="Aptos Display" pitchFamily="34" charset="0"/>
                <a:ea typeface="Aptos Display" pitchFamily="34" charset="-122"/>
                <a:cs typeface="Aptos Display" pitchFamily="34" charset="-120"/>
              </a:rPr>
              <a:t>What we extract for RQ1 and RQ2</a:t>
            </a:r>
            <a:endParaRPr lang="en-US" sz="2500" dirty="0"/>
          </a:p>
        </p:txBody>
      </p:sp>
      <p:sp>
        <p:nvSpPr>
          <p:cNvPr id="3" name="Text 1"/>
          <p:cNvSpPr/>
          <p:nvPr/>
        </p:nvSpPr>
        <p:spPr>
          <a:xfrm>
            <a:off x="429768" y="667512"/>
            <a:ext cx="10789920" cy="256032"/>
          </a:xfrm>
          <a:prstGeom prst="rect">
            <a:avLst/>
          </a:prstGeom>
          <a:noFill/>
          <a:ln/>
        </p:spPr>
        <p:txBody>
          <a:bodyPr wrap="square" lIns="0" tIns="0" rIns="0" bIns="0" rtlCol="0" anchor="ctr"/>
          <a:lstStyle/>
          <a:p>
            <a:pPr marL="0" indent="0">
              <a:buNone/>
            </a:pPr>
            <a:r>
              <a:rPr lang="en-US" sz="1050" dirty="0">
                <a:solidFill>
                  <a:srgbClr val="667085"/>
                </a:solidFill>
              </a:rPr>
              <a:t>C/S/V gives us a concrete operational model of missing intent.</a:t>
            </a:r>
            <a:endParaRPr lang="en-US" sz="1050" dirty="0"/>
          </a:p>
        </p:txBody>
      </p:sp>
      <p:sp>
        <p:nvSpPr>
          <p:cNvPr id="4" name="Shape 2"/>
          <p:cNvSpPr/>
          <p:nvPr/>
        </p:nvSpPr>
        <p:spPr>
          <a:xfrm>
            <a:off x="411480" y="941832"/>
            <a:ext cx="11292840" cy="0"/>
          </a:xfrm>
          <a:prstGeom prst="line">
            <a:avLst/>
          </a:prstGeom>
          <a:noFill/>
          <a:ln w="12700">
            <a:solidFill>
              <a:srgbClr val="D0D7E2"/>
            </a:solidFill>
            <a:prstDash val="solid"/>
          </a:ln>
        </p:spPr>
        <p:txBody>
          <a:bodyPr/>
          <a:lstStyle/>
          <a:p>
            <a:endParaRPr lang="en-US"/>
          </a:p>
        </p:txBody>
      </p:sp>
      <p:sp>
        <p:nvSpPr>
          <p:cNvPr id="5" name="Text 3"/>
          <p:cNvSpPr/>
          <p:nvPr/>
        </p:nvSpPr>
        <p:spPr>
          <a:xfrm>
            <a:off x="594360" y="1325880"/>
            <a:ext cx="1874520" cy="502920"/>
          </a:xfrm>
          <a:prstGeom prst="rect">
            <a:avLst/>
          </a:prstGeom>
          <a:solidFill>
            <a:srgbClr val="0B2559"/>
          </a:solidFill>
          <a:ln w="13970">
            <a:solidFill>
              <a:srgbClr val="0B2559"/>
            </a:solidFill>
          </a:ln>
        </p:spPr>
        <p:txBody>
          <a:bodyPr wrap="square" lIns="1270" tIns="1270" rIns="1270" bIns="1270" rtlCol="0" anchor="ctr">
            <a:normAutofit/>
          </a:bodyPr>
          <a:lstStyle/>
          <a:p>
            <a:pPr marL="0" indent="0" algn="ctr">
              <a:buNone/>
            </a:pPr>
            <a:r>
              <a:rPr lang="en-US" sz="1300" b="1" dirty="0">
                <a:solidFill>
                  <a:srgbClr val="FFFFFF"/>
                </a:solidFill>
              </a:rPr>
              <a:t>Dimension</a:t>
            </a:r>
            <a:endParaRPr lang="en-US" sz="1300" dirty="0"/>
          </a:p>
        </p:txBody>
      </p:sp>
      <p:sp>
        <p:nvSpPr>
          <p:cNvPr id="6" name="Text 4"/>
          <p:cNvSpPr/>
          <p:nvPr/>
        </p:nvSpPr>
        <p:spPr>
          <a:xfrm>
            <a:off x="2514600" y="1325880"/>
            <a:ext cx="3749040" cy="502920"/>
          </a:xfrm>
          <a:prstGeom prst="rect">
            <a:avLst/>
          </a:prstGeom>
          <a:solidFill>
            <a:srgbClr val="0B2559"/>
          </a:solidFill>
          <a:ln w="13970">
            <a:solidFill>
              <a:srgbClr val="0B2559"/>
            </a:solidFill>
          </a:ln>
        </p:spPr>
        <p:txBody>
          <a:bodyPr wrap="square" lIns="1270" tIns="1270" rIns="1270" bIns="1270" rtlCol="0" anchor="ctr">
            <a:normAutofit/>
          </a:bodyPr>
          <a:lstStyle/>
          <a:p>
            <a:pPr marL="0" indent="0" algn="ctr">
              <a:buNone/>
            </a:pPr>
            <a:r>
              <a:rPr lang="en-US" sz="1300" b="1" dirty="0">
                <a:solidFill>
                  <a:srgbClr val="FFFFFF"/>
                </a:solidFill>
              </a:rPr>
              <a:t>RQ1: what is missing?</a:t>
            </a:r>
            <a:endParaRPr lang="en-US" sz="1300" dirty="0"/>
          </a:p>
        </p:txBody>
      </p:sp>
      <p:sp>
        <p:nvSpPr>
          <p:cNvPr id="7" name="Text 5"/>
          <p:cNvSpPr/>
          <p:nvPr/>
        </p:nvSpPr>
        <p:spPr>
          <a:xfrm>
            <a:off x="6309360" y="1325880"/>
            <a:ext cx="5257800" cy="502920"/>
          </a:xfrm>
          <a:prstGeom prst="rect">
            <a:avLst/>
          </a:prstGeom>
          <a:solidFill>
            <a:srgbClr val="0B2559"/>
          </a:solidFill>
          <a:ln w="13970">
            <a:solidFill>
              <a:srgbClr val="0B2559"/>
            </a:solidFill>
          </a:ln>
        </p:spPr>
        <p:txBody>
          <a:bodyPr wrap="square" lIns="1270" tIns="1270" rIns="1270" bIns="1270" rtlCol="0" anchor="ctr">
            <a:normAutofit/>
          </a:bodyPr>
          <a:lstStyle/>
          <a:p>
            <a:pPr marL="0" indent="0" algn="ctr">
              <a:buNone/>
            </a:pPr>
            <a:r>
              <a:rPr lang="en-US" sz="1300" b="1" dirty="0">
                <a:solidFill>
                  <a:srgbClr val="FFFFFF"/>
                </a:solidFill>
              </a:rPr>
              <a:t>RQ2: where can we recover it?</a:t>
            </a:r>
            <a:endParaRPr lang="en-US" sz="1300" dirty="0"/>
          </a:p>
        </p:txBody>
      </p:sp>
      <p:sp>
        <p:nvSpPr>
          <p:cNvPr id="8" name="Text 6"/>
          <p:cNvSpPr/>
          <p:nvPr/>
        </p:nvSpPr>
        <p:spPr>
          <a:xfrm>
            <a:off x="594360" y="1920240"/>
            <a:ext cx="1874520" cy="960120"/>
          </a:xfrm>
          <a:prstGeom prst="rect">
            <a:avLst/>
          </a:prstGeom>
          <a:solidFill>
            <a:srgbClr val="E6F6F4"/>
          </a:solidFill>
          <a:ln w="13970">
            <a:solidFill>
              <a:srgbClr val="0B7A75"/>
            </a:solidFill>
          </a:ln>
        </p:spPr>
        <p:txBody>
          <a:bodyPr wrap="square" lIns="1270" tIns="1270" rIns="1270" bIns="1270" rtlCol="0" anchor="ctr">
            <a:normAutofit/>
          </a:bodyPr>
          <a:lstStyle/>
          <a:p>
            <a:pPr marL="0" indent="0" algn="ctr">
              <a:buNone/>
            </a:pPr>
            <a:r>
              <a:rPr lang="en-US" sz="1400" b="1" dirty="0">
                <a:solidFill>
                  <a:srgbClr val="0B7A75"/>
                </a:solidFill>
              </a:rPr>
              <a:t>Context</a:t>
            </a:r>
            <a:endParaRPr lang="en-US" sz="1400" dirty="0"/>
          </a:p>
        </p:txBody>
      </p:sp>
      <p:sp>
        <p:nvSpPr>
          <p:cNvPr id="9" name="Text 7"/>
          <p:cNvSpPr/>
          <p:nvPr/>
        </p:nvSpPr>
        <p:spPr>
          <a:xfrm>
            <a:off x="2514600" y="1920240"/>
            <a:ext cx="3749040" cy="960120"/>
          </a:xfrm>
          <a:prstGeom prst="rect">
            <a:avLst/>
          </a:prstGeom>
          <a:solidFill>
            <a:srgbClr val="FFFFFF"/>
          </a:solidFill>
          <a:ln w="13970">
            <a:solidFill>
              <a:srgbClr val="D0D7E2"/>
            </a:solidFill>
          </a:ln>
        </p:spPr>
        <p:txBody>
          <a:bodyPr wrap="square" lIns="1270" tIns="1270" rIns="1270" bIns="1270" rtlCol="0" anchor="ctr">
            <a:normAutofit/>
          </a:bodyPr>
          <a:lstStyle/>
          <a:p>
            <a:pPr marL="0" indent="0" algn="l">
              <a:buNone/>
            </a:pPr>
            <a:r>
              <a:rPr lang="en-US" sz="1280" dirty="0">
                <a:solidFill>
                  <a:srgbClr val="101828"/>
                </a:solidFill>
              </a:rPr>
              <a:t>locus of change, code/error evidence, technical grounding</a:t>
            </a:r>
            <a:endParaRPr lang="en-US" sz="1280" dirty="0"/>
          </a:p>
        </p:txBody>
      </p:sp>
      <p:sp>
        <p:nvSpPr>
          <p:cNvPr id="10" name="Text 8"/>
          <p:cNvSpPr/>
          <p:nvPr/>
        </p:nvSpPr>
        <p:spPr>
          <a:xfrm>
            <a:off x="6309360" y="1920240"/>
            <a:ext cx="5257800" cy="960120"/>
          </a:xfrm>
          <a:prstGeom prst="rect">
            <a:avLst/>
          </a:prstGeom>
          <a:solidFill>
            <a:srgbClr val="FFFFFF"/>
          </a:solidFill>
          <a:ln w="13970">
            <a:solidFill>
              <a:srgbClr val="D0D7E2"/>
            </a:solidFill>
          </a:ln>
        </p:spPr>
        <p:txBody>
          <a:bodyPr wrap="square" lIns="1270" tIns="1270" rIns="1270" bIns="1270" rtlCol="0" anchor="ctr">
            <a:normAutofit/>
          </a:bodyPr>
          <a:lstStyle/>
          <a:p>
            <a:pPr marL="0" indent="0" algn="l">
              <a:buNone/>
            </a:pPr>
            <a:r>
              <a:rPr lang="en-US" sz="1280" dirty="0">
                <a:solidFill>
                  <a:srgbClr val="101828"/>
                </a:solidFill>
              </a:rPr>
              <a:t>source files, stack traces, logs, APIs, prior commits</a:t>
            </a:r>
            <a:endParaRPr lang="en-US" sz="1280" dirty="0"/>
          </a:p>
        </p:txBody>
      </p:sp>
      <p:sp>
        <p:nvSpPr>
          <p:cNvPr id="11" name="Text 9"/>
          <p:cNvSpPr/>
          <p:nvPr/>
        </p:nvSpPr>
        <p:spPr>
          <a:xfrm>
            <a:off x="594360" y="3154680"/>
            <a:ext cx="1874520" cy="960120"/>
          </a:xfrm>
          <a:prstGeom prst="rect">
            <a:avLst/>
          </a:prstGeom>
          <a:solidFill>
            <a:srgbClr val="FFF3DA"/>
          </a:solidFill>
          <a:ln w="13970">
            <a:solidFill>
              <a:srgbClr val="F28C28"/>
            </a:solidFill>
          </a:ln>
        </p:spPr>
        <p:txBody>
          <a:bodyPr wrap="square" lIns="1270" tIns="1270" rIns="1270" bIns="1270" rtlCol="0" anchor="ctr">
            <a:normAutofit/>
          </a:bodyPr>
          <a:lstStyle/>
          <a:p>
            <a:pPr marL="0" indent="0" algn="ctr">
              <a:buNone/>
            </a:pPr>
            <a:r>
              <a:rPr lang="en-US" sz="1400" b="1" dirty="0">
                <a:solidFill>
                  <a:srgbClr val="F28C28"/>
                </a:solidFill>
              </a:rPr>
              <a:t>Specificity</a:t>
            </a:r>
            <a:endParaRPr lang="en-US" sz="1400" dirty="0"/>
          </a:p>
        </p:txBody>
      </p:sp>
      <p:sp>
        <p:nvSpPr>
          <p:cNvPr id="12" name="Text 10"/>
          <p:cNvSpPr/>
          <p:nvPr/>
        </p:nvSpPr>
        <p:spPr>
          <a:xfrm>
            <a:off x="2514600" y="3154680"/>
            <a:ext cx="3749040" cy="960120"/>
          </a:xfrm>
          <a:prstGeom prst="rect">
            <a:avLst/>
          </a:prstGeom>
          <a:solidFill>
            <a:srgbClr val="FFFFFF"/>
          </a:solidFill>
          <a:ln w="13970">
            <a:solidFill>
              <a:srgbClr val="D0D7E2"/>
            </a:solidFill>
          </a:ln>
        </p:spPr>
        <p:txBody>
          <a:bodyPr wrap="square" lIns="1270" tIns="1270" rIns="1270" bIns="1270" rtlCol="0" anchor="ctr">
            <a:normAutofit/>
          </a:bodyPr>
          <a:lstStyle/>
          <a:p>
            <a:pPr marL="0" indent="0" algn="l">
              <a:buNone/>
            </a:pPr>
            <a:r>
              <a:rPr lang="en-US" sz="1280" dirty="0">
                <a:solidFill>
                  <a:srgbClr val="101828"/>
                </a:solidFill>
              </a:rPr>
              <a:t>goal, scope, constraints, expected behavior</a:t>
            </a:r>
            <a:endParaRPr lang="en-US" sz="1280" dirty="0"/>
          </a:p>
        </p:txBody>
      </p:sp>
      <p:sp>
        <p:nvSpPr>
          <p:cNvPr id="13" name="Text 11"/>
          <p:cNvSpPr/>
          <p:nvPr/>
        </p:nvSpPr>
        <p:spPr>
          <a:xfrm>
            <a:off x="6309360" y="3154680"/>
            <a:ext cx="5257800" cy="960120"/>
          </a:xfrm>
          <a:prstGeom prst="rect">
            <a:avLst/>
          </a:prstGeom>
          <a:solidFill>
            <a:srgbClr val="FFFFFF"/>
          </a:solidFill>
          <a:ln w="13970">
            <a:solidFill>
              <a:srgbClr val="D0D7E2"/>
            </a:solidFill>
          </a:ln>
        </p:spPr>
        <p:txBody>
          <a:bodyPr wrap="square" lIns="1270" tIns="1270" rIns="1270" bIns="1270" rtlCol="0" anchor="ctr">
            <a:normAutofit/>
          </a:bodyPr>
          <a:lstStyle/>
          <a:p>
            <a:pPr marL="0" indent="0" algn="l">
              <a:buNone/>
            </a:pPr>
            <a:r>
              <a:rPr lang="en-US" sz="1280" dirty="0">
                <a:solidFill>
                  <a:srgbClr val="101828"/>
                </a:solidFill>
              </a:rPr>
              <a:t>issues, docs, tests, examples, call sites, dependencies</a:t>
            </a:r>
            <a:endParaRPr lang="en-US" sz="1280" dirty="0"/>
          </a:p>
        </p:txBody>
      </p:sp>
      <p:sp>
        <p:nvSpPr>
          <p:cNvPr id="14" name="Text 12"/>
          <p:cNvSpPr/>
          <p:nvPr/>
        </p:nvSpPr>
        <p:spPr>
          <a:xfrm>
            <a:off x="594360" y="4389120"/>
            <a:ext cx="1874520" cy="960120"/>
          </a:xfrm>
          <a:prstGeom prst="rect">
            <a:avLst/>
          </a:prstGeom>
          <a:solidFill>
            <a:srgbClr val="F1ECF8"/>
          </a:solidFill>
          <a:ln w="13970">
            <a:solidFill>
              <a:srgbClr val="563D7C"/>
            </a:solidFill>
          </a:ln>
        </p:spPr>
        <p:txBody>
          <a:bodyPr wrap="square" lIns="1270" tIns="1270" rIns="1270" bIns="1270" rtlCol="0" anchor="ctr">
            <a:normAutofit/>
          </a:bodyPr>
          <a:lstStyle/>
          <a:p>
            <a:pPr marL="0" indent="0" algn="ctr">
              <a:buNone/>
            </a:pPr>
            <a:r>
              <a:rPr lang="en-US" sz="1400" b="1" dirty="0">
                <a:solidFill>
                  <a:srgbClr val="563D7C"/>
                </a:solidFill>
              </a:rPr>
              <a:t>Verification</a:t>
            </a:r>
            <a:endParaRPr lang="en-US" sz="1400" dirty="0"/>
          </a:p>
        </p:txBody>
      </p:sp>
      <p:sp>
        <p:nvSpPr>
          <p:cNvPr id="15" name="Text 13"/>
          <p:cNvSpPr/>
          <p:nvPr/>
        </p:nvSpPr>
        <p:spPr>
          <a:xfrm>
            <a:off x="2514600" y="4389120"/>
            <a:ext cx="3749040" cy="960120"/>
          </a:xfrm>
          <a:prstGeom prst="rect">
            <a:avLst/>
          </a:prstGeom>
          <a:solidFill>
            <a:srgbClr val="FFFFFF"/>
          </a:solidFill>
          <a:ln w="13970">
            <a:solidFill>
              <a:srgbClr val="D0D7E2"/>
            </a:solidFill>
          </a:ln>
        </p:spPr>
        <p:txBody>
          <a:bodyPr wrap="square" lIns="1270" tIns="1270" rIns="1270" bIns="1270" rtlCol="0" anchor="ctr">
            <a:normAutofit/>
          </a:bodyPr>
          <a:lstStyle/>
          <a:p>
            <a:pPr marL="0" indent="0" algn="l">
              <a:buNone/>
            </a:pPr>
            <a:r>
              <a:rPr lang="en-US" sz="1280" dirty="0">
                <a:solidFill>
                  <a:srgbClr val="101828"/>
                </a:solidFill>
              </a:rPr>
              <a:t>tests, examples, expected outputs, acceptance checks</a:t>
            </a:r>
            <a:endParaRPr lang="en-US" sz="1280" dirty="0"/>
          </a:p>
        </p:txBody>
      </p:sp>
      <p:sp>
        <p:nvSpPr>
          <p:cNvPr id="16" name="Text 14"/>
          <p:cNvSpPr/>
          <p:nvPr/>
        </p:nvSpPr>
        <p:spPr>
          <a:xfrm>
            <a:off x="6309360" y="4389120"/>
            <a:ext cx="5257800" cy="960120"/>
          </a:xfrm>
          <a:prstGeom prst="rect">
            <a:avLst/>
          </a:prstGeom>
          <a:solidFill>
            <a:srgbClr val="FFFFFF"/>
          </a:solidFill>
          <a:ln w="13970">
            <a:solidFill>
              <a:srgbClr val="D0D7E2"/>
            </a:solidFill>
          </a:ln>
        </p:spPr>
        <p:txBody>
          <a:bodyPr wrap="square" lIns="1270" tIns="1270" rIns="1270" bIns="1270" rtlCol="0" anchor="ctr">
            <a:normAutofit/>
          </a:bodyPr>
          <a:lstStyle/>
          <a:p>
            <a:pPr marL="0" indent="0" algn="l">
              <a:buNone/>
            </a:pPr>
            <a:r>
              <a:rPr lang="en-US" sz="1280" dirty="0">
                <a:solidFill>
                  <a:srgbClr val="101828"/>
                </a:solidFill>
              </a:rPr>
              <a:t>existing tests, assertions, CI rules, examples, acceptance criteria</a:t>
            </a:r>
            <a:endParaRPr lang="en-US" sz="1280" dirty="0"/>
          </a:p>
        </p:txBody>
      </p:sp>
      <p:sp>
        <p:nvSpPr>
          <p:cNvPr id="17" name="Text 15"/>
          <p:cNvSpPr/>
          <p:nvPr/>
        </p:nvSpPr>
        <p:spPr>
          <a:xfrm>
            <a:off x="1005840" y="5806440"/>
            <a:ext cx="10058400" cy="320040"/>
          </a:xfrm>
          <a:prstGeom prst="rect">
            <a:avLst/>
          </a:prstGeom>
          <a:noFill/>
          <a:ln/>
        </p:spPr>
        <p:txBody>
          <a:bodyPr wrap="square" lIns="0" tIns="0" rIns="0" bIns="0" rtlCol="0" anchor="ctr"/>
          <a:lstStyle/>
          <a:p>
            <a:pPr marL="0" indent="0" algn="ctr">
              <a:buNone/>
            </a:pPr>
            <a:r>
              <a:rPr lang="en-US" sz="1520" b="1" dirty="0">
                <a:solidFill>
                  <a:srgbClr val="0B2559"/>
                </a:solidFill>
              </a:rPr>
              <a:t>Output: a provenance-backed reconstructed prompt, not a longer prompt full of irrelevant context.</a:t>
            </a:r>
            <a:endParaRPr lang="en-US" sz="1520" dirty="0"/>
          </a:p>
        </p:txBody>
      </p:sp>
      <p:sp>
        <p:nvSpPr>
          <p:cNvPr id="18" name="Text 16"/>
          <p:cNvSpPr/>
          <p:nvPr/>
        </p:nvSpPr>
        <p:spPr>
          <a:xfrm>
            <a:off x="411480" y="6556248"/>
            <a:ext cx="6583680" cy="164592"/>
          </a:xfrm>
          <a:prstGeom prst="rect">
            <a:avLst/>
          </a:prstGeom>
          <a:noFill/>
          <a:ln/>
        </p:spPr>
        <p:txBody>
          <a:bodyPr wrap="square" lIns="0" tIns="0" rIns="0" bIns="0" rtlCol="0" anchor="ctr"/>
          <a:lstStyle/>
          <a:p>
            <a:pPr marL="0" indent="0">
              <a:buNone/>
            </a:pPr>
            <a:r>
              <a:rPr lang="en-US" sz="750" dirty="0">
                <a:solidFill>
                  <a:srgbClr val="667085"/>
                </a:solidFill>
              </a:rPr>
              <a:t>Developer Intent Reconstruction | SEVOL Lab</a:t>
            </a:r>
            <a:endParaRPr lang="en-US" sz="750" dirty="0"/>
          </a:p>
        </p:txBody>
      </p:sp>
      <p:sp>
        <p:nvSpPr>
          <p:cNvPr id="19" name="Text 17"/>
          <p:cNvSpPr/>
          <p:nvPr/>
        </p:nvSpPr>
        <p:spPr>
          <a:xfrm>
            <a:off x="11292840" y="6556248"/>
            <a:ext cx="457200" cy="164592"/>
          </a:xfrm>
          <a:prstGeom prst="rect">
            <a:avLst/>
          </a:prstGeom>
          <a:noFill/>
          <a:ln/>
        </p:spPr>
        <p:txBody>
          <a:bodyPr wrap="square" lIns="0" tIns="0" rIns="0" bIns="0" rtlCol="0" anchor="ctr"/>
          <a:lstStyle/>
          <a:p>
            <a:pPr marL="0" indent="0" algn="r">
              <a:buNone/>
            </a:pPr>
            <a:r>
              <a:rPr lang="en-US" sz="750" dirty="0">
                <a:solidFill>
                  <a:srgbClr val="667085"/>
                </a:solidFill>
              </a:rPr>
              <a:t>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lstStyle/>
          <a:p>
            <a:pPr marL="0" indent="0">
              <a:buNone/>
            </a:pPr>
            <a:r>
              <a:rPr lang="en-US" sz="2500" b="1" dirty="0">
                <a:solidFill>
                  <a:srgbClr val="0B2559"/>
                </a:solidFill>
                <a:latin typeface="Aptos Display" pitchFamily="34" charset="0"/>
                <a:ea typeface="Aptos Display" pitchFamily="34" charset="-122"/>
                <a:cs typeface="Aptos Display" pitchFamily="34" charset="-120"/>
              </a:rPr>
              <a:t>How RQ3 tests whether reconstruction matters</a:t>
            </a:r>
            <a:endParaRPr lang="en-US" sz="2500" dirty="0"/>
          </a:p>
        </p:txBody>
      </p:sp>
      <p:sp>
        <p:nvSpPr>
          <p:cNvPr id="3" name="Text 1"/>
          <p:cNvSpPr/>
          <p:nvPr/>
        </p:nvSpPr>
        <p:spPr>
          <a:xfrm>
            <a:off x="429768" y="667512"/>
            <a:ext cx="10789920" cy="256032"/>
          </a:xfrm>
          <a:prstGeom prst="rect">
            <a:avLst/>
          </a:prstGeom>
          <a:noFill/>
          <a:ln/>
        </p:spPr>
        <p:txBody>
          <a:bodyPr wrap="square" lIns="0" tIns="0" rIns="0" bIns="0" rtlCol="0" anchor="ctr"/>
          <a:lstStyle/>
          <a:p>
            <a:pPr marL="0" indent="0">
              <a:buNone/>
            </a:pPr>
            <a:r>
              <a:rPr lang="en-US" sz="1050" dirty="0">
                <a:solidFill>
                  <a:srgbClr val="667085"/>
                </a:solidFill>
              </a:rPr>
              <a:t>Quantitative comparison first, qualitative explanation second.</a:t>
            </a:r>
            <a:endParaRPr lang="en-US" sz="1050" dirty="0"/>
          </a:p>
        </p:txBody>
      </p:sp>
      <p:sp>
        <p:nvSpPr>
          <p:cNvPr id="4" name="Shape 2"/>
          <p:cNvSpPr/>
          <p:nvPr/>
        </p:nvSpPr>
        <p:spPr>
          <a:xfrm>
            <a:off x="411480" y="941832"/>
            <a:ext cx="11292840" cy="0"/>
          </a:xfrm>
          <a:prstGeom prst="line">
            <a:avLst/>
          </a:prstGeom>
          <a:noFill/>
          <a:ln w="12700">
            <a:solidFill>
              <a:srgbClr val="D0D7E2"/>
            </a:solidFill>
            <a:prstDash val="solid"/>
          </a:ln>
        </p:spPr>
        <p:txBody>
          <a:bodyPr/>
          <a:lstStyle/>
          <a:p>
            <a:endParaRPr lang="en-US"/>
          </a:p>
        </p:txBody>
      </p:sp>
      <p:sp>
        <p:nvSpPr>
          <p:cNvPr id="5" name="Text 3"/>
          <p:cNvSpPr/>
          <p:nvPr/>
        </p:nvSpPr>
        <p:spPr>
          <a:xfrm>
            <a:off x="777240" y="1417320"/>
            <a:ext cx="1645920" cy="530352"/>
          </a:xfrm>
          <a:prstGeom prst="rect">
            <a:avLst/>
          </a:prstGeom>
          <a:solidFill>
            <a:srgbClr val="FFFFFF"/>
          </a:solidFill>
          <a:ln w="13970">
            <a:solidFill>
              <a:srgbClr val="0B2559"/>
            </a:solidFill>
          </a:ln>
        </p:spPr>
        <p:txBody>
          <a:bodyPr wrap="square" lIns="1270" tIns="1270" rIns="1270" bIns="1270" rtlCol="0" anchor="ctr">
            <a:normAutofit/>
          </a:bodyPr>
          <a:lstStyle/>
          <a:p>
            <a:pPr marL="0" indent="0" algn="ctr">
              <a:buNone/>
            </a:pPr>
            <a:r>
              <a:rPr lang="en-US" sz="1500" b="1" dirty="0">
                <a:solidFill>
                  <a:srgbClr val="0B2559"/>
                </a:solidFill>
              </a:rPr>
              <a:t>Prpt_orig</a:t>
            </a:r>
            <a:endParaRPr lang="en-US" sz="1500" dirty="0"/>
          </a:p>
        </p:txBody>
      </p:sp>
      <p:sp>
        <p:nvSpPr>
          <p:cNvPr id="6" name="Shape 4"/>
          <p:cNvSpPr/>
          <p:nvPr/>
        </p:nvSpPr>
        <p:spPr>
          <a:xfrm>
            <a:off x="2487168" y="1682496"/>
            <a:ext cx="667512" cy="0"/>
          </a:xfrm>
          <a:prstGeom prst="line">
            <a:avLst/>
          </a:prstGeom>
          <a:noFill/>
          <a:ln w="27940">
            <a:solidFill>
              <a:srgbClr val="0B2559"/>
            </a:solidFill>
            <a:prstDash val="solid"/>
            <a:headEnd type="none"/>
            <a:tailEnd type="triangle"/>
          </a:ln>
        </p:spPr>
        <p:txBody>
          <a:bodyPr/>
          <a:lstStyle/>
          <a:p>
            <a:endParaRPr lang="en-US"/>
          </a:p>
        </p:txBody>
      </p:sp>
      <p:sp>
        <p:nvSpPr>
          <p:cNvPr id="7" name="Text 5"/>
          <p:cNvSpPr/>
          <p:nvPr/>
        </p:nvSpPr>
        <p:spPr>
          <a:xfrm>
            <a:off x="3246120" y="1417320"/>
            <a:ext cx="1828800" cy="530352"/>
          </a:xfrm>
          <a:prstGeom prst="rect">
            <a:avLst/>
          </a:prstGeom>
          <a:solidFill>
            <a:srgbClr val="FDECEC"/>
          </a:solidFill>
          <a:ln w="13970">
            <a:solidFill>
              <a:srgbClr val="C62828"/>
            </a:solidFill>
          </a:ln>
        </p:spPr>
        <p:txBody>
          <a:bodyPr wrap="square" lIns="1270" tIns="1270" rIns="1270" bIns="1270" rtlCol="0" anchor="ctr">
            <a:normAutofit/>
          </a:bodyPr>
          <a:lstStyle/>
          <a:p>
            <a:pPr marL="0" indent="0" algn="ctr">
              <a:buNone/>
            </a:pPr>
            <a:r>
              <a:rPr lang="en-US" sz="1500" b="1" dirty="0">
                <a:solidFill>
                  <a:srgbClr val="C62828"/>
                </a:solidFill>
              </a:rPr>
              <a:t>Code_orig</a:t>
            </a:r>
            <a:endParaRPr lang="en-US" sz="1500" dirty="0"/>
          </a:p>
        </p:txBody>
      </p:sp>
      <p:sp>
        <p:nvSpPr>
          <p:cNvPr id="8" name="Text 6"/>
          <p:cNvSpPr/>
          <p:nvPr/>
        </p:nvSpPr>
        <p:spPr>
          <a:xfrm>
            <a:off x="777240" y="3337560"/>
            <a:ext cx="2560320" cy="621792"/>
          </a:xfrm>
          <a:prstGeom prst="rect">
            <a:avLst/>
          </a:prstGeom>
          <a:solidFill>
            <a:srgbClr val="EAF6EA"/>
          </a:solidFill>
          <a:ln w="13970">
            <a:solidFill>
              <a:srgbClr val="2E7D32"/>
            </a:solidFill>
          </a:ln>
        </p:spPr>
        <p:txBody>
          <a:bodyPr wrap="square" lIns="1270" tIns="1270" rIns="1270" bIns="1270" rtlCol="0" anchor="ctr">
            <a:normAutofit/>
          </a:bodyPr>
          <a:lstStyle/>
          <a:p>
            <a:pPr marL="0" indent="0" algn="ctr">
              <a:buNone/>
            </a:pPr>
            <a:r>
              <a:rPr lang="en-US" sz="1350" b="1" dirty="0">
                <a:solidFill>
                  <a:srgbClr val="2E7D32"/>
                </a:solidFill>
              </a:rPr>
              <a:t>Prpt_orig + $\mathrm{Proj}_{pre}$</a:t>
            </a:r>
            <a:endParaRPr lang="en-US" sz="1350" dirty="0"/>
          </a:p>
        </p:txBody>
      </p:sp>
      <p:sp>
        <p:nvSpPr>
          <p:cNvPr id="9" name="Shape 7"/>
          <p:cNvSpPr/>
          <p:nvPr/>
        </p:nvSpPr>
        <p:spPr>
          <a:xfrm>
            <a:off x="3456432" y="3648456"/>
            <a:ext cx="521208" cy="0"/>
          </a:xfrm>
          <a:prstGeom prst="line">
            <a:avLst/>
          </a:prstGeom>
          <a:noFill/>
          <a:ln w="27940">
            <a:solidFill>
              <a:srgbClr val="0B2559"/>
            </a:solidFill>
            <a:prstDash val="solid"/>
            <a:headEnd type="none"/>
            <a:tailEnd type="triangle"/>
          </a:ln>
        </p:spPr>
        <p:txBody>
          <a:bodyPr/>
          <a:lstStyle/>
          <a:p>
            <a:endParaRPr lang="en-US"/>
          </a:p>
        </p:txBody>
      </p:sp>
      <p:sp>
        <p:nvSpPr>
          <p:cNvPr id="10" name="Text 8"/>
          <p:cNvSpPr/>
          <p:nvPr/>
        </p:nvSpPr>
        <p:spPr>
          <a:xfrm>
            <a:off x="4069080" y="3337560"/>
            <a:ext cx="2011680" cy="621792"/>
          </a:xfrm>
          <a:prstGeom prst="rect">
            <a:avLst/>
          </a:prstGeom>
          <a:solidFill>
            <a:srgbClr val="FFF3DA"/>
          </a:solidFill>
          <a:ln w="13970">
            <a:solidFill>
              <a:srgbClr val="F28C28"/>
            </a:solidFill>
          </a:ln>
        </p:spPr>
        <p:txBody>
          <a:bodyPr wrap="square" lIns="1270" tIns="1270" rIns="1270" bIns="1270" rtlCol="0" anchor="ctr">
            <a:normAutofit/>
          </a:bodyPr>
          <a:lstStyle/>
          <a:p>
            <a:pPr marL="0" indent="0" algn="ctr">
              <a:buNone/>
            </a:pPr>
            <a:r>
              <a:rPr lang="en-US" sz="1400" b="1" dirty="0">
                <a:solidFill>
                  <a:srgbClr val="F28C28"/>
                </a:solidFill>
              </a:rPr>
              <a:t>Prpt_recon</a:t>
            </a:r>
            <a:endParaRPr lang="en-US" sz="1400" dirty="0"/>
          </a:p>
        </p:txBody>
      </p:sp>
      <p:sp>
        <p:nvSpPr>
          <p:cNvPr id="11" name="Shape 9"/>
          <p:cNvSpPr/>
          <p:nvPr/>
        </p:nvSpPr>
        <p:spPr>
          <a:xfrm>
            <a:off x="6199632" y="3648456"/>
            <a:ext cx="521208" cy="0"/>
          </a:xfrm>
          <a:prstGeom prst="line">
            <a:avLst/>
          </a:prstGeom>
          <a:noFill/>
          <a:ln w="27940">
            <a:solidFill>
              <a:srgbClr val="0B2559"/>
            </a:solidFill>
            <a:prstDash val="solid"/>
            <a:headEnd type="none"/>
            <a:tailEnd type="triangle"/>
          </a:ln>
        </p:spPr>
        <p:txBody>
          <a:bodyPr/>
          <a:lstStyle/>
          <a:p>
            <a:endParaRPr lang="en-US"/>
          </a:p>
        </p:txBody>
      </p:sp>
      <p:sp>
        <p:nvSpPr>
          <p:cNvPr id="12" name="Text 10"/>
          <p:cNvSpPr/>
          <p:nvPr/>
        </p:nvSpPr>
        <p:spPr>
          <a:xfrm>
            <a:off x="6812280" y="3337560"/>
            <a:ext cx="2057400" cy="621792"/>
          </a:xfrm>
          <a:prstGeom prst="rect">
            <a:avLst/>
          </a:prstGeom>
          <a:solidFill>
            <a:srgbClr val="E6F6F4"/>
          </a:solidFill>
          <a:ln w="13970">
            <a:solidFill>
              <a:srgbClr val="0B7A75"/>
            </a:solidFill>
          </a:ln>
        </p:spPr>
        <p:txBody>
          <a:bodyPr wrap="square" lIns="1270" tIns="1270" rIns="1270" bIns="1270" rtlCol="0" anchor="ctr">
            <a:normAutofit/>
          </a:bodyPr>
          <a:lstStyle/>
          <a:p>
            <a:pPr marL="0" indent="0" algn="ctr">
              <a:buNone/>
            </a:pPr>
            <a:r>
              <a:rPr lang="en-US" sz="1400" b="1" dirty="0">
                <a:solidFill>
                  <a:srgbClr val="0B7A75"/>
                </a:solidFill>
              </a:rPr>
              <a:t>Code_recon</a:t>
            </a:r>
            <a:endParaRPr lang="en-US" sz="1400" dirty="0"/>
          </a:p>
        </p:txBody>
      </p:sp>
      <p:sp>
        <p:nvSpPr>
          <p:cNvPr id="13" name="Text 11"/>
          <p:cNvSpPr/>
          <p:nvPr/>
        </p:nvSpPr>
        <p:spPr>
          <a:xfrm>
            <a:off x="9738360" y="2286000"/>
            <a:ext cx="1828800" cy="868680"/>
          </a:xfrm>
          <a:prstGeom prst="rect">
            <a:avLst/>
          </a:prstGeom>
          <a:solidFill>
            <a:srgbClr val="FFFFFF"/>
          </a:solidFill>
          <a:ln w="13970">
            <a:solidFill>
              <a:srgbClr val="0B2559"/>
            </a:solidFill>
          </a:ln>
        </p:spPr>
        <p:txBody>
          <a:bodyPr wrap="square" lIns="1270" tIns="1270" rIns="1270" bIns="1270" rtlCol="0" anchor="ctr">
            <a:normAutofit/>
          </a:bodyPr>
          <a:lstStyle/>
          <a:p>
            <a:pPr marL="0" indent="0" algn="ctr">
              <a:buNone/>
            </a:pPr>
            <a:r>
              <a:rPr lang="en-US" sz="1300" b="1" dirty="0">
                <a:solidFill>
                  <a:srgbClr val="0B2559"/>
                </a:solidFill>
              </a:rPr>
              <a:t>Code_final</a:t>
            </a:r>
            <a:endParaRPr lang="en-US" sz="1300" dirty="0"/>
          </a:p>
          <a:p>
            <a:pPr marL="0" indent="0" algn="ctr">
              <a:buNone/>
            </a:pPr>
            <a:r>
              <a:rPr lang="en-US" sz="1300" b="1" dirty="0">
                <a:solidFill>
                  <a:srgbClr val="0B2559"/>
                </a:solidFill>
              </a:rPr>
              <a:t>held out reference</a:t>
            </a:r>
            <a:endParaRPr lang="en-US" sz="1300" dirty="0"/>
          </a:p>
        </p:txBody>
      </p:sp>
      <p:sp>
        <p:nvSpPr>
          <p:cNvPr id="14" name="Shape 12"/>
          <p:cNvSpPr/>
          <p:nvPr/>
        </p:nvSpPr>
        <p:spPr>
          <a:xfrm>
            <a:off x="5257800" y="1682496"/>
            <a:ext cx="4297680" cy="923544"/>
          </a:xfrm>
          <a:prstGeom prst="line">
            <a:avLst/>
          </a:prstGeom>
          <a:noFill/>
          <a:ln w="21590">
            <a:solidFill>
              <a:srgbClr val="C62828"/>
            </a:solidFill>
            <a:prstDash val="solid"/>
            <a:headEnd type="none"/>
            <a:tailEnd type="triangle"/>
          </a:ln>
        </p:spPr>
        <p:txBody>
          <a:bodyPr/>
          <a:lstStyle/>
          <a:p>
            <a:endParaRPr lang="en-US"/>
          </a:p>
        </p:txBody>
      </p:sp>
      <p:sp>
        <p:nvSpPr>
          <p:cNvPr id="15" name="Shape 13"/>
          <p:cNvSpPr/>
          <p:nvPr/>
        </p:nvSpPr>
        <p:spPr>
          <a:xfrm>
            <a:off x="9006840" y="3648456"/>
            <a:ext cx="548640" cy="0"/>
          </a:xfrm>
          <a:prstGeom prst="line">
            <a:avLst/>
          </a:prstGeom>
          <a:noFill/>
          <a:ln w="21590">
            <a:solidFill>
              <a:srgbClr val="0B7A75"/>
            </a:solidFill>
            <a:prstDash val="solid"/>
            <a:headEnd type="none"/>
            <a:tailEnd type="triangle"/>
          </a:ln>
        </p:spPr>
        <p:txBody>
          <a:bodyPr/>
          <a:lstStyle/>
          <a:p>
            <a:endParaRPr lang="en-US"/>
          </a:p>
        </p:txBody>
      </p:sp>
      <p:sp>
        <p:nvSpPr>
          <p:cNvPr id="16" name="Text 14"/>
          <p:cNvSpPr/>
          <p:nvPr/>
        </p:nvSpPr>
        <p:spPr>
          <a:xfrm>
            <a:off x="1417320" y="4736592"/>
            <a:ext cx="9326880" cy="384048"/>
          </a:xfrm>
          <a:prstGeom prst="rect">
            <a:avLst/>
          </a:prstGeom>
          <a:noFill/>
          <a:ln/>
        </p:spPr>
        <p:txBody>
          <a:bodyPr wrap="square" lIns="0" tIns="0" rIns="0" bIns="0" rtlCol="0" anchor="ctr"/>
          <a:lstStyle/>
          <a:p>
            <a:pPr marL="0" indent="0" algn="ctr">
              <a:buNone/>
            </a:pPr>
            <a:r>
              <a:rPr lang="en-US" sz="1800" b="1" dirty="0">
                <a:solidFill>
                  <a:srgbClr val="0B2559"/>
                </a:solidFill>
              </a:rPr>
              <a:t>D(Code_recon, Code_final) &lt; D(Code_orig, Code_final)</a:t>
            </a:r>
            <a:endParaRPr lang="en-US" sz="1800" dirty="0"/>
          </a:p>
        </p:txBody>
      </p:sp>
      <p:sp>
        <p:nvSpPr>
          <p:cNvPr id="17" name="Text 15"/>
          <p:cNvSpPr/>
          <p:nvPr/>
        </p:nvSpPr>
        <p:spPr>
          <a:xfrm>
            <a:off x="1005840" y="5532120"/>
            <a:ext cx="10058400" cy="384048"/>
          </a:xfrm>
          <a:prstGeom prst="rect">
            <a:avLst/>
          </a:prstGeom>
          <a:noFill/>
          <a:ln/>
        </p:spPr>
        <p:txBody>
          <a:bodyPr wrap="square" lIns="0" tIns="0" rIns="0" bIns="0" rtlCol="0" anchor="ctr">
            <a:normAutofit/>
          </a:bodyPr>
          <a:lstStyle/>
          <a:p>
            <a:pPr marL="0" indent="0" algn="ctr">
              <a:buNone/>
            </a:pPr>
            <a:r>
              <a:rPr lang="en-US" sz="1350" dirty="0">
                <a:solidFill>
                  <a:srgbClr val="667085"/>
                </a:solidFill>
              </a:rPr>
              <a:t>Then inspect Proj_post to classify remaining differences: missed evidence, reconstruction failure, generation failure, emergent intent, or equivalent implementation.</a:t>
            </a:r>
            <a:endParaRPr lang="en-US" sz="1350" dirty="0"/>
          </a:p>
        </p:txBody>
      </p:sp>
      <p:sp>
        <p:nvSpPr>
          <p:cNvPr id="18" name="Text 16"/>
          <p:cNvSpPr/>
          <p:nvPr/>
        </p:nvSpPr>
        <p:spPr>
          <a:xfrm>
            <a:off x="411480" y="6556248"/>
            <a:ext cx="6583680" cy="164592"/>
          </a:xfrm>
          <a:prstGeom prst="rect">
            <a:avLst/>
          </a:prstGeom>
          <a:noFill/>
          <a:ln/>
        </p:spPr>
        <p:txBody>
          <a:bodyPr wrap="square" lIns="0" tIns="0" rIns="0" bIns="0" rtlCol="0" anchor="ctr"/>
          <a:lstStyle/>
          <a:p>
            <a:pPr marL="0" indent="0">
              <a:buNone/>
            </a:pPr>
            <a:r>
              <a:rPr lang="en-US" sz="750" dirty="0">
                <a:solidFill>
                  <a:srgbClr val="667085"/>
                </a:solidFill>
              </a:rPr>
              <a:t>Developer Intent Reconstruction | SEVOL Lab</a:t>
            </a:r>
            <a:endParaRPr lang="en-US" sz="750" dirty="0"/>
          </a:p>
        </p:txBody>
      </p:sp>
      <p:sp>
        <p:nvSpPr>
          <p:cNvPr id="19" name="Text 17"/>
          <p:cNvSpPr/>
          <p:nvPr/>
        </p:nvSpPr>
        <p:spPr>
          <a:xfrm>
            <a:off x="11292840" y="6556248"/>
            <a:ext cx="457200" cy="164592"/>
          </a:xfrm>
          <a:prstGeom prst="rect">
            <a:avLst/>
          </a:prstGeom>
          <a:noFill/>
          <a:ln/>
        </p:spPr>
        <p:txBody>
          <a:bodyPr wrap="square" lIns="0" tIns="0" rIns="0" bIns="0" rtlCol="0" anchor="ctr"/>
          <a:lstStyle/>
          <a:p>
            <a:pPr marL="0" indent="0" algn="r">
              <a:buNone/>
            </a:pPr>
            <a:r>
              <a:rPr lang="en-US" sz="750" dirty="0">
                <a:solidFill>
                  <a:srgbClr val="667085"/>
                </a:solidFill>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11480" y="256032"/>
            <a:ext cx="11338560" cy="411480"/>
          </a:xfrm>
          <a:prstGeom prst="rect">
            <a:avLst/>
          </a:prstGeom>
          <a:noFill/>
          <a:ln/>
        </p:spPr>
        <p:txBody>
          <a:bodyPr wrap="square" lIns="0" tIns="0" rIns="0" bIns="0" rtlCol="0" anchor="ctr"/>
          <a:lstStyle/>
          <a:p>
            <a:pPr marL="0" indent="0">
              <a:buNone/>
            </a:pPr>
            <a:r>
              <a:rPr lang="en-US" sz="2500" b="1" dirty="0">
                <a:solidFill>
                  <a:srgbClr val="0B2559"/>
                </a:solidFill>
                <a:latin typeface="Aptos Display" pitchFamily="34" charset="0"/>
                <a:ea typeface="Aptos Display" pitchFamily="34" charset="-122"/>
                <a:cs typeface="Aptos Display" pitchFamily="34" charset="-120"/>
              </a:rPr>
              <a:t>Immediate plan for the next discussion</a:t>
            </a:r>
            <a:endParaRPr lang="en-US" sz="2500" dirty="0"/>
          </a:p>
        </p:txBody>
      </p:sp>
      <p:sp>
        <p:nvSpPr>
          <p:cNvPr id="3" name="Text 1"/>
          <p:cNvSpPr/>
          <p:nvPr/>
        </p:nvSpPr>
        <p:spPr>
          <a:xfrm>
            <a:off x="429768" y="667512"/>
            <a:ext cx="10789920" cy="256032"/>
          </a:xfrm>
          <a:prstGeom prst="rect">
            <a:avLst/>
          </a:prstGeom>
          <a:noFill/>
          <a:ln/>
        </p:spPr>
        <p:txBody>
          <a:bodyPr wrap="square" lIns="0" tIns="0" rIns="0" bIns="0" rtlCol="0" anchor="ctr"/>
          <a:lstStyle/>
          <a:p>
            <a:pPr marL="0" indent="0">
              <a:buNone/>
            </a:pPr>
            <a:r>
              <a:rPr lang="en-US" sz="1050" dirty="0">
                <a:solidFill>
                  <a:srgbClr val="667085"/>
                </a:solidFill>
              </a:rPr>
              <a:t>Start with the feasible short-paper core, while building toward the full study.</a:t>
            </a:r>
            <a:endParaRPr lang="en-US" sz="1050" dirty="0"/>
          </a:p>
        </p:txBody>
      </p:sp>
      <p:sp>
        <p:nvSpPr>
          <p:cNvPr id="4" name="Shape 2"/>
          <p:cNvSpPr/>
          <p:nvPr/>
        </p:nvSpPr>
        <p:spPr>
          <a:xfrm>
            <a:off x="411480" y="941832"/>
            <a:ext cx="11292840" cy="0"/>
          </a:xfrm>
          <a:prstGeom prst="line">
            <a:avLst/>
          </a:prstGeom>
          <a:noFill/>
          <a:ln w="12700">
            <a:solidFill>
              <a:srgbClr val="D0D7E2"/>
            </a:solidFill>
            <a:prstDash val="solid"/>
          </a:ln>
        </p:spPr>
        <p:txBody>
          <a:bodyPr/>
          <a:lstStyle/>
          <a:p>
            <a:endParaRPr lang="en-US"/>
          </a:p>
        </p:txBody>
      </p:sp>
      <p:sp>
        <p:nvSpPr>
          <p:cNvPr id="5" name="Text 3"/>
          <p:cNvSpPr/>
          <p:nvPr/>
        </p:nvSpPr>
        <p:spPr>
          <a:xfrm>
            <a:off x="777240" y="1298448"/>
            <a:ext cx="438912" cy="438912"/>
          </a:xfrm>
          <a:prstGeom prst="rect">
            <a:avLst/>
          </a:prstGeom>
          <a:solidFill>
            <a:srgbClr val="0B2559"/>
          </a:solidFill>
          <a:ln w="13970">
            <a:solidFill>
              <a:srgbClr val="0B2559"/>
            </a:solidFill>
          </a:ln>
        </p:spPr>
        <p:txBody>
          <a:bodyPr wrap="square" lIns="1270" tIns="1270" rIns="1270" bIns="1270" rtlCol="0" anchor="ctr">
            <a:normAutofit/>
          </a:bodyPr>
          <a:lstStyle/>
          <a:p>
            <a:pPr marL="0" indent="0" algn="ctr">
              <a:buNone/>
            </a:pPr>
            <a:r>
              <a:rPr lang="en-US" sz="1400" b="1" dirty="0">
                <a:solidFill>
                  <a:srgbClr val="FFFFFF"/>
                </a:solidFill>
              </a:rPr>
              <a:t>1</a:t>
            </a:r>
            <a:endParaRPr lang="en-US" sz="1400" dirty="0"/>
          </a:p>
        </p:txBody>
      </p:sp>
      <p:sp>
        <p:nvSpPr>
          <p:cNvPr id="6" name="Text 4"/>
          <p:cNvSpPr/>
          <p:nvPr/>
        </p:nvSpPr>
        <p:spPr>
          <a:xfrm>
            <a:off x="1417320" y="1280160"/>
            <a:ext cx="2331720" cy="292608"/>
          </a:xfrm>
          <a:prstGeom prst="rect">
            <a:avLst/>
          </a:prstGeom>
          <a:noFill/>
          <a:ln/>
        </p:spPr>
        <p:txBody>
          <a:bodyPr wrap="square" lIns="0" tIns="0" rIns="0" bIns="0" rtlCol="0" anchor="ctr"/>
          <a:lstStyle/>
          <a:p>
            <a:pPr marL="0" indent="0">
              <a:buNone/>
            </a:pPr>
            <a:r>
              <a:rPr lang="en-US" sz="1450" b="1" dirty="0">
                <a:solidFill>
                  <a:srgbClr val="0B2559"/>
                </a:solidFill>
              </a:rPr>
              <a:t>Feasibility census</a:t>
            </a:r>
            <a:endParaRPr lang="en-US" sz="1450" dirty="0"/>
          </a:p>
        </p:txBody>
      </p:sp>
      <p:sp>
        <p:nvSpPr>
          <p:cNvPr id="7" name="Text 5"/>
          <p:cNvSpPr/>
          <p:nvPr/>
        </p:nvSpPr>
        <p:spPr>
          <a:xfrm>
            <a:off x="4251960" y="1252728"/>
            <a:ext cx="6858000" cy="420624"/>
          </a:xfrm>
          <a:prstGeom prst="rect">
            <a:avLst/>
          </a:prstGeom>
          <a:noFill/>
          <a:ln/>
        </p:spPr>
        <p:txBody>
          <a:bodyPr wrap="square" lIns="254" tIns="254" rIns="254" bIns="254" rtlCol="0" anchor="ctr">
            <a:normAutofit/>
          </a:bodyPr>
          <a:lstStyle/>
          <a:p>
            <a:pPr marL="0" indent="0">
              <a:buNone/>
            </a:pPr>
            <a:r>
              <a:rPr lang="en-US" sz="1250" dirty="0">
                <a:solidFill>
                  <a:srgbClr val="101828"/>
                </a:solidFill>
              </a:rPr>
              <a:t>How many PatchTrack/Prompt Quality cases have reliable prompts, project snapshots, and final implementations?</a:t>
            </a:r>
            <a:endParaRPr lang="en-US" sz="1250" dirty="0"/>
          </a:p>
        </p:txBody>
      </p:sp>
      <p:sp>
        <p:nvSpPr>
          <p:cNvPr id="8" name="Text 6"/>
          <p:cNvSpPr/>
          <p:nvPr/>
        </p:nvSpPr>
        <p:spPr>
          <a:xfrm>
            <a:off x="777240" y="2258568"/>
            <a:ext cx="438912" cy="438912"/>
          </a:xfrm>
          <a:prstGeom prst="rect">
            <a:avLst/>
          </a:prstGeom>
          <a:solidFill>
            <a:srgbClr val="0B2559"/>
          </a:solidFill>
          <a:ln w="13970">
            <a:solidFill>
              <a:srgbClr val="0B2559"/>
            </a:solidFill>
          </a:ln>
        </p:spPr>
        <p:txBody>
          <a:bodyPr wrap="square" lIns="1270" tIns="1270" rIns="1270" bIns="1270" rtlCol="0" anchor="ctr">
            <a:normAutofit/>
          </a:bodyPr>
          <a:lstStyle/>
          <a:p>
            <a:pPr marL="0" indent="0" algn="ctr">
              <a:buNone/>
            </a:pPr>
            <a:r>
              <a:rPr lang="en-US" sz="1400" b="1" dirty="0">
                <a:solidFill>
                  <a:srgbClr val="FFFFFF"/>
                </a:solidFill>
              </a:rPr>
              <a:t>2</a:t>
            </a:r>
            <a:endParaRPr lang="en-US" sz="1400" dirty="0"/>
          </a:p>
        </p:txBody>
      </p:sp>
      <p:sp>
        <p:nvSpPr>
          <p:cNvPr id="9" name="Text 7"/>
          <p:cNvSpPr/>
          <p:nvPr/>
        </p:nvSpPr>
        <p:spPr>
          <a:xfrm>
            <a:off x="1417320" y="2240280"/>
            <a:ext cx="2331720" cy="292608"/>
          </a:xfrm>
          <a:prstGeom prst="rect">
            <a:avLst/>
          </a:prstGeom>
          <a:noFill/>
          <a:ln/>
        </p:spPr>
        <p:txBody>
          <a:bodyPr wrap="square" lIns="0" tIns="0" rIns="0" bIns="0" rtlCol="0" anchor="ctr"/>
          <a:lstStyle/>
          <a:p>
            <a:pPr marL="0" indent="0">
              <a:buNone/>
            </a:pPr>
            <a:r>
              <a:rPr lang="en-US" sz="1450" b="1" dirty="0">
                <a:solidFill>
                  <a:srgbClr val="0B2559"/>
                </a:solidFill>
              </a:rPr>
              <a:t>RQ1 annotation</a:t>
            </a:r>
            <a:endParaRPr lang="en-US" sz="1450" dirty="0"/>
          </a:p>
        </p:txBody>
      </p:sp>
      <p:sp>
        <p:nvSpPr>
          <p:cNvPr id="10" name="Text 8"/>
          <p:cNvSpPr/>
          <p:nvPr/>
        </p:nvSpPr>
        <p:spPr>
          <a:xfrm>
            <a:off x="4251960" y="2212848"/>
            <a:ext cx="6858000" cy="420624"/>
          </a:xfrm>
          <a:prstGeom prst="rect">
            <a:avLst/>
          </a:prstGeom>
          <a:noFill/>
          <a:ln/>
        </p:spPr>
        <p:txBody>
          <a:bodyPr wrap="square" lIns="254" tIns="254" rIns="254" bIns="254" rtlCol="0" anchor="ctr">
            <a:normAutofit/>
          </a:bodyPr>
          <a:lstStyle/>
          <a:p>
            <a:pPr marL="0" indent="0">
              <a:buNone/>
            </a:pPr>
            <a:r>
              <a:rPr lang="en-US" sz="1250" dirty="0">
                <a:solidFill>
                  <a:srgbClr val="101828"/>
                </a:solidFill>
              </a:rPr>
              <a:t>Apply the C/S/V rubric and identify missing subcomponents, not just total scores.</a:t>
            </a:r>
            <a:endParaRPr lang="en-US" sz="1250" dirty="0"/>
          </a:p>
        </p:txBody>
      </p:sp>
      <p:sp>
        <p:nvSpPr>
          <p:cNvPr id="11" name="Text 9"/>
          <p:cNvSpPr/>
          <p:nvPr/>
        </p:nvSpPr>
        <p:spPr>
          <a:xfrm>
            <a:off x="777240" y="3218688"/>
            <a:ext cx="438912" cy="438912"/>
          </a:xfrm>
          <a:prstGeom prst="rect">
            <a:avLst/>
          </a:prstGeom>
          <a:solidFill>
            <a:srgbClr val="0B2559"/>
          </a:solidFill>
          <a:ln w="13970">
            <a:solidFill>
              <a:srgbClr val="0B2559"/>
            </a:solidFill>
          </a:ln>
        </p:spPr>
        <p:txBody>
          <a:bodyPr wrap="square" lIns="1270" tIns="1270" rIns="1270" bIns="1270" rtlCol="0" anchor="ctr">
            <a:normAutofit/>
          </a:bodyPr>
          <a:lstStyle/>
          <a:p>
            <a:pPr marL="0" indent="0" algn="ctr">
              <a:buNone/>
            </a:pPr>
            <a:r>
              <a:rPr lang="en-US" sz="1400" b="1" dirty="0">
                <a:solidFill>
                  <a:srgbClr val="FFFFFF"/>
                </a:solidFill>
              </a:rPr>
              <a:t>3</a:t>
            </a:r>
            <a:endParaRPr lang="en-US" sz="1400" dirty="0"/>
          </a:p>
        </p:txBody>
      </p:sp>
      <p:sp>
        <p:nvSpPr>
          <p:cNvPr id="12" name="Text 10"/>
          <p:cNvSpPr/>
          <p:nvPr/>
        </p:nvSpPr>
        <p:spPr>
          <a:xfrm>
            <a:off x="1417320" y="3200400"/>
            <a:ext cx="2331720" cy="292608"/>
          </a:xfrm>
          <a:prstGeom prst="rect">
            <a:avLst/>
          </a:prstGeom>
          <a:noFill/>
          <a:ln/>
        </p:spPr>
        <p:txBody>
          <a:bodyPr wrap="square" lIns="0" tIns="0" rIns="0" bIns="0" rtlCol="0" anchor="ctr"/>
          <a:lstStyle/>
          <a:p>
            <a:pPr marL="0" indent="0">
              <a:buNone/>
            </a:pPr>
            <a:r>
              <a:rPr lang="en-US" sz="1450" b="1" dirty="0">
                <a:solidFill>
                  <a:srgbClr val="0B2559"/>
                </a:solidFill>
              </a:rPr>
              <a:t>RQ2 evidence mining</a:t>
            </a:r>
            <a:endParaRPr lang="en-US" sz="1450" dirty="0"/>
          </a:p>
        </p:txBody>
      </p:sp>
      <p:sp>
        <p:nvSpPr>
          <p:cNvPr id="13" name="Text 11"/>
          <p:cNvSpPr/>
          <p:nvPr/>
        </p:nvSpPr>
        <p:spPr>
          <a:xfrm>
            <a:off x="4251960" y="3172968"/>
            <a:ext cx="6858000" cy="420624"/>
          </a:xfrm>
          <a:prstGeom prst="rect">
            <a:avLst/>
          </a:prstGeom>
          <a:noFill/>
          <a:ln/>
        </p:spPr>
        <p:txBody>
          <a:bodyPr wrap="square" lIns="254" tIns="254" rIns="254" bIns="254" rtlCol="0" anchor="ctr">
            <a:normAutofit/>
          </a:bodyPr>
          <a:lstStyle/>
          <a:p>
            <a:pPr marL="0" indent="0">
              <a:buNone/>
            </a:pPr>
            <a:r>
              <a:rPr lang="en-US" sz="1250" dirty="0">
                <a:solidFill>
                  <a:srgbClr val="101828"/>
                </a:solidFill>
              </a:rPr>
              <a:t>Search Proj_pre for evidence that can supply missing C/S/V. Record provenance.</a:t>
            </a:r>
            <a:endParaRPr lang="en-US" sz="1250" dirty="0"/>
          </a:p>
        </p:txBody>
      </p:sp>
      <p:sp>
        <p:nvSpPr>
          <p:cNvPr id="14" name="Text 12"/>
          <p:cNvSpPr/>
          <p:nvPr/>
        </p:nvSpPr>
        <p:spPr>
          <a:xfrm>
            <a:off x="777240" y="4178808"/>
            <a:ext cx="438912" cy="438912"/>
          </a:xfrm>
          <a:prstGeom prst="rect">
            <a:avLst/>
          </a:prstGeom>
          <a:solidFill>
            <a:srgbClr val="0B2559"/>
          </a:solidFill>
          <a:ln w="13970">
            <a:solidFill>
              <a:srgbClr val="0B2559"/>
            </a:solidFill>
          </a:ln>
        </p:spPr>
        <p:txBody>
          <a:bodyPr wrap="square" lIns="1270" tIns="1270" rIns="1270" bIns="1270" rtlCol="0" anchor="ctr">
            <a:normAutofit/>
          </a:bodyPr>
          <a:lstStyle/>
          <a:p>
            <a:pPr marL="0" indent="0" algn="ctr">
              <a:buNone/>
            </a:pPr>
            <a:r>
              <a:rPr lang="en-US" sz="1400" b="1" dirty="0">
                <a:solidFill>
                  <a:srgbClr val="FFFFFF"/>
                </a:solidFill>
              </a:rPr>
              <a:t>4</a:t>
            </a:r>
            <a:endParaRPr lang="en-US" sz="1400" dirty="0"/>
          </a:p>
        </p:txBody>
      </p:sp>
      <p:sp>
        <p:nvSpPr>
          <p:cNvPr id="15" name="Text 13"/>
          <p:cNvSpPr/>
          <p:nvPr/>
        </p:nvSpPr>
        <p:spPr>
          <a:xfrm>
            <a:off x="1417320" y="4160520"/>
            <a:ext cx="2331720" cy="292608"/>
          </a:xfrm>
          <a:prstGeom prst="rect">
            <a:avLst/>
          </a:prstGeom>
          <a:noFill/>
          <a:ln/>
        </p:spPr>
        <p:txBody>
          <a:bodyPr wrap="square" lIns="0" tIns="0" rIns="0" bIns="0" rtlCol="0" anchor="ctr"/>
          <a:lstStyle/>
          <a:p>
            <a:pPr marL="0" indent="0">
              <a:buNone/>
            </a:pPr>
            <a:r>
              <a:rPr lang="en-US" sz="1450" b="1" dirty="0">
                <a:solidFill>
                  <a:srgbClr val="0B2559"/>
                </a:solidFill>
              </a:rPr>
              <a:t>NIER package</a:t>
            </a:r>
            <a:endParaRPr lang="en-US" sz="1450" dirty="0"/>
          </a:p>
        </p:txBody>
      </p:sp>
      <p:sp>
        <p:nvSpPr>
          <p:cNvPr id="16" name="Text 14"/>
          <p:cNvSpPr/>
          <p:nvPr/>
        </p:nvSpPr>
        <p:spPr>
          <a:xfrm>
            <a:off x="4251960" y="4133088"/>
            <a:ext cx="6858000" cy="420624"/>
          </a:xfrm>
          <a:prstGeom prst="rect">
            <a:avLst/>
          </a:prstGeom>
          <a:noFill/>
          <a:ln/>
        </p:spPr>
        <p:txBody>
          <a:bodyPr wrap="square" lIns="254" tIns="254" rIns="254" bIns="254" rtlCol="0" anchor="ctr">
            <a:normAutofit/>
          </a:bodyPr>
          <a:lstStyle/>
          <a:p>
            <a:pPr marL="0" indent="0">
              <a:buNone/>
            </a:pPr>
            <a:r>
              <a:rPr lang="en-US" sz="1250" dirty="0">
                <a:solidFill>
                  <a:srgbClr val="101828"/>
                </a:solidFill>
              </a:rPr>
              <a:t>Frame the new idea, show initial evidence, and define the full TOSEM roadmap.</a:t>
            </a:r>
            <a:endParaRPr lang="en-US" sz="1250" dirty="0"/>
          </a:p>
        </p:txBody>
      </p:sp>
      <p:sp>
        <p:nvSpPr>
          <p:cNvPr id="17" name="Text 15"/>
          <p:cNvSpPr/>
          <p:nvPr/>
        </p:nvSpPr>
        <p:spPr>
          <a:xfrm>
            <a:off x="777240" y="5138928"/>
            <a:ext cx="438912" cy="438912"/>
          </a:xfrm>
          <a:prstGeom prst="rect">
            <a:avLst/>
          </a:prstGeom>
          <a:solidFill>
            <a:srgbClr val="0B2559"/>
          </a:solidFill>
          <a:ln w="13970">
            <a:solidFill>
              <a:srgbClr val="0B2559"/>
            </a:solidFill>
          </a:ln>
        </p:spPr>
        <p:txBody>
          <a:bodyPr wrap="square" lIns="1270" tIns="1270" rIns="1270" bIns="1270" rtlCol="0" anchor="ctr">
            <a:normAutofit/>
          </a:bodyPr>
          <a:lstStyle/>
          <a:p>
            <a:pPr marL="0" indent="0" algn="ctr">
              <a:buNone/>
            </a:pPr>
            <a:r>
              <a:rPr lang="en-US" sz="1400" b="1" dirty="0">
                <a:solidFill>
                  <a:srgbClr val="FFFFFF"/>
                </a:solidFill>
              </a:rPr>
              <a:t>5</a:t>
            </a:r>
            <a:endParaRPr lang="en-US" sz="1400" dirty="0"/>
          </a:p>
        </p:txBody>
      </p:sp>
      <p:sp>
        <p:nvSpPr>
          <p:cNvPr id="18" name="Text 16"/>
          <p:cNvSpPr/>
          <p:nvPr/>
        </p:nvSpPr>
        <p:spPr>
          <a:xfrm>
            <a:off x="1417320" y="5120640"/>
            <a:ext cx="2331720" cy="292608"/>
          </a:xfrm>
          <a:prstGeom prst="rect">
            <a:avLst/>
          </a:prstGeom>
          <a:noFill/>
          <a:ln/>
        </p:spPr>
        <p:txBody>
          <a:bodyPr wrap="square" lIns="0" tIns="0" rIns="0" bIns="0" rtlCol="0" anchor="ctr"/>
          <a:lstStyle/>
          <a:p>
            <a:pPr marL="0" indent="0">
              <a:buNone/>
            </a:pPr>
            <a:r>
              <a:rPr lang="en-US" sz="1450" b="1" dirty="0">
                <a:solidFill>
                  <a:srgbClr val="0B2559"/>
                </a:solidFill>
              </a:rPr>
              <a:t>Full system</a:t>
            </a:r>
            <a:endParaRPr lang="en-US" sz="1450" dirty="0"/>
          </a:p>
        </p:txBody>
      </p:sp>
      <p:sp>
        <p:nvSpPr>
          <p:cNvPr id="19" name="Text 17"/>
          <p:cNvSpPr/>
          <p:nvPr/>
        </p:nvSpPr>
        <p:spPr>
          <a:xfrm>
            <a:off x="4251960" y="5093208"/>
            <a:ext cx="6858000" cy="420624"/>
          </a:xfrm>
          <a:prstGeom prst="rect">
            <a:avLst/>
          </a:prstGeom>
          <a:noFill/>
          <a:ln/>
        </p:spPr>
        <p:txBody>
          <a:bodyPr wrap="square" lIns="254" tIns="254" rIns="254" bIns="254" rtlCol="0" anchor="ctr">
            <a:normAutofit/>
          </a:bodyPr>
          <a:lstStyle/>
          <a:p>
            <a:pPr marL="0" indent="0">
              <a:buNone/>
            </a:pPr>
            <a:r>
              <a:rPr lang="en-US" sz="1250" dirty="0">
                <a:solidFill>
                  <a:srgbClr val="101828"/>
                </a:solidFill>
              </a:rPr>
              <a:t>Build automated gap-directed retrieval, prompt reconstruction, and RQ3 evaluation.</a:t>
            </a:r>
            <a:endParaRPr lang="en-US" sz="1250" dirty="0"/>
          </a:p>
        </p:txBody>
      </p:sp>
      <p:sp>
        <p:nvSpPr>
          <p:cNvPr id="20" name="Text 18"/>
          <p:cNvSpPr/>
          <p:nvPr/>
        </p:nvSpPr>
        <p:spPr>
          <a:xfrm>
            <a:off x="914400" y="6172200"/>
            <a:ext cx="10241280" cy="320040"/>
          </a:xfrm>
          <a:prstGeom prst="rect">
            <a:avLst/>
          </a:prstGeom>
          <a:noFill/>
          <a:ln/>
        </p:spPr>
        <p:txBody>
          <a:bodyPr wrap="square" lIns="0" tIns="0" rIns="0" bIns="0" rtlCol="0" anchor="ctr"/>
          <a:lstStyle/>
          <a:p>
            <a:pPr marL="0" indent="0" algn="ctr">
              <a:buNone/>
            </a:pPr>
            <a:r>
              <a:rPr lang="en-US" sz="1450" b="1" dirty="0">
                <a:solidFill>
                  <a:srgbClr val="F28C28"/>
                </a:solidFill>
              </a:rPr>
              <a:t>Meeting outcome today: agree on the data census, annotation protocol, and first cases to inspect together.</a:t>
            </a:r>
            <a:endParaRPr lang="en-US" sz="1450" dirty="0"/>
          </a:p>
        </p:txBody>
      </p:sp>
      <p:sp>
        <p:nvSpPr>
          <p:cNvPr id="21" name="Text 19"/>
          <p:cNvSpPr/>
          <p:nvPr/>
        </p:nvSpPr>
        <p:spPr>
          <a:xfrm>
            <a:off x="411480" y="6556248"/>
            <a:ext cx="6583680" cy="164592"/>
          </a:xfrm>
          <a:prstGeom prst="rect">
            <a:avLst/>
          </a:prstGeom>
          <a:noFill/>
          <a:ln/>
        </p:spPr>
        <p:txBody>
          <a:bodyPr wrap="square" lIns="0" tIns="0" rIns="0" bIns="0" rtlCol="0" anchor="ctr"/>
          <a:lstStyle/>
          <a:p>
            <a:pPr marL="0" indent="0">
              <a:buNone/>
            </a:pPr>
            <a:r>
              <a:rPr lang="en-US" sz="750" dirty="0">
                <a:solidFill>
                  <a:srgbClr val="667085"/>
                </a:solidFill>
              </a:rPr>
              <a:t>Developer Intent Reconstruction | SEVOL Lab</a:t>
            </a:r>
            <a:endParaRPr lang="en-US" sz="750" dirty="0"/>
          </a:p>
        </p:txBody>
      </p:sp>
      <p:sp>
        <p:nvSpPr>
          <p:cNvPr id="22" name="Text 20"/>
          <p:cNvSpPr/>
          <p:nvPr/>
        </p:nvSpPr>
        <p:spPr>
          <a:xfrm>
            <a:off x="11292840" y="6556248"/>
            <a:ext cx="457200" cy="164592"/>
          </a:xfrm>
          <a:prstGeom prst="rect">
            <a:avLst/>
          </a:prstGeom>
          <a:noFill/>
          <a:ln/>
        </p:spPr>
        <p:txBody>
          <a:bodyPr wrap="square" lIns="0" tIns="0" rIns="0" bIns="0" rtlCol="0" anchor="ctr"/>
          <a:lstStyle/>
          <a:p>
            <a:pPr marL="0" indent="0" algn="r">
              <a:buNone/>
            </a:pPr>
            <a:r>
              <a:rPr lang="en-US" sz="750" dirty="0">
                <a:solidFill>
                  <a:srgbClr val="667085"/>
                </a:solidFill>
              </a:rPr>
              <a:t>8</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1744</Words>
  <Application>Microsoft Macintosh PowerPoint</Application>
  <PresentationFormat>Widescreen</PresentationFormat>
  <Paragraphs>152</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Software Evolution Lab, UNLV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Developer Intent Reconstruction</dc:title>
  <dc:subject>Developer Intent Reconstruction Research Onboarding</dc:subject>
  <dc:creator>SEVOL Lab</dc:creator>
  <cp:lastModifiedBy>John Businge</cp:lastModifiedBy>
  <cp:revision>2</cp:revision>
  <dcterms:created xsi:type="dcterms:W3CDTF">2026-09-09T02:58:04Z</dcterms:created>
  <dcterms:modified xsi:type="dcterms:W3CDTF">2026-09-09T03:15:28Z</dcterms:modified>
</cp:coreProperties>
</file>