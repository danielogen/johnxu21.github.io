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256" r:id="rId2"/>
    <p:sldId id="325" r:id="rId3"/>
    <p:sldId id="257" r:id="rId4"/>
    <p:sldId id="301" r:id="rId5"/>
    <p:sldId id="259" r:id="rId6"/>
    <p:sldId id="260" r:id="rId7"/>
    <p:sldId id="258" r:id="rId8"/>
    <p:sldId id="324" r:id="rId9"/>
    <p:sldId id="302" r:id="rId10"/>
    <p:sldId id="303" r:id="rId11"/>
    <p:sldId id="326" r:id="rId12"/>
    <p:sldId id="327" r:id="rId13"/>
    <p:sldId id="328" r:id="rId14"/>
    <p:sldId id="329" r:id="rId15"/>
    <p:sldId id="330" r:id="rId16"/>
    <p:sldId id="331" r:id="rId17"/>
    <p:sldId id="310" r:id="rId18"/>
    <p:sldId id="270" r:id="rId19"/>
    <p:sldId id="311" r:id="rId20"/>
    <p:sldId id="312" r:id="rId21"/>
    <p:sldId id="332" r:id="rId22"/>
    <p:sldId id="333" r:id="rId23"/>
    <p:sldId id="334" r:id="rId24"/>
    <p:sldId id="335" r:id="rId25"/>
    <p:sldId id="336" r:id="rId26"/>
    <p:sldId id="274" r:id="rId27"/>
    <p:sldId id="277" r:id="rId28"/>
    <p:sldId id="266" r:id="rId29"/>
    <p:sldId id="313" r:id="rId30"/>
    <p:sldId id="314" r:id="rId31"/>
    <p:sldId id="282" r:id="rId32"/>
    <p:sldId id="283" r:id="rId33"/>
    <p:sldId id="315" r:id="rId34"/>
    <p:sldId id="288" r:id="rId35"/>
    <p:sldId id="316" r:id="rId36"/>
    <p:sldId id="317" r:id="rId37"/>
    <p:sldId id="291" r:id="rId38"/>
    <p:sldId id="318" r:id="rId39"/>
    <p:sldId id="319" r:id="rId40"/>
    <p:sldId id="320" r:id="rId41"/>
    <p:sldId id="264" r:id="rId42"/>
    <p:sldId id="321" r:id="rId43"/>
    <p:sldId id="322" r:id="rId44"/>
    <p:sldId id="323" r:id="rId45"/>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1893"/>
    <a:srgbClr val="00905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91"/>
    <p:restoredTop sz="79961"/>
  </p:normalViewPr>
  <p:slideViewPr>
    <p:cSldViewPr snapToGrid="0">
      <p:cViewPr varScale="1">
        <p:scale>
          <a:sx n="93" d="100"/>
          <a:sy n="93" d="100"/>
        </p:scale>
        <p:origin x="248" y="4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case is probably the most consequential failure in the history of software development. The medical accelerator disaster. </a:t>
            </a:r>
            <a:r>
              <a:rPr lang="en-GB" i="0" dirty="0">
                <a:effectLst/>
                <a:latin typeface="Helvetica" pitchFamily="2" charset="0"/>
              </a:rPr>
              <a:t>Due to </a:t>
            </a:r>
          </a:p>
          <a:p>
            <a:pPr marL="171450" indent="-171450">
              <a:buFont typeface="Arial" panose="020B0604020202020204" pitchFamily="34" charset="0"/>
              <a:buChar char="•"/>
            </a:pPr>
            <a:r>
              <a:rPr lang="en-GB" i="0" dirty="0">
                <a:effectLst/>
                <a:latin typeface="Helvetica" pitchFamily="2" charset="0"/>
              </a:rPr>
              <a:t>bugs in the control software, </a:t>
            </a:r>
          </a:p>
          <a:p>
            <a:pPr marL="171450" indent="-171450">
              <a:buFont typeface="Arial" panose="020B0604020202020204" pitchFamily="34" charset="0"/>
              <a:buChar char="•"/>
            </a:pPr>
            <a:r>
              <a:rPr lang="en-GB" i="0" dirty="0">
                <a:effectLst/>
                <a:latin typeface="Helvetica" pitchFamily="2" charset="0"/>
              </a:rPr>
              <a:t>an insufficient quality assurance process, and </a:t>
            </a:r>
          </a:p>
          <a:p>
            <a:pPr marL="171450" indent="-171450">
              <a:buFont typeface="Arial" panose="020B0604020202020204" pitchFamily="34" charset="0"/>
              <a:buChar char="•"/>
            </a:pPr>
            <a:r>
              <a:rPr lang="en-GB" i="0" dirty="0">
                <a:effectLst/>
                <a:latin typeface="Helvetica" pitchFamily="2" charset="0"/>
              </a:rPr>
              <a:t>other deficiencies, </a:t>
            </a:r>
          </a:p>
          <a:p>
            <a:pPr marL="171450" indent="-171450">
              <a:buFont typeface="Arial" panose="020B0604020202020204" pitchFamily="34" charset="0"/>
              <a:buChar char="•"/>
            </a:pPr>
            <a:r>
              <a:rPr lang="en-GB" i="0" dirty="0">
                <a:effectLst/>
                <a:latin typeface="Helvetica" pitchFamily="2" charset="0"/>
              </a:rPr>
              <a:t>three patients lost their lives caused due to radiation overdoses. </a:t>
            </a:r>
          </a:p>
          <a:p>
            <a:pPr marL="171450" indent="-171450">
              <a:buFont typeface="Arial" panose="020B0604020202020204" pitchFamily="34" charset="0"/>
              <a:buChar char="•"/>
            </a:pPr>
            <a:endParaRPr lang="en-GB" i="0" dirty="0">
              <a:effectLst/>
              <a:latin typeface="Helvetica" pitchFamily="2" charset="0"/>
            </a:endParaRPr>
          </a:p>
          <a:p>
            <a:pPr marL="0" indent="0">
              <a:buFont typeface="Arial" panose="020B0604020202020204" pitchFamily="34" charset="0"/>
              <a:buNone/>
            </a:pPr>
            <a:r>
              <a:rPr lang="en-GB" dirty="0"/>
              <a:t>An analysis of this case determined that, among other things, the software was written by only one person who was also responsible for the tests.</a:t>
            </a:r>
            <a:endParaRPr lang="en-BE" dirty="0"/>
          </a:p>
        </p:txBody>
      </p:sp>
      <p:sp>
        <p:nvSpPr>
          <p:cNvPr id="4" name="Slide Number Placeholder 3"/>
          <p:cNvSpPr>
            <a:spLocks noGrp="1"/>
          </p:cNvSpPr>
          <p:nvPr>
            <p:ph type="sldNum" sz="quarter" idx="5"/>
          </p:nvPr>
        </p:nvSpPr>
        <p:spPr/>
        <p:txBody>
          <a:bodyPr/>
          <a:lstStyle/>
          <a:p>
            <a:fld id="{9499C2D3-10A6-BA4A-A1A0-FEF31E4DC6A3}" type="slidenum">
              <a:rPr lang="en-BE" smtClean="0"/>
              <a:t>4</a:t>
            </a:fld>
            <a:endParaRPr lang="en-BE"/>
          </a:p>
        </p:txBody>
      </p:sp>
    </p:spTree>
    <p:extLst>
      <p:ext uri="{BB962C8B-B14F-4D97-AF65-F5344CB8AC3E}">
        <p14:creationId xmlns:p14="http://schemas.microsoft.com/office/powerpoint/2010/main" val="26739757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In this lab, we are going to focus on unit testing</a:t>
            </a:r>
          </a:p>
          <a:p>
            <a:r>
              <a:rPr b="0" i="0" dirty="0">
                <a:solidFill>
                  <a:srgbClr val="202124"/>
                </a:solidFill>
                <a:latin typeface="Roboto"/>
                <a:ea typeface="Roboto"/>
                <a:cs typeface="Roboto"/>
              </a:rPr>
              <a:t>In unit testing, the focus is on</a:t>
            </a:r>
            <a:r>
              <a:rPr b="1" i="0" dirty="0">
                <a:solidFill>
                  <a:srgbClr val="202124"/>
                </a:solidFill>
                <a:latin typeface="Roboto"/>
                <a:ea typeface="Roboto"/>
                <a:cs typeface="Roboto"/>
              </a:rPr>
              <a:t> the smallest testable parts of an application, called units (an example is a method)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BE" dirty="0"/>
              <a:t>The test pyramid illustrates the relative balance among different levels of testing. A project should generally contain many fast, focused unit tests, fewer integration tests, and a smaller number of end-to-end or acceptance tests.</a:t>
            </a:r>
          </a:p>
          <a:p>
            <a:pPr marL="228600" indent="-228600">
              <a:buFont typeface="+mj-lt"/>
              <a:buAutoNum type="arabicPeriod"/>
            </a:pPr>
            <a:r>
              <a:rPr lang="en-BE" dirty="0"/>
              <a:t>This does not mean that unit tests should constitute exactly 100% of the tests or that every project must achieve 100% unit-test coverage. The appropriate balance depends on the system’s architecture, risks, and important user workflows.</a:t>
            </a:r>
          </a:p>
          <a:p>
            <a:pPr marL="228600" indent="-228600">
              <a:buFont typeface="+mj-lt"/>
              <a:buAutoNum type="arabicPeriod"/>
            </a:pPr>
            <a:r>
              <a:rPr lang="en-BE" dirty="0"/>
              <a:t>Unit tests form the broad base because they are usually fast, easier to automate, and good at identifying failures in small pieces of code. Integration tests verify that components work together, while end-to-end and acceptance tests evaluate complete workflows.</a:t>
            </a:r>
            <a:endParaRPr lang="en-GB" dirty="0"/>
          </a:p>
          <a:p>
            <a:pPr marL="228600" indent="-228600">
              <a:buFont typeface="+mj-lt"/>
              <a:buAutoNum type="arabicPeriod"/>
            </a:pPr>
            <a:r>
              <a:rPr lang="en-BE" dirty="0"/>
              <a:t>As we move upward in the pyramid, tests usually become slower, more expensive to create and maintain, and more difficult to diagnose when they fail. However, the higher-level tests remain necessary because unit tests alone cannot reveal every integration or workflow problem.</a:t>
            </a:r>
          </a:p>
          <a:p>
            <a:pPr marL="228600" indent="-228600">
              <a:buFont typeface="+mj-lt"/>
              <a:buAutoNum type="arabicPeriod"/>
            </a:pPr>
            <a:r>
              <a:rPr lang="en-BE" dirty="0"/>
              <a:t>For your Senior Design projects, the practical message is to create enough fast unit tests to support frequent local testing and CI, while also adding appropriate integration or end-to-end tests for critical system interactions.</a:t>
            </a:r>
          </a:p>
          <a:p>
            <a:endParaRPr lang="en-BE" dirty="0"/>
          </a:p>
        </p:txBody>
      </p:sp>
      <p:sp>
        <p:nvSpPr>
          <p:cNvPr id="4" name="Slide Number Placeholder 3"/>
          <p:cNvSpPr>
            <a:spLocks noGrp="1"/>
          </p:cNvSpPr>
          <p:nvPr>
            <p:ph type="sldNum" sz="quarter" idx="5"/>
          </p:nvPr>
        </p:nvSpPr>
        <p:spPr/>
        <p:txBody>
          <a:bodyPr/>
          <a:lstStyle/>
          <a:p>
            <a:fld id="{9499C2D3-10A6-BA4A-A1A0-FEF31E4DC6A3}" type="slidenum">
              <a:rPr lang="en-BE" smtClean="0"/>
              <a:t>7</a:t>
            </a:fld>
            <a:endParaRPr lang="en-BE"/>
          </a:p>
        </p:txBody>
      </p:sp>
    </p:spTree>
    <p:extLst>
      <p:ext uri="{BB962C8B-B14F-4D97-AF65-F5344CB8AC3E}">
        <p14:creationId xmlns:p14="http://schemas.microsoft.com/office/powerpoint/2010/main" val="2844037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BE" b="1" dirty="0"/>
              <a:t>Before Click 1</a:t>
            </a:r>
            <a:endParaRPr lang="en-BE" dirty="0"/>
          </a:p>
          <a:p>
            <a:r>
              <a:rPr lang="en-BE" dirty="0"/>
              <a:t>Unit tests provide fast, focused feedback about small parts of a system. Let us consider a simple example.</a:t>
            </a:r>
          </a:p>
          <a:p>
            <a:r>
              <a:rPr lang="en-BE" b="1" dirty="0"/>
              <a:t>Click 1</a:t>
            </a:r>
            <a:endParaRPr lang="en-BE" dirty="0"/>
          </a:p>
          <a:p>
            <a:r>
              <a:rPr lang="en-BE" dirty="0"/>
              <a:t>Here, </a:t>
            </a:r>
            <a:r>
              <a:rPr lang="en-BE" sz="1200" kern="1200" dirty="0"/>
              <a:t>calculate_total()</a:t>
            </a:r>
            <a:r>
              <a:rPr lang="en-BE" dirty="0"/>
              <a:t> is the unit being tested. The test checks that inputs 4 and 5 produce 9.</a:t>
            </a:r>
          </a:p>
          <a:p>
            <a:r>
              <a:rPr lang="en-BE" dirty="0"/>
              <a:t>Because the test is focused, a failure is easier to locate and diagnose.</a:t>
            </a:r>
          </a:p>
          <a:p>
            <a:r>
              <a:rPr lang="en-BE" b="1" dirty="0"/>
              <a:t>Click 2</a:t>
            </a:r>
            <a:endParaRPr lang="en-BE" dirty="0"/>
          </a:p>
          <a:p>
            <a:r>
              <a:rPr lang="en-BE" dirty="0"/>
              <a:t>Unit tests help us detect defects early, make code changes more safely, and receive automated feedback locally and through CI.</a:t>
            </a:r>
          </a:p>
          <a:p>
            <a:r>
              <a:rPr lang="en-BE" b="1" dirty="0"/>
              <a:t>Click 3</a:t>
            </a:r>
            <a:endParaRPr lang="en-BE" dirty="0"/>
          </a:p>
          <a:p>
            <a:r>
              <a:rPr lang="en-BE" dirty="0"/>
              <a:t>Fast unit tests therefore provide the foundation for test-driven development and continuous integration.</a:t>
            </a:r>
          </a:p>
          <a:p>
            <a:r>
              <a:rPr lang="en-BE" dirty="0"/>
              <a:t>Next, let us examine the structure of a unit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33333"/>
                </a:solidFill>
                <a:effectLst/>
                <a:latin typeface="OpenSans"/>
              </a:rPr>
              <a:t>Let's take a look at an example test case. </a:t>
            </a:r>
          </a:p>
          <a:p>
            <a:pPr algn="l"/>
            <a:r>
              <a:rPr lang="en-GB" b="0" i="0" dirty="0">
                <a:solidFill>
                  <a:srgbClr val="333333"/>
                </a:solidFill>
                <a:effectLst/>
                <a:latin typeface="OpenSans"/>
              </a:rPr>
              <a:t>In this example, we’re going to use a common programming construct know as a stack</a:t>
            </a: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a:p>
            <a:endParaRPr lang="en-BE" dirty="0"/>
          </a:p>
        </p:txBody>
      </p:sp>
      <p:sp>
        <p:nvSpPr>
          <p:cNvPr id="4" name="Slide Number Placeholder 3"/>
          <p:cNvSpPr>
            <a:spLocks noGrp="1"/>
          </p:cNvSpPr>
          <p:nvPr>
            <p:ph type="sldNum" sz="quarter" idx="5"/>
          </p:nvPr>
        </p:nvSpPr>
        <p:spPr/>
        <p:txBody>
          <a:bodyPr/>
          <a:lstStyle/>
          <a:p>
            <a:fld id="{A042266E-4AE0-3346-930D-BC097FD258CE}" type="slidenum">
              <a:rPr lang="en-BE" smtClean="0"/>
              <a:t>9</a:t>
            </a:fld>
            <a:endParaRPr lang="en-BE"/>
          </a:p>
        </p:txBody>
      </p:sp>
    </p:spTree>
    <p:extLst>
      <p:ext uri="{BB962C8B-B14F-4D97-AF65-F5344CB8AC3E}">
        <p14:creationId xmlns:p14="http://schemas.microsoft.com/office/powerpoint/2010/main" val="2895319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33333"/>
                </a:solidFill>
                <a:effectLst/>
                <a:latin typeface="OpenSans"/>
              </a:rPr>
              <a:t>Let's take a look at an example test case. </a:t>
            </a:r>
          </a:p>
          <a:p>
            <a:pPr algn="l"/>
            <a:r>
              <a:rPr lang="en-GB" b="0" i="0" dirty="0">
                <a:solidFill>
                  <a:srgbClr val="333333"/>
                </a:solidFill>
                <a:effectLst/>
                <a:latin typeface="OpenSans"/>
              </a:rPr>
              <a:t>In this example, we’re going to use a common programming construct know as a stack</a:t>
            </a:r>
          </a:p>
          <a:p>
            <a:pPr algn="l"/>
            <a:endParaRPr lang="en-GB" b="0" i="0" dirty="0">
              <a:solidFill>
                <a:srgbClr val="333333"/>
              </a:solidFill>
              <a:effectLst/>
              <a:latin typeface="OpenSans"/>
            </a:endParaRPr>
          </a:p>
          <a:p>
            <a:pPr algn="l"/>
            <a:r>
              <a:rPr lang="en-GB" b="0" i="0" dirty="0">
                <a:solidFill>
                  <a:srgbClr val="333333"/>
                </a:solidFill>
                <a:effectLst/>
                <a:latin typeface="OpenSans"/>
              </a:rPr>
              <a:t>1. First, we will import the </a:t>
            </a:r>
            <a:r>
              <a:rPr lang="en-GB" b="0" i="0" dirty="0" err="1">
                <a:solidFill>
                  <a:srgbClr val="333333"/>
                </a:solidFill>
                <a:effectLst/>
                <a:latin typeface="OpenSans"/>
              </a:rPr>
              <a:t>TestCase</a:t>
            </a:r>
            <a:r>
              <a:rPr lang="en-GB" b="0" i="0" dirty="0">
                <a:solidFill>
                  <a:srgbClr val="333333"/>
                </a:solidFill>
                <a:effectLst/>
                <a:latin typeface="OpenSans"/>
              </a:rPr>
              <a:t> and the Stack classes</a:t>
            </a:r>
          </a:p>
          <a:p>
            <a:pPr algn="l"/>
            <a:r>
              <a:rPr lang="en-GB" b="0" i="0" dirty="0">
                <a:solidFill>
                  <a:srgbClr val="333333"/>
                </a:solidFill>
                <a:effectLst/>
                <a:latin typeface="OpenSans"/>
              </a:rPr>
              <a:t>2. Write out class </a:t>
            </a:r>
            <a:r>
              <a:rPr lang="en-GB" b="0" i="0" dirty="0" err="1">
                <a:solidFill>
                  <a:srgbClr val="333333"/>
                </a:solidFill>
                <a:effectLst/>
                <a:latin typeface="OpenSans"/>
              </a:rPr>
              <a:t>StackTestCase</a:t>
            </a:r>
            <a:endParaRPr lang="en-GB" b="0" i="0" dirty="0">
              <a:solidFill>
                <a:srgbClr val="333333"/>
              </a:solidFill>
              <a:effectLst/>
              <a:latin typeface="OpenSans"/>
            </a:endParaRPr>
          </a:p>
          <a:p>
            <a:pPr algn="l"/>
            <a:r>
              <a:rPr lang="en-GB" b="0" i="0" dirty="0">
                <a:solidFill>
                  <a:srgbClr val="333333"/>
                </a:solidFill>
                <a:effectLst/>
                <a:latin typeface="OpenSans"/>
              </a:rPr>
              <a:t>3. Write the text Fixtures that allows you to specify the initial state of the of the system before a test case is run</a:t>
            </a:r>
          </a:p>
          <a:p>
            <a:pPr lvl="1" algn="l"/>
            <a:r>
              <a:rPr lang="en-GB" b="0" i="0" dirty="0" err="1">
                <a:solidFill>
                  <a:srgbClr val="1F1F1F"/>
                </a:solidFill>
                <a:effectLst/>
                <a:latin typeface="Source Sans Pro" panose="020B0503030403020204" pitchFamily="34" charset="0"/>
              </a:rPr>
              <a:t>setUp</a:t>
            </a:r>
            <a:r>
              <a:rPr lang="en-GB" b="0" i="0" dirty="0">
                <a:solidFill>
                  <a:srgbClr val="1F1F1F"/>
                </a:solidFill>
                <a:effectLst/>
                <a:latin typeface="Source Sans Pro" panose="020B0503030403020204" pitchFamily="34" charset="0"/>
              </a:rPr>
              <a:t>() is declaring an instance variable called </a:t>
            </a:r>
            <a:r>
              <a:rPr lang="en-GB" b="0" i="0" dirty="0" err="1">
                <a:solidFill>
                  <a:srgbClr val="1F1F1F"/>
                </a:solidFill>
                <a:effectLst/>
                <a:latin typeface="Source Sans Pro" panose="020B0503030403020204" pitchFamily="34" charset="0"/>
              </a:rPr>
              <a:t>self.stack</a:t>
            </a:r>
            <a:r>
              <a:rPr lang="en-GB" b="0" i="0" dirty="0">
                <a:solidFill>
                  <a:srgbClr val="1F1F1F"/>
                </a:solidFill>
                <a:effectLst/>
                <a:latin typeface="Source Sans Pro" panose="020B0503030403020204" pitchFamily="34" charset="0"/>
              </a:rPr>
              <a:t> and assigning it to a new Stack.</a:t>
            </a:r>
          </a:p>
          <a:p>
            <a:pPr lvl="1" algn="l"/>
            <a:r>
              <a:rPr lang="en-GB" b="0" i="0" dirty="0" err="1">
                <a:solidFill>
                  <a:srgbClr val="1F1F1F"/>
                </a:solidFill>
                <a:effectLst/>
                <a:latin typeface="Source Sans Pro" panose="020B0503030403020204" pitchFamily="34" charset="0"/>
              </a:rPr>
              <a:t>tearDown</a:t>
            </a:r>
            <a:r>
              <a:rPr lang="en-GB" b="0" i="0" dirty="0">
                <a:solidFill>
                  <a:srgbClr val="1F1F1F"/>
                </a:solidFill>
                <a:effectLst/>
                <a:latin typeface="Source Sans Pro" panose="020B0503030403020204" pitchFamily="34" charset="0"/>
              </a:rPr>
              <a:t>() is setting </a:t>
            </a:r>
            <a:r>
              <a:rPr lang="en-GB" b="0" i="0" dirty="0" err="1">
                <a:solidFill>
                  <a:srgbClr val="1F1F1F"/>
                </a:solidFill>
                <a:effectLst/>
                <a:latin typeface="Source Sans Pro" panose="020B0503030403020204" pitchFamily="34" charset="0"/>
              </a:rPr>
              <a:t>self.stack</a:t>
            </a:r>
            <a:r>
              <a:rPr lang="en-GB" b="0" i="0" dirty="0">
                <a:solidFill>
                  <a:srgbClr val="1F1F1F"/>
                </a:solidFill>
                <a:effectLst/>
                <a:latin typeface="Source Sans Pro" panose="020B0503030403020204" pitchFamily="34" charset="0"/>
              </a:rPr>
              <a:t> to None to make sure that it doesn’t get reused</a:t>
            </a:r>
          </a:p>
          <a:p>
            <a:pPr lvl="0" algn="l"/>
            <a:r>
              <a:rPr lang="en-GB" b="0" i="0" dirty="0">
                <a:solidFill>
                  <a:srgbClr val="1F1F1F"/>
                </a:solidFill>
                <a:effectLst/>
                <a:latin typeface="Source Sans Pro" panose="020B0503030403020204" pitchFamily="34" charset="0"/>
              </a:rPr>
              <a:t>4. Now we write our first Test Case </a:t>
            </a:r>
            <a:r>
              <a:rPr lang="en-GB" b="0" i="0" dirty="0" err="1">
                <a:solidFill>
                  <a:srgbClr val="1F1F1F"/>
                </a:solidFill>
                <a:effectLst/>
                <a:latin typeface="Source Sans Pro" panose="020B0503030403020204" pitchFamily="34" charset="0"/>
              </a:rPr>
              <a:t>test_push</a:t>
            </a:r>
            <a:r>
              <a:rPr lang="en-GB" b="0" i="0" dirty="0">
                <a:solidFill>
                  <a:srgbClr val="1F1F1F"/>
                </a:solidFill>
                <a:effectLst/>
                <a:latin typeface="Source Sans Pro" panose="020B0503030403020204" pitchFamily="34" charset="0"/>
              </a:rPr>
              <a:t>(self)</a:t>
            </a:r>
          </a:p>
          <a:p>
            <a:pPr marL="228600" lvl="0" indent="-228600" algn="l">
              <a:buAutoNum type="arabicPeriod" startAt="4"/>
            </a:pPr>
            <a:r>
              <a:rPr lang="en-GB" b="0" i="0" dirty="0">
                <a:solidFill>
                  <a:srgbClr val="1F1F1F"/>
                </a:solidFill>
                <a:effectLst/>
                <a:latin typeface="Source Sans Pro" panose="020B0503030403020204" pitchFamily="34" charset="0"/>
              </a:rPr>
              <a:t>When the program executes, </a:t>
            </a:r>
            <a:r>
              <a:rPr lang="en-GB" b="0" i="0" dirty="0" err="1">
                <a:solidFill>
                  <a:srgbClr val="1F1F1F"/>
                </a:solidFill>
                <a:effectLst/>
                <a:latin typeface="Source Sans Pro" panose="020B0503030403020204" pitchFamily="34" charset="0"/>
              </a:rPr>
              <a:t>self.stack</a:t>
            </a:r>
            <a:r>
              <a:rPr lang="en-GB" b="0" i="0" dirty="0">
                <a:solidFill>
                  <a:srgbClr val="1F1F1F"/>
                </a:solidFill>
                <a:effectLst/>
                <a:latin typeface="Source Sans Pro" panose="020B0503030403020204" pitchFamily="34" charset="0"/>
              </a:rPr>
              <a:t> = Stack() will be called</a:t>
            </a:r>
          </a:p>
          <a:p>
            <a:pPr marL="228600" lvl="0" indent="-228600" algn="l">
              <a:buAutoNum type="arabicPeriod" startAt="4"/>
            </a:pPr>
            <a:r>
              <a:rPr lang="en-GB" b="0" i="0" dirty="0">
                <a:solidFill>
                  <a:srgbClr val="1F1F1F"/>
                </a:solidFill>
                <a:effectLst/>
                <a:latin typeface="Source Sans Pro" panose="020B0503030403020204" pitchFamily="34" charset="0"/>
              </a:rPr>
              <a:t>Next, </a:t>
            </a:r>
            <a:r>
              <a:rPr lang="en-GB" b="0" i="0" dirty="0" err="1">
                <a:solidFill>
                  <a:srgbClr val="1F1F1F"/>
                </a:solidFill>
                <a:effectLst/>
                <a:latin typeface="Source Sans Pro" panose="020B0503030403020204" pitchFamily="34" charset="0"/>
              </a:rPr>
              <a:t>self.stack.push</a:t>
            </a:r>
            <a:r>
              <a:rPr lang="en-GB" b="0" i="0" dirty="0">
                <a:solidFill>
                  <a:srgbClr val="1F1F1F"/>
                </a:solidFill>
                <a:effectLst/>
                <a:latin typeface="Source Sans Pro" panose="020B0503030403020204" pitchFamily="34" charset="0"/>
              </a:rPr>
              <a:t>(9) is called</a:t>
            </a:r>
            <a:endParaRPr lang="en-GB" b="0" i="0" dirty="0">
              <a:solidFill>
                <a:srgbClr val="333333"/>
              </a:solidFill>
              <a:effectLst/>
              <a:latin typeface="OpenSans"/>
            </a:endParaRP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a:p>
            <a:endParaRPr lang="en-BE" dirty="0"/>
          </a:p>
        </p:txBody>
      </p:sp>
      <p:sp>
        <p:nvSpPr>
          <p:cNvPr id="4" name="Slide Number Placeholder 3"/>
          <p:cNvSpPr>
            <a:spLocks noGrp="1"/>
          </p:cNvSpPr>
          <p:nvPr>
            <p:ph type="sldNum" sz="quarter" idx="5"/>
          </p:nvPr>
        </p:nvSpPr>
        <p:spPr/>
        <p:txBody>
          <a:bodyPr/>
          <a:lstStyle/>
          <a:p>
            <a:fld id="{A042266E-4AE0-3346-930D-BC097FD258CE}" type="slidenum">
              <a:rPr lang="en-BE" smtClean="0"/>
              <a:t>10</a:t>
            </a:fld>
            <a:endParaRPr lang="en-BE"/>
          </a:p>
        </p:txBody>
      </p:sp>
    </p:spTree>
    <p:extLst>
      <p:ext uri="{BB962C8B-B14F-4D97-AF65-F5344CB8AC3E}">
        <p14:creationId xmlns:p14="http://schemas.microsoft.com/office/powerpoint/2010/main" val="1516420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 name such as test1 tells us only that a test failed; it does not identify the behavior.</a:t>
            </a:r>
          </a:p>
          <a:p>
            <a:r>
              <a:rPr dirty="0"/>
              <a:t>A descriptive name communicates the behavior, the scenario, and the expected outcome.</a:t>
            </a:r>
          </a:p>
          <a:p>
            <a:r>
              <a:rPr dirty="0"/>
              <a:t>Here, the name tells us that pop, after a push, should return the last item.</a:t>
            </a:r>
          </a:p>
          <a:p>
            <a:r>
              <a:rPr dirty="0"/>
              <a:t>The exact naming convention may vary, but a failing test name should help the team understand what broke.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Unit tests should focus on the behavior of one unit, not on whether a database, API, file system, or network happens to be available.</a:t>
            </a:r>
          </a:p>
          <a:p>
            <a:r>
              <a:rPr dirty="0"/>
              <a:t>Here the real database is replaced by a test double that returns a controlled response.</a:t>
            </a:r>
          </a:p>
          <a:p>
            <a:r>
              <a:rPr dirty="0"/>
              <a:t>This does not mean the real database is never tested. Its interaction belongs in integration testing.</a:t>
            </a:r>
          </a:p>
          <a:p>
            <a:r>
              <a:rPr dirty="0"/>
              <a:t>Isolation also makes unit tests faster and more predictable, which leads to the next slide.</a:t>
            </a:r>
          </a:p>
          <a:p>
            <a:r>
              <a:rPr dirty="0"/>
              <a:t>[Sources]</a:t>
            </a:r>
          </a:p>
          <a:p>
            <a:r>
              <a:rPr dirty="0"/>
              <a:t>Clean C++20, Chapter 2, section on Test Doubles (Fake Objects).</a:t>
            </a:r>
          </a:p>
          <a:p>
            <a:r>
              <a:rPr dirty="0"/>
              <a:t>https://</a:t>
            </a:r>
            <a:r>
              <a:rPr dirty="0" err="1"/>
              <a:t>blog.pragmatists.com</a:t>
            </a:r>
            <a:r>
              <a:rPr dirty="0"/>
              <a:t>/test-doubles-fakes-mocks-and-stubs-1a7491dfa3da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Developers continually make small changes to the code—adding functionality, fixing defects, or refactoring existing code.</a:t>
            </a:r>
          </a:p>
          <a:p>
            <a:endParaRPr lang="en-BE" dirty="0"/>
          </a:p>
          <a:p>
            <a:r>
              <a:rPr lang="en-BE" dirty="0"/>
              <a:t>After making a change, developers should be able to run the unit tests immediately. Because these tests are focused and isolated, they should provide feedback quickly.</a:t>
            </a:r>
          </a:p>
          <a:p>
            <a:endParaRPr lang="en-BE" dirty="0"/>
          </a:p>
          <a:p>
            <a:pPr marL="0" marR="0" lvl="0" indent="0" algn="l" defTabSz="914400" rtl="0" eaLnBrk="1" fontAlgn="auto" latinLnBrk="0" hangingPunct="1">
              <a:lnSpc>
                <a:spcPct val="100000"/>
              </a:lnSpc>
              <a:spcBef>
                <a:spcPts val="0"/>
              </a:spcBef>
              <a:spcAft>
                <a:spcPts val="0"/>
              </a:spcAft>
              <a:buClrTx/>
              <a:buSzTx/>
              <a:buFontTx/>
              <a:buNone/>
              <a:tabLst/>
              <a:defRPr/>
            </a:pPr>
            <a:r>
              <a:rPr lang="en-BE" dirty="0"/>
              <a:t>Quick feedback allows developers to fix a failure while the change is still fresh in their minds. If the tests pass, they can confidently continue working.</a:t>
            </a:r>
          </a:p>
          <a:p>
            <a:endParaRPr lang="en-BE" dirty="0"/>
          </a:p>
          <a:p>
            <a:r>
              <a:rPr lang="en-BE" dirty="0"/>
              <a:t>Feedback interrupts development and Tests may be postponed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BE" dirty="0"/>
              <a:t>The circles represent possible account-balance values accepted by the function. Because the range is extremely large, we cannot test every possible balance.</a:t>
            </a:r>
          </a:p>
          <a:p>
            <a:pPr lvl="0"/>
            <a:endParaRPr lang="en-BE" dirty="0"/>
          </a:p>
          <a:p>
            <a:pPr lvl="0"/>
            <a:r>
              <a:rPr lang="en-BE" dirty="0"/>
              <a:t>We therefore select inputs systematically rather than randomly. These four values form a manageable starting set because each represents a different interest-rule behavior.</a:t>
            </a:r>
          </a:p>
          <a:p>
            <a:pPr lvl="0"/>
            <a:endParaRPr lang="en-BE" dirty="0"/>
          </a:p>
          <a:p>
            <a:pPr marL="0" marR="0" lvl="0" indent="0" algn="l" defTabSz="914400" rtl="0" eaLnBrk="1" fontAlgn="auto" latinLnBrk="0" hangingPunct="1">
              <a:lnSpc>
                <a:spcPct val="100000"/>
              </a:lnSpc>
              <a:spcBef>
                <a:spcPts val="0"/>
              </a:spcBef>
              <a:spcAft>
                <a:spcPts val="0"/>
              </a:spcAft>
              <a:buClrTx/>
              <a:buSzTx/>
              <a:buFontTx/>
              <a:buNone/>
              <a:tabLst/>
              <a:defRPr/>
            </a:pPr>
            <a:r>
              <a:rPr lang="en-BE" dirty="0"/>
              <a:t>Equivalence partitioning helps us identify the different behavior classes and choose a representative from each one. Boundary-value analysis then adds tests around the points where the behavior changes. The next two slides examine these techniques using the same example.</a:t>
            </a:r>
          </a:p>
          <a:p>
            <a:pPr lvl="0"/>
            <a:endParaRPr lang="en-B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On the previous slide, we selected four representative test cases. This slide explains how we identified them.</a:t>
            </a:r>
          </a:p>
          <a:p>
            <a:endParaRPr lang="en-BE" dirty="0"/>
          </a:p>
          <a:p>
            <a:r>
              <a:rPr lang="en-BE" dirty="0"/>
              <a:t>Equivalence partitioning divides the possible inputs into classes that should produce meaningfully different behavior. In this example, the applicable interest rule changes across these four balance ranges.</a:t>
            </a:r>
          </a:p>
          <a:p>
            <a:endParaRPr lang="en-BE" dirty="0"/>
          </a:p>
          <a:p>
            <a:r>
              <a:rPr lang="en-BE" dirty="0"/>
              <a:t>Instead of testing every balance, we begin with one representative value from each class. Negative two thousand dollars represents the overdraft class; the other three values represent the three interest classes.</a:t>
            </a:r>
          </a:p>
          <a:p>
            <a:endParaRPr lang="en-BE" dirty="0"/>
          </a:p>
          <a:p>
            <a:r>
              <a:rPr lang="en-BE" dirty="0"/>
              <a:t>The assumption is that values within the same class should be processed similarly. This does not prove that every value in the class is correct, but it gives us a systematic and manageable starting set.</a:t>
            </a:r>
          </a:p>
          <a:p>
            <a:endParaRPr lang="en-BE" dirty="0"/>
          </a:p>
          <a:p>
            <a:r>
              <a:rPr lang="en-BE" dirty="0"/>
              <a:t>Equivalence partitioning helps us cover the different categories of behavior without testing every possible input. However, the representative values are located safely inside their classes. Defects often occur near the points where one class changes into another. We therefore examine those boundaries next.</a:t>
            </a:r>
          </a:p>
          <a:p>
            <a:endParaRPr lang="en-BE" dirty="0"/>
          </a:p>
          <a:p>
            <a:endParaRPr lang="en-BE" dirty="0"/>
          </a:p>
          <a:p>
            <a:endParaRPr lang="en-B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The previous slide tested one value from inside each equivalence class. Boundary-value analysis focuses instead on the transitions between those classes.</a:t>
            </a:r>
          </a:p>
          <a:p>
            <a:r>
              <a:rPr lang="en-BE" dirty="0"/>
              <a:t>In this example, the behavior changes at zero dollars, five thousand dollars, and ten thousand dollars. These are therefore the boundaries we need to examine carefully.</a:t>
            </a:r>
          </a:p>
          <a:p>
            <a:endParaRPr lang="en-BE" dirty="0"/>
          </a:p>
          <a:p>
            <a:r>
              <a:rPr lang="en-BE" dirty="0"/>
              <a:t>For each boundary, we test a value immediately below it, the boundary itself, and a value immediately above it.</a:t>
            </a:r>
          </a:p>
          <a:p>
            <a:r>
              <a:rPr lang="en-BE" dirty="0"/>
              <a:t>At five thousand dollars, for example, we test 4,999, 5,000, and 5,001. These cases verify that the implementation changes behavior at exactly the correct point—not one value too early or too late.</a:t>
            </a:r>
          </a:p>
          <a:p>
            <a:endParaRPr lang="en-BE" dirty="0"/>
          </a:p>
          <a:p>
            <a:r>
              <a:rPr lang="en-BE" dirty="0"/>
              <a:t>These examples assume balances are represented in whole dollars. If the system accepts cents, we should use the smallest meaningful increment, such as 4,999 dollars and 99 cents, 5,000 dollars, and 5,000 dollars and 1 cent.</a:t>
            </a:r>
          </a:p>
          <a:p>
            <a:endParaRPr lang="en-BE" dirty="0"/>
          </a:p>
          <a:p>
            <a:r>
              <a:rPr lang="en-BE" dirty="0"/>
              <a:t>The two techniques are complementary. Equivalence partitioning covers the different categories of behavior, while boundary-value analysis tests the risky transitions between them. Together, they produce a small but systematic set of high-value test cases.</a:t>
            </a:r>
          </a:p>
          <a:p>
            <a:endParaRPr lang="en-B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A042266E-4AE0-3346-930D-BC097FD258CE}" type="slidenum">
              <a:rPr lang="en-BE" smtClean="0"/>
              <a:t>18</a:t>
            </a:fld>
            <a:endParaRPr lang="en-BE"/>
          </a:p>
        </p:txBody>
      </p:sp>
    </p:spTree>
    <p:extLst>
      <p:ext uri="{BB962C8B-B14F-4D97-AF65-F5344CB8AC3E}">
        <p14:creationId xmlns:p14="http://schemas.microsoft.com/office/powerpoint/2010/main" val="4905552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33333"/>
                </a:solidFill>
                <a:effectLst/>
                <a:latin typeface="OpenSans"/>
              </a:rPr>
              <a:t>Finally it gives us the line numbers that did not have test cases. </a:t>
            </a:r>
          </a:p>
          <a:p>
            <a:pPr algn="l"/>
            <a:r>
              <a:rPr lang="en-GB" b="0" i="0" dirty="0">
                <a:solidFill>
                  <a:srgbClr val="333333"/>
                </a:solidFill>
                <a:effectLst/>
                <a:latin typeface="OpenSans"/>
              </a:rPr>
              <a:t>This info is critical because now we know where to concentrate our tests. </a:t>
            </a:r>
          </a:p>
          <a:p>
            <a:pPr algn="l"/>
            <a:r>
              <a:rPr lang="en-GB" b="0" i="0" dirty="0">
                <a:solidFill>
                  <a:srgbClr val="333333"/>
                </a:solidFill>
                <a:effectLst/>
                <a:latin typeface="OpenSans"/>
              </a:rPr>
              <a:t>We need to go write more test cases to cause those lines of code to be executed.</a:t>
            </a:r>
          </a:p>
          <a:p>
            <a:endParaRPr lang="en-BE" dirty="0"/>
          </a:p>
        </p:txBody>
      </p:sp>
      <p:sp>
        <p:nvSpPr>
          <p:cNvPr id="4" name="Slide Number Placeholder 3"/>
          <p:cNvSpPr>
            <a:spLocks noGrp="1"/>
          </p:cNvSpPr>
          <p:nvPr>
            <p:ph type="sldNum" sz="quarter" idx="5"/>
          </p:nvPr>
        </p:nvSpPr>
        <p:spPr/>
        <p:txBody>
          <a:bodyPr/>
          <a:lstStyle/>
          <a:p>
            <a:fld id="{A042266E-4AE0-3346-930D-BC097FD258CE}" type="slidenum">
              <a:rPr lang="en-BE" smtClean="0"/>
              <a:t>19</a:t>
            </a:fld>
            <a:endParaRPr lang="en-BE"/>
          </a:p>
        </p:txBody>
      </p:sp>
    </p:spTree>
    <p:extLst>
      <p:ext uri="{BB962C8B-B14F-4D97-AF65-F5344CB8AC3E}">
        <p14:creationId xmlns:p14="http://schemas.microsoft.com/office/powerpoint/2010/main" val="34239478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33333"/>
                </a:solidFill>
                <a:effectLst/>
                <a:latin typeface="OpenSans"/>
              </a:rPr>
              <a:t>100% test coverage only means that every line of code has been tested with some known good data. </a:t>
            </a:r>
          </a:p>
          <a:p>
            <a:pPr algn="l"/>
            <a:r>
              <a:rPr lang="en-GB" b="0" i="0" dirty="0">
                <a:solidFill>
                  <a:srgbClr val="333333"/>
                </a:solidFill>
                <a:effectLst/>
                <a:latin typeface="OpenSans"/>
              </a:rPr>
              <a:t>You can still pass bad data into your code and find bugs. </a:t>
            </a:r>
          </a:p>
          <a:p>
            <a:pPr algn="l"/>
            <a:r>
              <a:rPr lang="en-GB" b="0" i="0" dirty="0">
                <a:solidFill>
                  <a:srgbClr val="333333"/>
                </a:solidFill>
                <a:effectLst/>
                <a:latin typeface="OpenSans"/>
              </a:rPr>
              <a:t>So don't stop testing when your code cover reaches 100%. </a:t>
            </a:r>
          </a:p>
          <a:p>
            <a:pPr algn="l"/>
            <a:r>
              <a:rPr lang="en-GB" b="0" i="0" dirty="0">
                <a:solidFill>
                  <a:srgbClr val="333333"/>
                </a:solidFill>
                <a:effectLst/>
                <a:latin typeface="OpenSans"/>
              </a:rPr>
              <a:t>Keep challenging the integrity of your code with bad data and corner cases to make sure </a:t>
            </a:r>
          </a:p>
          <a:p>
            <a:pPr algn="l"/>
            <a:r>
              <a:rPr lang="en-GB" b="0" i="0" dirty="0">
                <a:solidFill>
                  <a:srgbClr val="333333"/>
                </a:solidFill>
                <a:effectLst/>
                <a:latin typeface="OpenSans"/>
              </a:rPr>
              <a:t>your code behaves as expected under both favourable and adverse conditions. </a:t>
            </a:r>
          </a:p>
          <a:p>
            <a:endParaRPr lang="en-BE" dirty="0"/>
          </a:p>
        </p:txBody>
      </p:sp>
      <p:sp>
        <p:nvSpPr>
          <p:cNvPr id="4" name="Slide Number Placeholder 3"/>
          <p:cNvSpPr>
            <a:spLocks noGrp="1"/>
          </p:cNvSpPr>
          <p:nvPr>
            <p:ph type="sldNum" sz="quarter" idx="5"/>
          </p:nvPr>
        </p:nvSpPr>
        <p:spPr/>
        <p:txBody>
          <a:bodyPr/>
          <a:lstStyle/>
          <a:p>
            <a:fld id="{A042266E-4AE0-3346-930D-BC097FD258CE}" type="slidenum">
              <a:rPr lang="en-BE" smtClean="0"/>
              <a:t>20</a:t>
            </a:fld>
            <a:endParaRPr lang="en-BE"/>
          </a:p>
        </p:txBody>
      </p:sp>
    </p:spTree>
    <p:extLst>
      <p:ext uri="{BB962C8B-B14F-4D97-AF65-F5344CB8AC3E}">
        <p14:creationId xmlns:p14="http://schemas.microsoft.com/office/powerpoint/2010/main" val="29940244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This function accepts an integer and three Boolean inputs.</a:t>
            </a:r>
          </a:p>
          <a:p>
            <a:endParaRPr lang="en-BE" dirty="0"/>
          </a:p>
          <a:p>
            <a:r>
              <a:rPr lang="en-BE" dirty="0"/>
              <a:t>Each Boolean controls a separate decision. When true, its associated statement executes; when false, that statement is skipped.</a:t>
            </a:r>
          </a:p>
          <a:p>
            <a:endParaRPr lang="en-BE" dirty="0"/>
          </a:p>
          <a:p>
            <a:r>
              <a:rPr lang="en-BE" dirty="0"/>
              <a:t>Because each decision can be true or false, different combinations create different execution paths.”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We begin with one test in which </a:t>
            </a:r>
            <a:r>
              <a:rPr lang="en-BE" sz="1200" kern="1200" dirty="0"/>
              <a:t>b1</a:t>
            </a:r>
            <a:r>
              <a:rPr lang="en-BE" dirty="0"/>
              <a:t> is false while </a:t>
            </a:r>
            <a:r>
              <a:rPr lang="en-BE" sz="1200" kern="1200" dirty="0"/>
              <a:t>b2</a:t>
            </a:r>
            <a:r>
              <a:rPr lang="en-BE" dirty="0"/>
              <a:t> and </a:t>
            </a:r>
            <a:r>
              <a:rPr lang="en-BE" sz="1200" kern="1200" dirty="0"/>
              <a:t>b3</a:t>
            </a:r>
            <a:r>
              <a:rPr lang="en-BE" dirty="0"/>
              <a:t> are true.</a:t>
            </a:r>
          </a:p>
          <a:p>
            <a:endParaRPr lang="en-BE" dirty="0"/>
          </a:p>
          <a:p>
            <a:r>
              <a:rPr lang="en-BE" dirty="0"/>
              <a:t>The test executes these eight lines. Because </a:t>
            </a:r>
            <a:r>
              <a:rPr lang="en-BE" sz="1200" kern="1200" dirty="0"/>
              <a:t>b1</a:t>
            </a:r>
            <a:r>
              <a:rPr lang="en-BE" dirty="0"/>
              <a:t> is false, the statement </a:t>
            </a:r>
            <a:r>
              <a:rPr lang="en-BE" sz="1200" kern="1200" dirty="0"/>
              <a:t>x++</a:t>
            </a:r>
            <a:r>
              <a:rPr lang="en-BE" dirty="0"/>
              <a:t> is skipped.</a:t>
            </a:r>
          </a:p>
          <a:p>
            <a:endParaRPr lang="en-BE" dirty="0"/>
          </a:p>
          <a:p>
            <a:r>
              <a:rPr lang="en-BE" dirty="0"/>
              <a:t>Using this executable-line count, eight of nine lines run, giving 88.9% line coverage. Line coverage identifies unexecuted code, but it does not show whether every decision was tested both ways.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The first test makes all three decisions true.</a:t>
            </a:r>
          </a:p>
          <a:p>
            <a:endParaRPr lang="en-BE" dirty="0"/>
          </a:p>
          <a:p>
            <a:r>
              <a:rPr lang="en-BE" dirty="0"/>
              <a:t>The second test makes all three decisions false.</a:t>
            </a:r>
          </a:p>
          <a:p>
            <a:endParaRPr lang="en-BE" dirty="0"/>
          </a:p>
          <a:p>
            <a:r>
              <a:rPr lang="en-BE" dirty="0"/>
              <a:t>Across these two tests, every decision has evaluated to both true and false. Therefore, branch coverage is 100%.</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Each of the three decisions has two possible outcomes.</a:t>
            </a:r>
          </a:p>
          <a:p>
            <a:endParaRPr lang="en-BE" dirty="0"/>
          </a:p>
          <a:p>
            <a:r>
              <a:rPr lang="en-BE" dirty="0"/>
              <a:t>Combining those outcomes produces eight execution paths. Each label shows the outcomes of </a:t>
            </a:r>
            <a:r>
              <a:rPr lang="en-BE" sz="1200" kern="1200" dirty="0"/>
              <a:t>b1</a:t>
            </a:r>
            <a:r>
              <a:rPr lang="en-BE" dirty="0"/>
              <a:t>, </a:t>
            </a:r>
            <a:r>
              <a:rPr lang="en-BE" sz="1200" kern="1200" dirty="0"/>
              <a:t>b2</a:t>
            </a:r>
            <a:r>
              <a:rPr lang="en-BE" dirty="0"/>
              <a:t>, and </a:t>
            </a:r>
            <a:r>
              <a:rPr lang="en-BE" sz="1200" kern="1200" dirty="0"/>
              <a:t>b3</a:t>
            </a:r>
            <a:r>
              <a:rPr lang="en-BE" dirty="0"/>
              <a:t>, in that order.”</a:t>
            </a:r>
          </a:p>
          <a:p>
            <a:endParaRPr lang="en-BE" dirty="0"/>
          </a:p>
          <a:p>
            <a:r>
              <a:rPr lang="en-BE" dirty="0"/>
              <a:t>Unlike branch coverage, path coverage considers complete combinations of decisions.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Although every decision has been true and false, these tests exercise only two of the eight possible combinations.</a:t>
            </a:r>
          </a:p>
          <a:p>
            <a:endParaRPr lang="en-BE" dirty="0"/>
          </a:p>
          <a:p>
            <a:r>
              <a:rPr lang="en-BE" dirty="0"/>
              <a:t>Two divided by eight gives 25% path coverage.</a:t>
            </a:r>
          </a:p>
          <a:p>
            <a:endParaRPr lang="en-BE" dirty="0"/>
          </a:p>
          <a:p>
            <a:r>
              <a:rPr lang="en-BE" dirty="0"/>
              <a:t>A defect in one of the six untested combinations could remain hidden. This is why a coverage percentage must always be interpreted together with the coverage criterion being measured.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A042266E-4AE0-3346-930D-BC097FD258CE}" type="slidenum">
              <a:rPr lang="en-BE" smtClean="0"/>
              <a:t>26</a:t>
            </a:fld>
            <a:endParaRPr lang="en-BE"/>
          </a:p>
        </p:txBody>
      </p:sp>
    </p:spTree>
    <p:extLst>
      <p:ext uri="{BB962C8B-B14F-4D97-AF65-F5344CB8AC3E}">
        <p14:creationId xmlns:p14="http://schemas.microsoft.com/office/powerpoint/2010/main" val="38002728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The TDD Cycle</a:t>
            </a:r>
            <a:endParaRPr lang="en-GB" b="0" dirty="0"/>
          </a:p>
          <a:p>
            <a:pPr marL="171450" indent="-171450">
              <a:buFont typeface="Arial" panose="020B0604020202020204" pitchFamily="34" charset="0"/>
              <a:buChar char="•"/>
            </a:pPr>
            <a:r>
              <a:rPr lang="en-GB" b="1" dirty="0"/>
              <a:t>Step 1</a:t>
            </a:r>
            <a:r>
              <a:rPr lang="en-GB" dirty="0"/>
              <a:t>: Write a test that defines a function or improvements of a function.</a:t>
            </a:r>
          </a:p>
          <a:p>
            <a:pPr marL="171450" indent="-171450">
              <a:buFont typeface="Arial" panose="020B0604020202020204" pitchFamily="34" charset="0"/>
              <a:buChar char="•"/>
            </a:pPr>
            <a:r>
              <a:rPr lang="en-GB" b="1" dirty="0"/>
              <a:t>Step 2</a:t>
            </a:r>
            <a:r>
              <a:rPr lang="en-GB" dirty="0"/>
              <a:t>: Run the test and see it fail (this ensures the test is working and the feature isn't implemented yet).</a:t>
            </a:r>
          </a:p>
          <a:p>
            <a:pPr marL="171450" indent="-171450">
              <a:buFont typeface="Arial" panose="020B0604020202020204" pitchFamily="34" charset="0"/>
              <a:buChar char="•"/>
            </a:pPr>
            <a:r>
              <a:rPr lang="en-GB" b="1" dirty="0"/>
              <a:t>Step 3</a:t>
            </a:r>
            <a:r>
              <a:rPr lang="en-GB" dirty="0"/>
              <a:t>: Write the simplest possible code to pass the test.</a:t>
            </a:r>
          </a:p>
          <a:p>
            <a:pPr marL="171450" indent="-171450">
              <a:buFont typeface="Arial" panose="020B0604020202020204" pitchFamily="34" charset="0"/>
              <a:buChar char="•"/>
            </a:pPr>
            <a:r>
              <a:rPr lang="en-GB" b="1" dirty="0"/>
              <a:t>Step 4</a:t>
            </a:r>
            <a:r>
              <a:rPr lang="en-GB" dirty="0"/>
              <a:t>: Refactor the code while keeping the tests green.</a:t>
            </a:r>
          </a:p>
          <a:p>
            <a:pPr marL="171450" indent="-171450">
              <a:buFont typeface="Arial" panose="020B0604020202020204" pitchFamily="34" charset="0"/>
              <a:buChar char="•"/>
            </a:pPr>
            <a:r>
              <a:rPr lang="en-GB" b="1" dirty="0"/>
              <a:t>Step 5</a:t>
            </a:r>
            <a:r>
              <a:rPr lang="en-GB" dirty="0"/>
              <a:t>: Repeat for each new feature or function.</a:t>
            </a:r>
          </a:p>
          <a:p>
            <a:pPr marL="171450" indent="-171450" algn="l">
              <a:buFont typeface="Arial" panose="020B0604020202020204" pitchFamily="34" charset="0"/>
              <a:buChar char="•"/>
            </a:pPr>
            <a:endParaRPr lang="en-GB" b="0" i="0" dirty="0">
              <a:solidFill>
                <a:srgbClr val="333333"/>
              </a:solidFill>
              <a:effectLst/>
              <a:latin typeface="OpenSans"/>
            </a:endParaRPr>
          </a:p>
          <a:p>
            <a:endParaRPr lang="en-BE" dirty="0"/>
          </a:p>
        </p:txBody>
      </p:sp>
      <p:sp>
        <p:nvSpPr>
          <p:cNvPr id="4" name="Slide Number Placeholder 3"/>
          <p:cNvSpPr>
            <a:spLocks noGrp="1"/>
          </p:cNvSpPr>
          <p:nvPr>
            <p:ph type="sldNum" sz="quarter" idx="5"/>
          </p:nvPr>
        </p:nvSpPr>
        <p:spPr/>
        <p:txBody>
          <a:bodyPr/>
          <a:lstStyle/>
          <a:p>
            <a:fld id="{A042266E-4AE0-3346-930D-BC097FD258CE}" type="slidenum">
              <a:rPr lang="en-BE" smtClean="0"/>
              <a:t>27</a:t>
            </a:fld>
            <a:endParaRPr lang="en-BE"/>
          </a:p>
        </p:txBody>
      </p:sp>
    </p:spTree>
    <p:extLst>
      <p:ext uri="{BB962C8B-B14F-4D97-AF65-F5344CB8AC3E}">
        <p14:creationId xmlns:p14="http://schemas.microsoft.com/office/powerpoint/2010/main" val="35044220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GB" b="0" i="0" dirty="0">
              <a:solidFill>
                <a:srgbClr val="333333"/>
              </a:solidFill>
              <a:effectLst/>
              <a:latin typeface="OpenSans"/>
            </a:endParaRPr>
          </a:p>
          <a:p>
            <a:endParaRPr lang="en-BE" dirty="0"/>
          </a:p>
        </p:txBody>
      </p:sp>
      <p:sp>
        <p:nvSpPr>
          <p:cNvPr id="4" name="Slide Number Placeholder 3"/>
          <p:cNvSpPr>
            <a:spLocks noGrp="1"/>
          </p:cNvSpPr>
          <p:nvPr>
            <p:ph type="sldNum" sz="quarter" idx="5"/>
          </p:nvPr>
        </p:nvSpPr>
        <p:spPr/>
        <p:txBody>
          <a:bodyPr/>
          <a:lstStyle/>
          <a:p>
            <a:fld id="{87019EC6-10EB-8B41-B3C9-3D7B5479879B}" type="slidenum">
              <a:rPr lang="en-BE" smtClean="0"/>
              <a:t>28</a:t>
            </a:fld>
            <a:endParaRPr lang="en-BE"/>
          </a:p>
        </p:txBody>
      </p:sp>
    </p:spTree>
    <p:extLst>
      <p:ext uri="{BB962C8B-B14F-4D97-AF65-F5344CB8AC3E}">
        <p14:creationId xmlns:p14="http://schemas.microsoft.com/office/powerpoint/2010/main" val="14932709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In this class and in your project, we focus exclusively on CI</a:t>
            </a:r>
            <a:r>
              <a:rPr lang="en-GB" dirty="0"/>
              <a:t> — the part of the pipeline that supports pull requests, code reviews, and safe collaboration.</a:t>
            </a:r>
          </a:p>
        </p:txBody>
      </p:sp>
      <p:sp>
        <p:nvSpPr>
          <p:cNvPr id="4" name="Slide Number Placeholder 3"/>
          <p:cNvSpPr>
            <a:spLocks noGrp="1"/>
          </p:cNvSpPr>
          <p:nvPr>
            <p:ph type="sldNum" sz="quarter" idx="5"/>
          </p:nvPr>
        </p:nvSpPr>
        <p:spPr/>
        <p:txBody>
          <a:bodyPr/>
          <a:lstStyle/>
          <a:p>
            <a:fld id="{87019EC6-10EB-8B41-B3C9-3D7B5479879B}" type="slidenum">
              <a:rPr lang="en-BE" smtClean="0"/>
              <a:t>29</a:t>
            </a:fld>
            <a:endParaRPr lang="en-BE"/>
          </a:p>
        </p:txBody>
      </p:sp>
    </p:spTree>
    <p:extLst>
      <p:ext uri="{BB962C8B-B14F-4D97-AF65-F5344CB8AC3E}">
        <p14:creationId xmlns:p14="http://schemas.microsoft.com/office/powerpoint/2010/main" val="12409136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lgn="l">
              <a:buAutoNum type="arabicPeriod"/>
            </a:pPr>
            <a:r>
              <a:rPr lang="en-GB" b="0" i="0" dirty="0">
                <a:solidFill>
                  <a:srgbClr val="333333"/>
                </a:solidFill>
                <a:effectLst/>
                <a:latin typeface="OpenSans"/>
              </a:rPr>
              <a:t>Traditional development</a:t>
            </a:r>
          </a:p>
          <a:p>
            <a:pPr marL="685800" lvl="1" indent="-228600" algn="l">
              <a:buFont typeface="Arial" panose="020B0604020202020204" pitchFamily="34" charset="0"/>
              <a:buChar char="•"/>
            </a:pPr>
            <a:r>
              <a:rPr lang="en-GB" b="0" i="0" dirty="0">
                <a:solidFill>
                  <a:srgbClr val="333333"/>
                </a:solidFill>
                <a:effectLst/>
                <a:latin typeface="OpenSans"/>
              </a:rPr>
              <a:t>The developers work on large features or fixes and commit them into their own development branches. </a:t>
            </a:r>
          </a:p>
          <a:p>
            <a:pPr marL="685800" lvl="1" indent="-228600" algn="l">
              <a:buFont typeface="Arial" panose="020B0604020202020204" pitchFamily="34" charset="0"/>
              <a:buChar char="•"/>
            </a:pPr>
            <a:r>
              <a:rPr lang="en-GB" b="0" i="0" dirty="0">
                <a:solidFill>
                  <a:srgbClr val="333333"/>
                </a:solidFill>
                <a:effectLst/>
                <a:latin typeface="OpenSans"/>
              </a:rPr>
              <a:t>These branches can exist for a long time, have a large scope, and generally require many code changes and edits. </a:t>
            </a:r>
          </a:p>
          <a:p>
            <a:pPr marL="685800" lvl="1" indent="-228600" algn="l">
              <a:buFont typeface="Arial" panose="020B0604020202020204" pitchFamily="34" charset="0"/>
              <a:buChar char="•"/>
            </a:pPr>
            <a:r>
              <a:rPr lang="en-GB" b="0" i="0" dirty="0">
                <a:solidFill>
                  <a:srgbClr val="333333"/>
                </a:solidFill>
                <a:effectLst/>
                <a:latin typeface="OpenSans"/>
              </a:rPr>
              <a:t>When development is completed on these branches, only then are they tested and merged into the main branch and built for production. </a:t>
            </a:r>
          </a:p>
          <a:p>
            <a:pPr marL="685800" lvl="1" indent="-228600" algn="l">
              <a:buFont typeface="Arial" panose="020B0604020202020204" pitchFamily="34" charset="0"/>
              <a:buChar char="•"/>
            </a:pPr>
            <a:r>
              <a:rPr lang="en-GB" b="0" i="0" dirty="0">
                <a:solidFill>
                  <a:srgbClr val="333333"/>
                </a:solidFill>
                <a:effectLst/>
                <a:latin typeface="OpenSans"/>
              </a:rPr>
              <a:t>This development method can cause drift between the main branch and the development branch, among other issues.</a:t>
            </a:r>
          </a:p>
          <a:p>
            <a:r>
              <a:rPr lang="en-BE" dirty="0"/>
              <a:t>2. In the next couple of slides, I will discuss each of the features of CI</a:t>
            </a:r>
          </a:p>
        </p:txBody>
      </p:sp>
      <p:sp>
        <p:nvSpPr>
          <p:cNvPr id="4" name="Slide Number Placeholder 3"/>
          <p:cNvSpPr>
            <a:spLocks noGrp="1"/>
          </p:cNvSpPr>
          <p:nvPr>
            <p:ph type="sldNum" sz="quarter" idx="5"/>
          </p:nvPr>
        </p:nvSpPr>
        <p:spPr/>
        <p:txBody>
          <a:bodyPr/>
          <a:lstStyle/>
          <a:p>
            <a:fld id="{F2AA4657-833F-094E-A535-887F61AFD5FC}" type="slidenum">
              <a:rPr lang="en-BE" smtClean="0"/>
              <a:t>30</a:t>
            </a:fld>
            <a:endParaRPr lang="en-BE"/>
          </a:p>
        </p:txBody>
      </p:sp>
    </p:spTree>
    <p:extLst>
      <p:ext uri="{BB962C8B-B14F-4D97-AF65-F5344CB8AC3E}">
        <p14:creationId xmlns:p14="http://schemas.microsoft.com/office/powerpoint/2010/main" val="34233891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lgn="l">
              <a:buFont typeface="+mj-lt"/>
              <a:buAutoNum type="arabicPeriod"/>
            </a:pPr>
            <a:r>
              <a:rPr lang="en-GB" b="0" i="0" dirty="0">
                <a:solidFill>
                  <a:srgbClr val="333333"/>
                </a:solidFill>
                <a:effectLst/>
                <a:latin typeface="OpenSans"/>
              </a:rPr>
              <a:t>Making frequent pull requests back to the master or main branch is a best practice. These pull requests are meant to contain code updates that serve a specific purpose. It makes code changes cleaner and easier to understand. </a:t>
            </a:r>
          </a:p>
          <a:p>
            <a:pPr marL="228600" indent="-228600" algn="l">
              <a:buFont typeface="+mj-lt"/>
              <a:buAutoNum type="arabicPeriod"/>
            </a:pPr>
            <a:r>
              <a:rPr lang="en-GB" b="0" i="0" dirty="0">
                <a:solidFill>
                  <a:srgbClr val="333333"/>
                </a:solidFill>
                <a:effectLst/>
                <a:latin typeface="OpenSans"/>
              </a:rPr>
              <a:t>A pull request requires approval from a repository maintainer or owner to be successfully merged. At a minimum, no one should be able to approve their own pull request. You want to ensure that every change has at least two sets of eyes on it</a:t>
            </a:r>
          </a:p>
          <a:p>
            <a:pPr marL="228600" indent="-228600" algn="l">
              <a:buFont typeface="+mj-lt"/>
              <a:buAutoNum type="arabicPeriod"/>
            </a:pPr>
            <a:r>
              <a:rPr lang="en-GB" b="0" i="0" dirty="0">
                <a:solidFill>
                  <a:srgbClr val="333333"/>
                </a:solidFill>
                <a:effectLst/>
                <a:latin typeface="OpenSans"/>
              </a:rPr>
              <a:t>These frequent pull requests serve as small pieces of a much bigger puzzle, making it easy to build upon the most updated code. </a:t>
            </a:r>
          </a:p>
          <a:p>
            <a:pPr marL="228600" indent="-228600" algn="l">
              <a:buFont typeface="+mj-lt"/>
              <a:buAutoNum type="arabicPeriod"/>
            </a:pPr>
            <a:r>
              <a:rPr lang="en-GB" b="0" i="0" dirty="0">
                <a:solidFill>
                  <a:srgbClr val="333333"/>
                </a:solidFill>
                <a:effectLst/>
                <a:latin typeface="OpenSans"/>
              </a:rPr>
              <a:t>Benefits: </a:t>
            </a:r>
          </a:p>
          <a:p>
            <a:pPr marL="628650" lvl="1" indent="-171450" algn="l">
              <a:buFont typeface="Arial" panose="020B0604020202020204" pitchFamily="34" charset="0"/>
              <a:buChar char="•"/>
            </a:pPr>
            <a:r>
              <a:rPr lang="en-GB" b="0" i="0" dirty="0">
                <a:solidFill>
                  <a:srgbClr val="333333"/>
                </a:solidFill>
                <a:effectLst/>
                <a:latin typeface="OpenSans"/>
              </a:rPr>
              <a:t>Each pull request needs to be reviewed, which facilitates increased collaboration among developers. It also enables developers to react quickly. </a:t>
            </a:r>
          </a:p>
          <a:p>
            <a:pPr marL="628650" lvl="1" indent="-171450" algn="l">
              <a:buFont typeface="Arial" panose="020B0604020202020204" pitchFamily="34" charset="0"/>
              <a:buChar char="•"/>
            </a:pPr>
            <a:r>
              <a:rPr lang="en-GB" b="0" i="0" dirty="0">
                <a:solidFill>
                  <a:srgbClr val="333333"/>
                </a:solidFill>
                <a:effectLst/>
                <a:latin typeface="OpenSans"/>
              </a:rPr>
              <a:t>Required changes can be tested and put into production faster, so solutions can get to the customer faster. </a:t>
            </a:r>
          </a:p>
          <a:p>
            <a:pPr marL="628650" lvl="1" indent="-171450" algn="l">
              <a:buFont typeface="Arial" panose="020B0604020202020204" pitchFamily="34" charset="0"/>
              <a:buChar char="•"/>
            </a:pPr>
            <a:r>
              <a:rPr lang="en-GB" b="0" i="0" dirty="0">
                <a:solidFill>
                  <a:srgbClr val="333333"/>
                </a:solidFill>
                <a:effectLst/>
                <a:latin typeface="OpenSans"/>
              </a:rPr>
              <a:t>And due to the frequency of Continuous Integration, you know exactly how much functionality you have built to date, reducing management risk. It improves your ability to predict when and if you will deliver the necessary functionality on time.</a:t>
            </a:r>
          </a:p>
          <a:p>
            <a:pPr marL="228600" indent="-228600" algn="l">
              <a:buFont typeface="+mj-lt"/>
              <a:buAutoNum type="arabicPeriod"/>
            </a:pPr>
            <a:endParaRPr lang="en-GB" b="0" i="0" dirty="0">
              <a:solidFill>
                <a:srgbClr val="333333"/>
              </a:solidFill>
              <a:effectLst/>
              <a:latin typeface="OpenSans"/>
            </a:endParaRP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a:p>
            <a:endParaRPr lang="en-BE" dirty="0"/>
          </a:p>
        </p:txBody>
      </p:sp>
      <p:sp>
        <p:nvSpPr>
          <p:cNvPr id="4" name="Slide Number Placeholder 3"/>
          <p:cNvSpPr>
            <a:spLocks noGrp="1"/>
          </p:cNvSpPr>
          <p:nvPr>
            <p:ph type="sldNum" sz="quarter" idx="5"/>
          </p:nvPr>
        </p:nvSpPr>
        <p:spPr/>
        <p:txBody>
          <a:bodyPr/>
          <a:lstStyle/>
          <a:p>
            <a:fld id="{F2AA4657-833F-094E-A535-887F61AFD5FC}" type="slidenum">
              <a:rPr lang="en-BE" smtClean="0"/>
              <a:t>32</a:t>
            </a:fld>
            <a:endParaRPr lang="en-BE"/>
          </a:p>
        </p:txBody>
      </p:sp>
    </p:spTree>
    <p:extLst>
      <p:ext uri="{BB962C8B-B14F-4D97-AF65-F5344CB8AC3E}">
        <p14:creationId xmlns:p14="http://schemas.microsoft.com/office/powerpoint/2010/main" val="21149699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Tx/>
              <a:buNone/>
            </a:pPr>
            <a:r>
              <a:rPr lang="en-GB" b="0" i="0" dirty="0">
                <a:solidFill>
                  <a:srgbClr val="333333"/>
                </a:solidFill>
                <a:effectLst/>
                <a:latin typeface="OpenSans"/>
              </a:rPr>
              <a:t>The first benefit of CI/CD is that you get faster reaction times to code changes. </a:t>
            </a:r>
          </a:p>
          <a:p>
            <a:pPr marL="228600" indent="-228600" algn="l">
              <a:buAutoNum type="arabicPeriod"/>
            </a:pPr>
            <a:r>
              <a:rPr lang="en-GB" b="0" i="0" dirty="0">
                <a:solidFill>
                  <a:srgbClr val="333333"/>
                </a:solidFill>
                <a:effectLst/>
                <a:latin typeface="OpenSans"/>
              </a:rPr>
              <a:t>Because every time you make a change to your code and push it to a remote branch, the change gets tested, so even if you forgot to run the tests, the CI tool will test it.</a:t>
            </a:r>
          </a:p>
          <a:p>
            <a:pPr algn="l"/>
            <a:r>
              <a:rPr lang="en-BE" dirty="0"/>
              <a:t>2. </a:t>
            </a:r>
            <a:r>
              <a:rPr lang="en-GB" b="0" i="0" dirty="0">
                <a:solidFill>
                  <a:srgbClr val="333333"/>
                </a:solidFill>
                <a:effectLst/>
                <a:latin typeface="OpenSans"/>
              </a:rPr>
              <a:t>Then, the change gets built, so even if you forgot to check if the build works, the CI tool will check it.</a:t>
            </a:r>
          </a:p>
          <a:p>
            <a:pPr algn="l"/>
            <a:r>
              <a:rPr lang="en-GB" b="0" i="0" dirty="0">
                <a:solidFill>
                  <a:srgbClr val="333333"/>
                </a:solidFill>
                <a:effectLst/>
                <a:latin typeface="OpenSans"/>
              </a:rPr>
              <a:t>3. And then you can deliver the solution into your customers’ hands more quickly, knowing that all of the tests have passed, and the build is not broken.</a:t>
            </a:r>
          </a:p>
          <a:p>
            <a:pPr algn="l"/>
            <a:endParaRPr lang="en-GB" b="0" i="0" dirty="0">
              <a:solidFill>
                <a:srgbClr val="333333"/>
              </a:solidFill>
              <a:effectLst/>
              <a:latin typeface="OpenSans"/>
            </a:endParaRPr>
          </a:p>
          <a:p>
            <a:endParaRPr lang="en-BE" dirty="0"/>
          </a:p>
        </p:txBody>
      </p:sp>
      <p:sp>
        <p:nvSpPr>
          <p:cNvPr id="4" name="Slide Number Placeholder 3"/>
          <p:cNvSpPr>
            <a:spLocks noGrp="1"/>
          </p:cNvSpPr>
          <p:nvPr>
            <p:ph type="sldNum" sz="quarter" idx="5"/>
          </p:nvPr>
        </p:nvSpPr>
        <p:spPr/>
        <p:txBody>
          <a:bodyPr/>
          <a:lstStyle/>
          <a:p>
            <a:fld id="{F2AA4657-833F-094E-A535-887F61AFD5FC}" type="slidenum">
              <a:rPr lang="en-BE" smtClean="0"/>
              <a:t>33</a:t>
            </a:fld>
            <a:endParaRPr lang="en-BE"/>
          </a:p>
        </p:txBody>
      </p:sp>
    </p:spTree>
    <p:extLst>
      <p:ext uri="{BB962C8B-B14F-4D97-AF65-F5344CB8AC3E}">
        <p14:creationId xmlns:p14="http://schemas.microsoft.com/office/powerpoint/2010/main" val="20771276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lgn="l">
              <a:buFont typeface="+mj-lt"/>
              <a:buAutoNum type="arabicPeriod"/>
            </a:pPr>
            <a:r>
              <a:rPr b="0" i="0" dirty="0">
                <a:solidFill>
                  <a:srgbClr val="333333"/>
                </a:solidFill>
                <a:latin typeface="OpenSans"/>
                <a:ea typeface="OpenSans"/>
                <a:cs typeface="OpenSans"/>
              </a:rPr>
              <a:t>Another benefit is that you get higher code quality with CI/CD, because things are constantly being reviewed and constantly being tested.</a:t>
            </a:r>
          </a:p>
          <a:p>
            <a:pPr marL="228600" indent="-228600" algn="l">
              <a:buFont typeface="+mj-lt"/>
              <a:buAutoNum type="arabicPeriod"/>
            </a:pPr>
            <a:r>
              <a:rPr b="0" i="0" dirty="0">
                <a:solidFill>
                  <a:srgbClr val="333333"/>
                </a:solidFill>
                <a:latin typeface="OpenSans"/>
                <a:ea typeface="OpenSans"/>
                <a:cs typeface="OpenSans"/>
              </a:rPr>
              <a:t>Every pull request is an opportunity for a code review. Forget about scheduling code reviews as a separate task. One of the things you should be doing as a best practice is, when someone makes a pull request, you should go and look at the code. </a:t>
            </a:r>
          </a:p>
          <a:p>
            <a:pPr marL="228600" indent="-228600" algn="l">
              <a:buFont typeface="+mj-lt"/>
              <a:buAutoNum type="arabicPeriod"/>
            </a:pPr>
            <a:r>
              <a:rPr b="0" i="0" dirty="0">
                <a:solidFill>
                  <a:srgbClr val="333333"/>
                </a:solidFill>
                <a:latin typeface="OpenSans"/>
                <a:ea typeface="OpenSans"/>
                <a:cs typeface="OpenSans"/>
              </a:rPr>
              <a:t>Having another set of eyes looking at what was changed while you're waiting for the test to pass is always going to be a good thing. </a:t>
            </a:r>
          </a:p>
          <a:p>
            <a:pPr marL="228600" indent="-228600" algn="l">
              <a:buFont typeface="+mj-lt"/>
              <a:buAutoNum type="arabicPeriod"/>
            </a:pPr>
            <a:r>
              <a:rPr b="0" i="0" dirty="0">
                <a:solidFill>
                  <a:srgbClr val="333333"/>
                </a:solidFill>
                <a:latin typeface="OpenSans"/>
                <a:ea typeface="OpenSans"/>
                <a:cs typeface="OpenSans"/>
              </a:rPr>
              <a:t>During your review of the pull request you can either say “yeah it looks good to me”, or maybe you look at the title and it says, the code needs to do this, but then you see some piece of the code and </a:t>
            </a:r>
            <a:r>
              <a:rPr b="0" i="0" dirty="0" err="1">
                <a:solidFill>
                  <a:srgbClr val="333333"/>
                </a:solidFill>
                <a:latin typeface="OpenSans"/>
                <a:ea typeface="OpenSans"/>
                <a:cs typeface="OpenSans"/>
              </a:rPr>
              <a:t>realise</a:t>
            </a:r>
            <a:r>
              <a:rPr b="0" i="0" dirty="0">
                <a:solidFill>
                  <a:srgbClr val="333333"/>
                </a:solidFill>
                <a:latin typeface="OpenSans"/>
                <a:ea typeface="OpenSans"/>
                <a:cs typeface="OpenSans"/>
              </a:rPr>
              <a:t> that this code has nothing to do with that, so you can ask, “why are you changing this?”.</a:t>
            </a:r>
          </a:p>
          <a:p>
            <a:pPr algn="l">
              <a:buNone/>
            </a:pPr>
            <a:endParaRPr b="0" i="0" dirty="0">
              <a:solidFill>
                <a:srgbClr val="333333"/>
              </a:solidFill>
              <a:latin typeface="OpenSans"/>
              <a:ea typeface="OpenSans"/>
              <a:cs typeface="OpenSans"/>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BE" dirty="0"/>
              <a:t>Look at the tests. Do all tests pass? </a:t>
            </a:r>
          </a:p>
          <a:p>
            <a:pPr marL="228600" indent="-228600">
              <a:buAutoNum type="arabicPeriod"/>
            </a:pPr>
            <a:r>
              <a:rPr lang="en-GB" b="0" i="0" dirty="0">
                <a:solidFill>
                  <a:srgbClr val="333333"/>
                </a:solidFill>
                <a:effectLst/>
                <a:latin typeface="OpenSans"/>
              </a:rPr>
              <a:t>Look at the code coverage. Let’s say the code coverage went down. Your team has a standard of 95% code coverage, but code coverage was only at 91%. </a:t>
            </a:r>
          </a:p>
          <a:p>
            <a:pPr algn="l"/>
            <a:r>
              <a:rPr lang="en-GB" b="0" i="0" dirty="0">
                <a:solidFill>
                  <a:srgbClr val="333333"/>
                </a:solidFill>
                <a:effectLst/>
                <a:latin typeface="OpenSans"/>
              </a:rPr>
              <a:t>So, what happened? </a:t>
            </a:r>
          </a:p>
          <a:p>
            <a:pPr marL="628650" lvl="1" indent="-171450" algn="l">
              <a:buFont typeface="Arial" panose="020B0604020202020204" pitchFamily="34" charset="0"/>
              <a:buChar char="•"/>
            </a:pPr>
            <a:r>
              <a:rPr lang="en-GB" b="0" i="0" dirty="0">
                <a:solidFill>
                  <a:srgbClr val="333333"/>
                </a:solidFill>
                <a:effectLst/>
                <a:latin typeface="OpenSans"/>
              </a:rPr>
              <a:t>Maybe somebody wrote code, but they didn't write a test case to run all the lines of code. </a:t>
            </a:r>
          </a:p>
          <a:p>
            <a:pPr marL="628650" lvl="1" indent="-171450" algn="l">
              <a:buFont typeface="Arial" panose="020B0604020202020204" pitchFamily="34" charset="0"/>
              <a:buChar char="•"/>
            </a:pPr>
            <a:r>
              <a:rPr lang="en-GB" b="0" i="0" dirty="0">
                <a:solidFill>
                  <a:srgbClr val="333333"/>
                </a:solidFill>
                <a:effectLst/>
                <a:latin typeface="OpenSans"/>
              </a:rPr>
              <a:t>In the review of the pull request, you can simply say that you don't accept it, and you can request more changes to the code. </a:t>
            </a:r>
          </a:p>
          <a:p>
            <a:pPr marL="628650" lvl="1" indent="-171450" algn="l">
              <a:buFont typeface="Arial" panose="020B0604020202020204" pitchFamily="34" charset="0"/>
              <a:buChar char="•"/>
            </a:pPr>
            <a:r>
              <a:rPr lang="en-GB" b="0" i="0" dirty="0">
                <a:solidFill>
                  <a:srgbClr val="333333"/>
                </a:solidFill>
                <a:effectLst/>
                <a:latin typeface="OpenSans"/>
              </a:rPr>
              <a:t>You could say “the code coverage went down and so I’m not going to approve this yet”, and you can request that they write more test cases for the code. </a:t>
            </a:r>
          </a:p>
          <a:p>
            <a:pPr marL="628650" lvl="1" indent="-171450" algn="l">
              <a:buFont typeface="Arial" panose="020B0604020202020204" pitchFamily="34" charset="0"/>
              <a:buChar char="•"/>
            </a:pPr>
            <a:r>
              <a:rPr lang="en-GB" b="0" i="0" dirty="0">
                <a:solidFill>
                  <a:srgbClr val="333333"/>
                </a:solidFill>
                <a:effectLst/>
                <a:latin typeface="OpenSans"/>
              </a:rPr>
              <a:t>And then they can go and write more test cases, and the pull request will see the code changes and rerun the tests.</a:t>
            </a:r>
          </a:p>
          <a:p>
            <a:endParaRPr lang="en-BE" dirty="0"/>
          </a:p>
        </p:txBody>
      </p:sp>
      <p:sp>
        <p:nvSpPr>
          <p:cNvPr id="4" name="Slide Number Placeholder 3"/>
          <p:cNvSpPr>
            <a:spLocks noGrp="1"/>
          </p:cNvSpPr>
          <p:nvPr>
            <p:ph type="sldNum" sz="quarter" idx="5"/>
          </p:nvPr>
        </p:nvSpPr>
        <p:spPr/>
        <p:txBody>
          <a:bodyPr/>
          <a:lstStyle/>
          <a:p>
            <a:fld id="{F2AA4657-833F-094E-A535-887F61AFD5FC}" type="slidenum">
              <a:rPr lang="en-BE" smtClean="0"/>
              <a:t>35</a:t>
            </a:fld>
            <a:endParaRPr lang="en-BE"/>
          </a:p>
        </p:txBody>
      </p:sp>
    </p:spTree>
    <p:extLst>
      <p:ext uri="{BB962C8B-B14F-4D97-AF65-F5344CB8AC3E}">
        <p14:creationId xmlns:p14="http://schemas.microsoft.com/office/powerpoint/2010/main" val="5816925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You can edit them for your situation</a:t>
            </a:r>
          </a:p>
        </p:txBody>
      </p:sp>
      <p:sp>
        <p:nvSpPr>
          <p:cNvPr id="4" name="Slide Number Placeholder 3"/>
          <p:cNvSpPr>
            <a:spLocks noGrp="1"/>
          </p:cNvSpPr>
          <p:nvPr>
            <p:ph type="sldNum" sz="quarter" idx="5"/>
          </p:nvPr>
        </p:nvSpPr>
        <p:spPr/>
        <p:txBody>
          <a:bodyPr/>
          <a:lstStyle/>
          <a:p>
            <a:fld id="{F2AA4657-833F-094E-A535-887F61AFD5FC}" type="slidenum">
              <a:rPr lang="en-BE" smtClean="0"/>
              <a:t>40</a:t>
            </a:fld>
            <a:endParaRPr lang="en-BE"/>
          </a:p>
        </p:txBody>
      </p:sp>
    </p:spTree>
    <p:extLst>
      <p:ext uri="{BB962C8B-B14F-4D97-AF65-F5344CB8AC3E}">
        <p14:creationId xmlns:p14="http://schemas.microsoft.com/office/powerpoint/2010/main" val="36533595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33333"/>
                </a:solidFill>
                <a:effectLst/>
                <a:latin typeface="OpenSans"/>
              </a:rPr>
              <a:t>1. Workflow has an </a:t>
            </a:r>
            <a:r>
              <a:rPr lang="en-GB" b="1" i="0" dirty="0">
                <a:solidFill>
                  <a:srgbClr val="333333"/>
                </a:solidFill>
                <a:effectLst/>
                <a:latin typeface="OpenSans"/>
              </a:rPr>
              <a:t>Event </a:t>
            </a:r>
            <a:r>
              <a:rPr lang="en-GB" b="0" i="0" dirty="0">
                <a:solidFill>
                  <a:srgbClr val="333333"/>
                </a:solidFill>
                <a:effectLst/>
                <a:latin typeface="OpenSans"/>
              </a:rPr>
              <a:t>that tells when a workflow should run. Events could be things like when you push to a repo, create a pull request, or create </a:t>
            </a:r>
          </a:p>
          <a:p>
            <a:pPr algn="l"/>
            <a:r>
              <a:rPr lang="en-GB" b="0" i="0" dirty="0">
                <a:solidFill>
                  <a:srgbClr val="333333"/>
                </a:solidFill>
                <a:effectLst/>
                <a:latin typeface="OpenSans"/>
              </a:rPr>
              <a:t>a release, </a:t>
            </a:r>
            <a:r>
              <a:rPr lang="en-GB" b="0" i="0" dirty="0" err="1">
                <a:solidFill>
                  <a:srgbClr val="333333"/>
                </a:solidFill>
                <a:effectLst/>
                <a:latin typeface="OpenSans"/>
              </a:rPr>
              <a:t>e.t.c</a:t>
            </a:r>
            <a:endParaRPr lang="en-GB" b="0" i="0" dirty="0">
              <a:solidFill>
                <a:srgbClr val="333333"/>
              </a:solidFill>
              <a:effectLst/>
              <a:latin typeface="OpenSans"/>
            </a:endParaRPr>
          </a:p>
          <a:p>
            <a:pPr algn="l"/>
            <a:endParaRPr lang="en-GB" b="0" i="0" dirty="0">
              <a:solidFill>
                <a:srgbClr val="333333"/>
              </a:solidFill>
              <a:effectLst/>
              <a:latin typeface="OpenSans"/>
            </a:endParaRPr>
          </a:p>
          <a:p>
            <a:pPr algn="l"/>
            <a:r>
              <a:rPr lang="en-GB" b="0" i="0" dirty="0">
                <a:solidFill>
                  <a:srgbClr val="333333"/>
                </a:solidFill>
                <a:effectLst/>
                <a:latin typeface="OpenSans"/>
              </a:rPr>
              <a:t>2. Workflows use </a:t>
            </a:r>
            <a:r>
              <a:rPr lang="en-GB" b="1" i="0" dirty="0">
                <a:solidFill>
                  <a:srgbClr val="333333"/>
                </a:solidFill>
                <a:effectLst/>
                <a:latin typeface="OpenSans"/>
              </a:rPr>
              <a:t>runners</a:t>
            </a:r>
            <a:r>
              <a:rPr lang="en-GB" b="0" i="0" dirty="0">
                <a:solidFill>
                  <a:srgbClr val="333333"/>
                </a:solidFill>
                <a:effectLst/>
                <a:latin typeface="OpenSans"/>
              </a:rPr>
              <a:t> to execute the jobs. There are built-in runners for different virtual environments, or you can use a self-hosted runner in your environment. </a:t>
            </a:r>
          </a:p>
          <a:p>
            <a:pPr algn="l"/>
            <a:endParaRPr lang="en-GB" b="0" i="0" dirty="0">
              <a:solidFill>
                <a:srgbClr val="333333"/>
              </a:solidFill>
              <a:effectLst/>
              <a:latin typeface="OpenSans"/>
            </a:endParaRPr>
          </a:p>
          <a:p>
            <a:pPr algn="l"/>
            <a:r>
              <a:rPr lang="en-GB" b="0" i="0" dirty="0">
                <a:solidFill>
                  <a:srgbClr val="333333"/>
                </a:solidFill>
                <a:effectLst/>
                <a:latin typeface="OpenSans"/>
              </a:rPr>
              <a:t>3. A </a:t>
            </a:r>
            <a:r>
              <a:rPr lang="en-GB" b="1" i="0" dirty="0">
                <a:solidFill>
                  <a:srgbClr val="333333"/>
                </a:solidFill>
                <a:effectLst/>
                <a:latin typeface="OpenSans"/>
              </a:rPr>
              <a:t>workflow</a:t>
            </a:r>
            <a:r>
              <a:rPr lang="en-GB" b="0" i="0" dirty="0">
                <a:solidFill>
                  <a:srgbClr val="333333"/>
                </a:solidFill>
                <a:effectLst/>
                <a:latin typeface="OpenSans"/>
              </a:rPr>
              <a:t> contains one or more </a:t>
            </a:r>
            <a:r>
              <a:rPr lang="en-GB" b="1" i="0" dirty="0">
                <a:solidFill>
                  <a:srgbClr val="333333"/>
                </a:solidFill>
                <a:effectLst/>
                <a:latin typeface="OpenSans"/>
              </a:rPr>
              <a:t>jobs</a:t>
            </a:r>
            <a:r>
              <a:rPr lang="en-GB" b="0" i="0" dirty="0">
                <a:solidFill>
                  <a:srgbClr val="333333"/>
                </a:solidFill>
                <a:effectLst/>
                <a:latin typeface="OpenSans"/>
              </a:rPr>
              <a:t>. You can have one job that builds your component and another job that publishes it to an artifact repository, and still another job that deploys it to an environment.</a:t>
            </a:r>
          </a:p>
          <a:p>
            <a:pPr algn="l"/>
            <a:endParaRPr lang="en-GB" b="0" i="0" dirty="0">
              <a:solidFill>
                <a:srgbClr val="333333"/>
              </a:solidFill>
              <a:effectLst/>
              <a:latin typeface="OpenSans"/>
            </a:endParaRPr>
          </a:p>
          <a:p>
            <a:pPr algn="l"/>
            <a:r>
              <a:rPr lang="en-GB" b="0" i="0" dirty="0">
                <a:solidFill>
                  <a:srgbClr val="333333"/>
                </a:solidFill>
                <a:effectLst/>
                <a:latin typeface="OpenSans"/>
              </a:rPr>
              <a:t>4. Each job can contain one or more steps. One step can check out the code, another step might compile the code, yet another step might  run a linter on the code, and you'll probably have a step that runs a suite of test cases to make sure that the code works properly</a:t>
            </a:r>
          </a:p>
          <a:p>
            <a:pPr algn="l"/>
            <a:endParaRPr lang="en-GB" b="0" i="0" dirty="0">
              <a:solidFill>
                <a:srgbClr val="333333"/>
              </a:solidFill>
              <a:effectLst/>
              <a:latin typeface="OpenSans"/>
            </a:endParaRPr>
          </a:p>
          <a:p>
            <a:pPr algn="l"/>
            <a:r>
              <a:rPr lang="en-GB" b="0" i="0" dirty="0">
                <a:solidFill>
                  <a:srgbClr val="333333"/>
                </a:solidFill>
                <a:effectLst/>
                <a:latin typeface="OpenSans"/>
              </a:rPr>
              <a:t>5. And each step can contain one or more actions or shell commands. Actions are the lowest level of a workflow. They perform a single task like check out code, install dependencies, compile code, or run tests. This hierarchy of jobs, steps, and actions allows you to logically group the actions performed by your workflow.</a:t>
            </a: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p:txBody>
      </p:sp>
      <p:sp>
        <p:nvSpPr>
          <p:cNvPr id="4" name="Slide Number Placeholder 3"/>
          <p:cNvSpPr>
            <a:spLocks noGrp="1"/>
          </p:cNvSpPr>
          <p:nvPr>
            <p:ph type="sldNum" sz="quarter" idx="5"/>
          </p:nvPr>
        </p:nvSpPr>
        <p:spPr/>
        <p:txBody>
          <a:bodyPr/>
          <a:lstStyle/>
          <a:p>
            <a:fld id="{F2AA4657-833F-094E-A535-887F61AFD5FC}" type="slidenum">
              <a:rPr lang="en-BE" smtClean="0"/>
              <a:t>41</a:t>
            </a:fld>
            <a:endParaRPr lang="en-BE"/>
          </a:p>
        </p:txBody>
      </p:sp>
    </p:spTree>
    <p:extLst>
      <p:ext uri="{BB962C8B-B14F-4D97-AF65-F5344CB8AC3E}">
        <p14:creationId xmlns:p14="http://schemas.microsoft.com/office/powerpoint/2010/main" val="39433628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33333"/>
                </a:solidFill>
                <a:effectLst/>
                <a:latin typeface="OpenSans"/>
              </a:rPr>
              <a:t>1. Workflow has an </a:t>
            </a:r>
            <a:r>
              <a:rPr lang="en-GB" b="1" i="0" dirty="0">
                <a:solidFill>
                  <a:srgbClr val="333333"/>
                </a:solidFill>
                <a:effectLst/>
                <a:latin typeface="OpenSans"/>
              </a:rPr>
              <a:t>Event </a:t>
            </a:r>
            <a:r>
              <a:rPr lang="en-GB" b="0" i="0" dirty="0">
                <a:solidFill>
                  <a:srgbClr val="333333"/>
                </a:solidFill>
                <a:effectLst/>
                <a:latin typeface="OpenSans"/>
              </a:rPr>
              <a:t>that tells when a workflow should run. Events could be things like when you push to a repo, create a pull request, or create </a:t>
            </a:r>
          </a:p>
          <a:p>
            <a:pPr algn="l"/>
            <a:r>
              <a:rPr lang="en-GB" b="0" i="0" dirty="0">
                <a:solidFill>
                  <a:srgbClr val="333333"/>
                </a:solidFill>
                <a:effectLst/>
                <a:latin typeface="OpenSans"/>
              </a:rPr>
              <a:t>a release, </a:t>
            </a:r>
            <a:r>
              <a:rPr lang="en-GB" b="0" i="0" dirty="0" err="1">
                <a:solidFill>
                  <a:srgbClr val="333333"/>
                </a:solidFill>
                <a:effectLst/>
                <a:latin typeface="OpenSans"/>
              </a:rPr>
              <a:t>e.t.c</a:t>
            </a:r>
            <a:endParaRPr lang="en-GB" b="0" i="0" dirty="0">
              <a:solidFill>
                <a:srgbClr val="333333"/>
              </a:solidFill>
              <a:effectLst/>
              <a:latin typeface="OpenSans"/>
            </a:endParaRPr>
          </a:p>
          <a:p>
            <a:pPr algn="l"/>
            <a:endParaRPr lang="en-GB" b="0" i="0" dirty="0">
              <a:solidFill>
                <a:srgbClr val="333333"/>
              </a:solidFill>
              <a:effectLst/>
              <a:latin typeface="OpenSans"/>
            </a:endParaRPr>
          </a:p>
          <a:p>
            <a:pPr algn="l"/>
            <a:r>
              <a:rPr lang="en-GB" b="0" i="0" dirty="0">
                <a:solidFill>
                  <a:srgbClr val="333333"/>
                </a:solidFill>
                <a:effectLst/>
                <a:latin typeface="OpenSans"/>
              </a:rPr>
              <a:t>2. Workflows use </a:t>
            </a:r>
            <a:r>
              <a:rPr lang="en-GB" b="1" i="0" dirty="0">
                <a:solidFill>
                  <a:srgbClr val="333333"/>
                </a:solidFill>
                <a:effectLst/>
                <a:latin typeface="OpenSans"/>
              </a:rPr>
              <a:t>runners</a:t>
            </a:r>
            <a:r>
              <a:rPr lang="en-GB" b="0" i="0" dirty="0">
                <a:solidFill>
                  <a:srgbClr val="333333"/>
                </a:solidFill>
                <a:effectLst/>
                <a:latin typeface="OpenSans"/>
              </a:rPr>
              <a:t> to execute the jobs. There are built-in runners for different virtual environments, or you can use a self-hosted runner in your environment. </a:t>
            </a:r>
          </a:p>
          <a:p>
            <a:pPr algn="l"/>
            <a:endParaRPr lang="en-GB" b="0" i="0" dirty="0">
              <a:solidFill>
                <a:srgbClr val="333333"/>
              </a:solidFill>
              <a:effectLst/>
              <a:latin typeface="OpenSans"/>
            </a:endParaRPr>
          </a:p>
          <a:p>
            <a:pPr algn="l"/>
            <a:r>
              <a:rPr lang="en-GB" b="0" i="0" dirty="0">
                <a:solidFill>
                  <a:srgbClr val="333333"/>
                </a:solidFill>
                <a:effectLst/>
                <a:latin typeface="OpenSans"/>
              </a:rPr>
              <a:t>3. A </a:t>
            </a:r>
            <a:r>
              <a:rPr lang="en-GB" b="1" i="0" dirty="0">
                <a:solidFill>
                  <a:srgbClr val="333333"/>
                </a:solidFill>
                <a:effectLst/>
                <a:latin typeface="OpenSans"/>
              </a:rPr>
              <a:t>workflow</a:t>
            </a:r>
            <a:r>
              <a:rPr lang="en-GB" b="0" i="0" dirty="0">
                <a:solidFill>
                  <a:srgbClr val="333333"/>
                </a:solidFill>
                <a:effectLst/>
                <a:latin typeface="OpenSans"/>
              </a:rPr>
              <a:t> contains one or more </a:t>
            </a:r>
            <a:r>
              <a:rPr lang="en-GB" b="1" i="0" dirty="0">
                <a:solidFill>
                  <a:srgbClr val="333333"/>
                </a:solidFill>
                <a:effectLst/>
                <a:latin typeface="OpenSans"/>
              </a:rPr>
              <a:t>jobs</a:t>
            </a:r>
            <a:r>
              <a:rPr lang="en-GB" b="0" i="0" dirty="0">
                <a:solidFill>
                  <a:srgbClr val="333333"/>
                </a:solidFill>
                <a:effectLst/>
                <a:latin typeface="OpenSans"/>
              </a:rPr>
              <a:t>. You can have one job that builds your component and another job that publishes it to an artifact repository, and still another job that deploys it to an environment.</a:t>
            </a:r>
          </a:p>
          <a:p>
            <a:pPr algn="l"/>
            <a:endParaRPr lang="en-GB" b="0" i="0" dirty="0">
              <a:solidFill>
                <a:srgbClr val="333333"/>
              </a:solidFill>
              <a:effectLst/>
              <a:latin typeface="OpenSans"/>
            </a:endParaRPr>
          </a:p>
          <a:p>
            <a:pPr algn="l"/>
            <a:r>
              <a:rPr lang="en-GB" b="0" i="0" dirty="0">
                <a:solidFill>
                  <a:srgbClr val="333333"/>
                </a:solidFill>
                <a:effectLst/>
                <a:latin typeface="OpenSans"/>
              </a:rPr>
              <a:t>4. Each job can contain one or more steps. One step can check out the code, another step might compile the code, yet another step might  run a linter on the code, and you'll probably have a step that runs a suite of test cases to make sure that the code works properly</a:t>
            </a:r>
          </a:p>
          <a:p>
            <a:pPr algn="l"/>
            <a:endParaRPr lang="en-GB" b="0" i="0" dirty="0">
              <a:solidFill>
                <a:srgbClr val="333333"/>
              </a:solidFill>
              <a:effectLst/>
              <a:latin typeface="OpenSans"/>
            </a:endParaRPr>
          </a:p>
          <a:p>
            <a:pPr algn="l"/>
            <a:r>
              <a:rPr lang="en-GB" b="0" i="0" dirty="0">
                <a:solidFill>
                  <a:srgbClr val="333333"/>
                </a:solidFill>
                <a:effectLst/>
                <a:latin typeface="OpenSans"/>
              </a:rPr>
              <a:t>5. And each step can contain one or more actions or shell commands. Actions are the lowest level of a workflow. They perform a single task like check out code, install dependencies, compile code, or run tests. This hierarchy of jobs, steps, and actions allows you to logically group the actions performed by your workflow.</a:t>
            </a: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p:txBody>
      </p:sp>
      <p:sp>
        <p:nvSpPr>
          <p:cNvPr id="4" name="Slide Number Placeholder 3"/>
          <p:cNvSpPr>
            <a:spLocks noGrp="1"/>
          </p:cNvSpPr>
          <p:nvPr>
            <p:ph type="sldNum" sz="quarter" idx="5"/>
          </p:nvPr>
        </p:nvSpPr>
        <p:spPr/>
        <p:txBody>
          <a:bodyPr/>
          <a:lstStyle/>
          <a:p>
            <a:fld id="{F2AA4657-833F-094E-A535-887F61AFD5FC}" type="slidenum">
              <a:rPr lang="en-BE" smtClean="0"/>
              <a:t>42</a:t>
            </a:fld>
            <a:endParaRPr lang="en-BE"/>
          </a:p>
        </p:txBody>
      </p:sp>
    </p:spTree>
    <p:extLst>
      <p:ext uri="{BB962C8B-B14F-4D97-AF65-F5344CB8AC3E}">
        <p14:creationId xmlns:p14="http://schemas.microsoft.com/office/powerpoint/2010/main" val="11335574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33333"/>
                </a:solidFill>
                <a:effectLst/>
                <a:latin typeface="OpenSans"/>
              </a:rPr>
              <a:t>1. Workflow has an </a:t>
            </a:r>
            <a:r>
              <a:rPr lang="en-GB" b="1" i="0" dirty="0">
                <a:solidFill>
                  <a:srgbClr val="333333"/>
                </a:solidFill>
                <a:effectLst/>
                <a:latin typeface="OpenSans"/>
              </a:rPr>
              <a:t>Event </a:t>
            </a:r>
            <a:r>
              <a:rPr lang="en-GB" b="0" i="0" dirty="0">
                <a:solidFill>
                  <a:srgbClr val="333333"/>
                </a:solidFill>
                <a:effectLst/>
                <a:latin typeface="OpenSans"/>
              </a:rPr>
              <a:t>that tells when a workflow should run. Events could be things like when you push to a repo, create a pull request, or create </a:t>
            </a:r>
          </a:p>
          <a:p>
            <a:pPr algn="l"/>
            <a:r>
              <a:rPr lang="en-GB" b="0" i="0" dirty="0">
                <a:solidFill>
                  <a:srgbClr val="333333"/>
                </a:solidFill>
                <a:effectLst/>
                <a:latin typeface="OpenSans"/>
              </a:rPr>
              <a:t>a release, </a:t>
            </a:r>
            <a:r>
              <a:rPr lang="en-GB" b="0" i="0" dirty="0" err="1">
                <a:solidFill>
                  <a:srgbClr val="333333"/>
                </a:solidFill>
                <a:effectLst/>
                <a:latin typeface="OpenSans"/>
              </a:rPr>
              <a:t>e.t.c</a:t>
            </a:r>
            <a:endParaRPr lang="en-GB" b="0" i="0" dirty="0">
              <a:solidFill>
                <a:srgbClr val="333333"/>
              </a:solidFill>
              <a:effectLst/>
              <a:latin typeface="OpenSans"/>
            </a:endParaRPr>
          </a:p>
          <a:p>
            <a:pPr algn="l"/>
            <a:endParaRPr lang="en-GB" b="0" i="0" dirty="0">
              <a:solidFill>
                <a:srgbClr val="333333"/>
              </a:solidFill>
              <a:effectLst/>
              <a:latin typeface="OpenSans"/>
            </a:endParaRPr>
          </a:p>
          <a:p>
            <a:pPr algn="l"/>
            <a:r>
              <a:rPr lang="en-GB" b="0" i="0" dirty="0">
                <a:solidFill>
                  <a:srgbClr val="333333"/>
                </a:solidFill>
                <a:effectLst/>
                <a:latin typeface="OpenSans"/>
              </a:rPr>
              <a:t>2. Workflows use </a:t>
            </a:r>
            <a:r>
              <a:rPr lang="en-GB" b="1" i="0" dirty="0">
                <a:solidFill>
                  <a:srgbClr val="333333"/>
                </a:solidFill>
                <a:effectLst/>
                <a:latin typeface="OpenSans"/>
              </a:rPr>
              <a:t>runners</a:t>
            </a:r>
            <a:r>
              <a:rPr lang="en-GB" b="0" i="0" dirty="0">
                <a:solidFill>
                  <a:srgbClr val="333333"/>
                </a:solidFill>
                <a:effectLst/>
                <a:latin typeface="OpenSans"/>
              </a:rPr>
              <a:t> to execute the jobs. There are built-in runners for different virtual environments, or you can use a self-hosted runner in your environment. </a:t>
            </a:r>
          </a:p>
          <a:p>
            <a:pPr algn="l"/>
            <a:endParaRPr lang="en-GB" b="0" i="0" dirty="0">
              <a:solidFill>
                <a:srgbClr val="333333"/>
              </a:solidFill>
              <a:effectLst/>
              <a:latin typeface="OpenSans"/>
            </a:endParaRPr>
          </a:p>
          <a:p>
            <a:pPr algn="l"/>
            <a:r>
              <a:rPr lang="en-GB" b="0" i="0" dirty="0">
                <a:solidFill>
                  <a:srgbClr val="333333"/>
                </a:solidFill>
                <a:effectLst/>
                <a:latin typeface="OpenSans"/>
              </a:rPr>
              <a:t>3. A </a:t>
            </a:r>
            <a:r>
              <a:rPr lang="en-GB" b="1" i="0" dirty="0">
                <a:solidFill>
                  <a:srgbClr val="333333"/>
                </a:solidFill>
                <a:effectLst/>
                <a:latin typeface="OpenSans"/>
              </a:rPr>
              <a:t>workflow</a:t>
            </a:r>
            <a:r>
              <a:rPr lang="en-GB" b="0" i="0" dirty="0">
                <a:solidFill>
                  <a:srgbClr val="333333"/>
                </a:solidFill>
                <a:effectLst/>
                <a:latin typeface="OpenSans"/>
              </a:rPr>
              <a:t> contains one or more </a:t>
            </a:r>
            <a:r>
              <a:rPr lang="en-GB" b="1" i="0" dirty="0">
                <a:solidFill>
                  <a:srgbClr val="333333"/>
                </a:solidFill>
                <a:effectLst/>
                <a:latin typeface="OpenSans"/>
              </a:rPr>
              <a:t>jobs</a:t>
            </a:r>
            <a:r>
              <a:rPr lang="en-GB" b="0" i="0" dirty="0">
                <a:solidFill>
                  <a:srgbClr val="333333"/>
                </a:solidFill>
                <a:effectLst/>
                <a:latin typeface="OpenSans"/>
              </a:rPr>
              <a:t>. You can have one job that builds your component and another job that publishes it to an artifact repository, and still another job that deploys it to an environment.</a:t>
            </a:r>
          </a:p>
          <a:p>
            <a:pPr algn="l"/>
            <a:endParaRPr lang="en-GB" b="0" i="0" dirty="0">
              <a:solidFill>
                <a:srgbClr val="333333"/>
              </a:solidFill>
              <a:effectLst/>
              <a:latin typeface="OpenSans"/>
            </a:endParaRPr>
          </a:p>
          <a:p>
            <a:pPr algn="l"/>
            <a:r>
              <a:rPr lang="en-GB" b="0" i="0" dirty="0">
                <a:solidFill>
                  <a:srgbClr val="333333"/>
                </a:solidFill>
                <a:effectLst/>
                <a:latin typeface="OpenSans"/>
              </a:rPr>
              <a:t>4. Each job can contain one or more steps. One step can check out the code, another step might compile the code, yet another step might  run a linter on the code, and you'll probably have a step that runs a suite of test cases to make sure that the code works properly</a:t>
            </a:r>
          </a:p>
          <a:p>
            <a:pPr algn="l"/>
            <a:endParaRPr lang="en-GB" b="0" i="0" dirty="0">
              <a:solidFill>
                <a:srgbClr val="333333"/>
              </a:solidFill>
              <a:effectLst/>
              <a:latin typeface="OpenSans"/>
            </a:endParaRPr>
          </a:p>
          <a:p>
            <a:pPr algn="l"/>
            <a:r>
              <a:rPr lang="en-GB" b="0" i="0" dirty="0">
                <a:solidFill>
                  <a:srgbClr val="333333"/>
                </a:solidFill>
                <a:effectLst/>
                <a:latin typeface="OpenSans"/>
              </a:rPr>
              <a:t>5. And each step can contain one or more actions or shell commands. Actions are the lowest level of a workflow. They perform a single task like check out code, install dependencies, compile code, or run tests. This hierarchy of jobs, steps, and actions allows you to logically group the actions performed by your workflow.</a:t>
            </a:r>
          </a:p>
          <a:p>
            <a:pPr algn="l"/>
            <a:endParaRPr lang="en-GB" b="0" i="0" dirty="0">
              <a:solidFill>
                <a:srgbClr val="333333"/>
              </a:solidFill>
              <a:effectLst/>
              <a:latin typeface="OpenSans"/>
            </a:endParaRPr>
          </a:p>
          <a:p>
            <a:pPr algn="l"/>
            <a:endParaRPr lang="en-GB" b="0" i="0" dirty="0">
              <a:solidFill>
                <a:srgbClr val="333333"/>
              </a:solidFill>
              <a:effectLst/>
              <a:latin typeface="OpenSans"/>
            </a:endParaRPr>
          </a:p>
        </p:txBody>
      </p:sp>
      <p:sp>
        <p:nvSpPr>
          <p:cNvPr id="4" name="Slide Number Placeholder 3"/>
          <p:cNvSpPr>
            <a:spLocks noGrp="1"/>
          </p:cNvSpPr>
          <p:nvPr>
            <p:ph type="sldNum" sz="quarter" idx="5"/>
          </p:nvPr>
        </p:nvSpPr>
        <p:spPr/>
        <p:txBody>
          <a:bodyPr/>
          <a:lstStyle/>
          <a:p>
            <a:fld id="{F2AA4657-833F-094E-A535-887F61AFD5FC}" type="slidenum">
              <a:rPr lang="en-BE" smtClean="0"/>
              <a:t>43</a:t>
            </a:fld>
            <a:endParaRPr lang="en-BE"/>
          </a:p>
        </p:txBody>
      </p:sp>
    </p:spTree>
    <p:extLst>
      <p:ext uri="{BB962C8B-B14F-4D97-AF65-F5344CB8AC3E}">
        <p14:creationId xmlns:p14="http://schemas.microsoft.com/office/powerpoint/2010/main" val="1133557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7B482-83D2-1BB9-A6A6-5E4AB36AF5E1}"/>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1E8FB5FB-0E8A-C03F-6669-B75AF3E165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DB6CE444-F2FD-389F-2035-AC923182FCA5}"/>
              </a:ext>
            </a:extLst>
          </p:cNvPr>
          <p:cNvSpPr>
            <a:spLocks noGrp="1"/>
          </p:cNvSpPr>
          <p:nvPr>
            <p:ph type="dt" idx="10"/>
          </p:nvPr>
        </p:nvSpPr>
        <p:spPr/>
        <p:txBody>
          <a:bodyPr/>
          <a:lstStyle/>
          <a:p>
            <a:fld id="{BECEB08D-ED1C-E34B-8682-041F4EDD7C1D}" type="datetimeFigureOut">
              <a:t>02/09/2026</a:t>
            </a:fld>
            <a:endParaRPr/>
          </a:p>
        </p:txBody>
      </p:sp>
      <p:sp>
        <p:nvSpPr>
          <p:cNvPr id="5" name="Footer Placeholder 4">
            <a:extLst>
              <a:ext uri="{FF2B5EF4-FFF2-40B4-BE49-F238E27FC236}">
                <a16:creationId xmlns:a16="http://schemas.microsoft.com/office/drawing/2014/main" id="{02143B15-BDBC-91DE-9142-934F1EDBB3A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1AD9859-B8EB-8771-2D20-DE1B908BF47B}"/>
              </a:ext>
            </a:extLst>
          </p:cNvPr>
          <p:cNvSpPr>
            <a:spLocks noGrp="1"/>
          </p:cNvSpPr>
          <p:nvPr>
            <p:ph type="sldNum" idx="12"/>
          </p:nvPr>
        </p:nvSpPr>
        <p:spPr/>
        <p:txBody>
          <a:bodyPr/>
          <a:lstStyle/>
          <a:p>
            <a:fld id="{633F719B-E104-854E-8A30-EB8DCB3A573D}"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E1295-7142-0B6B-6E00-BFFEF626541F}"/>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FD0A006A-9256-7734-58B3-10E742CDDA07}"/>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5674AF5-8CB7-9E3B-1BA2-5AAA32B76398}"/>
              </a:ext>
            </a:extLst>
          </p:cNvPr>
          <p:cNvSpPr>
            <a:spLocks noGrp="1"/>
          </p:cNvSpPr>
          <p:nvPr>
            <p:ph type="dt" idx="10"/>
          </p:nvPr>
        </p:nvSpPr>
        <p:spPr/>
        <p:txBody>
          <a:bodyPr/>
          <a:lstStyle/>
          <a:p>
            <a:fld id="{BECEB08D-ED1C-E34B-8682-041F4EDD7C1D}" type="datetimeFigureOut">
              <a:t>02/09/2026</a:t>
            </a:fld>
            <a:endParaRPr/>
          </a:p>
        </p:txBody>
      </p:sp>
      <p:sp>
        <p:nvSpPr>
          <p:cNvPr id="5" name="Footer Placeholder 4">
            <a:extLst>
              <a:ext uri="{FF2B5EF4-FFF2-40B4-BE49-F238E27FC236}">
                <a16:creationId xmlns:a16="http://schemas.microsoft.com/office/drawing/2014/main" id="{A6B55A85-C0DE-696A-5780-BF14D3DF34C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91DF43E-84CD-B7BE-3916-31DE59322B71}"/>
              </a:ext>
            </a:extLst>
          </p:cNvPr>
          <p:cNvSpPr>
            <a:spLocks noGrp="1"/>
          </p:cNvSpPr>
          <p:nvPr>
            <p:ph type="sldNum" idx="12"/>
          </p:nvPr>
        </p:nvSpPr>
        <p:spPr/>
        <p:txBody>
          <a:bodyPr/>
          <a:lstStyle/>
          <a:p>
            <a:fld id="{633F719B-E104-854E-8A30-EB8DCB3A573D}"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12B87-D009-50B8-9392-B19D2FFA0A28}"/>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978CD6FC-DE72-B120-DF2B-C5F2804FE4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6EA8CC72-3CD5-50BF-D1DD-DF3EC8525F20}"/>
              </a:ext>
            </a:extLst>
          </p:cNvPr>
          <p:cNvSpPr>
            <a:spLocks noGrp="1"/>
          </p:cNvSpPr>
          <p:nvPr>
            <p:ph type="dt" idx="10"/>
          </p:nvPr>
        </p:nvSpPr>
        <p:spPr/>
        <p:txBody>
          <a:bodyPr/>
          <a:lstStyle/>
          <a:p>
            <a:fld id="{BECEB08D-ED1C-E34B-8682-041F4EDD7C1D}" type="datetimeFigureOut">
              <a:t>02/09/2026</a:t>
            </a:fld>
            <a:endParaRPr/>
          </a:p>
        </p:txBody>
      </p:sp>
      <p:sp>
        <p:nvSpPr>
          <p:cNvPr id="5" name="Footer Placeholder 4">
            <a:extLst>
              <a:ext uri="{FF2B5EF4-FFF2-40B4-BE49-F238E27FC236}">
                <a16:creationId xmlns:a16="http://schemas.microsoft.com/office/drawing/2014/main" id="{0157D536-89B4-C579-C12C-7520379F64E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299BF08-131C-9308-A1AF-C8F6CAE102D8}"/>
              </a:ext>
            </a:extLst>
          </p:cNvPr>
          <p:cNvSpPr>
            <a:spLocks noGrp="1"/>
          </p:cNvSpPr>
          <p:nvPr>
            <p:ph type="sldNum" idx="12"/>
          </p:nvPr>
        </p:nvSpPr>
        <p:spPr/>
        <p:txBody>
          <a:bodyPr/>
          <a:lstStyle/>
          <a:p>
            <a:fld id="{633F719B-E104-854E-8A30-EB8DCB3A573D}"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A2AC2-EB12-C477-4E33-5D7344E384BE}"/>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1E1F252-3644-49EC-5E17-668EB5D4FB86}"/>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27F9121C-3A00-75CD-8720-CD03BB2B3A33}"/>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C018B8DB-214F-F98D-4ACA-CC970225A858}"/>
              </a:ext>
            </a:extLst>
          </p:cNvPr>
          <p:cNvSpPr>
            <a:spLocks noGrp="1"/>
          </p:cNvSpPr>
          <p:nvPr>
            <p:ph type="dt" idx="10"/>
          </p:nvPr>
        </p:nvSpPr>
        <p:spPr/>
        <p:txBody>
          <a:bodyPr/>
          <a:lstStyle/>
          <a:p>
            <a:fld id="{BECEB08D-ED1C-E34B-8682-041F4EDD7C1D}" type="datetimeFigureOut">
              <a:t>02/09/2026</a:t>
            </a:fld>
            <a:endParaRPr/>
          </a:p>
        </p:txBody>
      </p:sp>
      <p:sp>
        <p:nvSpPr>
          <p:cNvPr id="6" name="Footer Placeholder 5">
            <a:extLst>
              <a:ext uri="{FF2B5EF4-FFF2-40B4-BE49-F238E27FC236}">
                <a16:creationId xmlns:a16="http://schemas.microsoft.com/office/drawing/2014/main" id="{2B375275-39B3-00F9-CFBD-743562885A73}"/>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D7C964F-1BD9-E6FA-B2D4-007ADAC3E181}"/>
              </a:ext>
            </a:extLst>
          </p:cNvPr>
          <p:cNvSpPr>
            <a:spLocks noGrp="1"/>
          </p:cNvSpPr>
          <p:nvPr>
            <p:ph type="sldNum" idx="12"/>
          </p:nvPr>
        </p:nvSpPr>
        <p:spPr/>
        <p:txBody>
          <a:bodyPr/>
          <a:lstStyle/>
          <a:p>
            <a:fld id="{633F719B-E104-854E-8A30-EB8DCB3A573D}"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3C462-017A-892F-0B98-295E2750C5C1}"/>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718F8AE6-6218-58C7-4D90-60F6C25217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F7352071-1471-AFEA-1B49-262141A03E36}"/>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EC70D5BA-4A84-2F31-139A-A0E0DE9F1149}"/>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86DA24A5-7947-B0CC-D337-F05AD2480164}"/>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CBD43668-AB97-7DAD-DC5C-CB2560D83517}"/>
              </a:ext>
            </a:extLst>
          </p:cNvPr>
          <p:cNvSpPr>
            <a:spLocks noGrp="1"/>
          </p:cNvSpPr>
          <p:nvPr>
            <p:ph type="dt" idx="10"/>
          </p:nvPr>
        </p:nvSpPr>
        <p:spPr/>
        <p:txBody>
          <a:bodyPr/>
          <a:lstStyle/>
          <a:p>
            <a:fld id="{BECEB08D-ED1C-E34B-8682-041F4EDD7C1D}" type="datetimeFigureOut">
              <a:t>02/09/2026</a:t>
            </a:fld>
            <a:endParaRPr/>
          </a:p>
        </p:txBody>
      </p:sp>
      <p:sp>
        <p:nvSpPr>
          <p:cNvPr id="8" name="Footer Placeholder 7">
            <a:extLst>
              <a:ext uri="{FF2B5EF4-FFF2-40B4-BE49-F238E27FC236}">
                <a16:creationId xmlns:a16="http://schemas.microsoft.com/office/drawing/2014/main" id="{22BC8192-AFCA-FBFC-53CB-7F7A887E5562}"/>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5E0BDE9B-66D4-5605-B638-172C68166693}"/>
              </a:ext>
            </a:extLst>
          </p:cNvPr>
          <p:cNvSpPr>
            <a:spLocks noGrp="1"/>
          </p:cNvSpPr>
          <p:nvPr>
            <p:ph type="sldNum" idx="12"/>
          </p:nvPr>
        </p:nvSpPr>
        <p:spPr/>
        <p:txBody>
          <a:bodyPr/>
          <a:lstStyle/>
          <a:p>
            <a:fld id="{633F719B-E104-854E-8A30-EB8DCB3A573D}"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DB7A6-B5A5-F925-C992-F8DF99DEC537}"/>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2EDCE359-D496-5CB4-00F4-36C4F1E9EE77}"/>
              </a:ext>
            </a:extLst>
          </p:cNvPr>
          <p:cNvSpPr>
            <a:spLocks noGrp="1"/>
          </p:cNvSpPr>
          <p:nvPr>
            <p:ph type="dt" idx="10"/>
          </p:nvPr>
        </p:nvSpPr>
        <p:spPr/>
        <p:txBody>
          <a:bodyPr/>
          <a:lstStyle/>
          <a:p>
            <a:fld id="{BECEB08D-ED1C-E34B-8682-041F4EDD7C1D}" type="datetimeFigureOut">
              <a:t>02/09/2026</a:t>
            </a:fld>
            <a:endParaRPr/>
          </a:p>
        </p:txBody>
      </p:sp>
      <p:sp>
        <p:nvSpPr>
          <p:cNvPr id="4" name="Footer Placeholder 3">
            <a:extLst>
              <a:ext uri="{FF2B5EF4-FFF2-40B4-BE49-F238E27FC236}">
                <a16:creationId xmlns:a16="http://schemas.microsoft.com/office/drawing/2014/main" id="{0F0287DE-DAD9-DC97-2812-CCA743956E71}"/>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AEA0E79E-C868-9809-92D8-DC4A5977110F}"/>
              </a:ext>
            </a:extLst>
          </p:cNvPr>
          <p:cNvSpPr>
            <a:spLocks noGrp="1"/>
          </p:cNvSpPr>
          <p:nvPr>
            <p:ph type="sldNum" idx="12"/>
          </p:nvPr>
        </p:nvSpPr>
        <p:spPr/>
        <p:txBody>
          <a:bodyPr/>
          <a:lstStyle/>
          <a:p>
            <a:fld id="{633F719B-E104-854E-8A30-EB8DCB3A573D}"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597A9E-326A-22C1-3F7B-2D8438B6210A}"/>
              </a:ext>
            </a:extLst>
          </p:cNvPr>
          <p:cNvSpPr>
            <a:spLocks noGrp="1"/>
          </p:cNvSpPr>
          <p:nvPr>
            <p:ph type="dt" idx="10"/>
          </p:nvPr>
        </p:nvSpPr>
        <p:spPr/>
        <p:txBody>
          <a:bodyPr/>
          <a:lstStyle/>
          <a:p>
            <a:fld id="{BECEB08D-ED1C-E34B-8682-041F4EDD7C1D}" type="datetimeFigureOut">
              <a:t>02/09/2026</a:t>
            </a:fld>
            <a:endParaRPr/>
          </a:p>
        </p:txBody>
      </p:sp>
      <p:sp>
        <p:nvSpPr>
          <p:cNvPr id="3" name="Footer Placeholder 2">
            <a:extLst>
              <a:ext uri="{FF2B5EF4-FFF2-40B4-BE49-F238E27FC236}">
                <a16:creationId xmlns:a16="http://schemas.microsoft.com/office/drawing/2014/main" id="{95A21243-EF28-1E3F-E74F-60F085D473AA}"/>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AAA4BF37-2D3F-CBF9-ADB4-F26F5DB59E93}"/>
              </a:ext>
            </a:extLst>
          </p:cNvPr>
          <p:cNvSpPr>
            <a:spLocks noGrp="1"/>
          </p:cNvSpPr>
          <p:nvPr>
            <p:ph type="sldNum" idx="12"/>
          </p:nvPr>
        </p:nvSpPr>
        <p:spPr/>
        <p:txBody>
          <a:bodyPr/>
          <a:lstStyle/>
          <a:p>
            <a:fld id="{633F719B-E104-854E-8A30-EB8DCB3A573D}"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9FDAB-579E-A7D7-222D-4FCCBDFE7254}"/>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36011809-1108-6741-2E53-6D535D0F1F0E}"/>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A6E2EA1-8D2B-681F-CAE9-F770DA35727F}"/>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18B660FE-41F7-CCA7-D80E-D102B4FC902E}"/>
              </a:ext>
            </a:extLst>
          </p:cNvPr>
          <p:cNvSpPr>
            <a:spLocks noGrp="1"/>
          </p:cNvSpPr>
          <p:nvPr>
            <p:ph type="dt" idx="10"/>
          </p:nvPr>
        </p:nvSpPr>
        <p:spPr/>
        <p:txBody>
          <a:bodyPr/>
          <a:lstStyle/>
          <a:p>
            <a:fld id="{BECEB08D-ED1C-E34B-8682-041F4EDD7C1D}" type="datetimeFigureOut">
              <a:t>02/09/2026</a:t>
            </a:fld>
            <a:endParaRPr/>
          </a:p>
        </p:txBody>
      </p:sp>
      <p:sp>
        <p:nvSpPr>
          <p:cNvPr id="6" name="Footer Placeholder 5">
            <a:extLst>
              <a:ext uri="{FF2B5EF4-FFF2-40B4-BE49-F238E27FC236}">
                <a16:creationId xmlns:a16="http://schemas.microsoft.com/office/drawing/2014/main" id="{9D3E257C-CCF7-A64C-EDBE-6CF0EF7CBEED}"/>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C06FFB8C-89BB-CD0B-C8A5-479068BDDECD}"/>
              </a:ext>
            </a:extLst>
          </p:cNvPr>
          <p:cNvSpPr>
            <a:spLocks noGrp="1"/>
          </p:cNvSpPr>
          <p:nvPr>
            <p:ph type="sldNum" idx="12"/>
          </p:nvPr>
        </p:nvSpPr>
        <p:spPr/>
        <p:txBody>
          <a:bodyPr/>
          <a:lstStyle/>
          <a:p>
            <a:fld id="{633F719B-E104-854E-8A30-EB8DCB3A573D}"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D3FA2-7BBE-9F6D-3E74-662F55B50961}"/>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034DBB61-0EAE-29C1-8125-83CB385FAF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5A1588D3-7F95-1F61-2F7D-A5FDBE5F56B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C0C39B04-09C3-D403-BCB6-8A1D4AE7668D}"/>
              </a:ext>
            </a:extLst>
          </p:cNvPr>
          <p:cNvSpPr>
            <a:spLocks noGrp="1"/>
          </p:cNvSpPr>
          <p:nvPr>
            <p:ph type="dt" idx="10"/>
          </p:nvPr>
        </p:nvSpPr>
        <p:spPr/>
        <p:txBody>
          <a:bodyPr/>
          <a:lstStyle/>
          <a:p>
            <a:fld id="{BECEB08D-ED1C-E34B-8682-041F4EDD7C1D}" type="datetimeFigureOut">
              <a:t>02/09/2026</a:t>
            </a:fld>
            <a:endParaRPr/>
          </a:p>
        </p:txBody>
      </p:sp>
      <p:sp>
        <p:nvSpPr>
          <p:cNvPr id="6" name="Footer Placeholder 5">
            <a:extLst>
              <a:ext uri="{FF2B5EF4-FFF2-40B4-BE49-F238E27FC236}">
                <a16:creationId xmlns:a16="http://schemas.microsoft.com/office/drawing/2014/main" id="{EEB61570-2831-6CE1-042A-49128815CDF7}"/>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EFFADE7A-B9AD-8B9D-F14F-613C7D1A1705}"/>
              </a:ext>
            </a:extLst>
          </p:cNvPr>
          <p:cNvSpPr>
            <a:spLocks noGrp="1"/>
          </p:cNvSpPr>
          <p:nvPr>
            <p:ph type="sldNum" idx="12"/>
          </p:nvPr>
        </p:nvSpPr>
        <p:spPr/>
        <p:txBody>
          <a:bodyPr/>
          <a:lstStyle/>
          <a:p>
            <a:fld id="{633F719B-E104-854E-8A30-EB8DCB3A573D}"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31BD3-EEB2-ACB8-5ED6-3221DB742738}"/>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72CB5D96-AC34-9077-3260-1FEB7914083A}"/>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C63E4C5F-C776-189D-A712-134287E9304C}"/>
              </a:ext>
            </a:extLst>
          </p:cNvPr>
          <p:cNvSpPr>
            <a:spLocks noGrp="1"/>
          </p:cNvSpPr>
          <p:nvPr>
            <p:ph type="dt" idx="10"/>
          </p:nvPr>
        </p:nvSpPr>
        <p:spPr/>
        <p:txBody>
          <a:bodyPr/>
          <a:lstStyle/>
          <a:p>
            <a:fld id="{BECEB08D-ED1C-E34B-8682-041F4EDD7C1D}" type="datetimeFigureOut">
              <a:t>02/09/2026</a:t>
            </a:fld>
            <a:endParaRPr/>
          </a:p>
        </p:txBody>
      </p:sp>
      <p:sp>
        <p:nvSpPr>
          <p:cNvPr id="5" name="Footer Placeholder 4">
            <a:extLst>
              <a:ext uri="{FF2B5EF4-FFF2-40B4-BE49-F238E27FC236}">
                <a16:creationId xmlns:a16="http://schemas.microsoft.com/office/drawing/2014/main" id="{365264DF-0F02-7A1F-5B88-9A3EEACEF17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7956CE7-8F57-EB4B-B185-BF2F3F5F9BA0}"/>
              </a:ext>
            </a:extLst>
          </p:cNvPr>
          <p:cNvSpPr>
            <a:spLocks noGrp="1"/>
          </p:cNvSpPr>
          <p:nvPr>
            <p:ph type="sldNum" idx="12"/>
          </p:nvPr>
        </p:nvSpPr>
        <p:spPr/>
        <p:txBody>
          <a:bodyPr/>
          <a:lstStyle/>
          <a:p>
            <a:fld id="{633F719B-E104-854E-8A30-EB8DCB3A573D}"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33F3D2-F0CF-30DB-F22B-0FFC29005BC0}"/>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052DB5E7-75ED-BAC0-7C36-438BD4EEDCDC}"/>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36998CC-3007-83A2-3073-117EC7A296BD}"/>
              </a:ext>
            </a:extLst>
          </p:cNvPr>
          <p:cNvSpPr>
            <a:spLocks noGrp="1"/>
          </p:cNvSpPr>
          <p:nvPr>
            <p:ph type="dt" idx="10"/>
          </p:nvPr>
        </p:nvSpPr>
        <p:spPr/>
        <p:txBody>
          <a:bodyPr/>
          <a:lstStyle/>
          <a:p>
            <a:fld id="{BECEB08D-ED1C-E34B-8682-041F4EDD7C1D}" type="datetimeFigureOut">
              <a:t>02/09/2026</a:t>
            </a:fld>
            <a:endParaRPr/>
          </a:p>
        </p:txBody>
      </p:sp>
      <p:sp>
        <p:nvSpPr>
          <p:cNvPr id="5" name="Footer Placeholder 4">
            <a:extLst>
              <a:ext uri="{FF2B5EF4-FFF2-40B4-BE49-F238E27FC236}">
                <a16:creationId xmlns:a16="http://schemas.microsoft.com/office/drawing/2014/main" id="{3458A673-4DAC-8F13-1BDD-1D3173264BF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E0C828E-B6D3-05F6-20F6-02978875E30C}"/>
              </a:ext>
            </a:extLst>
          </p:cNvPr>
          <p:cNvSpPr>
            <a:spLocks noGrp="1"/>
          </p:cNvSpPr>
          <p:nvPr>
            <p:ph type="sldNum" idx="12"/>
          </p:nvPr>
        </p:nvSpPr>
        <p:spPr/>
        <p:txBody>
          <a:bodyPr/>
          <a:lstStyle/>
          <a:p>
            <a:fld id="{633F719B-E104-854E-8A30-EB8DCB3A573D}"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2203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CB2360-C51E-0D73-9E87-11326816864C}"/>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6937453E-244F-D1E0-8B15-90DF28726617}"/>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ABF4AB3-D618-5E91-164F-EE5C90A80F00}"/>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BECEB08D-ED1C-E34B-8682-041F4EDD7C1D}" type="datetimeFigureOut">
              <a:t>02/09/2026</a:t>
            </a:fld>
            <a:endParaRPr/>
          </a:p>
        </p:txBody>
      </p:sp>
      <p:sp>
        <p:nvSpPr>
          <p:cNvPr id="5" name="Footer Placeholder 4">
            <a:extLst>
              <a:ext uri="{FF2B5EF4-FFF2-40B4-BE49-F238E27FC236}">
                <a16:creationId xmlns:a16="http://schemas.microsoft.com/office/drawing/2014/main" id="{3CEA17C4-C9DF-9FB1-843B-21FEDA7C0159}"/>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4043A1AB-303A-E215-77EA-9D10CF443F3F}"/>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633F719B-E104-854E-8A30-EB8DCB3A573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github.com/chrisj117/CS-472-GROUP-2-PROJECT" TargetMode="External"/><Relationship Id="rId1" Type="http://schemas.openxmlformats.org/officeDocument/2006/relationships/slideLayout" Target="../slideLayouts/slideLayout2.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A0050-2532-F700-B142-D85398C86C85}"/>
              </a:ext>
            </a:extLst>
          </p:cNvPr>
          <p:cNvSpPr>
            <a:spLocks noGrp="1"/>
          </p:cNvSpPr>
          <p:nvPr>
            <p:ph type="ctrTitle"/>
          </p:nvPr>
        </p:nvSpPr>
        <p:spPr/>
        <p:txBody>
          <a:bodyPr/>
          <a:lstStyle/>
          <a:p>
            <a:r>
              <a:t>Software Testing &amp; Continuous Integration</a:t>
            </a:r>
          </a:p>
        </p:txBody>
      </p:sp>
      <p:sp>
        <p:nvSpPr>
          <p:cNvPr id="3" name="Subtitle 2">
            <a:extLst>
              <a:ext uri="{FF2B5EF4-FFF2-40B4-BE49-F238E27FC236}">
                <a16:creationId xmlns:a16="http://schemas.microsoft.com/office/drawing/2014/main" id="{E883DB0D-C5D4-6681-6C39-4C32595E9BD7}"/>
              </a:ext>
            </a:extLst>
          </p:cNvPr>
          <p:cNvSpPr>
            <a:spLocks noGrp="1"/>
          </p:cNvSpPr>
          <p:nvPr>
            <p:ph type="subTitle" idx="1"/>
          </p:nvPr>
        </p:nvSpPr>
        <p:spPr/>
        <p:txBody>
          <a:bodyPr/>
          <a:lstStyle/>
          <a:p>
            <a:r>
              <a:t>John Businge</a:t>
            </a:r>
          </a:p>
          <a:p>
            <a:r>
              <a:t>john.businge@unlv.edu</a:t>
            </a:r>
          </a:p>
        </p:txBody>
      </p:sp>
    </p:spTree>
    <p:extLst>
      <p:ext uri="{BB962C8B-B14F-4D97-AF65-F5344CB8AC3E}">
        <p14:creationId xmlns:p14="http://schemas.microsoft.com/office/powerpoint/2010/main" val="680200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4F865-CFF8-43F4-A666-7BB6ABDD03B8}"/>
              </a:ext>
            </a:extLst>
          </p:cNvPr>
          <p:cNvSpPr>
            <a:spLocks noGrp="1"/>
          </p:cNvSpPr>
          <p:nvPr>
            <p:ph type="title"/>
          </p:nvPr>
        </p:nvSpPr>
        <p:spPr/>
        <p:txBody>
          <a:bodyPr/>
          <a:lstStyle/>
          <a:p>
            <a:r>
              <a:rPr lang="en-US" dirty="0"/>
              <a:t>Announcements</a:t>
            </a:r>
          </a:p>
        </p:txBody>
      </p:sp>
      <p:sp>
        <p:nvSpPr>
          <p:cNvPr id="3" name="Content Placeholder 2">
            <a:extLst>
              <a:ext uri="{FF2B5EF4-FFF2-40B4-BE49-F238E27FC236}">
                <a16:creationId xmlns:a16="http://schemas.microsoft.com/office/drawing/2014/main" id="{F53B45B0-646A-1B5B-7232-BFE682BD9433}"/>
              </a:ext>
            </a:extLst>
          </p:cNvPr>
          <p:cNvSpPr>
            <a:spLocks noGrp="1"/>
          </p:cNvSpPr>
          <p:nvPr>
            <p:ph idx="1"/>
          </p:nvPr>
        </p:nvSpPr>
        <p:spPr/>
        <p:txBody>
          <a:bodyPr/>
          <a:lstStyle/>
          <a:p>
            <a:r>
              <a:rPr lang="en-US" dirty="0"/>
              <a:t>9/9/26 we will have a class – We have visitors in the class</a:t>
            </a:r>
          </a:p>
          <a:p>
            <a:r>
              <a:rPr lang="en-US" dirty="0"/>
              <a:t>First lab deadline tonight</a:t>
            </a:r>
          </a:p>
          <a:p>
            <a:r>
              <a:rPr lang="en-US" dirty="0"/>
              <a:t>Precondition report – deadline 9/4/26</a:t>
            </a:r>
          </a:p>
        </p:txBody>
      </p:sp>
    </p:spTree>
    <p:extLst>
      <p:ext uri="{BB962C8B-B14F-4D97-AF65-F5344CB8AC3E}">
        <p14:creationId xmlns:p14="http://schemas.microsoft.com/office/powerpoint/2010/main" val="1527010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E290A-F98A-36FF-D65C-D4B0BBAF6D57}"/>
              </a:ext>
            </a:extLst>
          </p:cNvPr>
          <p:cNvSpPr>
            <a:spLocks noGrp="1"/>
          </p:cNvSpPr>
          <p:nvPr>
            <p:ph type="title"/>
          </p:nvPr>
        </p:nvSpPr>
        <p:spPr/>
        <p:txBody>
          <a:bodyPr/>
          <a:lstStyle/>
          <a:p>
            <a:r>
              <a:t>Testing</a:t>
            </a:r>
          </a:p>
        </p:txBody>
      </p:sp>
      <p:sp>
        <p:nvSpPr>
          <p:cNvPr id="3" name="Content Placeholder 2">
            <a:extLst>
              <a:ext uri="{FF2B5EF4-FFF2-40B4-BE49-F238E27FC236}">
                <a16:creationId xmlns:a16="http://schemas.microsoft.com/office/drawing/2014/main" id="{40E8DB44-C720-6E58-C5BE-1A2130237CED}"/>
              </a:ext>
            </a:extLst>
          </p:cNvPr>
          <p:cNvSpPr>
            <a:spLocks noGrp="1"/>
          </p:cNvSpPr>
          <p:nvPr>
            <p:ph idx="1"/>
          </p:nvPr>
        </p:nvSpPr>
        <p:spPr>
          <a:xfrm>
            <a:off x="838200" y="1825625"/>
            <a:ext cx="10088880" cy="2212975"/>
          </a:xfrm>
          <a:prstGeom prst="rect">
            <a:avLst/>
          </a:prstGeom>
          <a:ln w="38100">
            <a:solidFill>
              <a:srgbClr val="2602FC"/>
            </a:solidFill>
          </a:ln>
        </p:spPr>
        <p:txBody>
          <a:bodyPr>
            <a:normAutofit/>
          </a:bodyPr>
          <a:lstStyle/>
          <a:p>
            <a:pPr marL="0" indent="0">
              <a:buNone/>
            </a:pPr>
            <a:r>
              <a:rPr sz="3200"/>
              <a:t>“If it is worth building, it is worth testing.</a:t>
            </a:r>
          </a:p>
          <a:p>
            <a:pPr marL="0" indent="0">
              <a:buNone/>
            </a:pPr>
            <a:endParaRPr sz="3200"/>
          </a:p>
          <a:p>
            <a:pPr marL="0" indent="0">
              <a:buNone/>
            </a:pPr>
            <a:r>
              <a:rPr sz="3200"/>
              <a:t>If it is not worth testing, why are you wasting your time working on it?”      </a:t>
            </a:r>
          </a:p>
        </p:txBody>
      </p:sp>
      <p:sp>
        <p:nvSpPr>
          <p:cNvPr id="5" name="TextBox 4">
            <a:extLst>
              <a:ext uri="{FF2B5EF4-FFF2-40B4-BE49-F238E27FC236}">
                <a16:creationId xmlns:a16="http://schemas.microsoft.com/office/drawing/2014/main" id="{C1B31590-FCF7-0968-1BF4-9CEE2A58F160}"/>
              </a:ext>
            </a:extLst>
          </p:cNvPr>
          <p:cNvSpPr>
            <a:spLocks noGrp="1"/>
          </p:cNvSpPr>
          <p:nvPr/>
        </p:nvSpPr>
        <p:spPr>
          <a:xfrm>
            <a:off x="7086600" y="4173537"/>
            <a:ext cx="4373880" cy="461665"/>
          </a:xfrm>
          <a:prstGeom prst="rect">
            <a:avLst/>
          </a:prstGeom>
          <a:noFill/>
        </p:spPr>
        <p:txBody>
          <a:bodyPr wrap="square">
            <a:spAutoFit/>
          </a:bodyPr>
          <a:lstStyle/>
          <a:p>
            <a:r>
              <a:rPr sz="2400"/>
              <a:t>Scott Ambler, agiledata.org</a:t>
            </a:r>
          </a:p>
        </p:txBody>
      </p:sp>
    </p:spTree>
    <p:extLst>
      <p:ext uri="{BB962C8B-B14F-4D97-AF65-F5344CB8AC3E}">
        <p14:creationId xmlns:p14="http://schemas.microsoft.com/office/powerpoint/2010/main" val="681735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DF56E-A306-ED34-965B-D7D00856522B}"/>
              </a:ext>
            </a:extLst>
          </p:cNvPr>
          <p:cNvSpPr>
            <a:spLocks noGrp="1"/>
          </p:cNvSpPr>
          <p:nvPr>
            <p:ph type="title"/>
          </p:nvPr>
        </p:nvSpPr>
        <p:spPr>
          <a:xfrm>
            <a:off x="748991" y="-4207"/>
            <a:ext cx="10515600" cy="1325563"/>
          </a:xfrm>
        </p:spPr>
        <p:txBody>
          <a:bodyPr/>
          <a:lstStyle/>
          <a:p>
            <a:r>
              <a:rPr lang="en-GB" i="1" dirty="0">
                <a:effectLst/>
                <a:latin typeface="Helvetica" pitchFamily="2" charset="0"/>
              </a:rPr>
              <a:t>The Need for Testing</a:t>
            </a:r>
            <a:endParaRPr lang="en-BE" dirty="0"/>
          </a:p>
        </p:txBody>
      </p:sp>
      <p:grpSp>
        <p:nvGrpSpPr>
          <p:cNvPr id="10" name="Group 9">
            <a:extLst>
              <a:ext uri="{FF2B5EF4-FFF2-40B4-BE49-F238E27FC236}">
                <a16:creationId xmlns:a16="http://schemas.microsoft.com/office/drawing/2014/main" id="{0ADFDD27-DA98-EE0B-D0D0-4AEAEBB27FD0}"/>
              </a:ext>
            </a:extLst>
          </p:cNvPr>
          <p:cNvGrpSpPr/>
          <p:nvPr/>
        </p:nvGrpSpPr>
        <p:grpSpPr>
          <a:xfrm>
            <a:off x="953280" y="1001865"/>
            <a:ext cx="6241775" cy="4800482"/>
            <a:chOff x="1032699" y="1369856"/>
            <a:chExt cx="6241775" cy="4800482"/>
          </a:xfrm>
        </p:grpSpPr>
        <p:pic>
          <p:nvPicPr>
            <p:cNvPr id="1026" name="Picture 2" descr="Killed By A Machine: The Therac-25 | Hackaday">
              <a:extLst>
                <a:ext uri="{FF2B5EF4-FFF2-40B4-BE49-F238E27FC236}">
                  <a16:creationId xmlns:a16="http://schemas.microsoft.com/office/drawing/2014/main" id="{CEA19E0D-99B8-63A3-0270-79A864857A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4500" y="1976378"/>
              <a:ext cx="5667513" cy="41939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1D85120-9EBF-D904-F9FF-31D9CFE8269F}"/>
                </a:ext>
              </a:extLst>
            </p:cNvPr>
            <p:cNvSpPr txBox="1"/>
            <p:nvPr/>
          </p:nvSpPr>
          <p:spPr>
            <a:xfrm>
              <a:off x="1032699" y="1369856"/>
              <a:ext cx="6241775" cy="646331"/>
            </a:xfrm>
            <a:prstGeom prst="rect">
              <a:avLst/>
            </a:prstGeom>
            <a:noFill/>
          </p:spPr>
          <p:txBody>
            <a:bodyPr wrap="square">
              <a:spAutoFit/>
            </a:bodyPr>
            <a:lstStyle/>
            <a:p>
              <a:pPr algn="ctr"/>
              <a:r>
                <a:rPr lang="en-GB" i="1" dirty="0">
                  <a:effectLst/>
                  <a:latin typeface="Helvetica" pitchFamily="2" charset="0"/>
                </a:rPr>
                <a:t>KILLED BY A MACHINE: THE THERAC-251986: MEDICAL ACCELERATOR DISASTER</a:t>
              </a:r>
              <a:endParaRPr lang="en-GB" dirty="0">
                <a:effectLst/>
                <a:latin typeface="Helvetica" pitchFamily="2" charset="0"/>
              </a:endParaRPr>
            </a:p>
          </p:txBody>
        </p:sp>
      </p:grpSp>
      <p:sp>
        <p:nvSpPr>
          <p:cNvPr id="7" name="TextBox 6">
            <a:extLst>
              <a:ext uri="{FF2B5EF4-FFF2-40B4-BE49-F238E27FC236}">
                <a16:creationId xmlns:a16="http://schemas.microsoft.com/office/drawing/2014/main" id="{A4D93233-7939-7077-80C1-CE75931CE3F0}"/>
              </a:ext>
            </a:extLst>
          </p:cNvPr>
          <p:cNvSpPr txBox="1"/>
          <p:nvPr/>
        </p:nvSpPr>
        <p:spPr>
          <a:xfrm>
            <a:off x="1424500" y="6456028"/>
            <a:ext cx="4891832" cy="276999"/>
          </a:xfrm>
          <a:prstGeom prst="rect">
            <a:avLst/>
          </a:prstGeom>
          <a:noFill/>
        </p:spPr>
        <p:txBody>
          <a:bodyPr wrap="square">
            <a:spAutoFit/>
          </a:bodyPr>
          <a:lstStyle/>
          <a:p>
            <a:r>
              <a:rPr lang="en-BE" sz="1200" dirty="0"/>
              <a:t>https://hackaday.com/2015/10/26/killed-by-a-machine-the-therac-25/</a:t>
            </a:r>
          </a:p>
        </p:txBody>
      </p:sp>
      <p:grpSp>
        <p:nvGrpSpPr>
          <p:cNvPr id="12" name="Group 11">
            <a:extLst>
              <a:ext uri="{FF2B5EF4-FFF2-40B4-BE49-F238E27FC236}">
                <a16:creationId xmlns:a16="http://schemas.microsoft.com/office/drawing/2014/main" id="{7F7B2FBA-9120-3F64-6802-F6135321FE93}"/>
              </a:ext>
            </a:extLst>
          </p:cNvPr>
          <p:cNvGrpSpPr/>
          <p:nvPr/>
        </p:nvGrpSpPr>
        <p:grpSpPr>
          <a:xfrm>
            <a:off x="7798475" y="4688062"/>
            <a:ext cx="3712909" cy="1478733"/>
            <a:chOff x="7698114" y="4828476"/>
            <a:chExt cx="3712909" cy="1478733"/>
          </a:xfrm>
        </p:grpSpPr>
        <p:pic>
          <p:nvPicPr>
            <p:cNvPr id="1036" name="Picture 12" descr="Virus, covid19, corona, rip Icon in Corona virus">
              <a:extLst>
                <a:ext uri="{FF2B5EF4-FFF2-40B4-BE49-F238E27FC236}">
                  <a16:creationId xmlns:a16="http://schemas.microsoft.com/office/drawing/2014/main" id="{DCE95ABD-1B9A-8434-81B6-B70E636999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8114" y="4828476"/>
              <a:ext cx="1478731" cy="1478731"/>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Disabled - Free people icons">
              <a:extLst>
                <a:ext uri="{FF2B5EF4-FFF2-40B4-BE49-F238E27FC236}">
                  <a16:creationId xmlns:a16="http://schemas.microsoft.com/office/drawing/2014/main" id="{415FC62F-C9E4-4F07-E554-973815674C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32293" y="4828479"/>
              <a:ext cx="1478730" cy="147873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1" name="Group 30">
            <a:extLst>
              <a:ext uri="{FF2B5EF4-FFF2-40B4-BE49-F238E27FC236}">
                <a16:creationId xmlns:a16="http://schemas.microsoft.com/office/drawing/2014/main" id="{CBEC8DCB-B23F-AEC9-3073-E7248D288460}"/>
              </a:ext>
            </a:extLst>
          </p:cNvPr>
          <p:cNvGrpSpPr/>
          <p:nvPr/>
        </p:nvGrpSpPr>
        <p:grpSpPr>
          <a:xfrm>
            <a:off x="8051347" y="2564257"/>
            <a:ext cx="3573180" cy="1832215"/>
            <a:chOff x="8051347" y="2564257"/>
            <a:chExt cx="3573180" cy="1832215"/>
          </a:xfrm>
        </p:grpSpPr>
        <p:pic>
          <p:nvPicPr>
            <p:cNvPr id="1030" name="Picture 6" descr="Bug - Free interface icons">
              <a:extLst>
                <a:ext uri="{FF2B5EF4-FFF2-40B4-BE49-F238E27FC236}">
                  <a16:creationId xmlns:a16="http://schemas.microsoft.com/office/drawing/2014/main" id="{9C79600D-5A6F-B777-5079-C81FFA49718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51347" y="2774230"/>
              <a:ext cx="1225859" cy="1225859"/>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14997A8E-0800-296B-64D9-80BC13FD7B93}"/>
                </a:ext>
              </a:extLst>
            </p:cNvPr>
            <p:cNvGrpSpPr/>
            <p:nvPr/>
          </p:nvGrpSpPr>
          <p:grpSpPr>
            <a:xfrm>
              <a:off x="10069311" y="2564257"/>
              <a:ext cx="1555216" cy="1832215"/>
              <a:chOff x="10024705" y="2260930"/>
              <a:chExt cx="1555216" cy="1832215"/>
            </a:xfrm>
          </p:grpSpPr>
          <p:pic>
            <p:nvPicPr>
              <p:cNvPr id="1034" name="Picture 10" descr="Testing - Free user icons">
                <a:extLst>
                  <a:ext uri="{FF2B5EF4-FFF2-40B4-BE49-F238E27FC236}">
                    <a16:creationId xmlns:a16="http://schemas.microsoft.com/office/drawing/2014/main" id="{8B72DE78-6B15-4A73-D619-BE381A822D8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24705" y="2260930"/>
                <a:ext cx="1555216" cy="155521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9059A52-EA2E-047D-3C13-E006E243C223}"/>
                  </a:ext>
                </a:extLst>
              </p:cNvPr>
              <p:cNvSpPr txBox="1"/>
              <p:nvPr/>
            </p:nvSpPr>
            <p:spPr>
              <a:xfrm>
                <a:off x="10169822" y="3816146"/>
                <a:ext cx="1359679" cy="276999"/>
              </a:xfrm>
              <a:prstGeom prst="rect">
                <a:avLst/>
              </a:prstGeom>
              <a:noFill/>
            </p:spPr>
            <p:txBody>
              <a:bodyPr wrap="square" rtlCol="0">
                <a:spAutoFit/>
              </a:bodyPr>
              <a:lstStyle/>
              <a:p>
                <a:pPr algn="ctr"/>
                <a:r>
                  <a:rPr lang="en-GB" sz="1200" dirty="0"/>
                  <a:t>I</a:t>
                </a:r>
                <a:r>
                  <a:rPr lang="en-BE" sz="1200" dirty="0"/>
                  <a:t>nsufficient testing</a:t>
                </a:r>
              </a:p>
            </p:txBody>
          </p:sp>
        </p:grpSp>
      </p:grpSp>
      <p:grpSp>
        <p:nvGrpSpPr>
          <p:cNvPr id="30" name="Group 29">
            <a:extLst>
              <a:ext uri="{FF2B5EF4-FFF2-40B4-BE49-F238E27FC236}">
                <a16:creationId xmlns:a16="http://schemas.microsoft.com/office/drawing/2014/main" id="{1A776911-251F-45D1-26B1-9A0B936BFBBF}"/>
              </a:ext>
            </a:extLst>
          </p:cNvPr>
          <p:cNvGrpSpPr/>
          <p:nvPr/>
        </p:nvGrpSpPr>
        <p:grpSpPr>
          <a:xfrm>
            <a:off x="5468011" y="2267833"/>
            <a:ext cx="1153292" cy="1415769"/>
            <a:chOff x="5468011" y="2267833"/>
            <a:chExt cx="1153292" cy="1415769"/>
          </a:xfrm>
        </p:grpSpPr>
        <p:pic>
          <p:nvPicPr>
            <p:cNvPr id="1044" name="Picture 20" descr="Software-Development Icons - Free SVG &amp; PNG Software-Development Images -  Noun Project">
              <a:extLst>
                <a:ext uri="{FF2B5EF4-FFF2-40B4-BE49-F238E27FC236}">
                  <a16:creationId xmlns:a16="http://schemas.microsoft.com/office/drawing/2014/main" id="{8067D865-3463-74E8-882E-21D10D62ED8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68011" y="2530310"/>
              <a:ext cx="1153292" cy="1153292"/>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C99EEC0F-C8A1-F1FA-4ECC-01FDC2FCA64A}"/>
                </a:ext>
              </a:extLst>
            </p:cNvPr>
            <p:cNvSpPr txBox="1"/>
            <p:nvPr/>
          </p:nvSpPr>
          <p:spPr>
            <a:xfrm>
              <a:off x="5468011" y="2267833"/>
              <a:ext cx="1153292" cy="261610"/>
            </a:xfrm>
            <a:prstGeom prst="rect">
              <a:avLst/>
            </a:prstGeom>
            <a:solidFill>
              <a:schemeClr val="bg1"/>
            </a:solidFill>
          </p:spPr>
          <p:txBody>
            <a:bodyPr wrap="square" rtlCol="0">
              <a:spAutoFit/>
            </a:bodyPr>
            <a:lstStyle/>
            <a:p>
              <a:r>
                <a:rPr lang="en-BE" sz="1100" dirty="0"/>
                <a:t>Control Software</a:t>
              </a:r>
            </a:p>
          </p:txBody>
        </p:sp>
      </p:grpSp>
      <p:grpSp>
        <p:nvGrpSpPr>
          <p:cNvPr id="32" name="Group 31">
            <a:extLst>
              <a:ext uri="{FF2B5EF4-FFF2-40B4-BE49-F238E27FC236}">
                <a16:creationId xmlns:a16="http://schemas.microsoft.com/office/drawing/2014/main" id="{D805A901-9D4C-C5E4-D364-DAE68752F943}"/>
              </a:ext>
            </a:extLst>
          </p:cNvPr>
          <p:cNvGrpSpPr/>
          <p:nvPr/>
        </p:nvGrpSpPr>
        <p:grpSpPr>
          <a:xfrm>
            <a:off x="6713503" y="411351"/>
            <a:ext cx="3744279" cy="2118959"/>
            <a:chOff x="6713503" y="411351"/>
            <a:chExt cx="3744279" cy="2118959"/>
          </a:xfrm>
        </p:grpSpPr>
        <p:pic>
          <p:nvPicPr>
            <p:cNvPr id="1042" name="Picture 18" descr="software developer Icon - Free PNG &amp; SVG 1864895 - Noun Project">
              <a:extLst>
                <a:ext uri="{FF2B5EF4-FFF2-40B4-BE49-F238E27FC236}">
                  <a16:creationId xmlns:a16="http://schemas.microsoft.com/office/drawing/2014/main" id="{D4AB8100-ED0E-37D2-E517-18142C0F560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30509" y="411351"/>
              <a:ext cx="1621263" cy="1621263"/>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Arrow Connector 13">
              <a:extLst>
                <a:ext uri="{FF2B5EF4-FFF2-40B4-BE49-F238E27FC236}">
                  <a16:creationId xmlns:a16="http://schemas.microsoft.com/office/drawing/2014/main" id="{D930D2F6-C796-3C5D-AF72-FC93713D01F2}"/>
                </a:ext>
              </a:extLst>
            </p:cNvPr>
            <p:cNvCxnSpPr/>
            <p:nvPr/>
          </p:nvCxnSpPr>
          <p:spPr>
            <a:xfrm flipH="1">
              <a:off x="6713503" y="1720801"/>
              <a:ext cx="1824806" cy="80950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B85DF81-8785-8DA5-9649-F59120941CEF}"/>
                </a:ext>
              </a:extLst>
            </p:cNvPr>
            <p:cNvSpPr txBox="1"/>
            <p:nvPr/>
          </p:nvSpPr>
          <p:spPr>
            <a:xfrm rot="20212436">
              <a:off x="7007855" y="1785942"/>
              <a:ext cx="1295068" cy="276999"/>
            </a:xfrm>
            <a:prstGeom prst="rect">
              <a:avLst/>
            </a:prstGeom>
            <a:noFill/>
          </p:spPr>
          <p:txBody>
            <a:bodyPr wrap="square" rtlCol="0">
              <a:spAutoFit/>
            </a:bodyPr>
            <a:lstStyle/>
            <a:p>
              <a:r>
                <a:rPr lang="en-BE" sz="1200" dirty="0"/>
                <a:t>One developer</a:t>
              </a:r>
            </a:p>
          </p:txBody>
        </p:sp>
        <p:cxnSp>
          <p:nvCxnSpPr>
            <p:cNvPr id="29" name="Straight Arrow Connector 28">
              <a:extLst>
                <a:ext uri="{FF2B5EF4-FFF2-40B4-BE49-F238E27FC236}">
                  <a16:creationId xmlns:a16="http://schemas.microsoft.com/office/drawing/2014/main" id="{46B5DC03-92FA-274D-FCD4-EEA490D84D5C}"/>
                </a:ext>
              </a:extLst>
            </p:cNvPr>
            <p:cNvCxnSpPr>
              <a:cxnSpLocks/>
            </p:cNvCxnSpPr>
            <p:nvPr/>
          </p:nvCxnSpPr>
          <p:spPr>
            <a:xfrm>
              <a:off x="9890449" y="1608293"/>
              <a:ext cx="567333" cy="60182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88806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dissolve">
                                      <p:cBhvr>
                                        <p:cTn id="12" dur="500"/>
                                        <p:tgtEl>
                                          <p:spTgt spid="31"/>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dissolve">
                                      <p:cBhvr>
                                        <p:cTn id="16" dur="10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dissolv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dissolve">
                                      <p:cBhvr>
                                        <p:cTn id="2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9BB0D-4A07-33BD-4A74-C957810950D2}"/>
              </a:ext>
            </a:extLst>
          </p:cNvPr>
          <p:cNvSpPr>
            <a:spLocks noGrp="1"/>
          </p:cNvSpPr>
          <p:nvPr>
            <p:ph type="title"/>
          </p:nvPr>
        </p:nvSpPr>
        <p:spPr/>
        <p:txBody>
          <a:bodyPr/>
          <a:lstStyle/>
          <a:p>
            <a:r>
              <a:t>Learning Objectives</a:t>
            </a:r>
          </a:p>
        </p:txBody>
      </p:sp>
      <p:sp>
        <p:nvSpPr>
          <p:cNvPr id="3" name="Content Placeholder 2">
            <a:extLst>
              <a:ext uri="{FF2B5EF4-FFF2-40B4-BE49-F238E27FC236}">
                <a16:creationId xmlns:a16="http://schemas.microsoft.com/office/drawing/2014/main" id="{34D21DEB-59A3-13D5-32B5-CDF5B3A9D0CC}"/>
              </a:ext>
            </a:extLst>
          </p:cNvPr>
          <p:cNvSpPr>
            <a:spLocks noGrp="1"/>
          </p:cNvSpPr>
          <p:nvPr>
            <p:ph idx="1"/>
          </p:nvPr>
        </p:nvSpPr>
        <p:spPr/>
        <p:txBody>
          <a:bodyPr>
            <a:normAutofit/>
          </a:bodyPr>
          <a:lstStyle/>
          <a:p>
            <a:pPr marL="0" indent="0">
              <a:buNone/>
            </a:pPr>
            <a:r>
              <a:rPr dirty="0"/>
              <a:t>By the end of</a:t>
            </a:r>
            <a:r>
              <a:rPr lang="en-US" dirty="0"/>
              <a:t> the</a:t>
            </a:r>
            <a:r>
              <a:rPr dirty="0"/>
              <a:t> lecture</a:t>
            </a:r>
            <a:r>
              <a:rPr lang="en-US" dirty="0"/>
              <a:t> and lab</a:t>
            </a:r>
            <a:r>
              <a:rPr dirty="0"/>
              <a:t>, you should understand how to:</a:t>
            </a:r>
          </a:p>
          <a:p>
            <a:r>
              <a:rPr dirty="0"/>
              <a:t>Design meaningful unit tests and interpret coverage results.</a:t>
            </a:r>
          </a:p>
          <a:p>
            <a:r>
              <a:rPr dirty="0"/>
              <a:t>Apply the Red-Green-Refactor cycle.</a:t>
            </a:r>
          </a:p>
          <a:p>
            <a:r>
              <a:rPr dirty="0"/>
              <a:t>Use CI to validate pull requests automatically.</a:t>
            </a:r>
          </a:p>
          <a:p>
            <a:r>
              <a:rPr dirty="0"/>
              <a:t>Combine tests, reviews, and status checks to control merges.</a:t>
            </a:r>
          </a:p>
        </p:txBody>
      </p:sp>
    </p:spTree>
    <p:extLst>
      <p:ext uri="{BB962C8B-B14F-4D97-AF65-F5344CB8AC3E}">
        <p14:creationId xmlns:p14="http://schemas.microsoft.com/office/powerpoint/2010/main" val="2191563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4DAB9-AC17-7AC3-6831-2C68DA52892F}"/>
              </a:ext>
            </a:extLst>
          </p:cNvPr>
          <p:cNvSpPr>
            <a:spLocks noGrp="1"/>
          </p:cNvSpPr>
          <p:nvPr>
            <p:ph type="title"/>
          </p:nvPr>
        </p:nvSpPr>
        <p:spPr>
          <a:xfrm>
            <a:off x="838200" y="198870"/>
            <a:ext cx="10515600" cy="727405"/>
          </a:xfrm>
        </p:spPr>
        <p:txBody>
          <a:bodyPr/>
          <a:lstStyle/>
          <a:p>
            <a:r>
              <a:rPr b="1"/>
              <a:t>Unit Testing</a:t>
            </a:r>
          </a:p>
        </p:txBody>
      </p:sp>
      <p:sp>
        <p:nvSpPr>
          <p:cNvPr id="3" name="Content Placeholder 2">
            <a:extLst>
              <a:ext uri="{FF2B5EF4-FFF2-40B4-BE49-F238E27FC236}">
                <a16:creationId xmlns:a16="http://schemas.microsoft.com/office/drawing/2014/main" id="{F56FDA03-92B0-B7B1-9D66-DD657DDC0E4C}"/>
              </a:ext>
            </a:extLst>
          </p:cNvPr>
          <p:cNvSpPr>
            <a:spLocks noGrp="1"/>
          </p:cNvSpPr>
          <p:nvPr>
            <p:ph idx="1"/>
          </p:nvPr>
        </p:nvSpPr>
        <p:spPr>
          <a:xfrm>
            <a:off x="838200" y="1825625"/>
            <a:ext cx="10515600" cy="2366365"/>
          </a:xfrm>
        </p:spPr>
        <p:txBody>
          <a:bodyPr>
            <a:normAutofit/>
          </a:bodyPr>
          <a:lstStyle/>
          <a:p>
            <a:r>
              <a:rPr dirty="0"/>
              <a:t>We focus on Unit Testing.</a:t>
            </a:r>
          </a:p>
          <a:p>
            <a:pPr lvl="1">
              <a:buNone/>
            </a:pPr>
            <a:r>
              <a:rPr dirty="0"/>
              <a:t>Unit testing focuses on the smallest testable parts of an application called units (e.g., a class method or function)</a:t>
            </a:r>
          </a:p>
          <a:p>
            <a:r>
              <a:rPr sz="2400" dirty="0"/>
              <a:t>It does not mean that Unit Testing is more important, but those are the tests we can more easily automatize and benefit from tool support. </a:t>
            </a:r>
          </a:p>
        </p:txBody>
      </p:sp>
    </p:spTree>
    <p:extLst>
      <p:ext uri="{BB962C8B-B14F-4D97-AF65-F5344CB8AC3E}">
        <p14:creationId xmlns:p14="http://schemas.microsoft.com/office/powerpoint/2010/main" val="1133731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DF56E-A306-ED34-965B-D7D00856522B}"/>
              </a:ext>
            </a:extLst>
          </p:cNvPr>
          <p:cNvSpPr>
            <a:spLocks noGrp="1"/>
          </p:cNvSpPr>
          <p:nvPr>
            <p:ph type="title"/>
          </p:nvPr>
        </p:nvSpPr>
        <p:spPr>
          <a:xfrm>
            <a:off x="748991" y="-4207"/>
            <a:ext cx="10515600" cy="1325563"/>
          </a:xfrm>
        </p:spPr>
        <p:txBody>
          <a:bodyPr/>
          <a:lstStyle/>
          <a:p>
            <a:r>
              <a:rPr lang="en-GB" i="1" dirty="0">
                <a:effectLst/>
                <a:latin typeface="Helvetica" pitchFamily="2" charset="0"/>
              </a:rPr>
              <a:t>The Test Pyramid</a:t>
            </a:r>
            <a:endParaRPr lang="en-BE" dirty="0"/>
          </a:p>
        </p:txBody>
      </p:sp>
      <p:grpSp>
        <p:nvGrpSpPr>
          <p:cNvPr id="17" name="Group 16">
            <a:extLst>
              <a:ext uri="{FF2B5EF4-FFF2-40B4-BE49-F238E27FC236}">
                <a16:creationId xmlns:a16="http://schemas.microsoft.com/office/drawing/2014/main" id="{7D79AEF4-6CFA-02F3-A2B4-0EB7EA7E8809}"/>
              </a:ext>
            </a:extLst>
          </p:cNvPr>
          <p:cNvGrpSpPr/>
          <p:nvPr/>
        </p:nvGrpSpPr>
        <p:grpSpPr>
          <a:xfrm>
            <a:off x="3445854" y="1362949"/>
            <a:ext cx="4288894" cy="4534708"/>
            <a:chOff x="4155310" y="924408"/>
            <a:chExt cx="4288894" cy="4534708"/>
          </a:xfrm>
        </p:grpSpPr>
        <p:pic>
          <p:nvPicPr>
            <p:cNvPr id="3" name="Picture 2" descr="Diagram&#10;&#10;Description automatically generated">
              <a:extLst>
                <a:ext uri="{FF2B5EF4-FFF2-40B4-BE49-F238E27FC236}">
                  <a16:creationId xmlns:a16="http://schemas.microsoft.com/office/drawing/2014/main" id="{F72AA3B5-FFA6-30EA-E6F8-8E080882D783}"/>
                </a:ext>
              </a:extLst>
            </p:cNvPr>
            <p:cNvPicPr>
              <a:picLocks noChangeAspect="1"/>
            </p:cNvPicPr>
            <p:nvPr/>
          </p:nvPicPr>
          <p:blipFill rotWithShape="1">
            <a:blip r:embed="rId3"/>
            <a:srcRect l="21255" t="7459" r="17833"/>
            <a:stretch/>
          </p:blipFill>
          <p:spPr>
            <a:xfrm>
              <a:off x="4155310" y="924408"/>
              <a:ext cx="4288894" cy="4534708"/>
            </a:xfrm>
            <a:prstGeom prst="rect">
              <a:avLst/>
            </a:prstGeom>
          </p:spPr>
        </p:pic>
        <p:sp>
          <p:nvSpPr>
            <p:cNvPr id="13" name="Rectangle 12">
              <a:extLst>
                <a:ext uri="{FF2B5EF4-FFF2-40B4-BE49-F238E27FC236}">
                  <a16:creationId xmlns:a16="http://schemas.microsoft.com/office/drawing/2014/main" id="{1FEB0FF4-22F8-4599-8FAF-2F2963A03E8E}"/>
                </a:ext>
              </a:extLst>
            </p:cNvPr>
            <p:cNvSpPr/>
            <p:nvPr/>
          </p:nvSpPr>
          <p:spPr>
            <a:xfrm>
              <a:off x="4155310" y="1398884"/>
              <a:ext cx="205274" cy="3545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6" name="Rectangle 15">
              <a:extLst>
                <a:ext uri="{FF2B5EF4-FFF2-40B4-BE49-F238E27FC236}">
                  <a16:creationId xmlns:a16="http://schemas.microsoft.com/office/drawing/2014/main" id="{63C8DD98-B104-ACCB-C8E4-0D5DFAEC1938}"/>
                </a:ext>
              </a:extLst>
            </p:cNvPr>
            <p:cNvSpPr/>
            <p:nvPr/>
          </p:nvSpPr>
          <p:spPr>
            <a:xfrm>
              <a:off x="4155310" y="4677039"/>
              <a:ext cx="205274" cy="3545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18" name="TextBox 17">
            <a:extLst>
              <a:ext uri="{FF2B5EF4-FFF2-40B4-BE49-F238E27FC236}">
                <a16:creationId xmlns:a16="http://schemas.microsoft.com/office/drawing/2014/main" id="{B5FA7079-CCC8-50D8-3A94-75E4E3904517}"/>
              </a:ext>
            </a:extLst>
          </p:cNvPr>
          <p:cNvSpPr txBox="1"/>
          <p:nvPr/>
        </p:nvSpPr>
        <p:spPr>
          <a:xfrm>
            <a:off x="3655379" y="5903154"/>
            <a:ext cx="3924515" cy="338554"/>
          </a:xfrm>
          <a:prstGeom prst="rect">
            <a:avLst/>
          </a:prstGeom>
          <a:noFill/>
          <a:ln w="38100">
            <a:solidFill>
              <a:srgbClr val="134C13"/>
            </a:solidFill>
          </a:ln>
        </p:spPr>
        <p:txBody>
          <a:bodyPr wrap="square" rtlCol="0">
            <a:spAutoFit/>
          </a:bodyPr>
          <a:lstStyle/>
          <a:p>
            <a:pPr algn="ctr"/>
            <a:r>
              <a:rPr lang="en-BE" sz="1600" dirty="0"/>
              <a:t>Build a broad base of fast, focused unit tests.</a:t>
            </a:r>
          </a:p>
        </p:txBody>
      </p:sp>
      <p:grpSp>
        <p:nvGrpSpPr>
          <p:cNvPr id="26" name="Group 25">
            <a:extLst>
              <a:ext uri="{FF2B5EF4-FFF2-40B4-BE49-F238E27FC236}">
                <a16:creationId xmlns:a16="http://schemas.microsoft.com/office/drawing/2014/main" id="{BC81E245-966E-0CD0-B1F1-AF10E7A3CF3B}"/>
              </a:ext>
            </a:extLst>
          </p:cNvPr>
          <p:cNvGrpSpPr/>
          <p:nvPr/>
        </p:nvGrpSpPr>
        <p:grpSpPr>
          <a:xfrm>
            <a:off x="1750303" y="1420551"/>
            <a:ext cx="1742206" cy="4400841"/>
            <a:chOff x="2459759" y="1420551"/>
            <a:chExt cx="1742206" cy="4400841"/>
          </a:xfrm>
        </p:grpSpPr>
        <p:pic>
          <p:nvPicPr>
            <p:cNvPr id="6" name="Picture 5" descr="Diagram&#10;&#10;Description automatically generated">
              <a:extLst>
                <a:ext uri="{FF2B5EF4-FFF2-40B4-BE49-F238E27FC236}">
                  <a16:creationId xmlns:a16="http://schemas.microsoft.com/office/drawing/2014/main" id="{6696CE5D-86AE-A9B0-5936-C476D1F7D285}"/>
                </a:ext>
              </a:extLst>
            </p:cNvPr>
            <p:cNvPicPr>
              <a:picLocks noChangeAspect="1"/>
            </p:cNvPicPr>
            <p:nvPr/>
          </p:nvPicPr>
          <p:blipFill rotWithShape="1">
            <a:blip r:embed="rId3"/>
            <a:srcRect t="7459" r="77509" b="2732"/>
            <a:stretch/>
          </p:blipFill>
          <p:spPr>
            <a:xfrm>
              <a:off x="2618378" y="1420551"/>
              <a:ext cx="1583587" cy="4400841"/>
            </a:xfrm>
            <a:prstGeom prst="rect">
              <a:avLst/>
            </a:prstGeom>
          </p:spPr>
        </p:pic>
        <p:sp>
          <p:nvSpPr>
            <p:cNvPr id="22" name="TextBox 21">
              <a:extLst>
                <a:ext uri="{FF2B5EF4-FFF2-40B4-BE49-F238E27FC236}">
                  <a16:creationId xmlns:a16="http://schemas.microsoft.com/office/drawing/2014/main" id="{BC89C8D3-1EEC-1451-DF7C-C61DE633ABC1}"/>
                </a:ext>
              </a:extLst>
            </p:cNvPr>
            <p:cNvSpPr txBox="1"/>
            <p:nvPr/>
          </p:nvSpPr>
          <p:spPr>
            <a:xfrm>
              <a:off x="2459759" y="3412198"/>
              <a:ext cx="1416814" cy="523220"/>
            </a:xfrm>
            <a:prstGeom prst="rect">
              <a:avLst/>
            </a:prstGeom>
            <a:noFill/>
          </p:spPr>
          <p:txBody>
            <a:bodyPr wrap="square" rtlCol="0">
              <a:spAutoFit/>
            </a:bodyPr>
            <a:lstStyle/>
            <a:p>
              <a:pPr algn="ctr"/>
              <a:r>
                <a:rPr lang="en-BE" sz="1400" dirty="0"/>
                <a:t>Test Automation complexity</a:t>
              </a:r>
            </a:p>
          </p:txBody>
        </p:sp>
        <p:sp>
          <p:nvSpPr>
            <p:cNvPr id="24" name="TextBox 23">
              <a:extLst>
                <a:ext uri="{FF2B5EF4-FFF2-40B4-BE49-F238E27FC236}">
                  <a16:creationId xmlns:a16="http://schemas.microsoft.com/office/drawing/2014/main" id="{DE616A57-EB44-19B0-3184-B91FB4C72709}"/>
                </a:ext>
              </a:extLst>
            </p:cNvPr>
            <p:cNvSpPr txBox="1"/>
            <p:nvPr/>
          </p:nvSpPr>
          <p:spPr>
            <a:xfrm>
              <a:off x="3227035" y="4570627"/>
              <a:ext cx="565977" cy="307777"/>
            </a:xfrm>
            <a:prstGeom prst="rect">
              <a:avLst/>
            </a:prstGeom>
            <a:noFill/>
          </p:spPr>
          <p:txBody>
            <a:bodyPr wrap="square" rtlCol="0">
              <a:spAutoFit/>
            </a:bodyPr>
            <a:lstStyle/>
            <a:p>
              <a:r>
                <a:rPr lang="en-BE" sz="1400" dirty="0"/>
                <a:t>Easy</a:t>
              </a:r>
            </a:p>
          </p:txBody>
        </p:sp>
        <p:sp>
          <p:nvSpPr>
            <p:cNvPr id="25" name="TextBox 24">
              <a:extLst>
                <a:ext uri="{FF2B5EF4-FFF2-40B4-BE49-F238E27FC236}">
                  <a16:creationId xmlns:a16="http://schemas.microsoft.com/office/drawing/2014/main" id="{431BBD46-6C4B-8C98-5846-01CBE058870A}"/>
                </a:ext>
              </a:extLst>
            </p:cNvPr>
            <p:cNvSpPr txBox="1"/>
            <p:nvPr/>
          </p:nvSpPr>
          <p:spPr>
            <a:xfrm>
              <a:off x="3099023" y="2385235"/>
              <a:ext cx="565977" cy="307777"/>
            </a:xfrm>
            <a:prstGeom prst="rect">
              <a:avLst/>
            </a:prstGeom>
            <a:noFill/>
          </p:spPr>
          <p:txBody>
            <a:bodyPr wrap="square" rtlCol="0">
              <a:spAutoFit/>
            </a:bodyPr>
            <a:lstStyle/>
            <a:p>
              <a:r>
                <a:rPr lang="en-BE" sz="1400" dirty="0"/>
                <a:t>Hard</a:t>
              </a:r>
            </a:p>
          </p:txBody>
        </p:sp>
      </p:grpSp>
      <p:grpSp>
        <p:nvGrpSpPr>
          <p:cNvPr id="5" name="Group 4">
            <a:extLst>
              <a:ext uri="{FF2B5EF4-FFF2-40B4-BE49-F238E27FC236}">
                <a16:creationId xmlns:a16="http://schemas.microsoft.com/office/drawing/2014/main" id="{2F92C47E-F983-90BB-F651-0F99DDA5F004}"/>
              </a:ext>
            </a:extLst>
          </p:cNvPr>
          <p:cNvGrpSpPr/>
          <p:nvPr/>
        </p:nvGrpSpPr>
        <p:grpSpPr>
          <a:xfrm>
            <a:off x="7734748" y="1286684"/>
            <a:ext cx="3086852" cy="4534708"/>
            <a:chOff x="8444204" y="1286684"/>
            <a:chExt cx="3086852" cy="4534708"/>
          </a:xfrm>
        </p:grpSpPr>
        <p:grpSp>
          <p:nvGrpSpPr>
            <p:cNvPr id="27" name="Group 26">
              <a:extLst>
                <a:ext uri="{FF2B5EF4-FFF2-40B4-BE49-F238E27FC236}">
                  <a16:creationId xmlns:a16="http://schemas.microsoft.com/office/drawing/2014/main" id="{6FF295AB-F501-ED49-9B7D-0C45A4934A93}"/>
                </a:ext>
              </a:extLst>
            </p:cNvPr>
            <p:cNvGrpSpPr/>
            <p:nvPr/>
          </p:nvGrpSpPr>
          <p:grpSpPr>
            <a:xfrm>
              <a:off x="8444204" y="1286684"/>
              <a:ext cx="1984802" cy="4534708"/>
              <a:chOff x="8444204" y="1286684"/>
              <a:chExt cx="1984802" cy="4534708"/>
            </a:xfrm>
          </p:grpSpPr>
          <p:pic>
            <p:nvPicPr>
              <p:cNvPr id="4" name="Picture 3" descr="Diagram&#10;&#10;Description automatically generated">
                <a:extLst>
                  <a:ext uri="{FF2B5EF4-FFF2-40B4-BE49-F238E27FC236}">
                    <a16:creationId xmlns:a16="http://schemas.microsoft.com/office/drawing/2014/main" id="{657B94F8-6FC0-0E30-A396-00BD4BF7975E}"/>
                  </a:ext>
                </a:extLst>
              </p:cNvPr>
              <p:cNvPicPr>
                <a:picLocks noChangeAspect="1"/>
              </p:cNvPicPr>
              <p:nvPr/>
            </p:nvPicPr>
            <p:blipFill rotWithShape="1">
              <a:blip r:embed="rId3"/>
              <a:srcRect l="81991" t="7459"/>
              <a:stretch/>
            </p:blipFill>
            <p:spPr>
              <a:xfrm>
                <a:off x="8444204" y="1286684"/>
                <a:ext cx="1268063" cy="4534708"/>
              </a:xfrm>
              <a:prstGeom prst="rect">
                <a:avLst/>
              </a:prstGeom>
            </p:spPr>
          </p:pic>
          <p:sp>
            <p:nvSpPr>
              <p:cNvPr id="23" name="TextBox 22">
                <a:extLst>
                  <a:ext uri="{FF2B5EF4-FFF2-40B4-BE49-F238E27FC236}">
                    <a16:creationId xmlns:a16="http://schemas.microsoft.com/office/drawing/2014/main" id="{FA2F7570-57E2-7E58-6E85-05E4FF96FA9A}"/>
                  </a:ext>
                </a:extLst>
              </p:cNvPr>
              <p:cNvSpPr txBox="1"/>
              <p:nvPr/>
            </p:nvSpPr>
            <p:spPr>
              <a:xfrm>
                <a:off x="8718237" y="3368693"/>
                <a:ext cx="1710769" cy="954107"/>
              </a:xfrm>
              <a:prstGeom prst="rect">
                <a:avLst/>
              </a:prstGeom>
              <a:noFill/>
            </p:spPr>
            <p:txBody>
              <a:bodyPr wrap="square" rtlCol="0">
                <a:spAutoFit/>
              </a:bodyPr>
              <a:lstStyle/>
              <a:p>
                <a:pPr algn="ctr"/>
                <a:r>
                  <a:rPr lang="en-BE" sz="1400" dirty="0"/>
                  <a:t>Experience shows that the cost of test implementation / maintainance</a:t>
                </a:r>
              </a:p>
            </p:txBody>
          </p:sp>
        </p:grpSp>
        <p:pic>
          <p:nvPicPr>
            <p:cNvPr id="1026" name="Picture 2" descr="Dollar increase icon money symbol with arrow Vector Image">
              <a:extLst>
                <a:ext uri="{FF2B5EF4-FFF2-40B4-BE49-F238E27FC236}">
                  <a16:creationId xmlns:a16="http://schemas.microsoft.com/office/drawing/2014/main" id="{AD4D7446-DA0B-9432-CE57-9CBF99713D1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0736" b="23141"/>
            <a:stretch/>
          </p:blipFill>
          <p:spPr bwMode="auto">
            <a:xfrm rot="17721749">
              <a:off x="10065325" y="3175045"/>
              <a:ext cx="1933936" cy="997527"/>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extBox 7">
            <a:extLst>
              <a:ext uri="{FF2B5EF4-FFF2-40B4-BE49-F238E27FC236}">
                <a16:creationId xmlns:a16="http://schemas.microsoft.com/office/drawing/2014/main" id="{9311CE7E-014F-F246-3A84-1196A7360D5B}"/>
              </a:ext>
            </a:extLst>
          </p:cNvPr>
          <p:cNvSpPr txBox="1"/>
          <p:nvPr/>
        </p:nvSpPr>
        <p:spPr>
          <a:xfrm>
            <a:off x="748992" y="6332813"/>
            <a:ext cx="10644914" cy="338554"/>
          </a:xfrm>
          <a:prstGeom prst="rect">
            <a:avLst/>
          </a:prstGeom>
          <a:noFill/>
          <a:ln w="28575">
            <a:solidFill>
              <a:srgbClr val="011893"/>
            </a:solidFill>
          </a:ln>
        </p:spPr>
        <p:txBody>
          <a:bodyPr wrap="square">
            <a:spAutoFit/>
          </a:bodyPr>
          <a:lstStyle/>
          <a:p>
            <a:r>
              <a:rPr lang="en-BE" sz="1600" dirty="0"/>
              <a:t>Use fewer integration and end-to-end tests because they are generally slower, more complex, and more expensive to maintain.</a:t>
            </a:r>
            <a:endParaRPr lang="en-US" sz="1600" dirty="0"/>
          </a:p>
        </p:txBody>
      </p:sp>
    </p:spTree>
    <p:extLst>
      <p:ext uri="{BB962C8B-B14F-4D97-AF65-F5344CB8AC3E}">
        <p14:creationId xmlns:p14="http://schemas.microsoft.com/office/powerpoint/2010/main" val="136806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dissolv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dissolve">
                                      <p:cBhvr>
                                        <p:cTn id="20" dur="500"/>
                                        <p:tgtEl>
                                          <p:spTgt spid="26"/>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a:extLst>
              <a:ext uri="{FF2B5EF4-FFF2-40B4-BE49-F238E27FC236}">
                <a16:creationId xmlns:a16="http://schemas.microsoft.com/office/drawing/2014/main" id="{544D0AE9-A728-468F-97A1-03884F2D1E6B}"/>
              </a:ext>
            </a:extLst>
          </p:cNvPr>
          <p:cNvSpPr>
            <a:spLocks noGrp="1"/>
          </p:cNvSpPr>
          <p:nvPr/>
        </p:nvSpPr>
        <p:spPr>
          <a:xfrm>
            <a:off x="685800" y="400050"/>
            <a:ext cx="10820400" cy="609600"/>
          </a:xfrm>
          <a:prstGeom prst="rect">
            <a:avLst/>
          </a:prstGeom>
          <a:noFill/>
          <a:ln w="0">
            <a:noFill/>
            <a:prstDash val="solid"/>
          </a:ln>
        </p:spPr>
        <p:txBody>
          <a:bodyPr anchor="ctr"/>
          <a:lstStyle/>
          <a:p>
            <a:pPr algn="l">
              <a:defRPr sz="3225" b="0">
                <a:solidFill>
                  <a:srgbClr val="111111"/>
                </a:solidFill>
              </a:defRPr>
            </a:pPr>
            <a:r>
              <a:rPr sz="3225" b="0">
                <a:solidFill>
                  <a:srgbClr val="111111"/>
                </a:solidFill>
              </a:rPr>
              <a:t>Unit tests provide fast, focused feedback</a:t>
            </a:r>
          </a:p>
        </p:txBody>
      </p:sp>
      <p:sp>
        <p:nvSpPr>
          <p:cNvPr id="2" name="title-rule">
            <a:extLst>
              <a:ext uri="{FF2B5EF4-FFF2-40B4-BE49-F238E27FC236}">
                <a16:creationId xmlns:a16="http://schemas.microsoft.com/office/drawing/2014/main" id="{B9C07A5C-F7D2-49C6-8A0C-A8BBD702F7BF}"/>
              </a:ext>
            </a:extLst>
          </p:cNvPr>
          <p:cNvSpPr>
            <a:spLocks noGrp="1"/>
          </p:cNvSpPr>
          <p:nvPr/>
        </p:nvSpPr>
        <p:spPr>
          <a:xfrm>
            <a:off x="685800" y="1066800"/>
            <a:ext cx="1571625" cy="38100"/>
          </a:xfrm>
          <a:prstGeom prst="rect">
            <a:avLst/>
          </a:prstGeom>
          <a:solidFill>
            <a:srgbClr val="17365D"/>
          </a:solidFill>
          <a:ln w="0">
            <a:solidFill>
              <a:srgbClr val="17365D"/>
            </a:solidFill>
            <a:prstDash val="solid"/>
          </a:ln>
        </p:spPr>
        <p:txBody>
          <a:bodyPr/>
          <a:lstStyle/>
          <a:p>
            <a:endParaRPr lang="en-US"/>
          </a:p>
        </p:txBody>
      </p:sp>
      <p:sp>
        <p:nvSpPr>
          <p:cNvPr id="3" name="code-unit-panel">
            <a:extLst>
              <a:ext uri="{FF2B5EF4-FFF2-40B4-BE49-F238E27FC236}">
                <a16:creationId xmlns:a16="http://schemas.microsoft.com/office/drawing/2014/main" id="{664F7858-FC63-4A1B-8611-8A85525A13D8}"/>
              </a:ext>
            </a:extLst>
          </p:cNvPr>
          <p:cNvSpPr>
            <a:spLocks noGrp="1"/>
          </p:cNvSpPr>
          <p:nvPr/>
        </p:nvSpPr>
        <p:spPr>
          <a:xfrm>
            <a:off x="800100" y="1581150"/>
            <a:ext cx="4762500" cy="3371850"/>
          </a:xfrm>
          <a:prstGeom prst="roundRect">
            <a:avLst>
              <a:gd name="adj" fmla="val 3390"/>
            </a:avLst>
          </a:prstGeom>
          <a:solidFill>
            <a:srgbClr val="F5F8FC"/>
          </a:solidFill>
          <a:ln w="19050">
            <a:solidFill>
              <a:srgbClr val="D6DEE8"/>
            </a:solidFill>
            <a:prstDash val="solid"/>
          </a:ln>
        </p:spPr>
        <p:txBody>
          <a:bodyPr/>
          <a:lstStyle/>
          <a:p>
            <a:endParaRPr lang="en-US"/>
          </a:p>
        </p:txBody>
      </p:sp>
      <p:sp>
        <p:nvSpPr>
          <p:cNvPr id="4" name="code-unit-label">
            <a:extLst>
              <a:ext uri="{FF2B5EF4-FFF2-40B4-BE49-F238E27FC236}">
                <a16:creationId xmlns:a16="http://schemas.microsoft.com/office/drawing/2014/main" id="{7CDACB14-58BE-45F3-82FF-4CB6EA090327}"/>
              </a:ext>
            </a:extLst>
          </p:cNvPr>
          <p:cNvSpPr>
            <a:spLocks noGrp="1"/>
          </p:cNvSpPr>
          <p:nvPr/>
        </p:nvSpPr>
        <p:spPr>
          <a:xfrm>
            <a:off x="1143000" y="1790700"/>
            <a:ext cx="2190750" cy="247650"/>
          </a:xfrm>
          <a:prstGeom prst="rect">
            <a:avLst/>
          </a:prstGeom>
          <a:noFill/>
          <a:ln w="0">
            <a:noFill/>
            <a:prstDash val="solid"/>
          </a:ln>
        </p:spPr>
        <p:txBody>
          <a:bodyPr anchor="ctr"/>
          <a:lstStyle/>
          <a:p>
            <a:pPr algn="l">
              <a:defRPr sz="1200" b="1">
                <a:solidFill>
                  <a:srgbClr val="244E7A"/>
                </a:solidFill>
              </a:defRPr>
            </a:pPr>
            <a:r>
              <a:rPr sz="1200" b="1" dirty="0">
                <a:solidFill>
                  <a:srgbClr val="002060"/>
                </a:solidFill>
              </a:rPr>
              <a:t>ONE SMALL UNIT</a:t>
            </a:r>
          </a:p>
        </p:txBody>
      </p:sp>
      <p:sp>
        <p:nvSpPr>
          <p:cNvPr id="5" name="code-box">
            <a:extLst>
              <a:ext uri="{FF2B5EF4-FFF2-40B4-BE49-F238E27FC236}">
                <a16:creationId xmlns:a16="http://schemas.microsoft.com/office/drawing/2014/main" id="{68355B5F-2BE5-4662-A411-85782B0E98C1}"/>
              </a:ext>
            </a:extLst>
          </p:cNvPr>
          <p:cNvSpPr>
            <a:spLocks noGrp="1"/>
          </p:cNvSpPr>
          <p:nvPr/>
        </p:nvSpPr>
        <p:spPr>
          <a:xfrm>
            <a:off x="1123950" y="2209800"/>
            <a:ext cx="3714750" cy="1600200"/>
          </a:xfrm>
          <a:prstGeom prst="roundRect">
            <a:avLst>
              <a:gd name="adj" fmla="val 4762"/>
            </a:avLst>
          </a:prstGeom>
          <a:solidFill>
            <a:srgbClr val="FFFFFF"/>
          </a:solidFill>
          <a:ln w="19050">
            <a:solidFill>
              <a:srgbClr val="17365D"/>
            </a:solidFill>
            <a:prstDash val="solid"/>
          </a:ln>
        </p:spPr>
        <p:txBody>
          <a:bodyPr/>
          <a:lstStyle/>
          <a:p>
            <a:endParaRPr lang="en-US"/>
          </a:p>
        </p:txBody>
      </p:sp>
      <p:sp>
        <p:nvSpPr>
          <p:cNvPr id="6" name="code-line-1">
            <a:extLst>
              <a:ext uri="{FF2B5EF4-FFF2-40B4-BE49-F238E27FC236}">
                <a16:creationId xmlns:a16="http://schemas.microsoft.com/office/drawing/2014/main" id="{A13612BC-5538-48AB-B772-E54CBA6F76EE}"/>
              </a:ext>
            </a:extLst>
          </p:cNvPr>
          <p:cNvSpPr>
            <a:spLocks noGrp="1"/>
          </p:cNvSpPr>
          <p:nvPr/>
        </p:nvSpPr>
        <p:spPr>
          <a:xfrm>
            <a:off x="1381125" y="2419350"/>
            <a:ext cx="3048000" cy="304800"/>
          </a:xfrm>
          <a:prstGeom prst="rect">
            <a:avLst/>
          </a:prstGeom>
          <a:noFill/>
          <a:ln w="0">
            <a:noFill/>
            <a:prstDash val="solid"/>
          </a:ln>
        </p:spPr>
        <p:txBody>
          <a:bodyPr anchor="ctr"/>
          <a:lstStyle/>
          <a:p>
            <a:pPr algn="l">
              <a:defRPr sz="1500" b="1">
                <a:solidFill>
                  <a:srgbClr val="17365D"/>
                </a:solidFill>
              </a:defRPr>
            </a:pPr>
            <a:r>
              <a:rPr sz="1300" b="1" dirty="0">
                <a:solidFill>
                  <a:srgbClr val="C00000"/>
                </a:solidFill>
              </a:rPr>
              <a:t>def</a:t>
            </a:r>
            <a:r>
              <a:rPr sz="1300" b="1" dirty="0">
                <a:solidFill>
                  <a:srgbClr val="17365D"/>
                </a:solidFill>
              </a:rPr>
              <a:t> </a:t>
            </a:r>
            <a:r>
              <a:rPr sz="1300" b="1" dirty="0">
                <a:solidFill>
                  <a:srgbClr val="002060"/>
                </a:solidFill>
              </a:rPr>
              <a:t>calculate_total(items):</a:t>
            </a:r>
            <a:endParaRPr lang="en-US" sz="1300" b="1" dirty="0">
              <a:solidFill>
                <a:srgbClr val="002060"/>
              </a:solidFill>
            </a:endParaRPr>
          </a:p>
          <a:p>
            <a:pPr>
              <a:defRPr sz="1500" b="1">
                <a:solidFill>
                  <a:srgbClr val="17365D"/>
                </a:solidFill>
              </a:defRPr>
            </a:pPr>
            <a:r>
              <a:rPr lang="en-BE" sz="1300" b="1" dirty="0">
                <a:solidFill>
                  <a:srgbClr val="002060"/>
                </a:solidFill>
              </a:rPr>
              <a:t> </a:t>
            </a:r>
            <a:r>
              <a:rPr lang="en-GB" sz="1300" b="1" dirty="0">
                <a:solidFill>
                  <a:srgbClr val="C00000"/>
                </a:solidFill>
              </a:rPr>
              <a:t>return</a:t>
            </a:r>
            <a:r>
              <a:rPr lang="en-GB" sz="1300" b="1" dirty="0">
                <a:solidFill>
                  <a:srgbClr val="111111"/>
                </a:solidFill>
              </a:rPr>
              <a:t> </a:t>
            </a:r>
            <a:r>
              <a:rPr lang="en-GB" sz="1300" b="1" dirty="0">
                <a:solidFill>
                  <a:srgbClr val="002060"/>
                </a:solidFill>
              </a:rPr>
              <a:t>sum(items)</a:t>
            </a:r>
            <a:endParaRPr sz="1300" b="1" dirty="0">
              <a:solidFill>
                <a:srgbClr val="002060"/>
              </a:solidFill>
            </a:endParaRPr>
          </a:p>
        </p:txBody>
      </p:sp>
      <p:sp>
        <p:nvSpPr>
          <p:cNvPr id="7" name="code-line-2">
            <a:extLst>
              <a:ext uri="{FF2B5EF4-FFF2-40B4-BE49-F238E27FC236}">
                <a16:creationId xmlns:a16="http://schemas.microsoft.com/office/drawing/2014/main" id="{82AF5D74-BF75-4F7B-A9A4-655BF792C8BF}"/>
              </a:ext>
            </a:extLst>
          </p:cNvPr>
          <p:cNvSpPr>
            <a:spLocks noGrp="1"/>
          </p:cNvSpPr>
          <p:nvPr/>
        </p:nvSpPr>
        <p:spPr>
          <a:xfrm>
            <a:off x="1381125" y="2661050"/>
            <a:ext cx="2857500" cy="285750"/>
          </a:xfrm>
          <a:prstGeom prst="rect">
            <a:avLst/>
          </a:prstGeom>
          <a:noFill/>
          <a:ln w="0">
            <a:noFill/>
            <a:prstDash val="solid"/>
          </a:ln>
        </p:spPr>
        <p:txBody>
          <a:bodyPr anchor="ctr"/>
          <a:lstStyle/>
          <a:p>
            <a:pPr algn="l">
              <a:defRPr sz="1500" b="0">
                <a:solidFill>
                  <a:srgbClr val="111111"/>
                </a:solidFill>
              </a:defRPr>
            </a:pPr>
            <a:r>
              <a:rPr sz="1300" b="0" dirty="0">
                <a:solidFill>
                  <a:srgbClr val="111111"/>
                </a:solidFill>
              </a:rPr>
              <a:t>    </a:t>
            </a:r>
            <a:endParaRPr sz="1300" b="1" dirty="0">
              <a:solidFill>
                <a:srgbClr val="002060"/>
              </a:solidFill>
            </a:endParaRPr>
          </a:p>
        </p:txBody>
      </p:sp>
      <p:sp>
        <p:nvSpPr>
          <p:cNvPr id="8" name="test-line">
            <a:extLst>
              <a:ext uri="{FF2B5EF4-FFF2-40B4-BE49-F238E27FC236}">
                <a16:creationId xmlns:a16="http://schemas.microsoft.com/office/drawing/2014/main" id="{71917CB8-FCDC-4FFB-A20C-D081C26DEECA}"/>
              </a:ext>
            </a:extLst>
          </p:cNvPr>
          <p:cNvSpPr>
            <a:spLocks noGrp="1"/>
          </p:cNvSpPr>
          <p:nvPr/>
        </p:nvSpPr>
        <p:spPr>
          <a:xfrm>
            <a:off x="1251115" y="3048000"/>
            <a:ext cx="3238500" cy="438150"/>
          </a:xfrm>
          <a:prstGeom prst="rect">
            <a:avLst/>
          </a:prstGeom>
          <a:noFill/>
          <a:ln w="0">
            <a:noFill/>
            <a:prstDash val="solid"/>
          </a:ln>
        </p:spPr>
        <p:txBody>
          <a:bodyPr anchor="ctr"/>
          <a:lstStyle/>
          <a:p>
            <a:pPr>
              <a:defRPr sz="1275" b="1">
                <a:solidFill>
                  <a:srgbClr val="2E7D32"/>
                </a:solidFill>
              </a:defRPr>
            </a:pPr>
            <a:r>
              <a:rPr lang="en-BE" sz="1300" b="1" dirty="0">
                <a:solidFill>
                  <a:schemeClr val="accent2">
                    <a:lumMod val="75000"/>
                  </a:schemeClr>
                </a:solidFill>
              </a:rPr>
              <a:t>  </a:t>
            </a:r>
            <a:r>
              <a:rPr lang="en-BE" sz="1300" b="1" dirty="0">
                <a:solidFill>
                  <a:srgbClr val="C00000"/>
                </a:solidFill>
              </a:rPr>
              <a:t>def</a:t>
            </a:r>
            <a:r>
              <a:rPr lang="en-BE" sz="1300" b="1" dirty="0">
                <a:solidFill>
                  <a:srgbClr val="2E7D32"/>
                </a:solidFill>
              </a:rPr>
              <a:t> </a:t>
            </a:r>
            <a:r>
              <a:rPr lang="en-BE" sz="1300" b="1" dirty="0">
                <a:solidFill>
                  <a:srgbClr val="002060"/>
                </a:solidFill>
              </a:rPr>
              <a:t>test_calculate_total(): </a:t>
            </a:r>
          </a:p>
          <a:p>
            <a:pPr>
              <a:defRPr sz="1275" b="1">
                <a:solidFill>
                  <a:srgbClr val="2E7D32"/>
                </a:solidFill>
              </a:defRPr>
            </a:pPr>
            <a:r>
              <a:rPr lang="en-BE" sz="1300" b="1" dirty="0">
                <a:solidFill>
                  <a:srgbClr val="2E7D32"/>
                </a:solidFill>
              </a:rPr>
              <a:t>     </a:t>
            </a:r>
            <a:r>
              <a:rPr lang="en-BE" sz="1300" b="1" dirty="0">
                <a:solidFill>
                  <a:srgbClr val="C00000"/>
                </a:solidFill>
              </a:rPr>
              <a:t>assert</a:t>
            </a:r>
            <a:r>
              <a:rPr lang="en-BE" sz="1300" b="1" dirty="0">
                <a:solidFill>
                  <a:srgbClr val="2E7D32"/>
                </a:solidFill>
              </a:rPr>
              <a:t> </a:t>
            </a:r>
            <a:r>
              <a:rPr lang="en-BE" sz="1300" b="1" dirty="0">
                <a:solidFill>
                  <a:srgbClr val="002060"/>
                </a:solidFill>
              </a:rPr>
              <a:t>calculate_total([</a:t>
            </a:r>
            <a:r>
              <a:rPr lang="en-BE" sz="1300" b="1" dirty="0">
                <a:solidFill>
                  <a:srgbClr val="C00000"/>
                </a:solidFill>
              </a:rPr>
              <a:t>4, 5</a:t>
            </a:r>
            <a:r>
              <a:rPr lang="en-BE" sz="1300" b="1" dirty="0">
                <a:solidFill>
                  <a:srgbClr val="002060"/>
                </a:solidFill>
              </a:rPr>
              <a:t>])</a:t>
            </a:r>
            <a:r>
              <a:rPr lang="en-BE" sz="1300" b="1" dirty="0">
                <a:solidFill>
                  <a:srgbClr val="2E7D32"/>
                </a:solidFill>
              </a:rPr>
              <a:t> </a:t>
            </a:r>
            <a:r>
              <a:rPr lang="en-BE" sz="1300" b="1" dirty="0">
                <a:solidFill>
                  <a:srgbClr val="C00000"/>
                </a:solidFill>
              </a:rPr>
              <a:t>== 9</a:t>
            </a:r>
            <a:endParaRPr sz="1300" b="1" dirty="0">
              <a:solidFill>
                <a:srgbClr val="C00000"/>
              </a:solidFill>
            </a:endParaRPr>
          </a:p>
        </p:txBody>
      </p:sp>
      <p:sp>
        <p:nvSpPr>
          <p:cNvPr id="9" name="test-lens">
            <a:extLst>
              <a:ext uri="{FF2B5EF4-FFF2-40B4-BE49-F238E27FC236}">
                <a16:creationId xmlns:a16="http://schemas.microsoft.com/office/drawing/2014/main" id="{057F706B-0FAC-4680-AB36-B98E44536983}"/>
              </a:ext>
            </a:extLst>
          </p:cNvPr>
          <p:cNvSpPr>
            <a:spLocks noGrp="1"/>
          </p:cNvSpPr>
          <p:nvPr/>
        </p:nvSpPr>
        <p:spPr>
          <a:xfrm>
            <a:off x="3703194" y="3057554"/>
            <a:ext cx="1447800" cy="1447800"/>
          </a:xfrm>
          <a:prstGeom prst="ellipse">
            <a:avLst/>
          </a:prstGeom>
          <a:ln w="47625">
            <a:solidFill>
              <a:srgbClr val="17365D"/>
            </a:solidFill>
            <a:prstDash val="solid"/>
          </a:ln>
        </p:spPr>
        <p:txBody>
          <a:bodyPr/>
          <a:lstStyle/>
          <a:p>
            <a:endParaRPr lang="en-US"/>
          </a:p>
        </p:txBody>
      </p:sp>
      <p:sp>
        <p:nvSpPr>
          <p:cNvPr id="10" name="test-lens-handle">
            <a:extLst>
              <a:ext uri="{FF2B5EF4-FFF2-40B4-BE49-F238E27FC236}">
                <a16:creationId xmlns:a16="http://schemas.microsoft.com/office/drawing/2014/main" id="{DE2F8506-0568-4A1D-A926-8299A1736A0F}"/>
              </a:ext>
            </a:extLst>
          </p:cNvPr>
          <p:cNvSpPr>
            <a:spLocks noGrp="1"/>
          </p:cNvSpPr>
          <p:nvPr/>
        </p:nvSpPr>
        <p:spPr>
          <a:xfrm rot="2430882">
            <a:off x="4840852" y="4381774"/>
            <a:ext cx="742950" cy="190500"/>
          </a:xfrm>
          <a:prstGeom prst="roundRect">
            <a:avLst>
              <a:gd name="adj" fmla="val 50000"/>
            </a:avLst>
          </a:prstGeom>
          <a:solidFill>
            <a:srgbClr val="17365D"/>
          </a:solidFill>
          <a:ln w="0">
            <a:solidFill>
              <a:srgbClr val="17365D"/>
            </a:solidFill>
            <a:prstDash val="solid"/>
          </a:ln>
        </p:spPr>
        <p:txBody>
          <a:bodyPr/>
          <a:lstStyle/>
          <a:p>
            <a:endParaRPr lang="en-US"/>
          </a:p>
        </p:txBody>
      </p:sp>
      <p:sp>
        <p:nvSpPr>
          <p:cNvPr id="12" name="pass-outline">
            <a:extLst>
              <a:ext uri="{FF2B5EF4-FFF2-40B4-BE49-F238E27FC236}">
                <a16:creationId xmlns:a16="http://schemas.microsoft.com/office/drawing/2014/main" id="{1E665793-5E89-45DE-A564-889C20F179F6}"/>
              </a:ext>
            </a:extLst>
          </p:cNvPr>
          <p:cNvSpPr>
            <a:spLocks noGrp="1"/>
          </p:cNvSpPr>
          <p:nvPr/>
        </p:nvSpPr>
        <p:spPr>
          <a:xfrm>
            <a:off x="1381125" y="4095750"/>
            <a:ext cx="533400" cy="533400"/>
          </a:xfrm>
          <a:prstGeom prst="ellipse">
            <a:avLst/>
          </a:prstGeom>
          <a:solidFill>
            <a:srgbClr val="FFFFFF"/>
          </a:solidFill>
          <a:ln w="28575">
            <a:solidFill>
              <a:srgbClr val="2E7D32"/>
            </a:solidFill>
            <a:prstDash val="solid"/>
          </a:ln>
        </p:spPr>
        <p:txBody>
          <a:bodyPr/>
          <a:lstStyle/>
          <a:p>
            <a:endParaRPr lang="en-US"/>
          </a:p>
        </p:txBody>
      </p:sp>
      <p:sp>
        <p:nvSpPr>
          <p:cNvPr id="13" name="pass-glyph">
            <a:extLst>
              <a:ext uri="{FF2B5EF4-FFF2-40B4-BE49-F238E27FC236}">
                <a16:creationId xmlns:a16="http://schemas.microsoft.com/office/drawing/2014/main" id="{1AE99E40-23B3-4622-97D2-C5EBAF225ED2}"/>
              </a:ext>
            </a:extLst>
          </p:cNvPr>
          <p:cNvSpPr>
            <a:spLocks noGrp="1"/>
          </p:cNvSpPr>
          <p:nvPr/>
        </p:nvSpPr>
        <p:spPr>
          <a:xfrm>
            <a:off x="1381125" y="4086225"/>
            <a:ext cx="533400" cy="533400"/>
          </a:xfrm>
          <a:prstGeom prst="rect">
            <a:avLst/>
          </a:prstGeom>
          <a:noFill/>
          <a:ln w="0">
            <a:noFill/>
            <a:prstDash val="solid"/>
          </a:ln>
        </p:spPr>
        <p:txBody>
          <a:bodyPr anchor="ctr"/>
          <a:lstStyle/>
          <a:p>
            <a:pPr algn="ctr">
              <a:defRPr sz="2175" b="1">
                <a:solidFill>
                  <a:srgbClr val="2E7D32"/>
                </a:solidFill>
              </a:defRPr>
            </a:pPr>
            <a:r>
              <a:rPr sz="2175" b="1">
                <a:solidFill>
                  <a:srgbClr val="2E7D32"/>
                </a:solidFill>
              </a:rPr>
              <a:t>✓</a:t>
            </a:r>
          </a:p>
        </p:txBody>
      </p:sp>
      <p:sp>
        <p:nvSpPr>
          <p:cNvPr id="14" name="pass-label">
            <a:extLst>
              <a:ext uri="{FF2B5EF4-FFF2-40B4-BE49-F238E27FC236}">
                <a16:creationId xmlns:a16="http://schemas.microsoft.com/office/drawing/2014/main" id="{44E35F13-A68F-4C72-9A25-5937BF521096}"/>
              </a:ext>
            </a:extLst>
          </p:cNvPr>
          <p:cNvSpPr>
            <a:spLocks noGrp="1"/>
          </p:cNvSpPr>
          <p:nvPr/>
        </p:nvSpPr>
        <p:spPr>
          <a:xfrm>
            <a:off x="2057400" y="4162425"/>
            <a:ext cx="1809750" cy="323850"/>
          </a:xfrm>
          <a:prstGeom prst="rect">
            <a:avLst/>
          </a:prstGeom>
          <a:noFill/>
          <a:ln w="0">
            <a:noFill/>
            <a:prstDash val="solid"/>
          </a:ln>
        </p:spPr>
        <p:txBody>
          <a:bodyPr anchor="ctr"/>
          <a:lstStyle/>
          <a:p>
            <a:pPr algn="l">
              <a:defRPr sz="1425" b="1">
                <a:solidFill>
                  <a:srgbClr val="2E7D32"/>
                </a:solidFill>
              </a:defRPr>
            </a:pPr>
            <a:r>
              <a:rPr sz="1425" b="1">
                <a:solidFill>
                  <a:srgbClr val="2E7D32"/>
                </a:solidFill>
              </a:rPr>
              <a:t>Expected behavior</a:t>
            </a:r>
          </a:p>
        </p:txBody>
      </p:sp>
      <p:sp>
        <p:nvSpPr>
          <p:cNvPr id="15" name="caught-defect">
            <a:extLst>
              <a:ext uri="{FF2B5EF4-FFF2-40B4-BE49-F238E27FC236}">
                <a16:creationId xmlns:a16="http://schemas.microsoft.com/office/drawing/2014/main" id="{EAB0196D-174F-41F2-9A52-E7259A6C627A}"/>
              </a:ext>
            </a:extLst>
          </p:cNvPr>
          <p:cNvSpPr>
            <a:spLocks noGrp="1"/>
          </p:cNvSpPr>
          <p:nvPr/>
        </p:nvSpPr>
        <p:spPr>
          <a:xfrm>
            <a:off x="4173533" y="3510214"/>
            <a:ext cx="495300" cy="495300"/>
          </a:xfrm>
          <a:prstGeom prst="ellipse">
            <a:avLst/>
          </a:prstGeom>
          <a:solidFill>
            <a:srgbClr val="FCEBEC"/>
          </a:solidFill>
          <a:ln w="19050">
            <a:solidFill>
              <a:srgbClr val="C62828"/>
            </a:solidFill>
            <a:prstDash val="solid"/>
          </a:ln>
        </p:spPr>
        <p:txBody>
          <a:bodyPr/>
          <a:lstStyle/>
          <a:p>
            <a:endParaRPr lang="en-US"/>
          </a:p>
        </p:txBody>
      </p:sp>
      <p:sp>
        <p:nvSpPr>
          <p:cNvPr id="16" name="caught-defect-x">
            <a:extLst>
              <a:ext uri="{FF2B5EF4-FFF2-40B4-BE49-F238E27FC236}">
                <a16:creationId xmlns:a16="http://schemas.microsoft.com/office/drawing/2014/main" id="{54A4059B-B4F0-4BC1-BECA-7F7C3FAA258D}"/>
              </a:ext>
            </a:extLst>
          </p:cNvPr>
          <p:cNvSpPr>
            <a:spLocks noGrp="1"/>
          </p:cNvSpPr>
          <p:nvPr/>
        </p:nvSpPr>
        <p:spPr>
          <a:xfrm>
            <a:off x="4186671" y="3486150"/>
            <a:ext cx="495300" cy="552450"/>
          </a:xfrm>
          <a:prstGeom prst="rect">
            <a:avLst/>
          </a:prstGeom>
          <a:noFill/>
          <a:ln w="0">
            <a:noFill/>
            <a:prstDash val="solid"/>
          </a:ln>
        </p:spPr>
        <p:txBody>
          <a:bodyPr anchor="ctr"/>
          <a:lstStyle/>
          <a:p>
            <a:pPr algn="ctr">
              <a:defRPr sz="2400" b="1">
                <a:solidFill>
                  <a:srgbClr val="C62828"/>
                </a:solidFill>
              </a:defRPr>
            </a:pPr>
            <a:r>
              <a:rPr sz="2400" b="1" dirty="0">
                <a:solidFill>
                  <a:srgbClr val="C62828"/>
                </a:solidFill>
              </a:rPr>
              <a:t>×</a:t>
            </a:r>
          </a:p>
        </p:txBody>
      </p:sp>
      <p:sp>
        <p:nvSpPr>
          <p:cNvPr id="17" name="focus-outline">
            <a:extLst>
              <a:ext uri="{FF2B5EF4-FFF2-40B4-BE49-F238E27FC236}">
                <a16:creationId xmlns:a16="http://schemas.microsoft.com/office/drawing/2014/main" id="{0EDB68D5-3051-4A85-810A-DF07DAF71FF6}"/>
              </a:ext>
            </a:extLst>
          </p:cNvPr>
          <p:cNvSpPr>
            <a:spLocks noGrp="1"/>
          </p:cNvSpPr>
          <p:nvPr/>
        </p:nvSpPr>
        <p:spPr>
          <a:xfrm>
            <a:off x="6572250" y="1562100"/>
            <a:ext cx="533400" cy="533400"/>
          </a:xfrm>
          <a:prstGeom prst="ellipse">
            <a:avLst/>
          </a:prstGeom>
          <a:solidFill>
            <a:srgbClr val="FFFFFF"/>
          </a:solidFill>
          <a:ln w="28575">
            <a:solidFill>
              <a:srgbClr val="17365D"/>
            </a:solidFill>
            <a:prstDash val="solid"/>
          </a:ln>
        </p:spPr>
        <p:txBody>
          <a:bodyPr/>
          <a:lstStyle/>
          <a:p>
            <a:endParaRPr lang="en-US"/>
          </a:p>
        </p:txBody>
      </p:sp>
      <p:sp>
        <p:nvSpPr>
          <p:cNvPr id="18" name="focus-glyph">
            <a:extLst>
              <a:ext uri="{FF2B5EF4-FFF2-40B4-BE49-F238E27FC236}">
                <a16:creationId xmlns:a16="http://schemas.microsoft.com/office/drawing/2014/main" id="{B4155111-86E4-4B14-868C-3EF7CEB1AE60}"/>
              </a:ext>
            </a:extLst>
          </p:cNvPr>
          <p:cNvSpPr>
            <a:spLocks noGrp="1"/>
          </p:cNvSpPr>
          <p:nvPr/>
        </p:nvSpPr>
        <p:spPr>
          <a:xfrm>
            <a:off x="6572250" y="1552575"/>
            <a:ext cx="533400" cy="533400"/>
          </a:xfrm>
          <a:prstGeom prst="rect">
            <a:avLst/>
          </a:prstGeom>
          <a:noFill/>
          <a:ln w="0">
            <a:noFill/>
            <a:prstDash val="solid"/>
          </a:ln>
        </p:spPr>
        <p:txBody>
          <a:bodyPr anchor="ctr"/>
          <a:lstStyle/>
          <a:p>
            <a:pPr algn="ctr">
              <a:defRPr sz="2175" b="1">
                <a:solidFill>
                  <a:srgbClr val="17365D"/>
                </a:solidFill>
              </a:defRPr>
            </a:pPr>
            <a:r>
              <a:rPr sz="2175" b="1">
                <a:solidFill>
                  <a:srgbClr val="17365D"/>
                </a:solidFill>
              </a:rPr>
              <a:t>◎</a:t>
            </a:r>
          </a:p>
        </p:txBody>
      </p:sp>
      <p:sp>
        <p:nvSpPr>
          <p:cNvPr id="19" name="focus-heading">
            <a:extLst>
              <a:ext uri="{FF2B5EF4-FFF2-40B4-BE49-F238E27FC236}">
                <a16:creationId xmlns:a16="http://schemas.microsoft.com/office/drawing/2014/main" id="{C4A93A17-3823-45C2-9248-06CB4A2903BB}"/>
              </a:ext>
            </a:extLst>
          </p:cNvPr>
          <p:cNvSpPr>
            <a:spLocks noGrp="1"/>
          </p:cNvSpPr>
          <p:nvPr/>
        </p:nvSpPr>
        <p:spPr>
          <a:xfrm>
            <a:off x="7334250" y="1524000"/>
            <a:ext cx="3905250" cy="304800"/>
          </a:xfrm>
          <a:prstGeom prst="rect">
            <a:avLst/>
          </a:prstGeom>
          <a:noFill/>
          <a:ln w="0">
            <a:noFill/>
            <a:prstDash val="solid"/>
          </a:ln>
        </p:spPr>
        <p:txBody>
          <a:bodyPr anchor="ctr"/>
          <a:lstStyle/>
          <a:p>
            <a:pPr algn="l">
              <a:defRPr sz="1875" b="1">
                <a:solidFill>
                  <a:srgbClr val="111111"/>
                </a:solidFill>
              </a:defRPr>
            </a:pPr>
            <a:r>
              <a:rPr sz="1875" b="1">
                <a:solidFill>
                  <a:srgbClr val="111111"/>
                </a:solidFill>
              </a:rPr>
              <a:t>Focused diagnosis</a:t>
            </a:r>
          </a:p>
        </p:txBody>
      </p:sp>
      <p:sp>
        <p:nvSpPr>
          <p:cNvPr id="20" name="focus-detail">
            <a:extLst>
              <a:ext uri="{FF2B5EF4-FFF2-40B4-BE49-F238E27FC236}">
                <a16:creationId xmlns:a16="http://schemas.microsoft.com/office/drawing/2014/main" id="{3E698C9B-622F-47DE-BDBA-0C286C8218B1}"/>
              </a:ext>
            </a:extLst>
          </p:cNvPr>
          <p:cNvSpPr>
            <a:spLocks noGrp="1"/>
          </p:cNvSpPr>
          <p:nvPr/>
        </p:nvSpPr>
        <p:spPr>
          <a:xfrm>
            <a:off x="7334250" y="1828800"/>
            <a:ext cx="4000500" cy="323850"/>
          </a:xfrm>
          <a:prstGeom prst="rect">
            <a:avLst/>
          </a:prstGeom>
          <a:noFill/>
          <a:ln w="0">
            <a:noFill/>
            <a:prstDash val="solid"/>
          </a:ln>
        </p:spPr>
        <p:txBody>
          <a:bodyPr anchor="ctr"/>
          <a:lstStyle/>
          <a:p>
            <a:pPr algn="l">
              <a:defRPr sz="1425" b="0">
                <a:solidFill>
                  <a:srgbClr val="5A6573"/>
                </a:solidFill>
              </a:defRPr>
            </a:pPr>
            <a:r>
              <a:rPr sz="1425" b="0" dirty="0">
                <a:solidFill>
                  <a:srgbClr val="5A6573"/>
                </a:solidFill>
              </a:rPr>
              <a:t>Test one unit in isolation.</a:t>
            </a:r>
          </a:p>
        </p:txBody>
      </p:sp>
      <p:sp>
        <p:nvSpPr>
          <p:cNvPr id="21" name="defect-outline">
            <a:extLst>
              <a:ext uri="{FF2B5EF4-FFF2-40B4-BE49-F238E27FC236}">
                <a16:creationId xmlns:a16="http://schemas.microsoft.com/office/drawing/2014/main" id="{86046CF4-CBCE-4ACB-93E0-C7A82E256435}"/>
              </a:ext>
            </a:extLst>
          </p:cNvPr>
          <p:cNvSpPr>
            <a:spLocks noGrp="1"/>
          </p:cNvSpPr>
          <p:nvPr/>
        </p:nvSpPr>
        <p:spPr>
          <a:xfrm>
            <a:off x="6572250" y="2457450"/>
            <a:ext cx="533400" cy="533400"/>
          </a:xfrm>
          <a:prstGeom prst="ellipse">
            <a:avLst/>
          </a:prstGeom>
          <a:solidFill>
            <a:srgbClr val="FFFFFF"/>
          </a:solidFill>
          <a:ln w="28575">
            <a:solidFill>
              <a:srgbClr val="C62828"/>
            </a:solidFill>
            <a:prstDash val="solid"/>
          </a:ln>
        </p:spPr>
        <p:txBody>
          <a:bodyPr/>
          <a:lstStyle/>
          <a:p>
            <a:endParaRPr lang="en-US"/>
          </a:p>
        </p:txBody>
      </p:sp>
      <p:sp>
        <p:nvSpPr>
          <p:cNvPr id="22" name="defect-glyph">
            <a:extLst>
              <a:ext uri="{FF2B5EF4-FFF2-40B4-BE49-F238E27FC236}">
                <a16:creationId xmlns:a16="http://schemas.microsoft.com/office/drawing/2014/main" id="{A890C06A-8226-4542-99DA-A74E2944A654}"/>
              </a:ext>
            </a:extLst>
          </p:cNvPr>
          <p:cNvSpPr>
            <a:spLocks noGrp="1"/>
          </p:cNvSpPr>
          <p:nvPr/>
        </p:nvSpPr>
        <p:spPr>
          <a:xfrm>
            <a:off x="6572250" y="2447925"/>
            <a:ext cx="533400" cy="533400"/>
          </a:xfrm>
          <a:prstGeom prst="rect">
            <a:avLst/>
          </a:prstGeom>
          <a:noFill/>
          <a:ln w="0">
            <a:noFill/>
            <a:prstDash val="solid"/>
          </a:ln>
        </p:spPr>
        <p:txBody>
          <a:bodyPr anchor="ctr"/>
          <a:lstStyle/>
          <a:p>
            <a:pPr algn="ctr">
              <a:defRPr sz="2175" b="1">
                <a:solidFill>
                  <a:srgbClr val="C62828"/>
                </a:solidFill>
              </a:defRPr>
            </a:pPr>
            <a:r>
              <a:rPr sz="2175" b="1">
                <a:solidFill>
                  <a:srgbClr val="C62828"/>
                </a:solidFill>
              </a:rPr>
              <a:t>×</a:t>
            </a:r>
          </a:p>
        </p:txBody>
      </p:sp>
      <p:sp>
        <p:nvSpPr>
          <p:cNvPr id="23" name="defect-heading">
            <a:extLst>
              <a:ext uri="{FF2B5EF4-FFF2-40B4-BE49-F238E27FC236}">
                <a16:creationId xmlns:a16="http://schemas.microsoft.com/office/drawing/2014/main" id="{ABB92D0B-0E10-4B5A-8A25-C80A5F3C6AEE}"/>
              </a:ext>
            </a:extLst>
          </p:cNvPr>
          <p:cNvSpPr>
            <a:spLocks noGrp="1"/>
          </p:cNvSpPr>
          <p:nvPr/>
        </p:nvSpPr>
        <p:spPr>
          <a:xfrm>
            <a:off x="7334250" y="2419350"/>
            <a:ext cx="3905250" cy="304800"/>
          </a:xfrm>
          <a:prstGeom prst="rect">
            <a:avLst/>
          </a:prstGeom>
          <a:noFill/>
          <a:ln w="0">
            <a:noFill/>
            <a:prstDash val="solid"/>
          </a:ln>
        </p:spPr>
        <p:txBody>
          <a:bodyPr anchor="ctr"/>
          <a:lstStyle/>
          <a:p>
            <a:pPr algn="l">
              <a:defRPr sz="1875" b="1">
                <a:solidFill>
                  <a:srgbClr val="111111"/>
                </a:solidFill>
              </a:defRPr>
            </a:pPr>
            <a:r>
              <a:rPr sz="1875" b="1">
                <a:solidFill>
                  <a:srgbClr val="111111"/>
                </a:solidFill>
              </a:rPr>
              <a:t>Early defect detection</a:t>
            </a:r>
          </a:p>
        </p:txBody>
      </p:sp>
      <p:sp>
        <p:nvSpPr>
          <p:cNvPr id="24" name="defect-detail">
            <a:extLst>
              <a:ext uri="{FF2B5EF4-FFF2-40B4-BE49-F238E27FC236}">
                <a16:creationId xmlns:a16="http://schemas.microsoft.com/office/drawing/2014/main" id="{EBAEA86E-D58E-4F3C-9273-7B955795FB87}"/>
              </a:ext>
            </a:extLst>
          </p:cNvPr>
          <p:cNvSpPr>
            <a:spLocks noGrp="1"/>
          </p:cNvSpPr>
          <p:nvPr/>
        </p:nvSpPr>
        <p:spPr>
          <a:xfrm>
            <a:off x="7334250" y="2724150"/>
            <a:ext cx="4000500" cy="323850"/>
          </a:xfrm>
          <a:prstGeom prst="rect">
            <a:avLst/>
          </a:prstGeom>
          <a:noFill/>
          <a:ln w="0">
            <a:noFill/>
            <a:prstDash val="solid"/>
          </a:ln>
        </p:spPr>
        <p:txBody>
          <a:bodyPr anchor="ctr"/>
          <a:lstStyle/>
          <a:p>
            <a:pPr algn="l">
              <a:defRPr sz="1425" b="0">
                <a:solidFill>
                  <a:srgbClr val="5A6573"/>
                </a:solidFill>
              </a:defRPr>
            </a:pPr>
            <a:r>
              <a:rPr sz="1425" b="0" dirty="0">
                <a:solidFill>
                  <a:srgbClr val="5A6573"/>
                </a:solidFill>
              </a:rPr>
              <a:t>Find failures near their source.</a:t>
            </a:r>
          </a:p>
        </p:txBody>
      </p:sp>
      <p:sp>
        <p:nvSpPr>
          <p:cNvPr id="25" name="change-outline">
            <a:extLst>
              <a:ext uri="{FF2B5EF4-FFF2-40B4-BE49-F238E27FC236}">
                <a16:creationId xmlns:a16="http://schemas.microsoft.com/office/drawing/2014/main" id="{CC43AE2E-E98F-4728-935C-0CF3D45387CF}"/>
              </a:ext>
            </a:extLst>
          </p:cNvPr>
          <p:cNvSpPr>
            <a:spLocks noGrp="1"/>
          </p:cNvSpPr>
          <p:nvPr/>
        </p:nvSpPr>
        <p:spPr>
          <a:xfrm>
            <a:off x="6572250" y="3352800"/>
            <a:ext cx="533400" cy="533400"/>
          </a:xfrm>
          <a:prstGeom prst="ellipse">
            <a:avLst/>
          </a:prstGeom>
          <a:solidFill>
            <a:srgbClr val="FFFFFF"/>
          </a:solidFill>
          <a:ln w="28575">
            <a:solidFill>
              <a:srgbClr val="17365D"/>
            </a:solidFill>
            <a:prstDash val="solid"/>
          </a:ln>
        </p:spPr>
        <p:txBody>
          <a:bodyPr/>
          <a:lstStyle/>
          <a:p>
            <a:endParaRPr lang="en-US"/>
          </a:p>
        </p:txBody>
      </p:sp>
      <p:sp>
        <p:nvSpPr>
          <p:cNvPr id="26" name="change-glyph">
            <a:extLst>
              <a:ext uri="{FF2B5EF4-FFF2-40B4-BE49-F238E27FC236}">
                <a16:creationId xmlns:a16="http://schemas.microsoft.com/office/drawing/2014/main" id="{1B0A9219-35D6-4F74-9E7A-7B82BF764FDE}"/>
              </a:ext>
            </a:extLst>
          </p:cNvPr>
          <p:cNvSpPr>
            <a:spLocks noGrp="1"/>
          </p:cNvSpPr>
          <p:nvPr/>
        </p:nvSpPr>
        <p:spPr>
          <a:xfrm>
            <a:off x="6572250" y="3343275"/>
            <a:ext cx="533400" cy="533400"/>
          </a:xfrm>
          <a:prstGeom prst="rect">
            <a:avLst/>
          </a:prstGeom>
          <a:noFill/>
          <a:ln w="0">
            <a:noFill/>
            <a:prstDash val="solid"/>
          </a:ln>
        </p:spPr>
        <p:txBody>
          <a:bodyPr anchor="ctr"/>
          <a:lstStyle/>
          <a:p>
            <a:pPr algn="ctr">
              <a:defRPr sz="2175" b="1">
                <a:solidFill>
                  <a:srgbClr val="17365D"/>
                </a:solidFill>
              </a:defRPr>
            </a:pPr>
            <a:r>
              <a:rPr sz="2175" b="1">
                <a:solidFill>
                  <a:srgbClr val="17365D"/>
                </a:solidFill>
              </a:rPr>
              <a:t>↻</a:t>
            </a:r>
          </a:p>
        </p:txBody>
      </p:sp>
      <p:sp>
        <p:nvSpPr>
          <p:cNvPr id="27" name="change-heading">
            <a:extLst>
              <a:ext uri="{FF2B5EF4-FFF2-40B4-BE49-F238E27FC236}">
                <a16:creationId xmlns:a16="http://schemas.microsoft.com/office/drawing/2014/main" id="{794764E7-48A5-4835-BB25-37EE4958B8F2}"/>
              </a:ext>
            </a:extLst>
          </p:cNvPr>
          <p:cNvSpPr>
            <a:spLocks noGrp="1"/>
          </p:cNvSpPr>
          <p:nvPr/>
        </p:nvSpPr>
        <p:spPr>
          <a:xfrm>
            <a:off x="7334250" y="3314700"/>
            <a:ext cx="3905250" cy="304800"/>
          </a:xfrm>
          <a:prstGeom prst="rect">
            <a:avLst/>
          </a:prstGeom>
          <a:noFill/>
          <a:ln w="0">
            <a:noFill/>
            <a:prstDash val="solid"/>
          </a:ln>
        </p:spPr>
        <p:txBody>
          <a:bodyPr anchor="ctr"/>
          <a:lstStyle/>
          <a:p>
            <a:pPr algn="l">
              <a:defRPr sz="1875" b="1">
                <a:solidFill>
                  <a:srgbClr val="111111"/>
                </a:solidFill>
              </a:defRPr>
            </a:pPr>
            <a:r>
              <a:rPr sz="1875" b="1">
                <a:solidFill>
                  <a:srgbClr val="111111"/>
                </a:solidFill>
              </a:rPr>
              <a:t>Safer changes</a:t>
            </a:r>
          </a:p>
        </p:txBody>
      </p:sp>
      <p:sp>
        <p:nvSpPr>
          <p:cNvPr id="28" name="change-detail">
            <a:extLst>
              <a:ext uri="{FF2B5EF4-FFF2-40B4-BE49-F238E27FC236}">
                <a16:creationId xmlns:a16="http://schemas.microsoft.com/office/drawing/2014/main" id="{E511DEDA-1823-45A9-BFF4-5BD2351B701C}"/>
              </a:ext>
            </a:extLst>
          </p:cNvPr>
          <p:cNvSpPr>
            <a:spLocks noGrp="1"/>
          </p:cNvSpPr>
          <p:nvPr/>
        </p:nvSpPr>
        <p:spPr>
          <a:xfrm>
            <a:off x="7334250" y="3619500"/>
            <a:ext cx="4000500" cy="323850"/>
          </a:xfrm>
          <a:prstGeom prst="rect">
            <a:avLst/>
          </a:prstGeom>
          <a:noFill/>
          <a:ln w="0">
            <a:noFill/>
            <a:prstDash val="solid"/>
          </a:ln>
        </p:spPr>
        <p:txBody>
          <a:bodyPr anchor="ctr"/>
          <a:lstStyle/>
          <a:p>
            <a:pPr algn="l">
              <a:defRPr sz="1425" b="0">
                <a:solidFill>
                  <a:srgbClr val="5A6573"/>
                </a:solidFill>
              </a:defRPr>
            </a:pPr>
            <a:r>
              <a:rPr sz="1425" b="0" dirty="0">
                <a:solidFill>
                  <a:srgbClr val="5A6573"/>
                </a:solidFill>
              </a:rPr>
              <a:t>Refactor with greater confidence.</a:t>
            </a:r>
          </a:p>
        </p:txBody>
      </p:sp>
      <p:sp>
        <p:nvSpPr>
          <p:cNvPr id="29" name="automation-outline">
            <a:extLst>
              <a:ext uri="{FF2B5EF4-FFF2-40B4-BE49-F238E27FC236}">
                <a16:creationId xmlns:a16="http://schemas.microsoft.com/office/drawing/2014/main" id="{2589EDC7-04A8-4E0C-9754-BF4DB919F292}"/>
              </a:ext>
            </a:extLst>
          </p:cNvPr>
          <p:cNvSpPr>
            <a:spLocks noGrp="1"/>
          </p:cNvSpPr>
          <p:nvPr/>
        </p:nvSpPr>
        <p:spPr>
          <a:xfrm>
            <a:off x="6572250" y="4248150"/>
            <a:ext cx="533400" cy="533400"/>
          </a:xfrm>
          <a:prstGeom prst="ellipse">
            <a:avLst/>
          </a:prstGeom>
          <a:solidFill>
            <a:srgbClr val="FFFFFF"/>
          </a:solidFill>
          <a:ln w="28575">
            <a:solidFill>
              <a:srgbClr val="2E7D32"/>
            </a:solidFill>
            <a:prstDash val="solid"/>
          </a:ln>
        </p:spPr>
        <p:txBody>
          <a:bodyPr/>
          <a:lstStyle/>
          <a:p>
            <a:endParaRPr lang="en-US"/>
          </a:p>
        </p:txBody>
      </p:sp>
      <p:sp>
        <p:nvSpPr>
          <p:cNvPr id="30" name="automation-glyph">
            <a:extLst>
              <a:ext uri="{FF2B5EF4-FFF2-40B4-BE49-F238E27FC236}">
                <a16:creationId xmlns:a16="http://schemas.microsoft.com/office/drawing/2014/main" id="{24CFFC49-BB33-4576-8889-4CC8F14137DC}"/>
              </a:ext>
            </a:extLst>
          </p:cNvPr>
          <p:cNvSpPr>
            <a:spLocks noGrp="1"/>
          </p:cNvSpPr>
          <p:nvPr/>
        </p:nvSpPr>
        <p:spPr>
          <a:xfrm>
            <a:off x="6572250" y="4238625"/>
            <a:ext cx="533400" cy="533400"/>
          </a:xfrm>
          <a:prstGeom prst="rect">
            <a:avLst/>
          </a:prstGeom>
          <a:noFill/>
          <a:ln w="0">
            <a:noFill/>
            <a:prstDash val="solid"/>
          </a:ln>
        </p:spPr>
        <p:txBody>
          <a:bodyPr anchor="ctr"/>
          <a:lstStyle/>
          <a:p>
            <a:pPr algn="ctr">
              <a:defRPr sz="2175" b="1">
                <a:solidFill>
                  <a:srgbClr val="2E7D32"/>
                </a:solidFill>
              </a:defRPr>
            </a:pPr>
            <a:r>
              <a:rPr sz="2175" b="1">
                <a:solidFill>
                  <a:srgbClr val="2E7D32"/>
                </a:solidFill>
              </a:rPr>
              <a:t>✓</a:t>
            </a:r>
          </a:p>
        </p:txBody>
      </p:sp>
      <p:sp>
        <p:nvSpPr>
          <p:cNvPr id="31" name="automation-heading">
            <a:extLst>
              <a:ext uri="{FF2B5EF4-FFF2-40B4-BE49-F238E27FC236}">
                <a16:creationId xmlns:a16="http://schemas.microsoft.com/office/drawing/2014/main" id="{F7720B2B-4435-4EF8-B9C0-5026F1811E4A}"/>
              </a:ext>
            </a:extLst>
          </p:cNvPr>
          <p:cNvSpPr>
            <a:spLocks noGrp="1"/>
          </p:cNvSpPr>
          <p:nvPr/>
        </p:nvSpPr>
        <p:spPr>
          <a:xfrm>
            <a:off x="7334250" y="4210050"/>
            <a:ext cx="3905250" cy="304800"/>
          </a:xfrm>
          <a:prstGeom prst="rect">
            <a:avLst/>
          </a:prstGeom>
          <a:noFill/>
          <a:ln w="0">
            <a:noFill/>
            <a:prstDash val="solid"/>
          </a:ln>
        </p:spPr>
        <p:txBody>
          <a:bodyPr anchor="ctr"/>
          <a:lstStyle/>
          <a:p>
            <a:pPr algn="l">
              <a:defRPr sz="1875" b="1">
                <a:solidFill>
                  <a:srgbClr val="111111"/>
                </a:solidFill>
              </a:defRPr>
            </a:pPr>
            <a:r>
              <a:rPr sz="1875" b="1">
                <a:solidFill>
                  <a:srgbClr val="111111"/>
                </a:solidFill>
              </a:rPr>
              <a:t>Automated feedback</a:t>
            </a:r>
          </a:p>
        </p:txBody>
      </p:sp>
      <p:sp>
        <p:nvSpPr>
          <p:cNvPr id="32" name="automation-detail">
            <a:extLst>
              <a:ext uri="{FF2B5EF4-FFF2-40B4-BE49-F238E27FC236}">
                <a16:creationId xmlns:a16="http://schemas.microsoft.com/office/drawing/2014/main" id="{3A573ADC-39DF-4521-9505-EB5B1AF03F68}"/>
              </a:ext>
            </a:extLst>
          </p:cNvPr>
          <p:cNvSpPr>
            <a:spLocks noGrp="1"/>
          </p:cNvSpPr>
          <p:nvPr/>
        </p:nvSpPr>
        <p:spPr>
          <a:xfrm>
            <a:off x="7334250" y="4514850"/>
            <a:ext cx="4000500" cy="323850"/>
          </a:xfrm>
          <a:prstGeom prst="rect">
            <a:avLst/>
          </a:prstGeom>
          <a:noFill/>
          <a:ln w="0">
            <a:noFill/>
            <a:prstDash val="solid"/>
          </a:ln>
        </p:spPr>
        <p:txBody>
          <a:bodyPr anchor="ctr"/>
          <a:lstStyle/>
          <a:p>
            <a:pPr algn="l">
              <a:defRPr sz="1425" b="0">
                <a:solidFill>
                  <a:srgbClr val="5A6573"/>
                </a:solidFill>
              </a:defRPr>
            </a:pPr>
            <a:r>
              <a:rPr sz="1425" b="0" dirty="0">
                <a:solidFill>
                  <a:srgbClr val="5A6573"/>
                </a:solidFill>
              </a:rPr>
              <a:t>Run tests locally and through CI.</a:t>
            </a:r>
          </a:p>
        </p:txBody>
      </p:sp>
      <p:sp>
        <p:nvSpPr>
          <p:cNvPr id="33" name="takeaway-band">
            <a:extLst>
              <a:ext uri="{FF2B5EF4-FFF2-40B4-BE49-F238E27FC236}">
                <a16:creationId xmlns:a16="http://schemas.microsoft.com/office/drawing/2014/main" id="{88D4D670-2BFF-4AEA-B359-0A7A5E4A73A6}"/>
              </a:ext>
            </a:extLst>
          </p:cNvPr>
          <p:cNvSpPr>
            <a:spLocks noGrp="1"/>
          </p:cNvSpPr>
          <p:nvPr/>
        </p:nvSpPr>
        <p:spPr>
          <a:xfrm>
            <a:off x="800100" y="5467350"/>
            <a:ext cx="10591800" cy="742950"/>
          </a:xfrm>
          <a:prstGeom prst="roundRect">
            <a:avLst>
              <a:gd name="adj" fmla="val 10256"/>
            </a:avLst>
          </a:prstGeom>
          <a:solidFill>
            <a:srgbClr val="EAF5EB"/>
          </a:solidFill>
          <a:ln w="19050">
            <a:solidFill>
              <a:srgbClr val="2E7D32"/>
            </a:solidFill>
            <a:prstDash val="solid"/>
          </a:ln>
        </p:spPr>
        <p:txBody>
          <a:bodyPr/>
          <a:lstStyle/>
          <a:p>
            <a:endParaRPr lang="en-US"/>
          </a:p>
        </p:txBody>
      </p:sp>
      <p:sp>
        <p:nvSpPr>
          <p:cNvPr id="34" name="takeaway">
            <a:extLst>
              <a:ext uri="{FF2B5EF4-FFF2-40B4-BE49-F238E27FC236}">
                <a16:creationId xmlns:a16="http://schemas.microsoft.com/office/drawing/2014/main" id="{0FBDF57C-898F-4272-9B94-9FE5F6EBCD3C}"/>
              </a:ext>
            </a:extLst>
          </p:cNvPr>
          <p:cNvSpPr>
            <a:spLocks noGrp="1"/>
          </p:cNvSpPr>
          <p:nvPr/>
        </p:nvSpPr>
        <p:spPr>
          <a:xfrm>
            <a:off x="1066800" y="5600700"/>
            <a:ext cx="10058400" cy="457200"/>
          </a:xfrm>
          <a:prstGeom prst="rect">
            <a:avLst/>
          </a:prstGeom>
          <a:noFill/>
          <a:ln w="0">
            <a:noFill/>
            <a:prstDash val="solid"/>
          </a:ln>
        </p:spPr>
        <p:txBody>
          <a:bodyPr anchor="ctr"/>
          <a:lstStyle/>
          <a:p>
            <a:pPr algn="ctr">
              <a:defRPr sz="1875" b="1">
                <a:solidFill>
                  <a:srgbClr val="2E7D32"/>
                </a:solidFill>
              </a:defRPr>
            </a:pPr>
            <a:r>
              <a:rPr sz="1875" b="1">
                <a:solidFill>
                  <a:srgbClr val="2E7D32"/>
                </a:solidFill>
              </a:rPr>
              <a:t>Fast unit tests create the foundation for TDD and continuous integration.</a:t>
            </a:r>
          </a:p>
        </p:txBody>
      </p:sp>
    </p:spTree>
    <p:extLst>
      <p:ext uri="{BB962C8B-B14F-4D97-AF65-F5344CB8AC3E}">
        <p14:creationId xmlns:p14="http://schemas.microsoft.com/office/powerpoint/2010/main" val="1909094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50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5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500"/>
                                        <p:tgtEl>
                                          <p:spTgt spid="33"/>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fade">
                                      <p:cBhvr>
                                        <p:cTn id="10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p:bldP spid="7" grpId="0"/>
      <p:bldP spid="8" grpId="0"/>
      <p:bldP spid="9" grpId="0" animBg="1"/>
      <p:bldP spid="10" grpId="0" animBg="1"/>
      <p:bldP spid="12" grpId="0" animBg="1"/>
      <p:bldP spid="13" grpId="0"/>
      <p:bldP spid="14" grpId="0"/>
      <p:bldP spid="15" grpId="0" animBg="1"/>
      <p:bldP spid="16" grpId="0"/>
      <p:bldP spid="17" grpId="0" animBg="1"/>
      <p:bldP spid="18" grpId="0"/>
      <p:bldP spid="19" grpId="0"/>
      <p:bldP spid="20" grpId="0"/>
      <p:bldP spid="21" grpId="0" animBg="1"/>
      <p:bldP spid="22" grpId="0"/>
      <p:bldP spid="23" grpId="0"/>
      <p:bldP spid="24" grpId="0"/>
      <p:bldP spid="25" grpId="0" animBg="1"/>
      <p:bldP spid="26" grpId="0"/>
      <p:bldP spid="27" grpId="0"/>
      <p:bldP spid="28" grpId="0"/>
      <p:bldP spid="29" grpId="0" animBg="1"/>
      <p:bldP spid="30" grpId="0"/>
      <p:bldP spid="31" grpId="0"/>
      <p:bldP spid="32" grpId="0"/>
      <p:bldP spid="33" grpId="0" animBg="1"/>
      <p:bldP spid="3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E290A-F98A-36FF-D65C-D4B0BBAF6D57}"/>
              </a:ext>
            </a:extLst>
          </p:cNvPr>
          <p:cNvSpPr>
            <a:spLocks noGrp="1"/>
          </p:cNvSpPr>
          <p:nvPr>
            <p:ph type="title"/>
          </p:nvPr>
        </p:nvSpPr>
        <p:spPr>
          <a:xfrm>
            <a:off x="518278" y="0"/>
            <a:ext cx="10515600" cy="950976"/>
          </a:xfrm>
        </p:spPr>
        <p:txBody>
          <a:bodyPr/>
          <a:lstStyle/>
          <a:p>
            <a:r>
              <a:rPr lang="en-BE" dirty="0"/>
              <a:t>Anatomy of a Test Case - Stack</a:t>
            </a:r>
          </a:p>
        </p:txBody>
      </p:sp>
      <p:grpSp>
        <p:nvGrpSpPr>
          <p:cNvPr id="27" name="Group 26">
            <a:extLst>
              <a:ext uri="{FF2B5EF4-FFF2-40B4-BE49-F238E27FC236}">
                <a16:creationId xmlns:a16="http://schemas.microsoft.com/office/drawing/2014/main" id="{D19C5AE5-CC1F-7B0B-8756-C593C9183D72}"/>
              </a:ext>
            </a:extLst>
          </p:cNvPr>
          <p:cNvGrpSpPr/>
          <p:nvPr/>
        </p:nvGrpSpPr>
        <p:grpSpPr>
          <a:xfrm>
            <a:off x="4412343" y="1534886"/>
            <a:ext cx="3933372" cy="3788228"/>
            <a:chOff x="8440057" y="1933057"/>
            <a:chExt cx="3011715" cy="3205000"/>
          </a:xfrm>
        </p:grpSpPr>
        <p:pic>
          <p:nvPicPr>
            <p:cNvPr id="1026" name="Picture 2" descr="Stack in C - Scaler Topics">
              <a:extLst>
                <a:ext uri="{FF2B5EF4-FFF2-40B4-BE49-F238E27FC236}">
                  <a16:creationId xmlns:a16="http://schemas.microsoft.com/office/drawing/2014/main" id="{FA5992D9-4D87-63BC-DF3D-F10BB867BE6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386" t="11005" r="34686" b="69608"/>
            <a:stretch/>
          </p:blipFill>
          <p:spPr bwMode="auto">
            <a:xfrm>
              <a:off x="8440057" y="1933057"/>
              <a:ext cx="1828800" cy="812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ack Data Structure and Implementation in Python, Java and C/C++">
              <a:extLst>
                <a:ext uri="{FF2B5EF4-FFF2-40B4-BE49-F238E27FC236}">
                  <a16:creationId xmlns:a16="http://schemas.microsoft.com/office/drawing/2014/main" id="{8DADBD25-783B-84BA-1406-A5CE3D3BAD0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931" t="25519" r="79765" b="27297"/>
            <a:stretch/>
          </p:blipFill>
          <p:spPr bwMode="auto">
            <a:xfrm>
              <a:off x="8563429" y="2249714"/>
              <a:ext cx="1582057" cy="2888343"/>
            </a:xfrm>
            <a:prstGeom prst="rect">
              <a:avLst/>
            </a:prstGeom>
            <a:noFill/>
            <a:extLst>
              <a:ext uri="{909E8E84-426E-40DD-AFC4-6F175D3DCCD1}">
                <a14:hiddenFill xmlns:a14="http://schemas.microsoft.com/office/drawing/2010/main">
                  <a:solidFill>
                    <a:srgbClr val="FFFFFF"/>
                  </a:solidFill>
                </a14:hiddenFill>
              </a:ext>
            </a:extLst>
          </p:spPr>
        </p:pic>
        <p:sp>
          <p:nvSpPr>
            <p:cNvPr id="3" name="Rounded Rectangle 2">
              <a:extLst>
                <a:ext uri="{FF2B5EF4-FFF2-40B4-BE49-F238E27FC236}">
                  <a16:creationId xmlns:a16="http://schemas.microsoft.com/office/drawing/2014/main" id="{2DD14F58-F999-24C6-21EB-1966E1D2FC44}"/>
                </a:ext>
              </a:extLst>
            </p:cNvPr>
            <p:cNvSpPr/>
            <p:nvPr/>
          </p:nvSpPr>
          <p:spPr>
            <a:xfrm>
              <a:off x="8781144" y="4424558"/>
              <a:ext cx="1103085" cy="481270"/>
            </a:xfrm>
            <a:prstGeom prst="round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 name="Rounded Rectangle 3">
              <a:extLst>
                <a:ext uri="{FF2B5EF4-FFF2-40B4-BE49-F238E27FC236}">
                  <a16:creationId xmlns:a16="http://schemas.microsoft.com/office/drawing/2014/main" id="{73D7E9FC-D7DB-69FE-C9D4-1F89D50B0714}"/>
                </a:ext>
              </a:extLst>
            </p:cNvPr>
            <p:cNvSpPr/>
            <p:nvPr/>
          </p:nvSpPr>
          <p:spPr>
            <a:xfrm>
              <a:off x="8781143" y="3870714"/>
              <a:ext cx="1103085" cy="481270"/>
            </a:xfrm>
            <a:prstGeom prst="round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5" name="Rounded Rectangle 4">
              <a:extLst>
                <a:ext uri="{FF2B5EF4-FFF2-40B4-BE49-F238E27FC236}">
                  <a16:creationId xmlns:a16="http://schemas.microsoft.com/office/drawing/2014/main" id="{8544E9D0-DC9C-9682-AD8A-39EBCCA6F221}"/>
                </a:ext>
              </a:extLst>
            </p:cNvPr>
            <p:cNvSpPr/>
            <p:nvPr/>
          </p:nvSpPr>
          <p:spPr>
            <a:xfrm>
              <a:off x="8781143" y="3314213"/>
              <a:ext cx="1103085" cy="481270"/>
            </a:xfrm>
            <a:prstGeom prst="round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 name="Rounded Rectangle 5">
              <a:extLst>
                <a:ext uri="{FF2B5EF4-FFF2-40B4-BE49-F238E27FC236}">
                  <a16:creationId xmlns:a16="http://schemas.microsoft.com/office/drawing/2014/main" id="{A61D96F2-547F-FEDF-731B-4F3A989CE849}"/>
                </a:ext>
              </a:extLst>
            </p:cNvPr>
            <p:cNvSpPr/>
            <p:nvPr/>
          </p:nvSpPr>
          <p:spPr>
            <a:xfrm>
              <a:off x="8773886" y="2745857"/>
              <a:ext cx="1103085" cy="481270"/>
            </a:xfrm>
            <a:prstGeom prst="round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18" name="Straight Arrow Connector 17">
              <a:extLst>
                <a:ext uri="{FF2B5EF4-FFF2-40B4-BE49-F238E27FC236}">
                  <a16:creationId xmlns:a16="http://schemas.microsoft.com/office/drawing/2014/main" id="{9DCE5D23-9FDC-FF5A-7F4A-2756B5D7E423}"/>
                </a:ext>
              </a:extLst>
            </p:cNvPr>
            <p:cNvCxnSpPr/>
            <p:nvPr/>
          </p:nvCxnSpPr>
          <p:spPr>
            <a:xfrm>
              <a:off x="9884228" y="2986492"/>
              <a:ext cx="783772" cy="0"/>
            </a:xfrm>
            <a:prstGeom prst="straightConnector1">
              <a:avLst/>
            </a:prstGeom>
            <a:ln w="12700">
              <a:solidFill>
                <a:srgbClr val="165E6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3FB7216-EBA4-E0D7-1A21-6EBEFC7BFA74}"/>
                </a:ext>
              </a:extLst>
            </p:cNvPr>
            <p:cNvSpPr txBox="1"/>
            <p:nvPr/>
          </p:nvSpPr>
          <p:spPr>
            <a:xfrm>
              <a:off x="10668000" y="2847992"/>
              <a:ext cx="783772" cy="276999"/>
            </a:xfrm>
            <a:prstGeom prst="rect">
              <a:avLst/>
            </a:prstGeom>
            <a:noFill/>
          </p:spPr>
          <p:txBody>
            <a:bodyPr wrap="square" rtlCol="0">
              <a:spAutoFit/>
            </a:bodyPr>
            <a:lstStyle/>
            <a:p>
              <a:r>
                <a:rPr lang="en-BE" sz="1200" dirty="0"/>
                <a:t>Peek</a:t>
              </a:r>
            </a:p>
          </p:txBody>
        </p:sp>
      </p:grpSp>
    </p:spTree>
    <p:extLst>
      <p:ext uri="{BB962C8B-B14F-4D97-AF65-F5344CB8AC3E}">
        <p14:creationId xmlns:p14="http://schemas.microsoft.com/office/powerpoint/2010/main" val="101916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FEA3A363-6438-A76F-4893-415DBF50ACD0}"/>
              </a:ext>
            </a:extLst>
          </p:cNvPr>
          <p:cNvSpPr/>
          <p:nvPr/>
        </p:nvSpPr>
        <p:spPr>
          <a:xfrm>
            <a:off x="740229" y="1201475"/>
            <a:ext cx="6572960" cy="5475095"/>
          </a:xfrm>
          <a:prstGeom prst="rect">
            <a:avLst/>
          </a:prstGeom>
          <a:solidFill>
            <a:srgbClr val="E6E6E5"/>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 name="Title 1">
            <a:extLst>
              <a:ext uri="{FF2B5EF4-FFF2-40B4-BE49-F238E27FC236}">
                <a16:creationId xmlns:a16="http://schemas.microsoft.com/office/drawing/2014/main" id="{228E290A-F98A-36FF-D65C-D4B0BBAF6D57}"/>
              </a:ext>
            </a:extLst>
          </p:cNvPr>
          <p:cNvSpPr>
            <a:spLocks noGrp="1"/>
          </p:cNvSpPr>
          <p:nvPr>
            <p:ph type="title"/>
          </p:nvPr>
        </p:nvSpPr>
        <p:spPr>
          <a:xfrm>
            <a:off x="518278" y="0"/>
            <a:ext cx="10515600" cy="950976"/>
          </a:xfrm>
        </p:spPr>
        <p:txBody>
          <a:bodyPr/>
          <a:lstStyle/>
          <a:p>
            <a:r>
              <a:rPr lang="en-BE" dirty="0"/>
              <a:t>Test Case for push() and pop() function</a:t>
            </a:r>
          </a:p>
        </p:txBody>
      </p:sp>
      <p:pic>
        <p:nvPicPr>
          <p:cNvPr id="1028" name="Picture 4" descr="Stack Data Structure and Implementation in Python, Java and C/C++">
            <a:extLst>
              <a:ext uri="{FF2B5EF4-FFF2-40B4-BE49-F238E27FC236}">
                <a16:creationId xmlns:a16="http://schemas.microsoft.com/office/drawing/2014/main" id="{8DADBD25-783B-84BA-1406-A5CE3D3BAD0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31" t="25519" r="79765" b="27297"/>
          <a:stretch/>
        </p:blipFill>
        <p:spPr bwMode="auto">
          <a:xfrm>
            <a:off x="8563429" y="2249714"/>
            <a:ext cx="3105663" cy="3962400"/>
          </a:xfrm>
          <a:prstGeom prst="rect">
            <a:avLst/>
          </a:prstGeom>
          <a:noFill/>
          <a:extLst>
            <a:ext uri="{909E8E84-426E-40DD-AFC4-6F175D3DCCD1}">
              <a14:hiddenFill xmlns:a14="http://schemas.microsoft.com/office/drawing/2010/main">
                <a:solidFill>
                  <a:srgbClr val="FFFFFF"/>
                </a:solidFill>
              </a14:hiddenFill>
            </a:ext>
          </a:extLst>
        </p:spPr>
      </p:pic>
      <p:sp>
        <p:nvSpPr>
          <p:cNvPr id="3" name="Rounded Rectangle 2">
            <a:extLst>
              <a:ext uri="{FF2B5EF4-FFF2-40B4-BE49-F238E27FC236}">
                <a16:creationId xmlns:a16="http://schemas.microsoft.com/office/drawing/2014/main" id="{2DD14F58-F999-24C6-21EB-1966E1D2FC44}"/>
              </a:ext>
            </a:extLst>
          </p:cNvPr>
          <p:cNvSpPr/>
          <p:nvPr/>
        </p:nvSpPr>
        <p:spPr>
          <a:xfrm>
            <a:off x="8990010" y="5262563"/>
            <a:ext cx="2165415" cy="660235"/>
          </a:xfrm>
          <a:prstGeom prst="round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3200" dirty="0"/>
              <a:t>9</a:t>
            </a:r>
          </a:p>
        </p:txBody>
      </p:sp>
      <p:grpSp>
        <p:nvGrpSpPr>
          <p:cNvPr id="37" name="Group 36">
            <a:extLst>
              <a:ext uri="{FF2B5EF4-FFF2-40B4-BE49-F238E27FC236}">
                <a16:creationId xmlns:a16="http://schemas.microsoft.com/office/drawing/2014/main" id="{C07019D3-365F-46B4-6451-B7797D121EC6}"/>
              </a:ext>
            </a:extLst>
          </p:cNvPr>
          <p:cNvGrpSpPr/>
          <p:nvPr/>
        </p:nvGrpSpPr>
        <p:grpSpPr>
          <a:xfrm>
            <a:off x="740228" y="1201476"/>
            <a:ext cx="6572960" cy="1193913"/>
            <a:chOff x="740228" y="1201476"/>
            <a:chExt cx="6572960" cy="1193913"/>
          </a:xfrm>
        </p:grpSpPr>
        <p:pic>
          <p:nvPicPr>
            <p:cNvPr id="21" name="Picture 20" descr="A screen shot of a computer program&#10;&#10;Description automatically generated">
              <a:extLst>
                <a:ext uri="{FF2B5EF4-FFF2-40B4-BE49-F238E27FC236}">
                  <a16:creationId xmlns:a16="http://schemas.microsoft.com/office/drawing/2014/main" id="{54BBE0A6-CAE7-BA79-26EC-4E10FE73A0CD}"/>
                </a:ext>
              </a:extLst>
            </p:cNvPr>
            <p:cNvPicPr>
              <a:picLocks noChangeAspect="1"/>
            </p:cNvPicPr>
            <p:nvPr/>
          </p:nvPicPr>
          <p:blipFill rotWithShape="1">
            <a:blip r:embed="rId4"/>
            <a:srcRect b="81255"/>
            <a:stretch/>
          </p:blipFill>
          <p:spPr>
            <a:xfrm>
              <a:off x="740228" y="1201476"/>
              <a:ext cx="6572960" cy="792051"/>
            </a:xfrm>
            <a:prstGeom prst="rect">
              <a:avLst/>
            </a:prstGeom>
          </p:spPr>
        </p:pic>
        <p:pic>
          <p:nvPicPr>
            <p:cNvPr id="23" name="Picture 22" descr="A screen shot of a computer program&#10;&#10;Description automatically generated">
              <a:extLst>
                <a:ext uri="{FF2B5EF4-FFF2-40B4-BE49-F238E27FC236}">
                  <a16:creationId xmlns:a16="http://schemas.microsoft.com/office/drawing/2014/main" id="{4042E892-5A63-8465-EE93-7E38429ACD4C}"/>
                </a:ext>
              </a:extLst>
            </p:cNvPr>
            <p:cNvPicPr>
              <a:picLocks noChangeAspect="1"/>
            </p:cNvPicPr>
            <p:nvPr/>
          </p:nvPicPr>
          <p:blipFill rotWithShape="1">
            <a:blip r:embed="rId4"/>
            <a:srcRect t="21281" b="68062"/>
            <a:stretch/>
          </p:blipFill>
          <p:spPr>
            <a:xfrm>
              <a:off x="740228" y="1945091"/>
              <a:ext cx="6572960" cy="450298"/>
            </a:xfrm>
            <a:prstGeom prst="rect">
              <a:avLst/>
            </a:prstGeom>
          </p:spPr>
        </p:pic>
      </p:grpSp>
      <p:pic>
        <p:nvPicPr>
          <p:cNvPr id="24" name="Picture 23" descr="A screen shot of a computer program&#10;&#10;Description automatically generated">
            <a:extLst>
              <a:ext uri="{FF2B5EF4-FFF2-40B4-BE49-F238E27FC236}">
                <a16:creationId xmlns:a16="http://schemas.microsoft.com/office/drawing/2014/main" id="{0BFDAF5B-97A6-8DE2-4265-506D0D97C234}"/>
              </a:ext>
            </a:extLst>
          </p:cNvPr>
          <p:cNvPicPr>
            <a:picLocks noChangeAspect="1"/>
          </p:cNvPicPr>
          <p:nvPr/>
        </p:nvPicPr>
        <p:blipFill rotWithShape="1">
          <a:blip r:embed="rId4"/>
          <a:srcRect t="68724"/>
          <a:stretch/>
        </p:blipFill>
        <p:spPr>
          <a:xfrm>
            <a:off x="732972" y="4067807"/>
            <a:ext cx="6572960" cy="1321579"/>
          </a:xfrm>
          <a:prstGeom prst="rect">
            <a:avLst/>
          </a:prstGeom>
        </p:spPr>
      </p:pic>
      <p:grpSp>
        <p:nvGrpSpPr>
          <p:cNvPr id="38" name="Group 37">
            <a:extLst>
              <a:ext uri="{FF2B5EF4-FFF2-40B4-BE49-F238E27FC236}">
                <a16:creationId xmlns:a16="http://schemas.microsoft.com/office/drawing/2014/main" id="{E22386CC-DCEE-40E9-C6E7-D1F2FB342FF9}"/>
              </a:ext>
            </a:extLst>
          </p:cNvPr>
          <p:cNvGrpSpPr/>
          <p:nvPr/>
        </p:nvGrpSpPr>
        <p:grpSpPr>
          <a:xfrm>
            <a:off x="732972" y="2385593"/>
            <a:ext cx="6572960" cy="1692745"/>
            <a:chOff x="732972" y="2385593"/>
            <a:chExt cx="6572960" cy="1692745"/>
          </a:xfrm>
        </p:grpSpPr>
        <p:pic>
          <p:nvPicPr>
            <p:cNvPr id="25" name="Picture 24" descr="A screen shot of a computer program&#10;&#10;Description automatically generated">
              <a:extLst>
                <a:ext uri="{FF2B5EF4-FFF2-40B4-BE49-F238E27FC236}">
                  <a16:creationId xmlns:a16="http://schemas.microsoft.com/office/drawing/2014/main" id="{B90C7D29-F965-DF14-E396-16796CF6DACB}"/>
                </a:ext>
              </a:extLst>
            </p:cNvPr>
            <p:cNvPicPr>
              <a:picLocks noChangeAspect="1"/>
            </p:cNvPicPr>
            <p:nvPr/>
          </p:nvPicPr>
          <p:blipFill rotWithShape="1">
            <a:blip r:embed="rId4"/>
            <a:srcRect t="29266" b="30674"/>
            <a:stretch/>
          </p:blipFill>
          <p:spPr>
            <a:xfrm>
              <a:off x="732972" y="2385593"/>
              <a:ext cx="6572960" cy="1692745"/>
            </a:xfrm>
            <a:prstGeom prst="rect">
              <a:avLst/>
            </a:prstGeom>
          </p:spPr>
        </p:pic>
        <p:sp>
          <p:nvSpPr>
            <p:cNvPr id="26" name="TextBox 25">
              <a:extLst>
                <a:ext uri="{FF2B5EF4-FFF2-40B4-BE49-F238E27FC236}">
                  <a16:creationId xmlns:a16="http://schemas.microsoft.com/office/drawing/2014/main" id="{6494E133-B8A9-B672-42C4-09D0445C392C}"/>
                </a:ext>
              </a:extLst>
            </p:cNvPr>
            <p:cNvSpPr txBox="1"/>
            <p:nvPr/>
          </p:nvSpPr>
          <p:spPr>
            <a:xfrm>
              <a:off x="5854307" y="3075803"/>
              <a:ext cx="1384497" cy="369332"/>
            </a:xfrm>
            <a:prstGeom prst="rect">
              <a:avLst/>
            </a:prstGeom>
            <a:noFill/>
            <a:ln w="28575">
              <a:solidFill>
                <a:srgbClr val="C00000"/>
              </a:solidFill>
            </a:ln>
          </p:spPr>
          <p:txBody>
            <a:bodyPr wrap="square" rtlCol="0">
              <a:spAutoFit/>
            </a:bodyPr>
            <a:lstStyle/>
            <a:p>
              <a:r>
                <a:rPr lang="en-BE" dirty="0"/>
                <a:t>Test Fixtures</a:t>
              </a:r>
            </a:p>
          </p:txBody>
        </p:sp>
      </p:grpSp>
      <p:pic>
        <p:nvPicPr>
          <p:cNvPr id="7" name="Picture 6" descr="A close up of text&#10;&#10;Description automatically generated">
            <a:extLst>
              <a:ext uri="{FF2B5EF4-FFF2-40B4-BE49-F238E27FC236}">
                <a16:creationId xmlns:a16="http://schemas.microsoft.com/office/drawing/2014/main" id="{48A19825-F79D-51F7-ADE3-9496C8ADF197}"/>
              </a:ext>
            </a:extLst>
          </p:cNvPr>
          <p:cNvPicPr>
            <a:picLocks noChangeAspect="1"/>
          </p:cNvPicPr>
          <p:nvPr/>
        </p:nvPicPr>
        <p:blipFill rotWithShape="1">
          <a:blip r:embed="rId5"/>
          <a:srcRect l="-539" t="4941" r="758"/>
          <a:stretch/>
        </p:blipFill>
        <p:spPr>
          <a:xfrm>
            <a:off x="697215" y="5389386"/>
            <a:ext cx="6608717" cy="1287184"/>
          </a:xfrm>
          <a:prstGeom prst="rect">
            <a:avLst/>
          </a:prstGeom>
        </p:spPr>
      </p:pic>
      <p:sp>
        <p:nvSpPr>
          <p:cNvPr id="9" name="Rectangle 8">
            <a:extLst>
              <a:ext uri="{FF2B5EF4-FFF2-40B4-BE49-F238E27FC236}">
                <a16:creationId xmlns:a16="http://schemas.microsoft.com/office/drawing/2014/main" id="{CD7EC01F-2B2F-8FBB-66DE-797D71E17B66}"/>
              </a:ext>
            </a:extLst>
          </p:cNvPr>
          <p:cNvSpPr/>
          <p:nvPr/>
        </p:nvSpPr>
        <p:spPr>
          <a:xfrm>
            <a:off x="1582057" y="2780623"/>
            <a:ext cx="3222172" cy="358381"/>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0" name="Rectangle 9">
            <a:extLst>
              <a:ext uri="{FF2B5EF4-FFF2-40B4-BE49-F238E27FC236}">
                <a16:creationId xmlns:a16="http://schemas.microsoft.com/office/drawing/2014/main" id="{CC1BECE8-F24E-18A4-50F0-84F1E098687C}"/>
              </a:ext>
            </a:extLst>
          </p:cNvPr>
          <p:cNvSpPr/>
          <p:nvPr/>
        </p:nvSpPr>
        <p:spPr>
          <a:xfrm>
            <a:off x="1698171" y="4549406"/>
            <a:ext cx="2714172" cy="358381"/>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16" name="Group 15">
            <a:extLst>
              <a:ext uri="{FF2B5EF4-FFF2-40B4-BE49-F238E27FC236}">
                <a16:creationId xmlns:a16="http://schemas.microsoft.com/office/drawing/2014/main" id="{3326240D-200B-D188-3FCE-65010A66C008}"/>
              </a:ext>
            </a:extLst>
          </p:cNvPr>
          <p:cNvGrpSpPr/>
          <p:nvPr/>
        </p:nvGrpSpPr>
        <p:grpSpPr>
          <a:xfrm>
            <a:off x="7707086" y="5209923"/>
            <a:ext cx="1282924" cy="523220"/>
            <a:chOff x="7707086" y="5209923"/>
            <a:chExt cx="1282924" cy="523220"/>
          </a:xfrm>
        </p:grpSpPr>
        <p:cxnSp>
          <p:nvCxnSpPr>
            <p:cNvPr id="12" name="Straight Arrow Connector 11">
              <a:extLst>
                <a:ext uri="{FF2B5EF4-FFF2-40B4-BE49-F238E27FC236}">
                  <a16:creationId xmlns:a16="http://schemas.microsoft.com/office/drawing/2014/main" id="{41116643-1B62-184D-B43E-9BB832DB01E7}"/>
                </a:ext>
              </a:extLst>
            </p:cNvPr>
            <p:cNvCxnSpPr>
              <a:cxnSpLocks/>
            </p:cNvCxnSpPr>
            <p:nvPr/>
          </p:nvCxnSpPr>
          <p:spPr>
            <a:xfrm>
              <a:off x="7707086" y="5733143"/>
              <a:ext cx="1282924" cy="0"/>
            </a:xfrm>
            <a:prstGeom prst="straightConnector1">
              <a:avLst/>
            </a:prstGeom>
            <a:ln w="76200">
              <a:solidFill>
                <a:srgbClr val="165E6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3B308FA-D499-073F-4B7F-687977454258}"/>
                </a:ext>
              </a:extLst>
            </p:cNvPr>
            <p:cNvSpPr txBox="1"/>
            <p:nvPr/>
          </p:nvSpPr>
          <p:spPr>
            <a:xfrm>
              <a:off x="7740382" y="5209923"/>
              <a:ext cx="1103086" cy="523220"/>
            </a:xfrm>
            <a:prstGeom prst="rect">
              <a:avLst/>
            </a:prstGeom>
            <a:noFill/>
          </p:spPr>
          <p:txBody>
            <a:bodyPr wrap="square" rtlCol="0">
              <a:spAutoFit/>
            </a:bodyPr>
            <a:lstStyle/>
            <a:p>
              <a:r>
                <a:rPr lang="en-BE" sz="2800" dirty="0"/>
                <a:t>Peek</a:t>
              </a:r>
            </a:p>
          </p:txBody>
        </p:sp>
      </p:grpSp>
      <p:sp>
        <p:nvSpPr>
          <p:cNvPr id="15" name="Rectangle 14">
            <a:extLst>
              <a:ext uri="{FF2B5EF4-FFF2-40B4-BE49-F238E27FC236}">
                <a16:creationId xmlns:a16="http://schemas.microsoft.com/office/drawing/2014/main" id="{EACC2FCB-9E9D-FE8F-C798-C6371DF1E365}"/>
              </a:ext>
            </a:extLst>
          </p:cNvPr>
          <p:cNvSpPr/>
          <p:nvPr/>
        </p:nvSpPr>
        <p:spPr>
          <a:xfrm>
            <a:off x="1705427" y="4907787"/>
            <a:ext cx="5521287" cy="358381"/>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7" name="Rectangle 16">
            <a:extLst>
              <a:ext uri="{FF2B5EF4-FFF2-40B4-BE49-F238E27FC236}">
                <a16:creationId xmlns:a16="http://schemas.microsoft.com/office/drawing/2014/main" id="{4492D876-AC37-F4FD-F75B-7C26F724C86F}"/>
              </a:ext>
            </a:extLst>
          </p:cNvPr>
          <p:cNvSpPr/>
          <p:nvPr/>
        </p:nvSpPr>
        <p:spPr>
          <a:xfrm>
            <a:off x="1669143" y="3689245"/>
            <a:ext cx="2743200" cy="358381"/>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0" name="Rectangle 19">
            <a:extLst>
              <a:ext uri="{FF2B5EF4-FFF2-40B4-BE49-F238E27FC236}">
                <a16:creationId xmlns:a16="http://schemas.microsoft.com/office/drawing/2014/main" id="{1A58E162-5E72-460A-7493-F726F4191202}"/>
              </a:ext>
            </a:extLst>
          </p:cNvPr>
          <p:cNvSpPr/>
          <p:nvPr/>
        </p:nvSpPr>
        <p:spPr>
          <a:xfrm>
            <a:off x="1741714" y="5674596"/>
            <a:ext cx="2714172" cy="358381"/>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grpSp>
        <p:nvGrpSpPr>
          <p:cNvPr id="30" name="Group 29">
            <a:extLst>
              <a:ext uri="{FF2B5EF4-FFF2-40B4-BE49-F238E27FC236}">
                <a16:creationId xmlns:a16="http://schemas.microsoft.com/office/drawing/2014/main" id="{371EDBCE-5D01-89B5-1971-2B1904BDB529}"/>
              </a:ext>
            </a:extLst>
          </p:cNvPr>
          <p:cNvGrpSpPr/>
          <p:nvPr/>
        </p:nvGrpSpPr>
        <p:grpSpPr>
          <a:xfrm>
            <a:off x="9382291" y="3994924"/>
            <a:ext cx="972457" cy="1147955"/>
            <a:chOff x="9405257" y="3939022"/>
            <a:chExt cx="972457" cy="1147955"/>
          </a:xfrm>
        </p:grpSpPr>
        <p:cxnSp>
          <p:nvCxnSpPr>
            <p:cNvPr id="28" name="Straight Arrow Connector 27">
              <a:extLst>
                <a:ext uri="{FF2B5EF4-FFF2-40B4-BE49-F238E27FC236}">
                  <a16:creationId xmlns:a16="http://schemas.microsoft.com/office/drawing/2014/main" id="{5CFA94F0-7999-694F-E89A-9E0F7656AEEC}"/>
                </a:ext>
              </a:extLst>
            </p:cNvPr>
            <p:cNvCxnSpPr/>
            <p:nvPr/>
          </p:nvCxnSpPr>
          <p:spPr>
            <a:xfrm>
              <a:off x="9405257" y="3939022"/>
              <a:ext cx="0" cy="1147955"/>
            </a:xfrm>
            <a:prstGeom prst="straightConnector1">
              <a:avLst/>
            </a:prstGeom>
            <a:ln w="76200">
              <a:solidFill>
                <a:srgbClr val="165E6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F8D43FC-843D-9050-6557-B50005810E7D}"/>
                </a:ext>
              </a:extLst>
            </p:cNvPr>
            <p:cNvSpPr txBox="1"/>
            <p:nvPr/>
          </p:nvSpPr>
          <p:spPr>
            <a:xfrm>
              <a:off x="9405257" y="4067807"/>
              <a:ext cx="972457" cy="523220"/>
            </a:xfrm>
            <a:prstGeom prst="rect">
              <a:avLst/>
            </a:prstGeom>
            <a:noFill/>
          </p:spPr>
          <p:txBody>
            <a:bodyPr wrap="square" rtlCol="0">
              <a:spAutoFit/>
            </a:bodyPr>
            <a:lstStyle/>
            <a:p>
              <a:r>
                <a:rPr lang="en-BE" sz="2800" dirty="0"/>
                <a:t>Push</a:t>
              </a:r>
            </a:p>
          </p:txBody>
        </p:sp>
      </p:grpSp>
      <p:grpSp>
        <p:nvGrpSpPr>
          <p:cNvPr id="36" name="Group 35">
            <a:extLst>
              <a:ext uri="{FF2B5EF4-FFF2-40B4-BE49-F238E27FC236}">
                <a16:creationId xmlns:a16="http://schemas.microsoft.com/office/drawing/2014/main" id="{8C0EB4EF-C2D9-0C90-5674-197010ED4DC6}"/>
              </a:ext>
            </a:extLst>
          </p:cNvPr>
          <p:cNvGrpSpPr/>
          <p:nvPr/>
        </p:nvGrpSpPr>
        <p:grpSpPr>
          <a:xfrm>
            <a:off x="10399486" y="4067807"/>
            <a:ext cx="755939" cy="1002191"/>
            <a:chOff x="10399486" y="4067807"/>
            <a:chExt cx="755939" cy="1002191"/>
          </a:xfrm>
        </p:grpSpPr>
        <p:cxnSp>
          <p:nvCxnSpPr>
            <p:cNvPr id="31" name="Straight Arrow Connector 30">
              <a:extLst>
                <a:ext uri="{FF2B5EF4-FFF2-40B4-BE49-F238E27FC236}">
                  <a16:creationId xmlns:a16="http://schemas.microsoft.com/office/drawing/2014/main" id="{031BF666-E697-F018-007E-0B9EDD585168}"/>
                </a:ext>
              </a:extLst>
            </p:cNvPr>
            <p:cNvCxnSpPr>
              <a:cxnSpLocks/>
            </p:cNvCxnSpPr>
            <p:nvPr/>
          </p:nvCxnSpPr>
          <p:spPr>
            <a:xfrm flipV="1">
              <a:off x="10399486" y="4067807"/>
              <a:ext cx="0" cy="1002191"/>
            </a:xfrm>
            <a:prstGeom prst="straightConnector1">
              <a:avLst/>
            </a:prstGeom>
            <a:ln w="76200">
              <a:solidFill>
                <a:srgbClr val="165E6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507F7911-E4B7-DDA5-7EBB-73BD13FA44E1}"/>
                </a:ext>
              </a:extLst>
            </p:cNvPr>
            <p:cNvSpPr txBox="1"/>
            <p:nvPr/>
          </p:nvSpPr>
          <p:spPr>
            <a:xfrm>
              <a:off x="10444225" y="4428528"/>
              <a:ext cx="711200" cy="461665"/>
            </a:xfrm>
            <a:prstGeom prst="rect">
              <a:avLst/>
            </a:prstGeom>
            <a:noFill/>
          </p:spPr>
          <p:txBody>
            <a:bodyPr wrap="square" rtlCol="0">
              <a:spAutoFit/>
            </a:bodyPr>
            <a:lstStyle/>
            <a:p>
              <a:r>
                <a:rPr lang="en-BE" sz="2400" dirty="0"/>
                <a:t>Pop</a:t>
              </a:r>
            </a:p>
          </p:txBody>
        </p:sp>
      </p:grpSp>
      <p:sp>
        <p:nvSpPr>
          <p:cNvPr id="34" name="Rectangle 33">
            <a:extLst>
              <a:ext uri="{FF2B5EF4-FFF2-40B4-BE49-F238E27FC236}">
                <a16:creationId xmlns:a16="http://schemas.microsoft.com/office/drawing/2014/main" id="{F159244F-51F0-5FC8-6131-D323FFD50A78}"/>
              </a:ext>
            </a:extLst>
          </p:cNvPr>
          <p:cNvSpPr/>
          <p:nvPr/>
        </p:nvSpPr>
        <p:spPr>
          <a:xfrm>
            <a:off x="1741714" y="6012661"/>
            <a:ext cx="5521287" cy="358381"/>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5" name="Rectangle 34">
            <a:extLst>
              <a:ext uri="{FF2B5EF4-FFF2-40B4-BE49-F238E27FC236}">
                <a16:creationId xmlns:a16="http://schemas.microsoft.com/office/drawing/2014/main" id="{77BE238C-AD24-69E0-AC8F-E78673B04138}"/>
              </a:ext>
            </a:extLst>
          </p:cNvPr>
          <p:cNvSpPr/>
          <p:nvPr/>
        </p:nvSpPr>
        <p:spPr>
          <a:xfrm>
            <a:off x="1734457" y="6339675"/>
            <a:ext cx="5521287" cy="295955"/>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5" name="TextBox 4">
            <a:extLst>
              <a:ext uri="{FF2B5EF4-FFF2-40B4-BE49-F238E27FC236}">
                <a16:creationId xmlns:a16="http://schemas.microsoft.com/office/drawing/2014/main" id="{D0F0BBB1-C4B9-9C61-C301-6E7DA24360C8}"/>
              </a:ext>
            </a:extLst>
          </p:cNvPr>
          <p:cNvSpPr txBox="1"/>
          <p:nvPr/>
        </p:nvSpPr>
        <p:spPr>
          <a:xfrm>
            <a:off x="7570644" y="843448"/>
            <a:ext cx="4470936" cy="1184940"/>
          </a:xfrm>
          <a:prstGeom prst="rect">
            <a:avLst/>
          </a:prstGeom>
          <a:noFill/>
          <a:ln w="28575">
            <a:solidFill>
              <a:srgbClr val="C00000"/>
            </a:solidFill>
          </a:ln>
        </p:spPr>
        <p:txBody>
          <a:bodyPr wrap="square" rtlCol="0">
            <a:spAutoFit/>
          </a:bodyPr>
          <a:lstStyle/>
          <a:p>
            <a:r>
              <a:rPr lang="en-US" sz="1500" b="1" dirty="0"/>
              <a:t>Test Fixtures</a:t>
            </a:r>
            <a:r>
              <a:rPr lang="en-US" sz="1500" dirty="0"/>
              <a:t>: Specify initial state of the of the testcase.</a:t>
            </a:r>
          </a:p>
          <a:p>
            <a:pPr marL="285750" indent="-285750">
              <a:buFont typeface="Arial" panose="020B0604020202020204" pitchFamily="34" charset="0"/>
              <a:buChar char="•"/>
            </a:pPr>
            <a:r>
              <a:rPr lang="en-GB" sz="1400" b="1" dirty="0" err="1">
                <a:solidFill>
                  <a:srgbClr val="1F1F1F"/>
                </a:solidFill>
                <a:latin typeface="Source Sans Pro" panose="020B0503030403020204" pitchFamily="34" charset="0"/>
              </a:rPr>
              <a:t>setUp</a:t>
            </a:r>
            <a:r>
              <a:rPr lang="en-GB" sz="1400" b="1" dirty="0">
                <a:solidFill>
                  <a:srgbClr val="1F1F1F"/>
                </a:solidFill>
                <a:latin typeface="Source Sans Pro" panose="020B0503030403020204" pitchFamily="34" charset="0"/>
              </a:rPr>
              <a:t>() </a:t>
            </a:r>
            <a:r>
              <a:rPr lang="en-GB" sz="1400" dirty="0">
                <a:solidFill>
                  <a:srgbClr val="1F1F1F"/>
                </a:solidFill>
                <a:latin typeface="Source Sans Pro" panose="020B0503030403020204" pitchFamily="34" charset="0"/>
              </a:rPr>
              <a:t>is declaring an instance variable called </a:t>
            </a:r>
            <a:r>
              <a:rPr lang="en-GB" sz="1400" b="1" dirty="0" err="1">
                <a:solidFill>
                  <a:srgbClr val="1F1F1F"/>
                </a:solidFill>
                <a:latin typeface="Source Sans Pro" panose="020B0503030403020204" pitchFamily="34" charset="0"/>
              </a:rPr>
              <a:t>self.stack</a:t>
            </a:r>
            <a:r>
              <a:rPr lang="en-GB" sz="1400" b="1" dirty="0">
                <a:solidFill>
                  <a:srgbClr val="1F1F1F"/>
                </a:solidFill>
                <a:latin typeface="Source Sans Pro" panose="020B0503030403020204" pitchFamily="34" charset="0"/>
              </a:rPr>
              <a:t> </a:t>
            </a:r>
            <a:r>
              <a:rPr lang="en-GB" sz="1400" dirty="0">
                <a:solidFill>
                  <a:srgbClr val="1F1F1F"/>
                </a:solidFill>
                <a:latin typeface="Source Sans Pro" panose="020B0503030403020204" pitchFamily="34" charset="0"/>
              </a:rPr>
              <a:t>and assigning it to a new Stack.</a:t>
            </a:r>
          </a:p>
          <a:p>
            <a:pPr marL="285750" indent="-285750">
              <a:buFont typeface="Arial" panose="020B0604020202020204" pitchFamily="34" charset="0"/>
              <a:buChar char="•"/>
            </a:pPr>
            <a:r>
              <a:rPr lang="en-GB" sz="1400" b="1" dirty="0" err="1">
                <a:solidFill>
                  <a:srgbClr val="1F1F1F"/>
                </a:solidFill>
                <a:latin typeface="Source Sans Pro" panose="020B0503030403020204" pitchFamily="34" charset="0"/>
              </a:rPr>
              <a:t>tearDown</a:t>
            </a:r>
            <a:r>
              <a:rPr lang="en-GB" sz="1400" b="1" dirty="0">
                <a:solidFill>
                  <a:srgbClr val="1F1F1F"/>
                </a:solidFill>
                <a:latin typeface="Source Sans Pro" panose="020B0503030403020204" pitchFamily="34" charset="0"/>
              </a:rPr>
              <a:t>() </a:t>
            </a:r>
            <a:r>
              <a:rPr lang="en-GB" sz="1400" dirty="0">
                <a:solidFill>
                  <a:srgbClr val="1F1F1F"/>
                </a:solidFill>
                <a:latin typeface="Source Sans Pro" panose="020B0503030403020204" pitchFamily="34" charset="0"/>
              </a:rPr>
              <a:t>is setting </a:t>
            </a:r>
            <a:r>
              <a:rPr lang="en-GB" sz="1400" b="1" dirty="0" err="1">
                <a:solidFill>
                  <a:srgbClr val="1F1F1F"/>
                </a:solidFill>
                <a:latin typeface="Source Sans Pro" panose="020B0503030403020204" pitchFamily="34" charset="0"/>
              </a:rPr>
              <a:t>self.stack</a:t>
            </a:r>
            <a:r>
              <a:rPr lang="en-GB" sz="1400" b="1" dirty="0">
                <a:solidFill>
                  <a:srgbClr val="1F1F1F"/>
                </a:solidFill>
                <a:latin typeface="Source Sans Pro" panose="020B0503030403020204" pitchFamily="34" charset="0"/>
              </a:rPr>
              <a:t> </a:t>
            </a:r>
            <a:r>
              <a:rPr lang="en-GB" sz="1400" dirty="0">
                <a:solidFill>
                  <a:srgbClr val="1F1F1F"/>
                </a:solidFill>
                <a:latin typeface="Source Sans Pro" panose="020B0503030403020204" pitchFamily="34" charset="0"/>
              </a:rPr>
              <a:t>to None to make sure that it doesn’t get reused</a:t>
            </a:r>
          </a:p>
        </p:txBody>
      </p:sp>
    </p:spTree>
    <p:extLst>
      <p:ext uri="{BB962C8B-B14F-4D97-AF65-F5344CB8AC3E}">
        <p14:creationId xmlns:p14="http://schemas.microsoft.com/office/powerpoint/2010/main" val="317722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02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9" presetClass="exit" presetSubtype="0" fill="hold" grpId="2" nodeType="clickEffect">
                                  <p:stCondLst>
                                    <p:cond delay="0"/>
                                  </p:stCondLst>
                                  <p:childTnLst>
                                    <p:animEffect transition="out" filter="dissolve">
                                      <p:cBhvr>
                                        <p:cTn id="27" dur="500"/>
                                        <p:tgtEl>
                                          <p:spTgt spid="9"/>
                                        </p:tgtEl>
                                      </p:cBhvr>
                                    </p:animEffect>
                                    <p:set>
                                      <p:cBhvr>
                                        <p:cTn id="28" dur="1" fill="hold">
                                          <p:stCondLst>
                                            <p:cond delay="499"/>
                                          </p:stCondLst>
                                        </p:cTn>
                                        <p:tgtEl>
                                          <p:spTgt spid="9"/>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9" presetClass="entr" presetSubtype="0" fill="hold" grpId="0" nodeType="with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dissolve">
                                      <p:cBhvr>
                                        <p:cTn id="33" dur="500"/>
                                        <p:tgtEl>
                                          <p:spTgt spid="3"/>
                                        </p:tgtEl>
                                      </p:cBhvr>
                                    </p:animEffect>
                                  </p:childTnLst>
                                </p:cTn>
                              </p:par>
                              <p:par>
                                <p:cTn id="34" presetID="9" presetClass="entr" presetSubtype="0" fill="hold" nodeType="with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dissolve">
                                      <p:cBhvr>
                                        <p:cTn id="36" dur="500"/>
                                        <p:tgtEl>
                                          <p:spTgt spid="30"/>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xit" presetSubtype="0" fill="hold" nodeType="clickEffect">
                                  <p:stCondLst>
                                    <p:cond delay="0"/>
                                  </p:stCondLst>
                                  <p:childTnLst>
                                    <p:animEffect transition="out" filter="dissolve">
                                      <p:cBhvr>
                                        <p:cTn id="40" dur="500"/>
                                        <p:tgtEl>
                                          <p:spTgt spid="30"/>
                                        </p:tgtEl>
                                      </p:cBhvr>
                                    </p:animEffect>
                                    <p:set>
                                      <p:cBhvr>
                                        <p:cTn id="41" dur="1" fill="hold">
                                          <p:stCondLst>
                                            <p:cond delay="499"/>
                                          </p:stCondLst>
                                        </p:cTn>
                                        <p:tgtEl>
                                          <p:spTgt spid="30"/>
                                        </p:tgtEl>
                                        <p:attrNameLst>
                                          <p:attrName>style.visibility</p:attrName>
                                        </p:attrNameLst>
                                      </p:cBhvr>
                                      <p:to>
                                        <p:strVal val="hidden"/>
                                      </p:to>
                                    </p:set>
                                  </p:childTnLst>
                                </p:cTn>
                              </p:par>
                              <p:par>
                                <p:cTn id="42" presetID="9" presetClass="exit" presetSubtype="0" fill="hold" grpId="1" nodeType="withEffect">
                                  <p:stCondLst>
                                    <p:cond delay="0"/>
                                  </p:stCondLst>
                                  <p:childTnLst>
                                    <p:animEffect transition="out" filter="dissolve">
                                      <p:cBhvr>
                                        <p:cTn id="43" dur="500"/>
                                        <p:tgtEl>
                                          <p:spTgt spid="10"/>
                                        </p:tgtEl>
                                      </p:cBhvr>
                                    </p:animEffect>
                                    <p:set>
                                      <p:cBhvr>
                                        <p:cTn id="44" dur="1" fill="hold">
                                          <p:stCondLst>
                                            <p:cond delay="499"/>
                                          </p:stCondLst>
                                        </p:cTn>
                                        <p:tgtEl>
                                          <p:spTgt spid="10"/>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par>
                                <p:cTn id="47" presetID="9" presetClass="entr" presetSubtype="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dissolve">
                                      <p:cBhvr>
                                        <p:cTn id="49" dur="500"/>
                                        <p:tgtEl>
                                          <p:spTgt spid="16"/>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xit" presetSubtype="0" fill="hold" grpId="1" nodeType="clickEffect">
                                  <p:stCondLst>
                                    <p:cond delay="0"/>
                                  </p:stCondLst>
                                  <p:childTnLst>
                                    <p:animEffect transition="out" filter="dissolve">
                                      <p:cBhvr>
                                        <p:cTn id="53" dur="500"/>
                                        <p:tgtEl>
                                          <p:spTgt spid="15"/>
                                        </p:tgtEl>
                                      </p:cBhvr>
                                    </p:animEffect>
                                    <p:set>
                                      <p:cBhvr>
                                        <p:cTn id="54" dur="1" fill="hold">
                                          <p:stCondLst>
                                            <p:cond delay="499"/>
                                          </p:stCondLst>
                                        </p:cTn>
                                        <p:tgtEl>
                                          <p:spTgt spid="15"/>
                                        </p:tgtEl>
                                        <p:attrNameLst>
                                          <p:attrName>style.visibility</p:attrName>
                                        </p:attrNameLst>
                                      </p:cBhvr>
                                      <p:to>
                                        <p:strVal val="hidden"/>
                                      </p:to>
                                    </p:set>
                                  </p:childTnLst>
                                </p:cTn>
                              </p:par>
                              <p:par>
                                <p:cTn id="55" presetID="9" presetClass="exit" presetSubtype="0" fill="hold" nodeType="withEffect">
                                  <p:stCondLst>
                                    <p:cond delay="0"/>
                                  </p:stCondLst>
                                  <p:childTnLst>
                                    <p:animEffect transition="out" filter="dissolve">
                                      <p:cBhvr>
                                        <p:cTn id="56" dur="500"/>
                                        <p:tgtEl>
                                          <p:spTgt spid="16"/>
                                        </p:tgtEl>
                                      </p:cBhvr>
                                    </p:animEffect>
                                    <p:set>
                                      <p:cBhvr>
                                        <p:cTn id="57" dur="1" fill="hold">
                                          <p:stCondLst>
                                            <p:cond delay="499"/>
                                          </p:stCondLst>
                                        </p:cTn>
                                        <p:tgtEl>
                                          <p:spTgt spid="16"/>
                                        </p:tgtEl>
                                        <p:attrNameLst>
                                          <p:attrName>style.visibility</p:attrName>
                                        </p:attrNameLst>
                                      </p:cBhvr>
                                      <p:to>
                                        <p:strVal val="hidden"/>
                                      </p:to>
                                    </p:set>
                                  </p:childTnLst>
                                </p:cTn>
                              </p:par>
                              <p:par>
                                <p:cTn id="58" presetID="1" presetClass="entr" presetSubtype="0" fill="hold" grpId="0" nodeType="withEffect">
                                  <p:stCondLst>
                                    <p:cond delay="0"/>
                                  </p:stCondLst>
                                  <p:childTnLst>
                                    <p:set>
                                      <p:cBhvr>
                                        <p:cTn id="59" dur="1" fill="hold">
                                          <p:stCondLst>
                                            <p:cond delay="0"/>
                                          </p:stCondLst>
                                        </p:cTn>
                                        <p:tgtEl>
                                          <p:spTgt spid="17"/>
                                        </p:tgtEl>
                                        <p:attrNameLst>
                                          <p:attrName>style.visibility</p:attrName>
                                        </p:attrNameLst>
                                      </p:cBhvr>
                                      <p:to>
                                        <p:strVal val="visible"/>
                                      </p:to>
                                    </p:set>
                                  </p:childTnLst>
                                </p:cTn>
                              </p:par>
                              <p:par>
                                <p:cTn id="60" presetID="9" presetClass="exit" presetSubtype="0" fill="hold" nodeType="withEffect">
                                  <p:stCondLst>
                                    <p:cond delay="0"/>
                                  </p:stCondLst>
                                  <p:childTnLst>
                                    <p:animEffect transition="out" filter="dissolve">
                                      <p:cBhvr>
                                        <p:cTn id="61" dur="500"/>
                                        <p:tgtEl>
                                          <p:spTgt spid="1028"/>
                                        </p:tgtEl>
                                      </p:cBhvr>
                                    </p:animEffect>
                                    <p:set>
                                      <p:cBhvr>
                                        <p:cTn id="62" dur="1" fill="hold">
                                          <p:stCondLst>
                                            <p:cond delay="499"/>
                                          </p:stCondLst>
                                        </p:cTn>
                                        <p:tgtEl>
                                          <p:spTgt spid="1028"/>
                                        </p:tgtEl>
                                        <p:attrNameLst>
                                          <p:attrName>style.visibility</p:attrName>
                                        </p:attrNameLst>
                                      </p:cBhvr>
                                      <p:to>
                                        <p:strVal val="hidden"/>
                                      </p:to>
                                    </p:set>
                                  </p:childTnLst>
                                </p:cTn>
                              </p:par>
                              <p:par>
                                <p:cTn id="63" presetID="9" presetClass="exit" presetSubtype="0" fill="hold" grpId="1" nodeType="withEffect">
                                  <p:stCondLst>
                                    <p:cond delay="0"/>
                                  </p:stCondLst>
                                  <p:childTnLst>
                                    <p:animEffect transition="out" filter="dissolve">
                                      <p:cBhvr>
                                        <p:cTn id="64" dur="500"/>
                                        <p:tgtEl>
                                          <p:spTgt spid="3"/>
                                        </p:tgtEl>
                                      </p:cBhvr>
                                    </p:animEffect>
                                    <p:set>
                                      <p:cBhvr>
                                        <p:cTn id="65" dur="1" fill="hold">
                                          <p:stCondLst>
                                            <p:cond delay="499"/>
                                          </p:stCondLst>
                                        </p:cTn>
                                        <p:tgtEl>
                                          <p:spTgt spid="3"/>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9" presetClass="exit" presetSubtype="0" fill="hold" grpId="2" nodeType="clickEffect">
                                  <p:stCondLst>
                                    <p:cond delay="0"/>
                                  </p:stCondLst>
                                  <p:childTnLst>
                                    <p:animEffect transition="out" filter="dissolve">
                                      <p:cBhvr>
                                        <p:cTn id="69" dur="500"/>
                                        <p:tgtEl>
                                          <p:spTgt spid="17"/>
                                        </p:tgtEl>
                                      </p:cBhvr>
                                    </p:animEffect>
                                    <p:set>
                                      <p:cBhvr>
                                        <p:cTn id="70" dur="1" fill="hold">
                                          <p:stCondLst>
                                            <p:cond delay="499"/>
                                          </p:stCondLst>
                                        </p:cTn>
                                        <p:tgtEl>
                                          <p:spTgt spid="17"/>
                                        </p:tgtEl>
                                        <p:attrNameLst>
                                          <p:attrName>style.visibility</p:attrName>
                                        </p:attrNameLst>
                                      </p:cBhvr>
                                      <p:to>
                                        <p:strVal val="hidden"/>
                                      </p:to>
                                    </p:set>
                                  </p:childTnLst>
                                </p:cTn>
                              </p:par>
                              <p:par>
                                <p:cTn id="71" presetID="1" presetClass="entr" presetSubtype="0" fill="hold" nodeType="withEffect">
                                  <p:stCondLst>
                                    <p:cond delay="0"/>
                                  </p:stCondLst>
                                  <p:childTnLst>
                                    <p:set>
                                      <p:cBhvr>
                                        <p:cTn id="72" dur="1" fill="hold">
                                          <p:stCondLst>
                                            <p:cond delay="0"/>
                                          </p:stCondLst>
                                        </p:cTn>
                                        <p:tgtEl>
                                          <p:spTgt spid="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1" nodeType="clickEffect">
                                  <p:stCondLst>
                                    <p:cond delay="0"/>
                                  </p:stCondLst>
                                  <p:childTnLst>
                                    <p:set>
                                      <p:cBhvr>
                                        <p:cTn id="76" dur="1" fill="hold">
                                          <p:stCondLst>
                                            <p:cond delay="0"/>
                                          </p:stCondLst>
                                        </p:cTn>
                                        <p:tgtEl>
                                          <p:spTgt spid="9"/>
                                        </p:tgtEl>
                                        <p:attrNameLst>
                                          <p:attrName>style.visibility</p:attrName>
                                        </p:attrNameLst>
                                      </p:cBhvr>
                                      <p:to>
                                        <p:strVal val="visible"/>
                                      </p:to>
                                    </p:set>
                                  </p:childTnLst>
                                </p:cTn>
                              </p:par>
                              <p:par>
                                <p:cTn id="77" presetID="9" presetClass="entr" presetSubtype="0" fill="hold" nodeType="withEffect">
                                  <p:stCondLst>
                                    <p:cond delay="0"/>
                                  </p:stCondLst>
                                  <p:childTnLst>
                                    <p:set>
                                      <p:cBhvr>
                                        <p:cTn id="78" dur="1" fill="hold">
                                          <p:stCondLst>
                                            <p:cond delay="0"/>
                                          </p:stCondLst>
                                        </p:cTn>
                                        <p:tgtEl>
                                          <p:spTgt spid="1028"/>
                                        </p:tgtEl>
                                        <p:attrNameLst>
                                          <p:attrName>style.visibility</p:attrName>
                                        </p:attrNameLst>
                                      </p:cBhvr>
                                      <p:to>
                                        <p:strVal val="visible"/>
                                      </p:to>
                                    </p:set>
                                    <p:animEffect transition="in" filter="dissolve">
                                      <p:cBhvr>
                                        <p:cTn id="79" dur="500"/>
                                        <p:tgtEl>
                                          <p:spTgt spid="1028"/>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xit" presetSubtype="0" fill="hold" grpId="3" nodeType="clickEffect">
                                  <p:stCondLst>
                                    <p:cond delay="0"/>
                                  </p:stCondLst>
                                  <p:childTnLst>
                                    <p:animEffect transition="out" filter="dissolve">
                                      <p:cBhvr>
                                        <p:cTn id="83" dur="500"/>
                                        <p:tgtEl>
                                          <p:spTgt spid="9"/>
                                        </p:tgtEl>
                                      </p:cBhvr>
                                    </p:animEffect>
                                    <p:set>
                                      <p:cBhvr>
                                        <p:cTn id="84" dur="1" fill="hold">
                                          <p:stCondLst>
                                            <p:cond delay="499"/>
                                          </p:stCondLst>
                                        </p:cTn>
                                        <p:tgtEl>
                                          <p:spTgt spid="9"/>
                                        </p:tgtEl>
                                        <p:attrNameLst>
                                          <p:attrName>style.visibility</p:attrName>
                                        </p:attrNameLst>
                                      </p:cBhvr>
                                      <p:to>
                                        <p:strVal val="hidden"/>
                                      </p:to>
                                    </p:set>
                                  </p:childTnLst>
                                </p:cTn>
                              </p:par>
                              <p:par>
                                <p:cTn id="85" presetID="1" presetClass="entr" presetSubtype="0" fill="hold" grpId="0" nodeType="withEffect">
                                  <p:stCondLst>
                                    <p:cond delay="0"/>
                                  </p:stCondLst>
                                  <p:childTnLst>
                                    <p:set>
                                      <p:cBhvr>
                                        <p:cTn id="86" dur="1" fill="hold">
                                          <p:stCondLst>
                                            <p:cond delay="0"/>
                                          </p:stCondLst>
                                        </p:cTn>
                                        <p:tgtEl>
                                          <p:spTgt spid="20"/>
                                        </p:tgtEl>
                                        <p:attrNameLst>
                                          <p:attrName>style.visibility</p:attrName>
                                        </p:attrNameLst>
                                      </p:cBhvr>
                                      <p:to>
                                        <p:strVal val="visible"/>
                                      </p:to>
                                    </p:set>
                                  </p:childTnLst>
                                </p:cTn>
                              </p:par>
                              <p:par>
                                <p:cTn id="87" presetID="9" presetClass="entr" presetSubtype="0" fill="hold"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dissolve">
                                      <p:cBhvr>
                                        <p:cTn id="89" dur="500"/>
                                        <p:tgtEl>
                                          <p:spTgt spid="30"/>
                                        </p:tgtEl>
                                      </p:cBhvr>
                                    </p:animEffect>
                                  </p:childTnLst>
                                </p:cTn>
                              </p:par>
                              <p:par>
                                <p:cTn id="90" presetID="9" presetClass="entr" presetSubtype="0" fill="hold" grpId="2" nodeType="withEffect">
                                  <p:stCondLst>
                                    <p:cond delay="0"/>
                                  </p:stCondLst>
                                  <p:childTnLst>
                                    <p:set>
                                      <p:cBhvr>
                                        <p:cTn id="91" dur="1" fill="hold">
                                          <p:stCondLst>
                                            <p:cond delay="0"/>
                                          </p:stCondLst>
                                        </p:cTn>
                                        <p:tgtEl>
                                          <p:spTgt spid="3"/>
                                        </p:tgtEl>
                                        <p:attrNameLst>
                                          <p:attrName>style.visibility</p:attrName>
                                        </p:attrNameLst>
                                      </p:cBhvr>
                                      <p:to>
                                        <p:strVal val="visible"/>
                                      </p:to>
                                    </p:set>
                                    <p:animEffect transition="in" filter="dissolve">
                                      <p:cBhvr>
                                        <p:cTn id="92" dur="500"/>
                                        <p:tgtEl>
                                          <p:spTgt spid="3"/>
                                        </p:tgtEl>
                                      </p:cBhvr>
                                    </p:animEffect>
                                  </p:childTnLst>
                                </p:cTn>
                              </p:par>
                            </p:childTnLst>
                          </p:cTn>
                        </p:par>
                      </p:childTnLst>
                    </p:cTn>
                  </p:par>
                  <p:par>
                    <p:cTn id="93" fill="hold">
                      <p:stCondLst>
                        <p:cond delay="indefinite"/>
                      </p:stCondLst>
                      <p:childTnLst>
                        <p:par>
                          <p:cTn id="94" fill="hold">
                            <p:stCondLst>
                              <p:cond delay="0"/>
                            </p:stCondLst>
                            <p:childTnLst>
                              <p:par>
                                <p:cTn id="95" presetID="9" presetClass="exit" presetSubtype="0" fill="hold" grpId="1" nodeType="clickEffect">
                                  <p:stCondLst>
                                    <p:cond delay="0"/>
                                  </p:stCondLst>
                                  <p:childTnLst>
                                    <p:animEffect transition="out" filter="dissolve">
                                      <p:cBhvr>
                                        <p:cTn id="96" dur="500"/>
                                        <p:tgtEl>
                                          <p:spTgt spid="20"/>
                                        </p:tgtEl>
                                      </p:cBhvr>
                                    </p:animEffect>
                                    <p:set>
                                      <p:cBhvr>
                                        <p:cTn id="97" dur="1" fill="hold">
                                          <p:stCondLst>
                                            <p:cond delay="499"/>
                                          </p:stCondLst>
                                        </p:cTn>
                                        <p:tgtEl>
                                          <p:spTgt spid="20"/>
                                        </p:tgtEl>
                                        <p:attrNameLst>
                                          <p:attrName>style.visibility</p:attrName>
                                        </p:attrNameLst>
                                      </p:cBhvr>
                                      <p:to>
                                        <p:strVal val="hidden"/>
                                      </p:to>
                                    </p:set>
                                  </p:childTnLst>
                                </p:cTn>
                              </p:par>
                              <p:par>
                                <p:cTn id="98" presetID="9" presetClass="exit" presetSubtype="0" fill="hold" nodeType="withEffect">
                                  <p:stCondLst>
                                    <p:cond delay="0"/>
                                  </p:stCondLst>
                                  <p:childTnLst>
                                    <p:animEffect transition="out" filter="dissolve">
                                      <p:cBhvr>
                                        <p:cTn id="99" dur="500"/>
                                        <p:tgtEl>
                                          <p:spTgt spid="30"/>
                                        </p:tgtEl>
                                      </p:cBhvr>
                                    </p:animEffect>
                                    <p:set>
                                      <p:cBhvr>
                                        <p:cTn id="100" dur="1" fill="hold">
                                          <p:stCondLst>
                                            <p:cond delay="499"/>
                                          </p:stCondLst>
                                        </p:cTn>
                                        <p:tgtEl>
                                          <p:spTgt spid="30"/>
                                        </p:tgtEl>
                                        <p:attrNameLst>
                                          <p:attrName>style.visibility</p:attrName>
                                        </p:attrNameLst>
                                      </p:cBhvr>
                                      <p:to>
                                        <p:strVal val="hidden"/>
                                      </p:to>
                                    </p:set>
                                  </p:childTnLst>
                                </p:cTn>
                              </p:par>
                              <p:par>
                                <p:cTn id="101" presetID="1" presetClass="entr" presetSubtype="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36"/>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9" presetClass="exit" presetSubtype="0" fill="hold" nodeType="clickEffect">
                                  <p:stCondLst>
                                    <p:cond delay="0"/>
                                  </p:stCondLst>
                                  <p:childTnLst>
                                    <p:animEffect transition="out" filter="dissolve">
                                      <p:cBhvr>
                                        <p:cTn id="108" dur="500"/>
                                        <p:tgtEl>
                                          <p:spTgt spid="36"/>
                                        </p:tgtEl>
                                      </p:cBhvr>
                                    </p:animEffect>
                                    <p:set>
                                      <p:cBhvr>
                                        <p:cTn id="109" dur="1" fill="hold">
                                          <p:stCondLst>
                                            <p:cond delay="499"/>
                                          </p:stCondLst>
                                        </p:cTn>
                                        <p:tgtEl>
                                          <p:spTgt spid="36"/>
                                        </p:tgtEl>
                                        <p:attrNameLst>
                                          <p:attrName>style.visibility</p:attrName>
                                        </p:attrNameLst>
                                      </p:cBhvr>
                                      <p:to>
                                        <p:strVal val="hidden"/>
                                      </p:to>
                                    </p:set>
                                  </p:childTnLst>
                                </p:cTn>
                              </p:par>
                              <p:par>
                                <p:cTn id="110" presetID="9" presetClass="exit" presetSubtype="0" fill="hold" grpId="3" nodeType="withEffect">
                                  <p:stCondLst>
                                    <p:cond delay="0"/>
                                  </p:stCondLst>
                                  <p:childTnLst>
                                    <p:animEffect transition="out" filter="dissolve">
                                      <p:cBhvr>
                                        <p:cTn id="111" dur="500"/>
                                        <p:tgtEl>
                                          <p:spTgt spid="3"/>
                                        </p:tgtEl>
                                      </p:cBhvr>
                                    </p:animEffect>
                                    <p:set>
                                      <p:cBhvr>
                                        <p:cTn id="112" dur="1" fill="hold">
                                          <p:stCondLst>
                                            <p:cond delay="499"/>
                                          </p:stCondLst>
                                        </p:cTn>
                                        <p:tgtEl>
                                          <p:spTgt spid="3"/>
                                        </p:tgtEl>
                                        <p:attrNameLst>
                                          <p:attrName>style.visibility</p:attrName>
                                        </p:attrNameLst>
                                      </p:cBhvr>
                                      <p:to>
                                        <p:strVal val="hidden"/>
                                      </p:to>
                                    </p:set>
                                  </p:childTnLst>
                                </p:cTn>
                              </p:par>
                              <p:par>
                                <p:cTn id="113" presetID="9" presetClass="exit" presetSubtype="0" fill="hold" grpId="1" nodeType="withEffect">
                                  <p:stCondLst>
                                    <p:cond delay="0"/>
                                  </p:stCondLst>
                                  <p:childTnLst>
                                    <p:animEffect transition="out" filter="dissolve">
                                      <p:cBhvr>
                                        <p:cTn id="114" dur="500"/>
                                        <p:tgtEl>
                                          <p:spTgt spid="34"/>
                                        </p:tgtEl>
                                      </p:cBhvr>
                                    </p:animEffect>
                                    <p:set>
                                      <p:cBhvr>
                                        <p:cTn id="115" dur="1" fill="hold">
                                          <p:stCondLst>
                                            <p:cond delay="499"/>
                                          </p:stCondLst>
                                        </p:cTn>
                                        <p:tgtEl>
                                          <p:spTgt spid="34"/>
                                        </p:tgtEl>
                                        <p:attrNameLst>
                                          <p:attrName>style.visibility</p:attrName>
                                        </p:attrNameLst>
                                      </p:cBhvr>
                                      <p:to>
                                        <p:strVal val="hidden"/>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35"/>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9" presetClass="exit" presetSubtype="0" fill="hold" grpId="1" nodeType="clickEffect">
                                  <p:stCondLst>
                                    <p:cond delay="0"/>
                                  </p:stCondLst>
                                  <p:childTnLst>
                                    <p:animEffect transition="out" filter="dissolve">
                                      <p:cBhvr>
                                        <p:cTn id="123" dur="500"/>
                                        <p:tgtEl>
                                          <p:spTgt spid="35"/>
                                        </p:tgtEl>
                                      </p:cBhvr>
                                    </p:animEffect>
                                    <p:set>
                                      <p:cBhvr>
                                        <p:cTn id="124" dur="1" fill="hold">
                                          <p:stCondLst>
                                            <p:cond delay="499"/>
                                          </p:stCondLst>
                                        </p:cTn>
                                        <p:tgtEl>
                                          <p:spTgt spid="35"/>
                                        </p:tgtEl>
                                        <p:attrNameLst>
                                          <p:attrName>style.visibility</p:attrName>
                                        </p:attrNameLst>
                                      </p:cBhvr>
                                      <p:to>
                                        <p:strVal val="hidden"/>
                                      </p:to>
                                    </p:set>
                                  </p:childTnLst>
                                </p:cTn>
                              </p:par>
                              <p:par>
                                <p:cTn id="125" presetID="1" presetClass="entr" presetSubtype="0" fill="hold" grpId="1" nodeType="withEffect">
                                  <p:stCondLst>
                                    <p:cond delay="0"/>
                                  </p:stCondLst>
                                  <p:childTnLst>
                                    <p:set>
                                      <p:cBhvr>
                                        <p:cTn id="126" dur="1" fill="hold">
                                          <p:stCondLst>
                                            <p:cond delay="0"/>
                                          </p:stCondLst>
                                        </p:cTn>
                                        <p:tgtEl>
                                          <p:spTgt spid="17"/>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9" presetClass="exit" presetSubtype="0" fill="hold" nodeType="clickEffect">
                                  <p:stCondLst>
                                    <p:cond delay="0"/>
                                  </p:stCondLst>
                                  <p:childTnLst>
                                    <p:animEffect transition="out" filter="dissolve">
                                      <p:cBhvr>
                                        <p:cTn id="130" dur="500"/>
                                        <p:tgtEl>
                                          <p:spTgt spid="1028"/>
                                        </p:tgtEl>
                                      </p:cBhvr>
                                    </p:animEffect>
                                    <p:set>
                                      <p:cBhvr>
                                        <p:cTn id="131" dur="1" fill="hold">
                                          <p:stCondLst>
                                            <p:cond delay="499"/>
                                          </p:stCondLst>
                                        </p:cTn>
                                        <p:tgtEl>
                                          <p:spTgt spid="1028"/>
                                        </p:tgtEl>
                                        <p:attrNameLst>
                                          <p:attrName>style.visibility</p:attrName>
                                        </p:attrNameLst>
                                      </p:cBhvr>
                                      <p:to>
                                        <p:strVal val="hidden"/>
                                      </p:to>
                                    </p:set>
                                  </p:childTnLst>
                                </p:cTn>
                              </p:par>
                            </p:childTnLst>
                          </p:cTn>
                        </p:par>
                      </p:childTnLst>
                    </p:cTn>
                  </p:par>
                  <p:par>
                    <p:cTn id="132" fill="hold">
                      <p:stCondLst>
                        <p:cond delay="indefinite"/>
                      </p:stCondLst>
                      <p:childTnLst>
                        <p:par>
                          <p:cTn id="133" fill="hold">
                            <p:stCondLst>
                              <p:cond delay="0"/>
                            </p:stCondLst>
                            <p:childTnLst>
                              <p:par>
                                <p:cTn id="134" presetID="9" presetClass="exit" presetSubtype="0" fill="hold" grpId="3" nodeType="clickEffect">
                                  <p:stCondLst>
                                    <p:cond delay="0"/>
                                  </p:stCondLst>
                                  <p:childTnLst>
                                    <p:animEffect transition="out" filter="dissolve">
                                      <p:cBhvr>
                                        <p:cTn id="135" dur="500"/>
                                        <p:tgtEl>
                                          <p:spTgt spid="17"/>
                                        </p:tgtEl>
                                      </p:cBhvr>
                                    </p:animEffect>
                                    <p:set>
                                      <p:cBhvr>
                                        <p:cTn id="136"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P spid="3" grpId="3" animBg="1"/>
      <p:bldP spid="9" grpId="0" animBg="1"/>
      <p:bldP spid="9" grpId="1" animBg="1"/>
      <p:bldP spid="9" grpId="2" animBg="1"/>
      <p:bldP spid="9" grpId="3" animBg="1"/>
      <p:bldP spid="10" grpId="0" animBg="1"/>
      <p:bldP spid="10" grpId="1" animBg="1"/>
      <p:bldP spid="15" grpId="0" animBg="1"/>
      <p:bldP spid="15" grpId="1" animBg="1"/>
      <p:bldP spid="17" grpId="0" animBg="1"/>
      <p:bldP spid="17" grpId="1" animBg="1"/>
      <p:bldP spid="17" grpId="2" animBg="1"/>
      <p:bldP spid="17" grpId="3" animBg="1"/>
      <p:bldP spid="20" grpId="0" animBg="1"/>
      <p:bldP spid="20" grpId="1" animBg="1"/>
      <p:bldP spid="34" grpId="0" animBg="1"/>
      <p:bldP spid="34" grpId="1" animBg="1"/>
      <p:bldP spid="35" grpId="0" animBg="1"/>
      <p:bldP spid="35" grpId="1" animBg="1"/>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a:extLst>
              <a:ext uri="{FF2B5EF4-FFF2-40B4-BE49-F238E27FC236}">
                <a16:creationId xmlns:a16="http://schemas.microsoft.com/office/drawing/2014/main" id="{7702E09B-DC3D-4D73-8411-D94FCE31551E}"/>
              </a:ext>
            </a:extLst>
          </p:cNvPr>
          <p:cNvSpPr>
            <a:spLocks noGrp="1"/>
          </p:cNvSpPr>
          <p:nvPr/>
        </p:nvSpPr>
        <p:spPr>
          <a:xfrm>
            <a:off x="685800" y="400050"/>
            <a:ext cx="10820400" cy="609600"/>
          </a:xfrm>
          <a:prstGeom prst="rect">
            <a:avLst/>
          </a:prstGeom>
          <a:noFill/>
          <a:ln w="0">
            <a:noFill/>
            <a:prstDash val="solid"/>
          </a:ln>
        </p:spPr>
        <p:txBody>
          <a:bodyPr anchor="ctr"/>
          <a:lstStyle/>
          <a:p>
            <a:pPr algn="l">
              <a:defRPr sz="3075" b="0">
                <a:solidFill>
                  <a:srgbClr val="111111"/>
                </a:solidFill>
              </a:defRPr>
            </a:pPr>
            <a:r>
              <a:rPr sz="3075" b="0">
                <a:solidFill>
                  <a:srgbClr val="111111"/>
                </a:solidFill>
              </a:rPr>
              <a:t>A good test name explains the behavior being verified</a:t>
            </a:r>
          </a:p>
        </p:txBody>
      </p:sp>
      <p:sp>
        <p:nvSpPr>
          <p:cNvPr id="2" name="title-rule">
            <a:extLst>
              <a:ext uri="{FF2B5EF4-FFF2-40B4-BE49-F238E27FC236}">
                <a16:creationId xmlns:a16="http://schemas.microsoft.com/office/drawing/2014/main" id="{1151937A-5746-4556-B2E4-D6854009F670}"/>
              </a:ext>
            </a:extLst>
          </p:cNvPr>
          <p:cNvSpPr>
            <a:spLocks noGrp="1"/>
          </p:cNvSpPr>
          <p:nvPr/>
        </p:nvSpPr>
        <p:spPr>
          <a:xfrm>
            <a:off x="685800" y="1066800"/>
            <a:ext cx="1571625" cy="38100"/>
          </a:xfrm>
          <a:prstGeom prst="rect">
            <a:avLst/>
          </a:prstGeom>
          <a:solidFill>
            <a:srgbClr val="17365D"/>
          </a:solidFill>
          <a:ln w="0">
            <a:solidFill>
              <a:srgbClr val="17365D"/>
            </a:solidFill>
            <a:prstDash val="solid"/>
          </a:ln>
        </p:spPr>
        <p:txBody>
          <a:bodyPr/>
          <a:lstStyle/>
          <a:p>
            <a:endParaRPr lang="en-US"/>
          </a:p>
        </p:txBody>
      </p:sp>
      <p:sp>
        <p:nvSpPr>
          <p:cNvPr id="3" name="unclear-panel">
            <a:extLst>
              <a:ext uri="{FF2B5EF4-FFF2-40B4-BE49-F238E27FC236}">
                <a16:creationId xmlns:a16="http://schemas.microsoft.com/office/drawing/2014/main" id="{ED8C1A86-B57A-44A2-A06F-DF23455A85F6}"/>
              </a:ext>
            </a:extLst>
          </p:cNvPr>
          <p:cNvSpPr>
            <a:spLocks noGrp="1"/>
          </p:cNvSpPr>
          <p:nvPr/>
        </p:nvSpPr>
        <p:spPr>
          <a:xfrm>
            <a:off x="781050" y="1695450"/>
            <a:ext cx="3028950" cy="2895600"/>
          </a:xfrm>
          <a:prstGeom prst="roundRect">
            <a:avLst>
              <a:gd name="adj" fmla="val 3947"/>
            </a:avLst>
          </a:prstGeom>
          <a:solidFill>
            <a:srgbClr val="FCEBEC"/>
          </a:solidFill>
          <a:ln w="19050">
            <a:solidFill>
              <a:srgbClr val="C62828"/>
            </a:solidFill>
            <a:prstDash val="solid"/>
          </a:ln>
        </p:spPr>
        <p:txBody>
          <a:bodyPr/>
          <a:lstStyle/>
          <a:p>
            <a:endParaRPr lang="en-US"/>
          </a:p>
        </p:txBody>
      </p:sp>
      <p:sp>
        <p:nvSpPr>
          <p:cNvPr id="4" name="unclear-label-shape">
            <a:extLst>
              <a:ext uri="{FF2B5EF4-FFF2-40B4-BE49-F238E27FC236}">
                <a16:creationId xmlns:a16="http://schemas.microsoft.com/office/drawing/2014/main" id="{E8472C22-08F5-4DD3-B356-FBF249747465}"/>
              </a:ext>
            </a:extLst>
          </p:cNvPr>
          <p:cNvSpPr>
            <a:spLocks noGrp="1"/>
          </p:cNvSpPr>
          <p:nvPr/>
        </p:nvSpPr>
        <p:spPr>
          <a:xfrm>
            <a:off x="1066800" y="1924050"/>
            <a:ext cx="1352550" cy="285750"/>
          </a:xfrm>
          <a:prstGeom prst="roundRect">
            <a:avLst>
              <a:gd name="adj" fmla="val 50000"/>
            </a:avLst>
          </a:prstGeom>
          <a:solidFill>
            <a:srgbClr val="FFFFFF"/>
          </a:solidFill>
          <a:ln w="14288">
            <a:solidFill>
              <a:srgbClr val="C62828"/>
            </a:solidFill>
            <a:prstDash val="solid"/>
          </a:ln>
        </p:spPr>
        <p:txBody>
          <a:bodyPr/>
          <a:lstStyle/>
          <a:p>
            <a:endParaRPr lang="en-US"/>
          </a:p>
        </p:txBody>
      </p:sp>
      <p:sp>
        <p:nvSpPr>
          <p:cNvPr id="5" name="unclear-label-text">
            <a:extLst>
              <a:ext uri="{FF2B5EF4-FFF2-40B4-BE49-F238E27FC236}">
                <a16:creationId xmlns:a16="http://schemas.microsoft.com/office/drawing/2014/main" id="{29EB54C3-7B80-40F9-AE6A-EC2939FBF88C}"/>
              </a:ext>
            </a:extLst>
          </p:cNvPr>
          <p:cNvSpPr>
            <a:spLocks noGrp="1"/>
          </p:cNvSpPr>
          <p:nvPr/>
        </p:nvSpPr>
        <p:spPr>
          <a:xfrm>
            <a:off x="1066800" y="1924050"/>
            <a:ext cx="1352550" cy="285750"/>
          </a:xfrm>
          <a:prstGeom prst="rect">
            <a:avLst/>
          </a:prstGeom>
          <a:noFill/>
          <a:ln w="0">
            <a:noFill/>
            <a:prstDash val="solid"/>
          </a:ln>
        </p:spPr>
        <p:txBody>
          <a:bodyPr anchor="ctr"/>
          <a:lstStyle/>
          <a:p>
            <a:pPr algn="ctr">
              <a:defRPr sz="1125" b="1">
                <a:solidFill>
                  <a:srgbClr val="C62828"/>
                </a:solidFill>
              </a:defRPr>
            </a:pPr>
            <a:r>
              <a:rPr sz="1125" b="1">
                <a:solidFill>
                  <a:srgbClr val="C62828"/>
                </a:solidFill>
              </a:rPr>
              <a:t>UNCLEAR NAME</a:t>
            </a:r>
          </a:p>
        </p:txBody>
      </p:sp>
      <p:sp>
        <p:nvSpPr>
          <p:cNvPr id="6" name="question-circle">
            <a:extLst>
              <a:ext uri="{FF2B5EF4-FFF2-40B4-BE49-F238E27FC236}">
                <a16:creationId xmlns:a16="http://schemas.microsoft.com/office/drawing/2014/main" id="{2D251B71-D04A-47D1-B8F7-69BA796ABC71}"/>
              </a:ext>
            </a:extLst>
          </p:cNvPr>
          <p:cNvSpPr>
            <a:spLocks noGrp="1"/>
          </p:cNvSpPr>
          <p:nvPr/>
        </p:nvSpPr>
        <p:spPr>
          <a:xfrm>
            <a:off x="1123950" y="2600325"/>
            <a:ext cx="666750" cy="666750"/>
          </a:xfrm>
          <a:prstGeom prst="ellipse">
            <a:avLst/>
          </a:prstGeom>
          <a:solidFill>
            <a:srgbClr val="FFFFFF"/>
          </a:solidFill>
          <a:ln w="28575">
            <a:solidFill>
              <a:srgbClr val="C62828"/>
            </a:solidFill>
            <a:prstDash val="solid"/>
          </a:ln>
        </p:spPr>
        <p:txBody>
          <a:bodyPr/>
          <a:lstStyle/>
          <a:p>
            <a:endParaRPr lang="en-US"/>
          </a:p>
        </p:txBody>
      </p:sp>
      <p:sp>
        <p:nvSpPr>
          <p:cNvPr id="7" name="question-mark">
            <a:extLst>
              <a:ext uri="{FF2B5EF4-FFF2-40B4-BE49-F238E27FC236}">
                <a16:creationId xmlns:a16="http://schemas.microsoft.com/office/drawing/2014/main" id="{D1F5E071-94E3-42A8-8F83-ED4AFC935284}"/>
              </a:ext>
            </a:extLst>
          </p:cNvPr>
          <p:cNvSpPr>
            <a:spLocks noGrp="1"/>
          </p:cNvSpPr>
          <p:nvPr/>
        </p:nvSpPr>
        <p:spPr>
          <a:xfrm>
            <a:off x="1123950" y="2552700"/>
            <a:ext cx="666750" cy="742950"/>
          </a:xfrm>
          <a:prstGeom prst="rect">
            <a:avLst/>
          </a:prstGeom>
          <a:noFill/>
          <a:ln w="0">
            <a:noFill/>
            <a:prstDash val="solid"/>
          </a:ln>
        </p:spPr>
        <p:txBody>
          <a:bodyPr anchor="ctr"/>
          <a:lstStyle/>
          <a:p>
            <a:pPr algn="ctr">
              <a:defRPr sz="2775" b="1">
                <a:solidFill>
                  <a:srgbClr val="C62828"/>
                </a:solidFill>
              </a:defRPr>
            </a:pPr>
            <a:r>
              <a:rPr sz="2775" b="1">
                <a:solidFill>
                  <a:srgbClr val="C62828"/>
                </a:solidFill>
              </a:rPr>
              <a:t>?</a:t>
            </a:r>
          </a:p>
        </p:txBody>
      </p:sp>
      <p:sp>
        <p:nvSpPr>
          <p:cNvPr id="8" name="bad-name">
            <a:extLst>
              <a:ext uri="{FF2B5EF4-FFF2-40B4-BE49-F238E27FC236}">
                <a16:creationId xmlns:a16="http://schemas.microsoft.com/office/drawing/2014/main" id="{2485B1DD-72B3-4C78-83D8-6C14A83231B0}"/>
              </a:ext>
            </a:extLst>
          </p:cNvPr>
          <p:cNvSpPr>
            <a:spLocks noGrp="1"/>
          </p:cNvSpPr>
          <p:nvPr/>
        </p:nvSpPr>
        <p:spPr>
          <a:xfrm>
            <a:off x="2009775" y="2609850"/>
            <a:ext cx="1428750" cy="552450"/>
          </a:xfrm>
          <a:prstGeom prst="rect">
            <a:avLst/>
          </a:prstGeom>
          <a:noFill/>
          <a:ln w="0">
            <a:noFill/>
            <a:prstDash val="solid"/>
          </a:ln>
        </p:spPr>
        <p:txBody>
          <a:bodyPr anchor="ctr"/>
          <a:lstStyle/>
          <a:p>
            <a:pPr algn="l">
              <a:defRPr sz="2325" b="1">
                <a:solidFill>
                  <a:srgbClr val="111111"/>
                </a:solidFill>
              </a:defRPr>
            </a:pPr>
            <a:r>
              <a:rPr sz="2325" b="1">
                <a:solidFill>
                  <a:srgbClr val="111111"/>
                </a:solidFill>
              </a:rPr>
              <a:t>test1()</a:t>
            </a:r>
          </a:p>
        </p:txBody>
      </p:sp>
      <p:sp>
        <p:nvSpPr>
          <p:cNvPr id="9" name="bad-question">
            <a:extLst>
              <a:ext uri="{FF2B5EF4-FFF2-40B4-BE49-F238E27FC236}">
                <a16:creationId xmlns:a16="http://schemas.microsoft.com/office/drawing/2014/main" id="{57E60B56-941A-4788-998E-AA46EB9209C6}"/>
              </a:ext>
            </a:extLst>
          </p:cNvPr>
          <p:cNvSpPr>
            <a:spLocks noGrp="1"/>
          </p:cNvSpPr>
          <p:nvPr/>
        </p:nvSpPr>
        <p:spPr>
          <a:xfrm>
            <a:off x="1066800" y="3638550"/>
            <a:ext cx="2457450" cy="495300"/>
          </a:xfrm>
          <a:prstGeom prst="rect">
            <a:avLst/>
          </a:prstGeom>
          <a:noFill/>
          <a:ln w="0">
            <a:noFill/>
            <a:prstDash val="solid"/>
          </a:ln>
        </p:spPr>
        <p:txBody>
          <a:bodyPr anchor="ctr"/>
          <a:lstStyle/>
          <a:p>
            <a:pPr algn="ctr">
              <a:defRPr sz="1725" b="1">
                <a:solidFill>
                  <a:srgbClr val="C62828"/>
                </a:solidFill>
              </a:defRPr>
            </a:pPr>
            <a:r>
              <a:rPr sz="1725" b="1">
                <a:solidFill>
                  <a:srgbClr val="C62828"/>
                </a:solidFill>
              </a:rPr>
              <a:t>What behavior failed?</a:t>
            </a:r>
          </a:p>
        </p:txBody>
      </p:sp>
      <p:sp>
        <p:nvSpPr>
          <p:cNvPr id="10" name="arrow-label">
            <a:extLst>
              <a:ext uri="{FF2B5EF4-FFF2-40B4-BE49-F238E27FC236}">
                <a16:creationId xmlns:a16="http://schemas.microsoft.com/office/drawing/2014/main" id="{70E3AA49-5E3F-4FFC-8594-87C23BCFD849}"/>
              </a:ext>
            </a:extLst>
          </p:cNvPr>
          <p:cNvSpPr>
            <a:spLocks noGrp="1"/>
          </p:cNvSpPr>
          <p:nvPr/>
        </p:nvSpPr>
        <p:spPr>
          <a:xfrm>
            <a:off x="4048125" y="2171700"/>
            <a:ext cx="1790700" cy="590550"/>
          </a:xfrm>
          <a:prstGeom prst="rect">
            <a:avLst/>
          </a:prstGeom>
          <a:noFill/>
          <a:ln w="0">
            <a:noFill/>
            <a:prstDash val="solid"/>
          </a:ln>
        </p:spPr>
        <p:txBody>
          <a:bodyPr anchor="ctr"/>
          <a:lstStyle/>
          <a:p>
            <a:pPr algn="ctr">
              <a:defRPr sz="1425" b="1">
                <a:solidFill>
                  <a:srgbClr val="17365D"/>
                </a:solidFill>
              </a:defRPr>
            </a:pPr>
            <a:r>
              <a:rPr sz="1425" b="1" dirty="0">
                <a:solidFill>
                  <a:srgbClr val="17365D"/>
                </a:solidFill>
              </a:rPr>
              <a:t>Make the behavior</a:t>
            </a:r>
          </a:p>
          <a:p>
            <a:pPr algn="ctr">
              <a:defRPr sz="1425" b="1">
                <a:solidFill>
                  <a:srgbClr val="17365D"/>
                </a:solidFill>
              </a:defRPr>
            </a:pPr>
            <a:r>
              <a:rPr sz="1425" b="1" dirty="0">
                <a:solidFill>
                  <a:srgbClr val="17365D"/>
                </a:solidFill>
              </a:rPr>
              <a:t>explicit</a:t>
            </a:r>
          </a:p>
        </p:txBody>
      </p:sp>
      <p:sp>
        <p:nvSpPr>
          <p:cNvPr id="11" name="transformation-arrow">
            <a:extLst>
              <a:ext uri="{FF2B5EF4-FFF2-40B4-BE49-F238E27FC236}">
                <a16:creationId xmlns:a16="http://schemas.microsoft.com/office/drawing/2014/main" id="{EB110C77-4048-4793-8D81-8E4C9BBA9990}"/>
              </a:ext>
            </a:extLst>
          </p:cNvPr>
          <p:cNvSpPr>
            <a:spLocks noGrp="1"/>
          </p:cNvSpPr>
          <p:nvPr/>
        </p:nvSpPr>
        <p:spPr>
          <a:xfrm>
            <a:off x="4076700" y="2952750"/>
            <a:ext cx="1733550" cy="685800"/>
          </a:xfrm>
          <a:prstGeom prst="rightArrow">
            <a:avLst/>
          </a:prstGeom>
          <a:solidFill>
            <a:srgbClr val="17365D"/>
          </a:solidFill>
          <a:ln w="0">
            <a:solidFill>
              <a:srgbClr val="17365D"/>
            </a:solidFill>
            <a:prstDash val="solid"/>
          </a:ln>
        </p:spPr>
        <p:txBody>
          <a:bodyPr/>
          <a:lstStyle/>
          <a:p>
            <a:endParaRPr lang="en-US"/>
          </a:p>
        </p:txBody>
      </p:sp>
      <p:sp>
        <p:nvSpPr>
          <p:cNvPr id="12" name="descriptive-panel">
            <a:extLst>
              <a:ext uri="{FF2B5EF4-FFF2-40B4-BE49-F238E27FC236}">
                <a16:creationId xmlns:a16="http://schemas.microsoft.com/office/drawing/2014/main" id="{1B1EDED3-1F7D-4D15-8156-EEFFE460270F}"/>
              </a:ext>
            </a:extLst>
          </p:cNvPr>
          <p:cNvSpPr>
            <a:spLocks noGrp="1"/>
          </p:cNvSpPr>
          <p:nvPr/>
        </p:nvSpPr>
        <p:spPr>
          <a:xfrm>
            <a:off x="6076950" y="1504950"/>
            <a:ext cx="5334000" cy="3276600"/>
          </a:xfrm>
          <a:prstGeom prst="roundRect">
            <a:avLst>
              <a:gd name="adj" fmla="val 3488"/>
            </a:avLst>
          </a:prstGeom>
          <a:solidFill>
            <a:srgbClr val="EAF5EB"/>
          </a:solidFill>
          <a:ln w="19050">
            <a:solidFill>
              <a:srgbClr val="2E7D32"/>
            </a:solidFill>
            <a:prstDash val="solid"/>
          </a:ln>
        </p:spPr>
        <p:txBody>
          <a:bodyPr/>
          <a:lstStyle/>
          <a:p>
            <a:endParaRPr lang="en-US"/>
          </a:p>
        </p:txBody>
      </p:sp>
      <p:sp>
        <p:nvSpPr>
          <p:cNvPr id="13" name="descriptive-label-shape">
            <a:extLst>
              <a:ext uri="{FF2B5EF4-FFF2-40B4-BE49-F238E27FC236}">
                <a16:creationId xmlns:a16="http://schemas.microsoft.com/office/drawing/2014/main" id="{D12E381B-EC14-4774-81FA-8652D26FA534}"/>
              </a:ext>
            </a:extLst>
          </p:cNvPr>
          <p:cNvSpPr>
            <a:spLocks noGrp="1"/>
          </p:cNvSpPr>
          <p:nvPr/>
        </p:nvSpPr>
        <p:spPr>
          <a:xfrm>
            <a:off x="6381750" y="1752600"/>
            <a:ext cx="1695450" cy="285750"/>
          </a:xfrm>
          <a:prstGeom prst="roundRect">
            <a:avLst>
              <a:gd name="adj" fmla="val 50000"/>
            </a:avLst>
          </a:prstGeom>
          <a:solidFill>
            <a:srgbClr val="FFFFFF"/>
          </a:solidFill>
          <a:ln w="14288">
            <a:solidFill>
              <a:srgbClr val="2E7D32"/>
            </a:solidFill>
            <a:prstDash val="solid"/>
          </a:ln>
        </p:spPr>
        <p:txBody>
          <a:bodyPr/>
          <a:lstStyle/>
          <a:p>
            <a:endParaRPr lang="en-US"/>
          </a:p>
        </p:txBody>
      </p:sp>
      <p:sp>
        <p:nvSpPr>
          <p:cNvPr id="14" name="descriptive-label-text">
            <a:extLst>
              <a:ext uri="{FF2B5EF4-FFF2-40B4-BE49-F238E27FC236}">
                <a16:creationId xmlns:a16="http://schemas.microsoft.com/office/drawing/2014/main" id="{975FD648-6D25-4EDB-B0F2-EC7C4A57025D}"/>
              </a:ext>
            </a:extLst>
          </p:cNvPr>
          <p:cNvSpPr>
            <a:spLocks noGrp="1"/>
          </p:cNvSpPr>
          <p:nvPr/>
        </p:nvSpPr>
        <p:spPr>
          <a:xfrm>
            <a:off x="6381750" y="1752600"/>
            <a:ext cx="1695450" cy="285750"/>
          </a:xfrm>
          <a:prstGeom prst="rect">
            <a:avLst/>
          </a:prstGeom>
          <a:noFill/>
          <a:ln w="0">
            <a:noFill/>
            <a:prstDash val="solid"/>
          </a:ln>
        </p:spPr>
        <p:txBody>
          <a:bodyPr anchor="ctr"/>
          <a:lstStyle/>
          <a:p>
            <a:pPr algn="ctr">
              <a:defRPr sz="1125" b="1">
                <a:solidFill>
                  <a:srgbClr val="2E7D32"/>
                </a:solidFill>
              </a:defRPr>
            </a:pPr>
            <a:r>
              <a:rPr sz="1125" b="1">
                <a:solidFill>
                  <a:srgbClr val="2E7D32"/>
                </a:solidFill>
              </a:rPr>
              <a:t>DESCRIPTIVE NAME</a:t>
            </a:r>
          </a:p>
        </p:txBody>
      </p:sp>
      <p:sp>
        <p:nvSpPr>
          <p:cNvPr id="15" name="check-circle">
            <a:extLst>
              <a:ext uri="{FF2B5EF4-FFF2-40B4-BE49-F238E27FC236}">
                <a16:creationId xmlns:a16="http://schemas.microsoft.com/office/drawing/2014/main" id="{7CEF978C-34D5-48D3-97C9-89538DC8C124}"/>
              </a:ext>
            </a:extLst>
          </p:cNvPr>
          <p:cNvSpPr>
            <a:spLocks noGrp="1"/>
          </p:cNvSpPr>
          <p:nvPr/>
        </p:nvSpPr>
        <p:spPr>
          <a:xfrm>
            <a:off x="10458450" y="1676400"/>
            <a:ext cx="571500" cy="571500"/>
          </a:xfrm>
          <a:prstGeom prst="ellipse">
            <a:avLst/>
          </a:prstGeom>
          <a:solidFill>
            <a:srgbClr val="FFFFFF"/>
          </a:solidFill>
          <a:ln w="28575">
            <a:solidFill>
              <a:srgbClr val="2E7D32"/>
            </a:solidFill>
            <a:prstDash val="solid"/>
          </a:ln>
        </p:spPr>
        <p:txBody>
          <a:bodyPr/>
          <a:lstStyle/>
          <a:p>
            <a:endParaRPr lang="en-US"/>
          </a:p>
        </p:txBody>
      </p:sp>
      <p:sp>
        <p:nvSpPr>
          <p:cNvPr id="16" name="check-mark">
            <a:extLst>
              <a:ext uri="{FF2B5EF4-FFF2-40B4-BE49-F238E27FC236}">
                <a16:creationId xmlns:a16="http://schemas.microsoft.com/office/drawing/2014/main" id="{93EE232C-5556-422E-9E88-F138D73F75EE}"/>
              </a:ext>
            </a:extLst>
          </p:cNvPr>
          <p:cNvSpPr>
            <a:spLocks noGrp="1"/>
          </p:cNvSpPr>
          <p:nvPr/>
        </p:nvSpPr>
        <p:spPr>
          <a:xfrm>
            <a:off x="10458450" y="1647825"/>
            <a:ext cx="571500" cy="619125"/>
          </a:xfrm>
          <a:prstGeom prst="rect">
            <a:avLst/>
          </a:prstGeom>
          <a:noFill/>
          <a:ln w="0">
            <a:noFill/>
            <a:prstDash val="solid"/>
          </a:ln>
        </p:spPr>
        <p:txBody>
          <a:bodyPr anchor="ctr"/>
          <a:lstStyle/>
          <a:p>
            <a:pPr algn="ctr">
              <a:defRPr sz="2325" b="1">
                <a:solidFill>
                  <a:srgbClr val="2E7D32"/>
                </a:solidFill>
              </a:defRPr>
            </a:pPr>
            <a:r>
              <a:rPr sz="2325" b="1">
                <a:solidFill>
                  <a:srgbClr val="2E7D32"/>
                </a:solidFill>
              </a:rPr>
              <a:t>✓</a:t>
            </a:r>
          </a:p>
        </p:txBody>
      </p:sp>
      <p:sp>
        <p:nvSpPr>
          <p:cNvPr id="17" name="descriptive-test-name">
            <a:extLst>
              <a:ext uri="{FF2B5EF4-FFF2-40B4-BE49-F238E27FC236}">
                <a16:creationId xmlns:a16="http://schemas.microsoft.com/office/drawing/2014/main" id="{F63E2CD3-36A2-4D1E-82AF-C82648FC4EB0}"/>
              </a:ext>
            </a:extLst>
          </p:cNvPr>
          <p:cNvSpPr>
            <a:spLocks noGrp="1"/>
          </p:cNvSpPr>
          <p:nvPr/>
        </p:nvSpPr>
        <p:spPr>
          <a:xfrm>
            <a:off x="6391275" y="2505075"/>
            <a:ext cx="4762500" cy="400050"/>
          </a:xfrm>
          <a:prstGeom prst="rect">
            <a:avLst/>
          </a:prstGeom>
          <a:noFill/>
          <a:ln w="0">
            <a:noFill/>
            <a:prstDash val="solid"/>
          </a:ln>
        </p:spPr>
        <p:txBody>
          <a:bodyPr anchor="ctr"/>
          <a:lstStyle/>
          <a:p>
            <a:pPr algn="ctr">
              <a:defRPr sz="1275" b="1">
                <a:solidFill>
                  <a:srgbClr val="111111"/>
                </a:solidFill>
              </a:defRPr>
            </a:pPr>
            <a:r>
              <a:rPr sz="1275" b="1">
                <a:solidFill>
                  <a:srgbClr val="111111"/>
                </a:solidFill>
              </a:rPr>
              <a:t>test_pop_after_push_returns_last_item()</a:t>
            </a:r>
          </a:p>
        </p:txBody>
      </p:sp>
      <p:sp>
        <p:nvSpPr>
          <p:cNvPr id="18" name="behavior-underline">
            <a:extLst>
              <a:ext uri="{FF2B5EF4-FFF2-40B4-BE49-F238E27FC236}">
                <a16:creationId xmlns:a16="http://schemas.microsoft.com/office/drawing/2014/main" id="{88A90C62-C153-435F-802E-236AC7DFB8C9}"/>
              </a:ext>
            </a:extLst>
          </p:cNvPr>
          <p:cNvSpPr>
            <a:spLocks noGrp="1"/>
          </p:cNvSpPr>
          <p:nvPr/>
        </p:nvSpPr>
        <p:spPr>
          <a:xfrm>
            <a:off x="7067550" y="2943225"/>
            <a:ext cx="361950" cy="38100"/>
          </a:xfrm>
          <a:prstGeom prst="rect">
            <a:avLst/>
          </a:prstGeom>
          <a:solidFill>
            <a:srgbClr val="17365D"/>
          </a:solidFill>
          <a:ln w="0">
            <a:solidFill>
              <a:srgbClr val="17365D"/>
            </a:solidFill>
            <a:prstDash val="solid"/>
          </a:ln>
        </p:spPr>
        <p:txBody>
          <a:bodyPr/>
          <a:lstStyle/>
          <a:p>
            <a:endParaRPr lang="en-US"/>
          </a:p>
        </p:txBody>
      </p:sp>
      <p:sp>
        <p:nvSpPr>
          <p:cNvPr id="19" name="scenario-underline">
            <a:extLst>
              <a:ext uri="{FF2B5EF4-FFF2-40B4-BE49-F238E27FC236}">
                <a16:creationId xmlns:a16="http://schemas.microsoft.com/office/drawing/2014/main" id="{C737865A-8502-4D78-A369-D2D48E51319B}"/>
              </a:ext>
            </a:extLst>
          </p:cNvPr>
          <p:cNvSpPr>
            <a:spLocks noGrp="1"/>
          </p:cNvSpPr>
          <p:nvPr/>
        </p:nvSpPr>
        <p:spPr>
          <a:xfrm>
            <a:off x="7439025" y="2943225"/>
            <a:ext cx="1123950" cy="38100"/>
          </a:xfrm>
          <a:prstGeom prst="rect">
            <a:avLst/>
          </a:prstGeom>
          <a:solidFill>
            <a:srgbClr val="5A6573"/>
          </a:solidFill>
          <a:ln w="0">
            <a:solidFill>
              <a:srgbClr val="5A6573"/>
            </a:solidFill>
            <a:prstDash val="solid"/>
          </a:ln>
        </p:spPr>
        <p:txBody>
          <a:bodyPr/>
          <a:lstStyle/>
          <a:p>
            <a:endParaRPr lang="en-US"/>
          </a:p>
        </p:txBody>
      </p:sp>
      <p:sp>
        <p:nvSpPr>
          <p:cNvPr id="20" name="outcome-underline">
            <a:extLst>
              <a:ext uri="{FF2B5EF4-FFF2-40B4-BE49-F238E27FC236}">
                <a16:creationId xmlns:a16="http://schemas.microsoft.com/office/drawing/2014/main" id="{A4336BFE-8D47-471E-A8EC-88E4BF7EF5ED}"/>
              </a:ext>
            </a:extLst>
          </p:cNvPr>
          <p:cNvSpPr>
            <a:spLocks noGrp="1"/>
          </p:cNvSpPr>
          <p:nvPr/>
        </p:nvSpPr>
        <p:spPr>
          <a:xfrm>
            <a:off x="8572500" y="2943225"/>
            <a:ext cx="2133600" cy="38100"/>
          </a:xfrm>
          <a:prstGeom prst="rect">
            <a:avLst/>
          </a:prstGeom>
          <a:solidFill>
            <a:srgbClr val="2E7D32"/>
          </a:solidFill>
          <a:ln w="0">
            <a:solidFill>
              <a:srgbClr val="2E7D32"/>
            </a:solidFill>
            <a:prstDash val="solid"/>
          </a:ln>
        </p:spPr>
        <p:txBody>
          <a:bodyPr/>
          <a:lstStyle/>
          <a:p>
            <a:endParaRPr lang="en-US"/>
          </a:p>
        </p:txBody>
      </p:sp>
      <p:sp>
        <p:nvSpPr>
          <p:cNvPr id="21" name="behavior-stem">
            <a:extLst>
              <a:ext uri="{FF2B5EF4-FFF2-40B4-BE49-F238E27FC236}">
                <a16:creationId xmlns:a16="http://schemas.microsoft.com/office/drawing/2014/main" id="{2FEDF334-C45D-44DD-BBE0-CF9430FB931A}"/>
              </a:ext>
            </a:extLst>
          </p:cNvPr>
          <p:cNvSpPr>
            <a:spLocks noGrp="1"/>
          </p:cNvSpPr>
          <p:nvPr/>
        </p:nvSpPr>
        <p:spPr>
          <a:xfrm>
            <a:off x="7239000" y="2933700"/>
            <a:ext cx="19050" cy="419100"/>
          </a:xfrm>
          <a:prstGeom prst="rect">
            <a:avLst/>
          </a:prstGeom>
          <a:solidFill>
            <a:srgbClr val="17365D"/>
          </a:solidFill>
          <a:ln w="0">
            <a:solidFill>
              <a:srgbClr val="17365D"/>
            </a:solidFill>
            <a:prstDash val="solid"/>
          </a:ln>
        </p:spPr>
        <p:txBody>
          <a:bodyPr/>
          <a:lstStyle/>
          <a:p>
            <a:endParaRPr lang="en-US"/>
          </a:p>
        </p:txBody>
      </p:sp>
      <p:sp>
        <p:nvSpPr>
          <p:cNvPr id="22" name="scenario-stem">
            <a:extLst>
              <a:ext uri="{FF2B5EF4-FFF2-40B4-BE49-F238E27FC236}">
                <a16:creationId xmlns:a16="http://schemas.microsoft.com/office/drawing/2014/main" id="{24A049F3-0213-4E03-9552-43DB753307B1}"/>
              </a:ext>
            </a:extLst>
          </p:cNvPr>
          <p:cNvSpPr>
            <a:spLocks noGrp="1"/>
          </p:cNvSpPr>
          <p:nvPr/>
        </p:nvSpPr>
        <p:spPr>
          <a:xfrm>
            <a:off x="8001000" y="2933700"/>
            <a:ext cx="19050" cy="419100"/>
          </a:xfrm>
          <a:prstGeom prst="rect">
            <a:avLst/>
          </a:prstGeom>
          <a:solidFill>
            <a:srgbClr val="5A6573"/>
          </a:solidFill>
          <a:ln w="0">
            <a:solidFill>
              <a:srgbClr val="5A6573"/>
            </a:solidFill>
            <a:prstDash val="solid"/>
          </a:ln>
        </p:spPr>
        <p:txBody>
          <a:bodyPr/>
          <a:lstStyle/>
          <a:p>
            <a:endParaRPr lang="en-US"/>
          </a:p>
        </p:txBody>
      </p:sp>
      <p:sp>
        <p:nvSpPr>
          <p:cNvPr id="23" name="outcome-stem">
            <a:extLst>
              <a:ext uri="{FF2B5EF4-FFF2-40B4-BE49-F238E27FC236}">
                <a16:creationId xmlns:a16="http://schemas.microsoft.com/office/drawing/2014/main" id="{538F3F09-BEC1-46C7-A2B8-7F3355E29E8B}"/>
              </a:ext>
            </a:extLst>
          </p:cNvPr>
          <p:cNvSpPr>
            <a:spLocks noGrp="1"/>
          </p:cNvSpPr>
          <p:nvPr/>
        </p:nvSpPr>
        <p:spPr>
          <a:xfrm>
            <a:off x="9620250" y="2933700"/>
            <a:ext cx="19050" cy="419100"/>
          </a:xfrm>
          <a:prstGeom prst="rect">
            <a:avLst/>
          </a:prstGeom>
          <a:solidFill>
            <a:srgbClr val="2E7D32"/>
          </a:solidFill>
          <a:ln w="0">
            <a:solidFill>
              <a:srgbClr val="2E7D32"/>
            </a:solidFill>
            <a:prstDash val="solid"/>
          </a:ln>
        </p:spPr>
        <p:txBody>
          <a:bodyPr/>
          <a:lstStyle/>
          <a:p>
            <a:endParaRPr lang="en-US"/>
          </a:p>
        </p:txBody>
      </p:sp>
      <p:sp>
        <p:nvSpPr>
          <p:cNvPr id="24" name="behavior-key-shape">
            <a:extLst>
              <a:ext uri="{FF2B5EF4-FFF2-40B4-BE49-F238E27FC236}">
                <a16:creationId xmlns:a16="http://schemas.microsoft.com/office/drawing/2014/main" id="{550109F0-AD33-4325-A6A1-AE24E14558AF}"/>
              </a:ext>
            </a:extLst>
          </p:cNvPr>
          <p:cNvSpPr>
            <a:spLocks noGrp="1"/>
          </p:cNvSpPr>
          <p:nvPr/>
        </p:nvSpPr>
        <p:spPr>
          <a:xfrm>
            <a:off x="6591300" y="3390900"/>
            <a:ext cx="1543050" cy="285750"/>
          </a:xfrm>
          <a:prstGeom prst="roundRect">
            <a:avLst>
              <a:gd name="adj" fmla="val 50000"/>
            </a:avLst>
          </a:prstGeom>
          <a:solidFill>
            <a:srgbClr val="FFFFFF"/>
          </a:solidFill>
          <a:ln w="14288">
            <a:solidFill>
              <a:srgbClr val="17365D"/>
            </a:solidFill>
            <a:prstDash val="solid"/>
          </a:ln>
        </p:spPr>
        <p:txBody>
          <a:bodyPr/>
          <a:lstStyle/>
          <a:p>
            <a:endParaRPr lang="en-US"/>
          </a:p>
        </p:txBody>
      </p:sp>
      <p:sp>
        <p:nvSpPr>
          <p:cNvPr id="25" name="behavior-key-text">
            <a:extLst>
              <a:ext uri="{FF2B5EF4-FFF2-40B4-BE49-F238E27FC236}">
                <a16:creationId xmlns:a16="http://schemas.microsoft.com/office/drawing/2014/main" id="{ED6F9C42-55AC-4050-B7C6-8D9D3750791B}"/>
              </a:ext>
            </a:extLst>
          </p:cNvPr>
          <p:cNvSpPr>
            <a:spLocks noGrp="1"/>
          </p:cNvSpPr>
          <p:nvPr/>
        </p:nvSpPr>
        <p:spPr>
          <a:xfrm>
            <a:off x="6591300" y="3390900"/>
            <a:ext cx="1543050" cy="285750"/>
          </a:xfrm>
          <a:prstGeom prst="rect">
            <a:avLst/>
          </a:prstGeom>
          <a:noFill/>
          <a:ln w="0">
            <a:noFill/>
            <a:prstDash val="solid"/>
          </a:ln>
        </p:spPr>
        <p:txBody>
          <a:bodyPr anchor="ctr"/>
          <a:lstStyle/>
          <a:p>
            <a:pPr algn="ctr">
              <a:defRPr sz="1125" b="1">
                <a:solidFill>
                  <a:srgbClr val="17365D"/>
                </a:solidFill>
              </a:defRPr>
            </a:pPr>
            <a:r>
              <a:rPr sz="1125" b="1">
                <a:solidFill>
                  <a:srgbClr val="17365D"/>
                </a:solidFill>
              </a:rPr>
              <a:t>BEHAVIOR</a:t>
            </a:r>
          </a:p>
        </p:txBody>
      </p:sp>
      <p:sp>
        <p:nvSpPr>
          <p:cNvPr id="26" name="scenario-key-shape">
            <a:extLst>
              <a:ext uri="{FF2B5EF4-FFF2-40B4-BE49-F238E27FC236}">
                <a16:creationId xmlns:a16="http://schemas.microsoft.com/office/drawing/2014/main" id="{A7AB8E96-9EBD-4D17-A065-4F7624FE2194}"/>
              </a:ext>
            </a:extLst>
          </p:cNvPr>
          <p:cNvSpPr>
            <a:spLocks noGrp="1"/>
          </p:cNvSpPr>
          <p:nvPr/>
        </p:nvSpPr>
        <p:spPr>
          <a:xfrm>
            <a:off x="8143875" y="3390900"/>
            <a:ext cx="1371600" cy="285750"/>
          </a:xfrm>
          <a:prstGeom prst="roundRect">
            <a:avLst>
              <a:gd name="adj" fmla="val 50000"/>
            </a:avLst>
          </a:prstGeom>
          <a:solidFill>
            <a:srgbClr val="FFFFFF"/>
          </a:solidFill>
          <a:ln w="14288">
            <a:solidFill>
              <a:srgbClr val="5A6573"/>
            </a:solidFill>
            <a:prstDash val="solid"/>
          </a:ln>
        </p:spPr>
        <p:txBody>
          <a:bodyPr/>
          <a:lstStyle/>
          <a:p>
            <a:endParaRPr lang="en-US"/>
          </a:p>
        </p:txBody>
      </p:sp>
      <p:sp>
        <p:nvSpPr>
          <p:cNvPr id="27" name="scenario-key-text">
            <a:extLst>
              <a:ext uri="{FF2B5EF4-FFF2-40B4-BE49-F238E27FC236}">
                <a16:creationId xmlns:a16="http://schemas.microsoft.com/office/drawing/2014/main" id="{F1FF7ED5-CA23-4FAB-A42B-0AA50E5F2389}"/>
              </a:ext>
            </a:extLst>
          </p:cNvPr>
          <p:cNvSpPr>
            <a:spLocks noGrp="1"/>
          </p:cNvSpPr>
          <p:nvPr/>
        </p:nvSpPr>
        <p:spPr>
          <a:xfrm>
            <a:off x="8143875" y="3390900"/>
            <a:ext cx="1371600" cy="285750"/>
          </a:xfrm>
          <a:prstGeom prst="rect">
            <a:avLst/>
          </a:prstGeom>
          <a:noFill/>
          <a:ln w="0">
            <a:noFill/>
            <a:prstDash val="solid"/>
          </a:ln>
        </p:spPr>
        <p:txBody>
          <a:bodyPr anchor="ctr"/>
          <a:lstStyle/>
          <a:p>
            <a:pPr algn="ctr">
              <a:defRPr sz="1125" b="1">
                <a:solidFill>
                  <a:srgbClr val="5A6573"/>
                </a:solidFill>
              </a:defRPr>
            </a:pPr>
            <a:r>
              <a:rPr sz="1125" b="1">
                <a:solidFill>
                  <a:srgbClr val="5A6573"/>
                </a:solidFill>
              </a:rPr>
              <a:t>SCENARIO</a:t>
            </a:r>
          </a:p>
        </p:txBody>
      </p:sp>
      <p:sp>
        <p:nvSpPr>
          <p:cNvPr id="28" name="outcome-key-shape">
            <a:extLst>
              <a:ext uri="{FF2B5EF4-FFF2-40B4-BE49-F238E27FC236}">
                <a16:creationId xmlns:a16="http://schemas.microsoft.com/office/drawing/2014/main" id="{EFC0E786-BDFD-4BC4-AB7E-F3A6261EB077}"/>
              </a:ext>
            </a:extLst>
          </p:cNvPr>
          <p:cNvSpPr>
            <a:spLocks noGrp="1"/>
          </p:cNvSpPr>
          <p:nvPr/>
        </p:nvSpPr>
        <p:spPr>
          <a:xfrm>
            <a:off x="9429750" y="3390900"/>
            <a:ext cx="1809750" cy="285750"/>
          </a:xfrm>
          <a:prstGeom prst="roundRect">
            <a:avLst>
              <a:gd name="adj" fmla="val 50000"/>
            </a:avLst>
          </a:prstGeom>
          <a:solidFill>
            <a:srgbClr val="FFFFFF"/>
          </a:solidFill>
          <a:ln w="14288">
            <a:solidFill>
              <a:srgbClr val="2E7D32"/>
            </a:solidFill>
            <a:prstDash val="solid"/>
          </a:ln>
        </p:spPr>
        <p:txBody>
          <a:bodyPr/>
          <a:lstStyle/>
          <a:p>
            <a:endParaRPr lang="en-US"/>
          </a:p>
        </p:txBody>
      </p:sp>
      <p:sp>
        <p:nvSpPr>
          <p:cNvPr id="29" name="outcome-key-text">
            <a:extLst>
              <a:ext uri="{FF2B5EF4-FFF2-40B4-BE49-F238E27FC236}">
                <a16:creationId xmlns:a16="http://schemas.microsoft.com/office/drawing/2014/main" id="{E2A30A29-366B-4CF5-AF6B-E1CBBD52FA07}"/>
              </a:ext>
            </a:extLst>
          </p:cNvPr>
          <p:cNvSpPr>
            <a:spLocks noGrp="1"/>
          </p:cNvSpPr>
          <p:nvPr/>
        </p:nvSpPr>
        <p:spPr>
          <a:xfrm>
            <a:off x="9429750" y="3390900"/>
            <a:ext cx="1809750" cy="285750"/>
          </a:xfrm>
          <a:prstGeom prst="rect">
            <a:avLst/>
          </a:prstGeom>
          <a:noFill/>
          <a:ln w="0">
            <a:noFill/>
            <a:prstDash val="solid"/>
          </a:ln>
        </p:spPr>
        <p:txBody>
          <a:bodyPr anchor="ctr"/>
          <a:lstStyle/>
          <a:p>
            <a:pPr algn="ctr">
              <a:defRPr sz="975" b="1">
                <a:solidFill>
                  <a:srgbClr val="2E7D32"/>
                </a:solidFill>
              </a:defRPr>
            </a:pPr>
            <a:r>
              <a:rPr sz="975" b="1">
                <a:solidFill>
                  <a:srgbClr val="2E7D32"/>
                </a:solidFill>
              </a:rPr>
              <a:t>EXPECTED OUTCOME</a:t>
            </a:r>
          </a:p>
        </p:txBody>
      </p:sp>
      <p:sp>
        <p:nvSpPr>
          <p:cNvPr id="30" name="behavior-detail">
            <a:extLst>
              <a:ext uri="{FF2B5EF4-FFF2-40B4-BE49-F238E27FC236}">
                <a16:creationId xmlns:a16="http://schemas.microsoft.com/office/drawing/2014/main" id="{F2A4A743-A1AB-42C2-A619-5223A2D0E8CB}"/>
              </a:ext>
            </a:extLst>
          </p:cNvPr>
          <p:cNvSpPr>
            <a:spLocks noGrp="1"/>
          </p:cNvSpPr>
          <p:nvPr/>
        </p:nvSpPr>
        <p:spPr>
          <a:xfrm>
            <a:off x="6591300" y="3790950"/>
            <a:ext cx="1543050" cy="323850"/>
          </a:xfrm>
          <a:prstGeom prst="rect">
            <a:avLst/>
          </a:prstGeom>
          <a:noFill/>
          <a:ln w="0">
            <a:noFill/>
            <a:prstDash val="solid"/>
          </a:ln>
        </p:spPr>
        <p:txBody>
          <a:bodyPr anchor="ctr"/>
          <a:lstStyle/>
          <a:p>
            <a:pPr algn="ctr">
              <a:defRPr sz="1275" b="0">
                <a:solidFill>
                  <a:srgbClr val="17365D"/>
                </a:solidFill>
              </a:defRPr>
            </a:pPr>
            <a:r>
              <a:rPr sz="1275" b="0">
                <a:solidFill>
                  <a:srgbClr val="17365D"/>
                </a:solidFill>
              </a:rPr>
              <a:t>What is tested</a:t>
            </a:r>
          </a:p>
        </p:txBody>
      </p:sp>
      <p:sp>
        <p:nvSpPr>
          <p:cNvPr id="31" name="scenario-detail">
            <a:extLst>
              <a:ext uri="{FF2B5EF4-FFF2-40B4-BE49-F238E27FC236}">
                <a16:creationId xmlns:a16="http://schemas.microsoft.com/office/drawing/2014/main" id="{0419F4CD-C69C-48FB-A07C-244068B21C0F}"/>
              </a:ext>
            </a:extLst>
          </p:cNvPr>
          <p:cNvSpPr>
            <a:spLocks noGrp="1"/>
          </p:cNvSpPr>
          <p:nvPr/>
        </p:nvSpPr>
        <p:spPr>
          <a:xfrm>
            <a:off x="8077200" y="3790950"/>
            <a:ext cx="1504950" cy="323850"/>
          </a:xfrm>
          <a:prstGeom prst="rect">
            <a:avLst/>
          </a:prstGeom>
          <a:noFill/>
          <a:ln w="0">
            <a:noFill/>
            <a:prstDash val="solid"/>
          </a:ln>
        </p:spPr>
        <p:txBody>
          <a:bodyPr anchor="ctr"/>
          <a:lstStyle/>
          <a:p>
            <a:pPr algn="ctr">
              <a:defRPr sz="1275" b="0">
                <a:solidFill>
                  <a:srgbClr val="5A6573"/>
                </a:solidFill>
              </a:defRPr>
            </a:pPr>
            <a:r>
              <a:rPr sz="1275" b="0">
                <a:solidFill>
                  <a:srgbClr val="5A6573"/>
                </a:solidFill>
              </a:rPr>
              <a:t>Under what condition</a:t>
            </a:r>
          </a:p>
        </p:txBody>
      </p:sp>
      <p:sp>
        <p:nvSpPr>
          <p:cNvPr id="32" name="outcome-detail">
            <a:extLst>
              <a:ext uri="{FF2B5EF4-FFF2-40B4-BE49-F238E27FC236}">
                <a16:creationId xmlns:a16="http://schemas.microsoft.com/office/drawing/2014/main" id="{68654786-A9E7-445E-8F23-271B67C57BF4}"/>
              </a:ext>
            </a:extLst>
          </p:cNvPr>
          <p:cNvSpPr>
            <a:spLocks noGrp="1"/>
          </p:cNvSpPr>
          <p:nvPr/>
        </p:nvSpPr>
        <p:spPr>
          <a:xfrm>
            <a:off x="9525000" y="3790950"/>
            <a:ext cx="1657350" cy="323850"/>
          </a:xfrm>
          <a:prstGeom prst="rect">
            <a:avLst/>
          </a:prstGeom>
          <a:noFill/>
          <a:ln w="0">
            <a:noFill/>
            <a:prstDash val="solid"/>
          </a:ln>
        </p:spPr>
        <p:txBody>
          <a:bodyPr anchor="ctr"/>
          <a:lstStyle/>
          <a:p>
            <a:pPr algn="ctr">
              <a:defRPr sz="1275" b="0">
                <a:solidFill>
                  <a:srgbClr val="2E7D32"/>
                </a:solidFill>
              </a:defRPr>
            </a:pPr>
            <a:r>
              <a:rPr sz="1275" b="0">
                <a:solidFill>
                  <a:srgbClr val="2E7D32"/>
                </a:solidFill>
              </a:rPr>
              <a:t>What should happen</a:t>
            </a:r>
          </a:p>
        </p:txBody>
      </p:sp>
      <p:sp>
        <p:nvSpPr>
          <p:cNvPr id="33" name="takeaway-band">
            <a:extLst>
              <a:ext uri="{FF2B5EF4-FFF2-40B4-BE49-F238E27FC236}">
                <a16:creationId xmlns:a16="http://schemas.microsoft.com/office/drawing/2014/main" id="{7ED95EEE-36C9-459F-946D-957EE780D2EA}"/>
              </a:ext>
            </a:extLst>
          </p:cNvPr>
          <p:cNvSpPr>
            <a:spLocks noGrp="1"/>
          </p:cNvSpPr>
          <p:nvPr/>
        </p:nvSpPr>
        <p:spPr>
          <a:xfrm>
            <a:off x="781050" y="5372100"/>
            <a:ext cx="10629900" cy="800100"/>
          </a:xfrm>
          <a:prstGeom prst="roundRect">
            <a:avLst>
              <a:gd name="adj" fmla="val 9524"/>
            </a:avLst>
          </a:prstGeom>
          <a:solidFill>
            <a:srgbClr val="F5F8FC"/>
          </a:solidFill>
          <a:ln w="19050">
            <a:solidFill>
              <a:srgbClr val="17365D"/>
            </a:solidFill>
            <a:prstDash val="solid"/>
          </a:ln>
        </p:spPr>
        <p:txBody>
          <a:bodyPr/>
          <a:lstStyle/>
          <a:p>
            <a:endParaRPr lang="en-US"/>
          </a:p>
        </p:txBody>
      </p:sp>
      <p:sp>
        <p:nvSpPr>
          <p:cNvPr id="34" name="takeaway">
            <a:extLst>
              <a:ext uri="{FF2B5EF4-FFF2-40B4-BE49-F238E27FC236}">
                <a16:creationId xmlns:a16="http://schemas.microsoft.com/office/drawing/2014/main" id="{38C87599-0951-4BAC-9DAC-19CF8CACEBEE}"/>
              </a:ext>
            </a:extLst>
          </p:cNvPr>
          <p:cNvSpPr>
            <a:spLocks noGrp="1"/>
          </p:cNvSpPr>
          <p:nvPr/>
        </p:nvSpPr>
        <p:spPr>
          <a:xfrm>
            <a:off x="1104900" y="5534025"/>
            <a:ext cx="9982200" cy="476250"/>
          </a:xfrm>
          <a:prstGeom prst="rect">
            <a:avLst/>
          </a:prstGeom>
          <a:noFill/>
          <a:ln w="0">
            <a:noFill/>
            <a:prstDash val="solid"/>
          </a:ln>
        </p:spPr>
        <p:txBody>
          <a:bodyPr anchor="ctr"/>
          <a:lstStyle/>
          <a:p>
            <a:pPr algn="ctr">
              <a:defRPr sz="1875" b="1">
                <a:solidFill>
                  <a:srgbClr val="17365D"/>
                </a:solidFill>
              </a:defRPr>
            </a:pPr>
            <a:r>
              <a:rPr sz="1875" b="1">
                <a:solidFill>
                  <a:srgbClr val="17365D"/>
                </a:solidFill>
              </a:rPr>
              <a:t>When a test fails, its name should help the team understand what behavior broke.</a:t>
            </a:r>
          </a:p>
        </p:txBody>
      </p:sp>
    </p:spTree>
    <p:extLst>
      <p:ext uri="{BB962C8B-B14F-4D97-AF65-F5344CB8AC3E}">
        <p14:creationId xmlns:p14="http://schemas.microsoft.com/office/powerpoint/2010/main" val="507937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500"/>
                                        <p:tgtEl>
                                          <p:spTgt spid="3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500"/>
                                        <p:tgtEl>
                                          <p:spTgt spid="3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500"/>
                                        <p:tgtEl>
                                          <p:spTgt spid="32"/>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5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p:bldP spid="6" grpId="0" animBg="1"/>
      <p:bldP spid="7" grpId="0"/>
      <p:bldP spid="8" grpId="0"/>
      <p:bldP spid="9" grpId="0"/>
      <p:bldP spid="10" grpId="0"/>
      <p:bldP spid="11" grpId="0" animBg="1"/>
      <p:bldP spid="12" grpId="0" animBg="1"/>
      <p:bldP spid="13" grpId="0" animBg="1"/>
      <p:bldP spid="14" grpId="0"/>
      <p:bldP spid="15" grpId="0" animBg="1"/>
      <p:bldP spid="16" grpId="0"/>
      <p:bldP spid="17" grpId="0"/>
      <p:bldP spid="18" grpId="0" animBg="1"/>
      <p:bldP spid="19" grpId="0" animBg="1"/>
      <p:bldP spid="20" grpId="0" animBg="1"/>
      <p:bldP spid="21" grpId="0" animBg="1"/>
      <p:bldP spid="22" grpId="0" animBg="1"/>
      <p:bldP spid="23" grpId="0" animBg="1"/>
      <p:bldP spid="24" grpId="0" animBg="1"/>
      <p:bldP spid="25" grpId="0"/>
      <p:bldP spid="26" grpId="0" animBg="1"/>
      <p:bldP spid="27" grpId="0"/>
      <p:bldP spid="28" grpId="0" animBg="1"/>
      <p:bldP spid="29" grpId="0"/>
      <p:bldP spid="30" grpId="0"/>
      <p:bldP spid="31" grpId="0"/>
      <p:bldP spid="32" grpId="0"/>
      <p:bldP spid="33" grpId="0" animBg="1"/>
      <p:bldP spid="3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a:extLst>
              <a:ext uri="{FF2B5EF4-FFF2-40B4-BE49-F238E27FC236}">
                <a16:creationId xmlns:a16="http://schemas.microsoft.com/office/drawing/2014/main" id="{C740DEED-B45E-49DD-A0C6-882FFF941097}"/>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11111"/>
                </a:solidFill>
              </a:defRPr>
            </a:pPr>
            <a:r>
              <a:rPr sz="3000" b="0">
                <a:solidFill>
                  <a:srgbClr val="111111"/>
                </a:solidFill>
              </a:rPr>
              <a:t>Unit tests stay focused by replacing external dependencies</a:t>
            </a:r>
          </a:p>
        </p:txBody>
      </p:sp>
      <p:sp>
        <p:nvSpPr>
          <p:cNvPr id="2" name="title-rule">
            <a:extLst>
              <a:ext uri="{FF2B5EF4-FFF2-40B4-BE49-F238E27FC236}">
                <a16:creationId xmlns:a16="http://schemas.microsoft.com/office/drawing/2014/main" id="{3B23CFC2-B851-4698-9C66-D3648024E9F8}"/>
              </a:ext>
            </a:extLst>
          </p:cNvPr>
          <p:cNvSpPr>
            <a:spLocks noGrp="1"/>
          </p:cNvSpPr>
          <p:nvPr/>
        </p:nvSpPr>
        <p:spPr>
          <a:xfrm>
            <a:off x="685800" y="1066800"/>
            <a:ext cx="1571625" cy="38100"/>
          </a:xfrm>
          <a:prstGeom prst="rect">
            <a:avLst/>
          </a:prstGeom>
          <a:solidFill>
            <a:srgbClr val="17365D"/>
          </a:solidFill>
          <a:ln w="0">
            <a:solidFill>
              <a:srgbClr val="17365D"/>
            </a:solidFill>
            <a:prstDash val="solid"/>
          </a:ln>
        </p:spPr>
        <p:txBody>
          <a:bodyPr/>
          <a:lstStyle/>
          <a:p>
            <a:endParaRPr lang="en-US"/>
          </a:p>
        </p:txBody>
      </p:sp>
      <p:sp>
        <p:nvSpPr>
          <p:cNvPr id="3" name="eyebrow">
            <a:extLst>
              <a:ext uri="{FF2B5EF4-FFF2-40B4-BE49-F238E27FC236}">
                <a16:creationId xmlns:a16="http://schemas.microsoft.com/office/drawing/2014/main" id="{C1AA849B-E061-46C5-956C-8D545E161508}"/>
              </a:ext>
            </a:extLst>
          </p:cNvPr>
          <p:cNvSpPr>
            <a:spLocks noGrp="1"/>
          </p:cNvSpPr>
          <p:nvPr/>
        </p:nvSpPr>
        <p:spPr>
          <a:xfrm>
            <a:off x="1200150" y="1543050"/>
            <a:ext cx="2381250" cy="266700"/>
          </a:xfrm>
          <a:prstGeom prst="rect">
            <a:avLst/>
          </a:prstGeom>
          <a:noFill/>
          <a:ln w="0">
            <a:noFill/>
            <a:prstDash val="solid"/>
          </a:ln>
        </p:spPr>
        <p:txBody>
          <a:bodyPr anchor="ctr"/>
          <a:lstStyle/>
          <a:p>
            <a:pPr algn="l">
              <a:defRPr sz="1200" b="1">
                <a:solidFill>
                  <a:srgbClr val="244E7A"/>
                </a:solidFill>
              </a:defRPr>
            </a:pPr>
            <a:r>
              <a:rPr b="1" dirty="0">
                <a:solidFill>
                  <a:srgbClr val="244E7A"/>
                </a:solidFill>
              </a:rPr>
              <a:t>UNIT UNDER TEST</a:t>
            </a:r>
          </a:p>
        </p:txBody>
      </p:sp>
      <p:sp>
        <p:nvSpPr>
          <p:cNvPr id="4" name="service">
            <a:extLst>
              <a:ext uri="{FF2B5EF4-FFF2-40B4-BE49-F238E27FC236}">
                <a16:creationId xmlns:a16="http://schemas.microsoft.com/office/drawing/2014/main" id="{76A4C415-D62F-4D28-B4BD-2F925B81232D}"/>
              </a:ext>
            </a:extLst>
          </p:cNvPr>
          <p:cNvSpPr>
            <a:spLocks noGrp="1"/>
          </p:cNvSpPr>
          <p:nvPr/>
        </p:nvSpPr>
        <p:spPr>
          <a:xfrm>
            <a:off x="1066800" y="2019300"/>
            <a:ext cx="3143250" cy="1847850"/>
          </a:xfrm>
          <a:prstGeom prst="roundRect">
            <a:avLst>
              <a:gd name="adj" fmla="val 6186"/>
            </a:avLst>
          </a:prstGeom>
          <a:solidFill>
            <a:srgbClr val="F5F8FC"/>
          </a:solidFill>
          <a:ln w="28575">
            <a:solidFill>
              <a:srgbClr val="17365D"/>
            </a:solidFill>
            <a:prstDash val="solid"/>
          </a:ln>
        </p:spPr>
        <p:txBody>
          <a:bodyPr/>
          <a:lstStyle/>
          <a:p>
            <a:endParaRPr lang="en-US"/>
          </a:p>
        </p:txBody>
      </p:sp>
      <p:sp>
        <p:nvSpPr>
          <p:cNvPr id="5" name="code-circle">
            <a:extLst>
              <a:ext uri="{FF2B5EF4-FFF2-40B4-BE49-F238E27FC236}">
                <a16:creationId xmlns:a16="http://schemas.microsoft.com/office/drawing/2014/main" id="{AB0FC261-3362-4F78-A884-B5FD3C1A1E60}"/>
              </a:ext>
            </a:extLst>
          </p:cNvPr>
          <p:cNvSpPr>
            <a:spLocks noGrp="1"/>
          </p:cNvSpPr>
          <p:nvPr/>
        </p:nvSpPr>
        <p:spPr>
          <a:xfrm>
            <a:off x="1333500" y="2390775"/>
            <a:ext cx="685800" cy="685800"/>
          </a:xfrm>
          <a:prstGeom prst="ellipse">
            <a:avLst/>
          </a:prstGeom>
          <a:solidFill>
            <a:srgbClr val="FFFFFF"/>
          </a:solidFill>
          <a:ln w="28575">
            <a:solidFill>
              <a:srgbClr val="17365D"/>
            </a:solidFill>
            <a:prstDash val="solid"/>
          </a:ln>
        </p:spPr>
        <p:txBody>
          <a:bodyPr/>
          <a:lstStyle/>
          <a:p>
            <a:endParaRPr lang="en-US"/>
          </a:p>
        </p:txBody>
      </p:sp>
      <p:sp>
        <p:nvSpPr>
          <p:cNvPr id="6" name="code-label">
            <a:extLst>
              <a:ext uri="{FF2B5EF4-FFF2-40B4-BE49-F238E27FC236}">
                <a16:creationId xmlns:a16="http://schemas.microsoft.com/office/drawing/2014/main" id="{06126ACE-547A-4CF9-9256-42D15C2FE58F}"/>
              </a:ext>
            </a:extLst>
          </p:cNvPr>
          <p:cNvSpPr>
            <a:spLocks noGrp="1"/>
          </p:cNvSpPr>
          <p:nvPr/>
        </p:nvSpPr>
        <p:spPr>
          <a:xfrm>
            <a:off x="1333500" y="2381250"/>
            <a:ext cx="685800" cy="685800"/>
          </a:xfrm>
          <a:prstGeom prst="rect">
            <a:avLst/>
          </a:prstGeom>
          <a:noFill/>
          <a:ln w="0">
            <a:noFill/>
            <a:prstDash val="solid"/>
          </a:ln>
        </p:spPr>
        <p:txBody>
          <a:bodyPr anchor="ctr"/>
          <a:lstStyle/>
          <a:p>
            <a:pPr algn="ctr">
              <a:defRPr sz="1650" b="1">
                <a:solidFill>
                  <a:srgbClr val="17365D"/>
                </a:solidFill>
              </a:defRPr>
            </a:pPr>
            <a:r>
              <a:rPr sz="1650" b="1">
                <a:solidFill>
                  <a:srgbClr val="17365D"/>
                </a:solidFill>
              </a:rPr>
              <a:t>{ }</a:t>
            </a:r>
          </a:p>
        </p:txBody>
      </p:sp>
      <p:sp>
        <p:nvSpPr>
          <p:cNvPr id="7" name="service-name">
            <a:extLst>
              <a:ext uri="{FF2B5EF4-FFF2-40B4-BE49-F238E27FC236}">
                <a16:creationId xmlns:a16="http://schemas.microsoft.com/office/drawing/2014/main" id="{93970B40-3E2E-41D5-B133-5E9299C6F9A5}"/>
              </a:ext>
            </a:extLst>
          </p:cNvPr>
          <p:cNvSpPr>
            <a:spLocks noGrp="1"/>
          </p:cNvSpPr>
          <p:nvPr/>
        </p:nvSpPr>
        <p:spPr>
          <a:xfrm>
            <a:off x="2143125" y="2343150"/>
            <a:ext cx="1924050" cy="361950"/>
          </a:xfrm>
          <a:prstGeom prst="rect">
            <a:avLst/>
          </a:prstGeom>
          <a:noFill/>
          <a:ln w="0">
            <a:noFill/>
            <a:prstDash val="solid"/>
          </a:ln>
        </p:spPr>
        <p:txBody>
          <a:bodyPr anchor="ctr"/>
          <a:lstStyle/>
          <a:p>
            <a:pPr algn="l">
              <a:defRPr sz="1875" b="1">
                <a:solidFill>
                  <a:srgbClr val="17365D"/>
                </a:solidFill>
              </a:defRPr>
            </a:pPr>
            <a:r>
              <a:rPr sz="1875" b="1">
                <a:solidFill>
                  <a:srgbClr val="17365D"/>
                </a:solidFill>
              </a:rPr>
              <a:t>LoginService</a:t>
            </a:r>
          </a:p>
        </p:txBody>
      </p:sp>
      <p:sp>
        <p:nvSpPr>
          <p:cNvPr id="8" name="service-detail">
            <a:extLst>
              <a:ext uri="{FF2B5EF4-FFF2-40B4-BE49-F238E27FC236}">
                <a16:creationId xmlns:a16="http://schemas.microsoft.com/office/drawing/2014/main" id="{F2C0B703-C3B4-4323-8F1C-AA75E5AF82A3}"/>
              </a:ext>
            </a:extLst>
          </p:cNvPr>
          <p:cNvSpPr>
            <a:spLocks noGrp="1"/>
          </p:cNvSpPr>
          <p:nvPr/>
        </p:nvSpPr>
        <p:spPr>
          <a:xfrm>
            <a:off x="2143125" y="2800350"/>
            <a:ext cx="1924050" cy="571500"/>
          </a:xfrm>
          <a:prstGeom prst="rect">
            <a:avLst/>
          </a:prstGeom>
          <a:noFill/>
          <a:ln w="0">
            <a:noFill/>
            <a:prstDash val="solid"/>
          </a:ln>
        </p:spPr>
        <p:txBody>
          <a:bodyPr anchor="ctr"/>
          <a:lstStyle/>
          <a:p>
            <a:pPr algn="l">
              <a:defRPr sz="1350" b="0">
                <a:solidFill>
                  <a:srgbClr val="5A6573"/>
                </a:solidFill>
              </a:defRPr>
            </a:pPr>
            <a:r>
              <a:rPr sz="1350" b="0" dirty="0">
                <a:solidFill>
                  <a:srgbClr val="5A6573"/>
                </a:solidFill>
              </a:rPr>
              <a:t>Verify our authentication logic</a:t>
            </a:r>
          </a:p>
        </p:txBody>
      </p:sp>
      <p:sp>
        <p:nvSpPr>
          <p:cNvPr id="9" name="real-arrow">
            <a:extLst>
              <a:ext uri="{FF2B5EF4-FFF2-40B4-BE49-F238E27FC236}">
                <a16:creationId xmlns:a16="http://schemas.microsoft.com/office/drawing/2014/main" id="{D8A18BC0-49BD-4B27-AC6C-583EC75DD430}"/>
              </a:ext>
            </a:extLst>
          </p:cNvPr>
          <p:cNvSpPr>
            <a:spLocks noGrp="1"/>
          </p:cNvSpPr>
          <p:nvPr/>
        </p:nvSpPr>
        <p:spPr>
          <a:xfrm>
            <a:off x="4286250" y="2095500"/>
            <a:ext cx="1285875" cy="523875"/>
          </a:xfrm>
          <a:prstGeom prst="rightArrow">
            <a:avLst/>
          </a:prstGeom>
          <a:solidFill>
            <a:srgbClr val="C62828"/>
          </a:solidFill>
          <a:ln w="0">
            <a:solidFill>
              <a:srgbClr val="C62828"/>
            </a:solidFill>
            <a:prstDash val="solid"/>
          </a:ln>
        </p:spPr>
        <p:txBody>
          <a:bodyPr/>
          <a:lstStyle/>
          <a:p>
            <a:endParaRPr lang="en-US"/>
          </a:p>
        </p:txBody>
      </p:sp>
      <p:sp>
        <p:nvSpPr>
          <p:cNvPr id="10" name="real-db">
            <a:extLst>
              <a:ext uri="{FF2B5EF4-FFF2-40B4-BE49-F238E27FC236}">
                <a16:creationId xmlns:a16="http://schemas.microsoft.com/office/drawing/2014/main" id="{A317EAA8-2C38-44BB-A5B3-A802B0736C7E}"/>
              </a:ext>
            </a:extLst>
          </p:cNvPr>
          <p:cNvSpPr>
            <a:spLocks noGrp="1"/>
          </p:cNvSpPr>
          <p:nvPr/>
        </p:nvSpPr>
        <p:spPr>
          <a:xfrm>
            <a:off x="5810250" y="1638300"/>
            <a:ext cx="4495800" cy="1428750"/>
          </a:xfrm>
          <a:prstGeom prst="roundRect">
            <a:avLst>
              <a:gd name="adj" fmla="val 8000"/>
            </a:avLst>
          </a:prstGeom>
          <a:solidFill>
            <a:srgbClr val="FCEBEC"/>
          </a:solidFill>
          <a:ln w="19050">
            <a:solidFill>
              <a:srgbClr val="C62828"/>
            </a:solidFill>
            <a:prstDash val="solid"/>
          </a:ln>
        </p:spPr>
        <p:txBody>
          <a:bodyPr/>
          <a:lstStyle/>
          <a:p>
            <a:endParaRPr lang="en-US"/>
          </a:p>
        </p:txBody>
      </p:sp>
      <p:sp>
        <p:nvSpPr>
          <p:cNvPr id="11" name="database-circle">
            <a:extLst>
              <a:ext uri="{FF2B5EF4-FFF2-40B4-BE49-F238E27FC236}">
                <a16:creationId xmlns:a16="http://schemas.microsoft.com/office/drawing/2014/main" id="{E5299F6A-6F78-42B4-9AAD-839F4BA053E2}"/>
              </a:ext>
            </a:extLst>
          </p:cNvPr>
          <p:cNvSpPr>
            <a:spLocks noGrp="1"/>
          </p:cNvSpPr>
          <p:nvPr/>
        </p:nvSpPr>
        <p:spPr>
          <a:xfrm>
            <a:off x="6096000" y="2028825"/>
            <a:ext cx="628650" cy="628650"/>
          </a:xfrm>
          <a:prstGeom prst="ellipse">
            <a:avLst/>
          </a:prstGeom>
          <a:solidFill>
            <a:srgbClr val="FFFFFF"/>
          </a:solidFill>
          <a:ln w="28575">
            <a:solidFill>
              <a:srgbClr val="C62828"/>
            </a:solidFill>
            <a:prstDash val="solid"/>
          </a:ln>
        </p:spPr>
        <p:txBody>
          <a:bodyPr/>
          <a:lstStyle/>
          <a:p>
            <a:endParaRPr lang="en-US"/>
          </a:p>
        </p:txBody>
      </p:sp>
      <p:sp>
        <p:nvSpPr>
          <p:cNvPr id="12" name="database-label">
            <a:extLst>
              <a:ext uri="{FF2B5EF4-FFF2-40B4-BE49-F238E27FC236}">
                <a16:creationId xmlns:a16="http://schemas.microsoft.com/office/drawing/2014/main" id="{D8C5FD52-DF9C-4D9C-925D-65300800366A}"/>
              </a:ext>
            </a:extLst>
          </p:cNvPr>
          <p:cNvSpPr>
            <a:spLocks noGrp="1"/>
          </p:cNvSpPr>
          <p:nvPr/>
        </p:nvSpPr>
        <p:spPr>
          <a:xfrm>
            <a:off x="6096000" y="2019300"/>
            <a:ext cx="628650" cy="628650"/>
          </a:xfrm>
          <a:prstGeom prst="rect">
            <a:avLst/>
          </a:prstGeom>
          <a:noFill/>
          <a:ln w="0">
            <a:noFill/>
            <a:prstDash val="solid"/>
          </a:ln>
        </p:spPr>
        <p:txBody>
          <a:bodyPr anchor="ctr"/>
          <a:lstStyle/>
          <a:p>
            <a:pPr algn="ctr">
              <a:defRPr sz="1425" b="1">
                <a:solidFill>
                  <a:srgbClr val="C62828"/>
                </a:solidFill>
              </a:defRPr>
            </a:pPr>
            <a:r>
              <a:rPr sz="1425" b="1">
                <a:solidFill>
                  <a:srgbClr val="C62828"/>
                </a:solidFill>
              </a:rPr>
              <a:t>DB</a:t>
            </a:r>
          </a:p>
        </p:txBody>
      </p:sp>
      <p:sp>
        <p:nvSpPr>
          <p:cNvPr id="13" name="real-title">
            <a:extLst>
              <a:ext uri="{FF2B5EF4-FFF2-40B4-BE49-F238E27FC236}">
                <a16:creationId xmlns:a16="http://schemas.microsoft.com/office/drawing/2014/main" id="{9A179F36-35F4-4415-A40C-BB015E04B711}"/>
              </a:ext>
            </a:extLst>
          </p:cNvPr>
          <p:cNvSpPr>
            <a:spLocks noGrp="1"/>
          </p:cNvSpPr>
          <p:nvPr/>
        </p:nvSpPr>
        <p:spPr>
          <a:xfrm>
            <a:off x="6953250" y="1905000"/>
            <a:ext cx="2190750" cy="342900"/>
          </a:xfrm>
          <a:prstGeom prst="rect">
            <a:avLst/>
          </a:prstGeom>
          <a:noFill/>
          <a:ln w="0">
            <a:noFill/>
            <a:prstDash val="solid"/>
          </a:ln>
        </p:spPr>
        <p:txBody>
          <a:bodyPr anchor="ctr"/>
          <a:lstStyle/>
          <a:p>
            <a:pPr algn="l">
              <a:defRPr sz="1950" b="1">
                <a:solidFill>
                  <a:srgbClr val="C62828"/>
                </a:solidFill>
              </a:defRPr>
            </a:pPr>
            <a:r>
              <a:rPr sz="1950" b="1">
                <a:solidFill>
                  <a:srgbClr val="C62828"/>
                </a:solidFill>
              </a:rPr>
              <a:t>Real database</a:t>
            </a:r>
          </a:p>
        </p:txBody>
      </p:sp>
      <p:sp>
        <p:nvSpPr>
          <p:cNvPr id="14" name="real-risk">
            <a:extLst>
              <a:ext uri="{FF2B5EF4-FFF2-40B4-BE49-F238E27FC236}">
                <a16:creationId xmlns:a16="http://schemas.microsoft.com/office/drawing/2014/main" id="{1AC54AA5-5002-4883-A3CF-CD1085112C9D}"/>
              </a:ext>
            </a:extLst>
          </p:cNvPr>
          <p:cNvSpPr>
            <a:spLocks noGrp="1"/>
          </p:cNvSpPr>
          <p:nvPr/>
        </p:nvSpPr>
        <p:spPr>
          <a:xfrm>
            <a:off x="6953250" y="2305050"/>
            <a:ext cx="2952750" cy="381000"/>
          </a:xfrm>
          <a:prstGeom prst="rect">
            <a:avLst/>
          </a:prstGeom>
          <a:noFill/>
          <a:ln w="0">
            <a:noFill/>
            <a:prstDash val="solid"/>
          </a:ln>
        </p:spPr>
        <p:txBody>
          <a:bodyPr anchor="ctr"/>
          <a:lstStyle/>
          <a:p>
            <a:pPr algn="l">
              <a:defRPr sz="1425" b="0">
                <a:solidFill>
                  <a:srgbClr val="5A6573"/>
                </a:solidFill>
              </a:defRPr>
            </a:pPr>
            <a:r>
              <a:rPr sz="1425" b="0">
                <a:solidFill>
                  <a:srgbClr val="5A6573"/>
                </a:solidFill>
              </a:rPr>
              <a:t>Network, data, and availability can fail</a:t>
            </a:r>
          </a:p>
        </p:txBody>
      </p:sp>
      <p:sp>
        <p:nvSpPr>
          <p:cNvPr id="15" name="not-unit">
            <a:extLst>
              <a:ext uri="{FF2B5EF4-FFF2-40B4-BE49-F238E27FC236}">
                <a16:creationId xmlns:a16="http://schemas.microsoft.com/office/drawing/2014/main" id="{8D8D1198-488E-4746-84D1-23CF8F7543ED}"/>
              </a:ext>
            </a:extLst>
          </p:cNvPr>
          <p:cNvSpPr>
            <a:spLocks noGrp="1"/>
          </p:cNvSpPr>
          <p:nvPr/>
        </p:nvSpPr>
        <p:spPr>
          <a:xfrm>
            <a:off x="7772400" y="2752725"/>
            <a:ext cx="2305050" cy="247650"/>
          </a:xfrm>
          <a:prstGeom prst="rect">
            <a:avLst/>
          </a:prstGeom>
          <a:noFill/>
          <a:ln w="0">
            <a:noFill/>
            <a:prstDash val="solid"/>
          </a:ln>
        </p:spPr>
        <p:txBody>
          <a:bodyPr anchor="ctr"/>
          <a:lstStyle/>
          <a:p>
            <a:pPr algn="r">
              <a:defRPr sz="975" b="1">
                <a:solidFill>
                  <a:srgbClr val="C62828"/>
                </a:solidFill>
              </a:defRPr>
            </a:pPr>
            <a:r>
              <a:rPr sz="975" b="1">
                <a:solidFill>
                  <a:srgbClr val="C62828"/>
                </a:solidFill>
              </a:rPr>
              <a:t>NOT CONTROLLED BY THE TEST</a:t>
            </a:r>
          </a:p>
        </p:txBody>
      </p:sp>
      <p:sp>
        <p:nvSpPr>
          <p:cNvPr id="16" name="fake-arrow">
            <a:extLst>
              <a:ext uri="{FF2B5EF4-FFF2-40B4-BE49-F238E27FC236}">
                <a16:creationId xmlns:a16="http://schemas.microsoft.com/office/drawing/2014/main" id="{40D5167D-BB1A-465E-B8FF-FC71A500E691}"/>
              </a:ext>
            </a:extLst>
          </p:cNvPr>
          <p:cNvSpPr>
            <a:spLocks noGrp="1"/>
          </p:cNvSpPr>
          <p:nvPr/>
        </p:nvSpPr>
        <p:spPr>
          <a:xfrm>
            <a:off x="4286250" y="3448685"/>
            <a:ext cx="1285875" cy="523875"/>
          </a:xfrm>
          <a:prstGeom prst="rightArrow">
            <a:avLst/>
          </a:prstGeom>
          <a:solidFill>
            <a:srgbClr val="2E7D32"/>
          </a:solidFill>
          <a:ln w="0">
            <a:solidFill>
              <a:srgbClr val="2E7D32"/>
            </a:solidFill>
            <a:prstDash val="solid"/>
          </a:ln>
        </p:spPr>
        <p:txBody>
          <a:bodyPr/>
          <a:lstStyle/>
          <a:p>
            <a:endParaRPr lang="en-US"/>
          </a:p>
        </p:txBody>
      </p:sp>
      <p:sp>
        <p:nvSpPr>
          <p:cNvPr id="17" name="fake-db">
            <a:extLst>
              <a:ext uri="{FF2B5EF4-FFF2-40B4-BE49-F238E27FC236}">
                <a16:creationId xmlns:a16="http://schemas.microsoft.com/office/drawing/2014/main" id="{DEC302F0-2ABD-4AB8-8740-17FFE142D4D8}"/>
              </a:ext>
            </a:extLst>
          </p:cNvPr>
          <p:cNvSpPr>
            <a:spLocks noGrp="1"/>
          </p:cNvSpPr>
          <p:nvPr/>
        </p:nvSpPr>
        <p:spPr>
          <a:xfrm>
            <a:off x="5810250" y="3286125"/>
            <a:ext cx="4495800" cy="1428750"/>
          </a:xfrm>
          <a:prstGeom prst="roundRect">
            <a:avLst>
              <a:gd name="adj" fmla="val 8000"/>
            </a:avLst>
          </a:prstGeom>
          <a:solidFill>
            <a:srgbClr val="EAF5EB"/>
          </a:solidFill>
          <a:ln w="19050">
            <a:solidFill>
              <a:srgbClr val="2E7D32"/>
            </a:solidFill>
            <a:prstDash val="solid"/>
          </a:ln>
        </p:spPr>
        <p:txBody>
          <a:bodyPr/>
          <a:lstStyle/>
          <a:p>
            <a:endParaRPr lang="en-US"/>
          </a:p>
        </p:txBody>
      </p:sp>
      <p:sp>
        <p:nvSpPr>
          <p:cNvPr id="18" name="double-circle">
            <a:extLst>
              <a:ext uri="{FF2B5EF4-FFF2-40B4-BE49-F238E27FC236}">
                <a16:creationId xmlns:a16="http://schemas.microsoft.com/office/drawing/2014/main" id="{9097EEFC-C928-49FD-A6E6-964C85116378}"/>
              </a:ext>
            </a:extLst>
          </p:cNvPr>
          <p:cNvSpPr>
            <a:spLocks noGrp="1"/>
          </p:cNvSpPr>
          <p:nvPr/>
        </p:nvSpPr>
        <p:spPr>
          <a:xfrm>
            <a:off x="6096000" y="3676650"/>
            <a:ext cx="628650" cy="628650"/>
          </a:xfrm>
          <a:prstGeom prst="ellipse">
            <a:avLst/>
          </a:prstGeom>
          <a:solidFill>
            <a:srgbClr val="FFFFFF"/>
          </a:solidFill>
          <a:ln w="28575">
            <a:solidFill>
              <a:srgbClr val="2E7D32"/>
            </a:solidFill>
            <a:prstDash val="solid"/>
          </a:ln>
        </p:spPr>
        <p:txBody>
          <a:bodyPr/>
          <a:lstStyle/>
          <a:p>
            <a:endParaRPr lang="en-US"/>
          </a:p>
        </p:txBody>
      </p:sp>
      <p:sp>
        <p:nvSpPr>
          <p:cNvPr id="19" name="double-label">
            <a:extLst>
              <a:ext uri="{FF2B5EF4-FFF2-40B4-BE49-F238E27FC236}">
                <a16:creationId xmlns:a16="http://schemas.microsoft.com/office/drawing/2014/main" id="{BD492FCC-6103-48F0-9C75-26AF89DFB1A5}"/>
              </a:ext>
            </a:extLst>
          </p:cNvPr>
          <p:cNvSpPr>
            <a:spLocks noGrp="1"/>
          </p:cNvSpPr>
          <p:nvPr/>
        </p:nvSpPr>
        <p:spPr>
          <a:xfrm>
            <a:off x="6096000" y="3667125"/>
            <a:ext cx="628650" cy="628650"/>
          </a:xfrm>
          <a:prstGeom prst="rect">
            <a:avLst/>
          </a:prstGeom>
          <a:noFill/>
          <a:ln w="0">
            <a:noFill/>
            <a:prstDash val="solid"/>
          </a:ln>
        </p:spPr>
        <p:txBody>
          <a:bodyPr anchor="ctr"/>
          <a:lstStyle/>
          <a:p>
            <a:pPr algn="ctr">
              <a:defRPr sz="2025" b="1">
                <a:solidFill>
                  <a:srgbClr val="2E7D32"/>
                </a:solidFill>
              </a:defRPr>
            </a:pPr>
            <a:r>
              <a:rPr sz="2025" b="1">
                <a:solidFill>
                  <a:srgbClr val="2E7D32"/>
                </a:solidFill>
              </a:rPr>
              <a:t>✓</a:t>
            </a:r>
          </a:p>
        </p:txBody>
      </p:sp>
      <p:sp>
        <p:nvSpPr>
          <p:cNvPr id="20" name="fake-title">
            <a:extLst>
              <a:ext uri="{FF2B5EF4-FFF2-40B4-BE49-F238E27FC236}">
                <a16:creationId xmlns:a16="http://schemas.microsoft.com/office/drawing/2014/main" id="{A08210AB-96AD-4307-8016-BE8605394748}"/>
              </a:ext>
            </a:extLst>
          </p:cNvPr>
          <p:cNvSpPr>
            <a:spLocks noGrp="1"/>
          </p:cNvSpPr>
          <p:nvPr/>
        </p:nvSpPr>
        <p:spPr>
          <a:xfrm>
            <a:off x="6953250" y="3552825"/>
            <a:ext cx="2190750" cy="342900"/>
          </a:xfrm>
          <a:prstGeom prst="rect">
            <a:avLst/>
          </a:prstGeom>
          <a:noFill/>
          <a:ln w="0">
            <a:noFill/>
            <a:prstDash val="solid"/>
          </a:ln>
        </p:spPr>
        <p:txBody>
          <a:bodyPr anchor="ctr"/>
          <a:lstStyle/>
          <a:p>
            <a:pPr algn="l">
              <a:defRPr sz="1950" b="1">
                <a:solidFill>
                  <a:srgbClr val="2E7D32"/>
                </a:solidFill>
              </a:defRPr>
            </a:pPr>
            <a:r>
              <a:rPr sz="1950" b="1">
                <a:solidFill>
                  <a:srgbClr val="2E7D32"/>
                </a:solidFill>
              </a:rPr>
              <a:t>Test double</a:t>
            </a:r>
          </a:p>
        </p:txBody>
      </p:sp>
      <p:sp>
        <p:nvSpPr>
          <p:cNvPr id="21" name="fake-detail">
            <a:extLst>
              <a:ext uri="{FF2B5EF4-FFF2-40B4-BE49-F238E27FC236}">
                <a16:creationId xmlns:a16="http://schemas.microsoft.com/office/drawing/2014/main" id="{9FE4A59C-486E-46D8-8C1A-3365399B13A3}"/>
              </a:ext>
            </a:extLst>
          </p:cNvPr>
          <p:cNvSpPr>
            <a:spLocks noGrp="1"/>
          </p:cNvSpPr>
          <p:nvPr/>
        </p:nvSpPr>
        <p:spPr>
          <a:xfrm>
            <a:off x="6953250" y="3952875"/>
            <a:ext cx="3143250" cy="457200"/>
          </a:xfrm>
          <a:prstGeom prst="rect">
            <a:avLst/>
          </a:prstGeom>
          <a:noFill/>
          <a:ln w="0">
            <a:noFill/>
            <a:prstDash val="solid"/>
          </a:ln>
        </p:spPr>
        <p:txBody>
          <a:bodyPr anchor="ctr"/>
          <a:lstStyle/>
          <a:p>
            <a:pPr algn="l">
              <a:defRPr sz="1425" b="0">
                <a:solidFill>
                  <a:srgbClr val="5A6573"/>
                </a:solidFill>
              </a:defRPr>
            </a:pPr>
            <a:r>
              <a:rPr sz="1425" b="0">
                <a:solidFill>
                  <a:srgbClr val="5A6573"/>
                </a:solidFill>
              </a:rPr>
              <a:t>Fast, predictable response controlled by the test</a:t>
            </a:r>
          </a:p>
        </p:txBody>
      </p:sp>
      <p:sp>
        <p:nvSpPr>
          <p:cNvPr id="22" name="takeaway">
            <a:extLst>
              <a:ext uri="{FF2B5EF4-FFF2-40B4-BE49-F238E27FC236}">
                <a16:creationId xmlns:a16="http://schemas.microsoft.com/office/drawing/2014/main" id="{B3557552-0693-4092-905E-ECE8C4B91100}"/>
              </a:ext>
            </a:extLst>
          </p:cNvPr>
          <p:cNvSpPr>
            <a:spLocks noGrp="1"/>
          </p:cNvSpPr>
          <p:nvPr/>
        </p:nvSpPr>
        <p:spPr>
          <a:xfrm>
            <a:off x="781050" y="5206094"/>
            <a:ext cx="10629900" cy="723900"/>
          </a:xfrm>
          <a:prstGeom prst="roundRect">
            <a:avLst>
              <a:gd name="adj" fmla="val 10526"/>
            </a:avLst>
          </a:prstGeom>
          <a:solidFill>
            <a:srgbClr val="F5F8FC"/>
          </a:solidFill>
          <a:ln w="19050">
            <a:solidFill>
              <a:srgbClr val="17365D"/>
            </a:solidFill>
            <a:prstDash val="solid"/>
          </a:ln>
        </p:spPr>
        <p:txBody>
          <a:bodyPr/>
          <a:lstStyle/>
          <a:p>
            <a:endParaRPr lang="en-US"/>
          </a:p>
        </p:txBody>
      </p:sp>
      <p:sp>
        <p:nvSpPr>
          <p:cNvPr id="23" name="takeaway-text">
            <a:extLst>
              <a:ext uri="{FF2B5EF4-FFF2-40B4-BE49-F238E27FC236}">
                <a16:creationId xmlns:a16="http://schemas.microsoft.com/office/drawing/2014/main" id="{8DA23943-950E-40DD-BCC5-23363B9FCAEA}"/>
              </a:ext>
            </a:extLst>
          </p:cNvPr>
          <p:cNvSpPr>
            <a:spLocks noGrp="1"/>
          </p:cNvSpPr>
          <p:nvPr/>
        </p:nvSpPr>
        <p:spPr>
          <a:xfrm>
            <a:off x="1066800" y="5358494"/>
            <a:ext cx="10058400" cy="419100"/>
          </a:xfrm>
          <a:prstGeom prst="rect">
            <a:avLst/>
          </a:prstGeom>
          <a:noFill/>
          <a:ln w="0">
            <a:noFill/>
            <a:prstDash val="solid"/>
          </a:ln>
        </p:spPr>
        <p:txBody>
          <a:bodyPr anchor="ctr"/>
          <a:lstStyle/>
          <a:p>
            <a:pPr algn="ctr">
              <a:defRPr sz="1800" b="1">
                <a:solidFill>
                  <a:srgbClr val="17365D"/>
                </a:solidFill>
              </a:defRPr>
            </a:pPr>
            <a:r>
              <a:rPr sz="1800" b="1">
                <a:solidFill>
                  <a:srgbClr val="17365D"/>
                </a:solidFill>
              </a:rPr>
              <a:t>Use a test double to isolate the unit; test the real dependency separately.</a:t>
            </a:r>
          </a:p>
        </p:txBody>
      </p:sp>
      <p:sp>
        <p:nvSpPr>
          <p:cNvPr id="26" name="TextBox 25">
            <a:extLst>
              <a:ext uri="{FF2B5EF4-FFF2-40B4-BE49-F238E27FC236}">
                <a16:creationId xmlns:a16="http://schemas.microsoft.com/office/drawing/2014/main" id="{560437EA-FCBF-EFBA-705A-A18483978BDB}"/>
              </a:ext>
            </a:extLst>
          </p:cNvPr>
          <p:cNvSpPr txBox="1"/>
          <p:nvPr/>
        </p:nvSpPr>
        <p:spPr>
          <a:xfrm>
            <a:off x="1880198" y="6274860"/>
            <a:ext cx="6097978" cy="461665"/>
          </a:xfrm>
          <a:prstGeom prst="rect">
            <a:avLst/>
          </a:prstGeom>
          <a:noFill/>
        </p:spPr>
        <p:txBody>
          <a:bodyPr wrap="square">
            <a:spAutoFit/>
          </a:bodyPr>
          <a:lstStyle/>
          <a:p>
            <a:r>
              <a:rPr lang="en-GB" sz="1200" dirty="0"/>
              <a:t>Clean C++20, Chapter 2, section on Test Doubles (Fake Objects).</a:t>
            </a:r>
          </a:p>
          <a:p>
            <a:r>
              <a:rPr lang="en-GB" sz="1200" dirty="0"/>
              <a:t>https://</a:t>
            </a:r>
            <a:r>
              <a:rPr lang="en-GB" sz="1200" dirty="0" err="1"/>
              <a:t>blog.pragmatists.com</a:t>
            </a:r>
            <a:r>
              <a:rPr lang="en-GB" sz="1200" dirty="0"/>
              <a:t>/test-doubles-fakes-mocks-and-stubs-1a7491dfa3da</a:t>
            </a:r>
          </a:p>
        </p:txBody>
      </p:sp>
      <p:sp>
        <p:nvSpPr>
          <p:cNvPr id="27" name="TextBox 26">
            <a:extLst>
              <a:ext uri="{FF2B5EF4-FFF2-40B4-BE49-F238E27FC236}">
                <a16:creationId xmlns:a16="http://schemas.microsoft.com/office/drawing/2014/main" id="{64B34190-71F3-1A17-A301-526940E6E199}"/>
              </a:ext>
            </a:extLst>
          </p:cNvPr>
          <p:cNvSpPr txBox="1"/>
          <p:nvPr/>
        </p:nvSpPr>
        <p:spPr>
          <a:xfrm>
            <a:off x="9905999" y="705535"/>
            <a:ext cx="2171205" cy="646331"/>
          </a:xfrm>
          <a:prstGeom prst="rect">
            <a:avLst/>
          </a:prstGeom>
          <a:noFill/>
          <a:ln w="28575">
            <a:solidFill>
              <a:srgbClr val="011893"/>
            </a:solidFill>
          </a:ln>
        </p:spPr>
        <p:txBody>
          <a:bodyPr wrap="square" rtlCol="0">
            <a:spAutoFit/>
          </a:bodyPr>
          <a:lstStyle/>
          <a:p>
            <a:r>
              <a:rPr lang="en-US" dirty="0"/>
              <a:t>Interaction belongs to Integration</a:t>
            </a:r>
          </a:p>
        </p:txBody>
      </p:sp>
      <p:cxnSp>
        <p:nvCxnSpPr>
          <p:cNvPr id="29" name="Straight Arrow Connector 28">
            <a:extLst>
              <a:ext uri="{FF2B5EF4-FFF2-40B4-BE49-F238E27FC236}">
                <a16:creationId xmlns:a16="http://schemas.microsoft.com/office/drawing/2014/main" id="{4F7EF386-B366-0BCC-FDB4-C542AE818DFA}"/>
              </a:ext>
            </a:extLst>
          </p:cNvPr>
          <p:cNvCxnSpPr>
            <a:stCxn id="27" idx="2"/>
          </p:cNvCxnSpPr>
          <p:nvPr/>
        </p:nvCxnSpPr>
        <p:spPr>
          <a:xfrm flipH="1">
            <a:off x="10306050" y="1351866"/>
            <a:ext cx="685552" cy="553134"/>
          </a:xfrm>
          <a:prstGeom prst="straightConnector1">
            <a:avLst/>
          </a:prstGeom>
          <a:ln w="28575">
            <a:solidFill>
              <a:srgbClr val="01189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305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par>
                                <p:cTn id="16" presetID="10" presetClass="entr" presetSubtype="0" fill="hold"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2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a:extLst>
              <a:ext uri="{FF2B5EF4-FFF2-40B4-BE49-F238E27FC236}">
                <a16:creationId xmlns:a16="http://schemas.microsoft.com/office/drawing/2014/main" id="{56BB15EA-57A0-4BBD-B023-ABC7AD9BAD8E}"/>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11111"/>
                </a:solidFill>
              </a:defRPr>
            </a:pPr>
            <a:r>
              <a:rPr sz="3000" b="0" dirty="0">
                <a:solidFill>
                  <a:srgbClr val="111111"/>
                </a:solidFill>
              </a:rPr>
              <a:t>Fast </a:t>
            </a:r>
            <a:r>
              <a:rPr lang="en-US" sz="3000" b="0" dirty="0">
                <a:solidFill>
                  <a:srgbClr val="111111"/>
                </a:solidFill>
              </a:rPr>
              <a:t>unit </a:t>
            </a:r>
            <a:r>
              <a:rPr sz="3000" b="0" dirty="0">
                <a:solidFill>
                  <a:srgbClr val="111111"/>
                </a:solidFill>
              </a:rPr>
              <a:t>tests </a:t>
            </a:r>
            <a:r>
              <a:rPr lang="en-US" sz="3000" b="0" dirty="0">
                <a:solidFill>
                  <a:srgbClr val="111111"/>
                </a:solidFill>
              </a:rPr>
              <a:t>keep the feedback loop short</a:t>
            </a:r>
            <a:endParaRPr sz="3000" b="0" dirty="0">
              <a:solidFill>
                <a:srgbClr val="111111"/>
              </a:solidFill>
            </a:endParaRPr>
          </a:p>
        </p:txBody>
      </p:sp>
      <p:sp>
        <p:nvSpPr>
          <p:cNvPr id="2" name="title-rule">
            <a:extLst>
              <a:ext uri="{FF2B5EF4-FFF2-40B4-BE49-F238E27FC236}">
                <a16:creationId xmlns:a16="http://schemas.microsoft.com/office/drawing/2014/main" id="{1E30AE45-3A5C-4BCC-AF76-63FB375C2FF7}"/>
              </a:ext>
            </a:extLst>
          </p:cNvPr>
          <p:cNvSpPr>
            <a:spLocks noGrp="1"/>
          </p:cNvSpPr>
          <p:nvPr/>
        </p:nvSpPr>
        <p:spPr>
          <a:xfrm>
            <a:off x="685800" y="1066800"/>
            <a:ext cx="1571625" cy="38100"/>
          </a:xfrm>
          <a:prstGeom prst="rect">
            <a:avLst/>
          </a:prstGeom>
          <a:solidFill>
            <a:srgbClr val="17365D"/>
          </a:solidFill>
          <a:ln w="0">
            <a:solidFill>
              <a:srgbClr val="17365D"/>
            </a:solidFill>
            <a:prstDash val="solid"/>
          </a:ln>
        </p:spPr>
        <p:txBody>
          <a:bodyPr/>
          <a:lstStyle/>
          <a:p>
            <a:endParaRPr lang="en-US"/>
          </a:p>
        </p:txBody>
      </p:sp>
      <p:sp>
        <p:nvSpPr>
          <p:cNvPr id="3" name="lead">
            <a:extLst>
              <a:ext uri="{FF2B5EF4-FFF2-40B4-BE49-F238E27FC236}">
                <a16:creationId xmlns:a16="http://schemas.microsoft.com/office/drawing/2014/main" id="{BF1817E3-495D-4B7B-AF2E-4E5F0244BF63}"/>
              </a:ext>
            </a:extLst>
          </p:cNvPr>
          <p:cNvSpPr>
            <a:spLocks noGrp="1"/>
          </p:cNvSpPr>
          <p:nvPr/>
        </p:nvSpPr>
        <p:spPr>
          <a:xfrm>
            <a:off x="876300" y="1409700"/>
            <a:ext cx="10439400" cy="400050"/>
          </a:xfrm>
          <a:prstGeom prst="rect">
            <a:avLst/>
          </a:prstGeom>
          <a:noFill/>
          <a:ln w="0">
            <a:noFill/>
            <a:prstDash val="solid"/>
          </a:ln>
        </p:spPr>
        <p:txBody>
          <a:bodyPr anchor="ctr"/>
          <a:lstStyle/>
          <a:p>
            <a:pPr algn="ctr">
              <a:defRPr sz="1875" b="0">
                <a:solidFill>
                  <a:srgbClr val="5A6573"/>
                </a:solidFill>
              </a:defRPr>
            </a:pPr>
            <a:r>
              <a:rPr sz="1875" b="0" dirty="0">
                <a:solidFill>
                  <a:srgbClr val="5A6573"/>
                </a:solidFill>
              </a:rPr>
              <a:t>A short feedback loop supports frequent, confident changes.</a:t>
            </a:r>
          </a:p>
        </p:txBody>
      </p:sp>
      <p:sp>
        <p:nvSpPr>
          <p:cNvPr id="4" name="a1">
            <a:extLst>
              <a:ext uri="{FF2B5EF4-FFF2-40B4-BE49-F238E27FC236}">
                <a16:creationId xmlns:a16="http://schemas.microsoft.com/office/drawing/2014/main" id="{680EC9A6-A434-467B-9589-BF615F6E7AD9}"/>
              </a:ext>
            </a:extLst>
          </p:cNvPr>
          <p:cNvSpPr>
            <a:spLocks noGrp="1"/>
          </p:cNvSpPr>
          <p:nvPr/>
        </p:nvSpPr>
        <p:spPr>
          <a:xfrm>
            <a:off x="3429000" y="2762250"/>
            <a:ext cx="714375" cy="438150"/>
          </a:xfrm>
          <a:prstGeom prst="rightArrow">
            <a:avLst/>
          </a:prstGeom>
          <a:solidFill>
            <a:srgbClr val="17365D"/>
          </a:solidFill>
          <a:ln w="0">
            <a:solidFill>
              <a:srgbClr val="17365D"/>
            </a:solidFill>
            <a:prstDash val="solid"/>
          </a:ln>
        </p:spPr>
        <p:txBody>
          <a:bodyPr/>
          <a:lstStyle/>
          <a:p>
            <a:endParaRPr lang="en-US"/>
          </a:p>
        </p:txBody>
      </p:sp>
      <p:sp>
        <p:nvSpPr>
          <p:cNvPr id="5" name="a2">
            <a:extLst>
              <a:ext uri="{FF2B5EF4-FFF2-40B4-BE49-F238E27FC236}">
                <a16:creationId xmlns:a16="http://schemas.microsoft.com/office/drawing/2014/main" id="{383D3AB1-3307-492A-8312-4A8E518A996F}"/>
              </a:ext>
            </a:extLst>
          </p:cNvPr>
          <p:cNvSpPr>
            <a:spLocks noGrp="1"/>
          </p:cNvSpPr>
          <p:nvPr/>
        </p:nvSpPr>
        <p:spPr>
          <a:xfrm>
            <a:off x="6429375" y="2762250"/>
            <a:ext cx="714375" cy="438150"/>
          </a:xfrm>
          <a:prstGeom prst="rightArrow">
            <a:avLst/>
          </a:prstGeom>
          <a:solidFill>
            <a:srgbClr val="17365D"/>
          </a:solidFill>
          <a:ln w="0">
            <a:solidFill>
              <a:srgbClr val="17365D"/>
            </a:solidFill>
            <a:prstDash val="solid"/>
          </a:ln>
        </p:spPr>
        <p:txBody>
          <a:bodyPr/>
          <a:lstStyle/>
          <a:p>
            <a:endParaRPr lang="en-US"/>
          </a:p>
        </p:txBody>
      </p:sp>
      <p:sp>
        <p:nvSpPr>
          <p:cNvPr id="6" name="step-0">
            <a:extLst>
              <a:ext uri="{FF2B5EF4-FFF2-40B4-BE49-F238E27FC236}">
                <a16:creationId xmlns:a16="http://schemas.microsoft.com/office/drawing/2014/main" id="{B86107F7-C1B9-4169-A397-EC2CD8F966B4}"/>
              </a:ext>
            </a:extLst>
          </p:cNvPr>
          <p:cNvSpPr>
            <a:spLocks noGrp="1"/>
          </p:cNvSpPr>
          <p:nvPr/>
        </p:nvSpPr>
        <p:spPr>
          <a:xfrm>
            <a:off x="1257300" y="2095500"/>
            <a:ext cx="2457450" cy="2000250"/>
          </a:xfrm>
          <a:prstGeom prst="roundRect">
            <a:avLst>
              <a:gd name="adj" fmla="val 5714"/>
            </a:avLst>
          </a:prstGeom>
          <a:solidFill>
            <a:srgbClr val="F5F8FC"/>
          </a:solidFill>
          <a:ln w="19050">
            <a:solidFill>
              <a:srgbClr val="17365D"/>
            </a:solidFill>
            <a:prstDash val="solid"/>
          </a:ln>
        </p:spPr>
        <p:txBody>
          <a:bodyPr/>
          <a:lstStyle/>
          <a:p>
            <a:endParaRPr lang="en-US"/>
          </a:p>
        </p:txBody>
      </p:sp>
      <p:sp>
        <p:nvSpPr>
          <p:cNvPr id="7" name="num-0-circle">
            <a:extLst>
              <a:ext uri="{FF2B5EF4-FFF2-40B4-BE49-F238E27FC236}">
                <a16:creationId xmlns:a16="http://schemas.microsoft.com/office/drawing/2014/main" id="{5F570A06-94A3-4C64-826D-C2BA14106DD7}"/>
              </a:ext>
            </a:extLst>
          </p:cNvPr>
          <p:cNvSpPr>
            <a:spLocks noGrp="1"/>
          </p:cNvSpPr>
          <p:nvPr/>
        </p:nvSpPr>
        <p:spPr>
          <a:xfrm>
            <a:off x="2133600" y="2324100"/>
            <a:ext cx="514350" cy="514350"/>
          </a:xfrm>
          <a:prstGeom prst="ellipse">
            <a:avLst/>
          </a:prstGeom>
          <a:solidFill>
            <a:srgbClr val="FFFFFF"/>
          </a:solidFill>
          <a:ln w="28575">
            <a:solidFill>
              <a:srgbClr val="17365D"/>
            </a:solidFill>
            <a:prstDash val="solid"/>
          </a:ln>
        </p:spPr>
        <p:txBody>
          <a:bodyPr/>
          <a:lstStyle/>
          <a:p>
            <a:endParaRPr lang="en-US"/>
          </a:p>
        </p:txBody>
      </p:sp>
      <p:sp>
        <p:nvSpPr>
          <p:cNvPr id="8" name="num-0-label">
            <a:extLst>
              <a:ext uri="{FF2B5EF4-FFF2-40B4-BE49-F238E27FC236}">
                <a16:creationId xmlns:a16="http://schemas.microsoft.com/office/drawing/2014/main" id="{1BFDC91E-D7B9-434D-93DE-8B37AA64FA16}"/>
              </a:ext>
            </a:extLst>
          </p:cNvPr>
          <p:cNvSpPr>
            <a:spLocks noGrp="1"/>
          </p:cNvSpPr>
          <p:nvPr/>
        </p:nvSpPr>
        <p:spPr>
          <a:xfrm>
            <a:off x="2133600" y="2314575"/>
            <a:ext cx="514350" cy="514350"/>
          </a:xfrm>
          <a:prstGeom prst="rect">
            <a:avLst/>
          </a:prstGeom>
          <a:noFill/>
          <a:ln w="0">
            <a:noFill/>
            <a:prstDash val="solid"/>
          </a:ln>
        </p:spPr>
        <p:txBody>
          <a:bodyPr anchor="ctr"/>
          <a:lstStyle/>
          <a:p>
            <a:pPr algn="ctr">
              <a:defRPr sz="1650" b="1">
                <a:solidFill>
                  <a:srgbClr val="17365D"/>
                </a:solidFill>
              </a:defRPr>
            </a:pPr>
            <a:r>
              <a:rPr sz="1650" b="1">
                <a:solidFill>
                  <a:srgbClr val="17365D"/>
                </a:solidFill>
              </a:rPr>
              <a:t>1</a:t>
            </a:r>
          </a:p>
        </p:txBody>
      </p:sp>
      <p:sp>
        <p:nvSpPr>
          <p:cNvPr id="9" name="head-0">
            <a:extLst>
              <a:ext uri="{FF2B5EF4-FFF2-40B4-BE49-F238E27FC236}">
                <a16:creationId xmlns:a16="http://schemas.microsoft.com/office/drawing/2014/main" id="{5169180D-BC66-4990-B467-9E1C73777D84}"/>
              </a:ext>
            </a:extLst>
          </p:cNvPr>
          <p:cNvSpPr>
            <a:spLocks noGrp="1"/>
          </p:cNvSpPr>
          <p:nvPr/>
        </p:nvSpPr>
        <p:spPr>
          <a:xfrm>
            <a:off x="1447800" y="2971800"/>
            <a:ext cx="2076450" cy="342900"/>
          </a:xfrm>
          <a:prstGeom prst="rect">
            <a:avLst/>
          </a:prstGeom>
          <a:noFill/>
          <a:ln w="0">
            <a:noFill/>
            <a:prstDash val="solid"/>
          </a:ln>
        </p:spPr>
        <p:txBody>
          <a:bodyPr anchor="ctr"/>
          <a:lstStyle/>
          <a:p>
            <a:pPr algn="ctr">
              <a:defRPr sz="1800" b="1">
                <a:solidFill>
                  <a:srgbClr val="17365D"/>
                </a:solidFill>
              </a:defRPr>
            </a:pPr>
            <a:r>
              <a:rPr sz="1800" b="1">
                <a:solidFill>
                  <a:srgbClr val="17365D"/>
                </a:solidFill>
              </a:rPr>
              <a:t>Change code</a:t>
            </a:r>
          </a:p>
        </p:txBody>
      </p:sp>
      <p:sp>
        <p:nvSpPr>
          <p:cNvPr id="10" name="detail-0">
            <a:extLst>
              <a:ext uri="{FF2B5EF4-FFF2-40B4-BE49-F238E27FC236}">
                <a16:creationId xmlns:a16="http://schemas.microsoft.com/office/drawing/2014/main" id="{70A47306-6BA2-4768-A6A8-4A230C64E50E}"/>
              </a:ext>
            </a:extLst>
          </p:cNvPr>
          <p:cNvSpPr>
            <a:spLocks noGrp="1"/>
          </p:cNvSpPr>
          <p:nvPr/>
        </p:nvSpPr>
        <p:spPr>
          <a:xfrm>
            <a:off x="1485900" y="3371850"/>
            <a:ext cx="2000250" cy="476250"/>
          </a:xfrm>
          <a:prstGeom prst="rect">
            <a:avLst/>
          </a:prstGeom>
          <a:noFill/>
          <a:ln w="0">
            <a:noFill/>
            <a:prstDash val="solid"/>
          </a:ln>
        </p:spPr>
        <p:txBody>
          <a:bodyPr anchor="ctr"/>
          <a:lstStyle/>
          <a:p>
            <a:pPr algn="ctr">
              <a:defRPr sz="1350" b="0">
                <a:solidFill>
                  <a:srgbClr val="5A6573"/>
                </a:solidFill>
              </a:defRPr>
            </a:pPr>
            <a:r>
              <a:rPr sz="1350" b="0">
                <a:solidFill>
                  <a:srgbClr val="5A6573"/>
                </a:solidFill>
              </a:rPr>
              <a:t>Small edit or refactoring</a:t>
            </a:r>
          </a:p>
        </p:txBody>
      </p:sp>
      <p:sp>
        <p:nvSpPr>
          <p:cNvPr id="11" name="step-1">
            <a:extLst>
              <a:ext uri="{FF2B5EF4-FFF2-40B4-BE49-F238E27FC236}">
                <a16:creationId xmlns:a16="http://schemas.microsoft.com/office/drawing/2014/main" id="{80A10A44-94FF-4FBD-961A-B81841532D61}"/>
              </a:ext>
            </a:extLst>
          </p:cNvPr>
          <p:cNvSpPr>
            <a:spLocks noGrp="1"/>
          </p:cNvSpPr>
          <p:nvPr/>
        </p:nvSpPr>
        <p:spPr>
          <a:xfrm>
            <a:off x="4257675" y="2095500"/>
            <a:ext cx="2457450" cy="2000250"/>
          </a:xfrm>
          <a:prstGeom prst="roundRect">
            <a:avLst>
              <a:gd name="adj" fmla="val 5714"/>
            </a:avLst>
          </a:prstGeom>
          <a:solidFill>
            <a:srgbClr val="EAF5EB"/>
          </a:solidFill>
          <a:ln w="19050">
            <a:solidFill>
              <a:srgbClr val="2E7D32"/>
            </a:solidFill>
            <a:prstDash val="solid"/>
          </a:ln>
        </p:spPr>
        <p:txBody>
          <a:bodyPr/>
          <a:lstStyle/>
          <a:p>
            <a:endParaRPr lang="en-US"/>
          </a:p>
        </p:txBody>
      </p:sp>
      <p:sp>
        <p:nvSpPr>
          <p:cNvPr id="12" name="num-1-circle">
            <a:extLst>
              <a:ext uri="{FF2B5EF4-FFF2-40B4-BE49-F238E27FC236}">
                <a16:creationId xmlns:a16="http://schemas.microsoft.com/office/drawing/2014/main" id="{78B52321-E2A3-4B2C-96AA-B9E7C81AE071}"/>
              </a:ext>
            </a:extLst>
          </p:cNvPr>
          <p:cNvSpPr>
            <a:spLocks noGrp="1"/>
          </p:cNvSpPr>
          <p:nvPr/>
        </p:nvSpPr>
        <p:spPr>
          <a:xfrm>
            <a:off x="5133975" y="2324100"/>
            <a:ext cx="514350" cy="514350"/>
          </a:xfrm>
          <a:prstGeom prst="ellipse">
            <a:avLst/>
          </a:prstGeom>
          <a:solidFill>
            <a:srgbClr val="FFFFFF"/>
          </a:solidFill>
          <a:ln w="28575">
            <a:solidFill>
              <a:srgbClr val="2E7D32"/>
            </a:solidFill>
            <a:prstDash val="solid"/>
          </a:ln>
        </p:spPr>
        <p:txBody>
          <a:bodyPr/>
          <a:lstStyle/>
          <a:p>
            <a:endParaRPr lang="en-US"/>
          </a:p>
        </p:txBody>
      </p:sp>
      <p:sp>
        <p:nvSpPr>
          <p:cNvPr id="13" name="num-1-label">
            <a:extLst>
              <a:ext uri="{FF2B5EF4-FFF2-40B4-BE49-F238E27FC236}">
                <a16:creationId xmlns:a16="http://schemas.microsoft.com/office/drawing/2014/main" id="{B2F41483-1EB2-4B05-959F-DF4F1D4BFC5B}"/>
              </a:ext>
            </a:extLst>
          </p:cNvPr>
          <p:cNvSpPr>
            <a:spLocks noGrp="1"/>
          </p:cNvSpPr>
          <p:nvPr/>
        </p:nvSpPr>
        <p:spPr>
          <a:xfrm>
            <a:off x="5133975" y="2314575"/>
            <a:ext cx="514350" cy="514350"/>
          </a:xfrm>
          <a:prstGeom prst="rect">
            <a:avLst/>
          </a:prstGeom>
          <a:noFill/>
          <a:ln w="0">
            <a:noFill/>
            <a:prstDash val="solid"/>
          </a:ln>
        </p:spPr>
        <p:txBody>
          <a:bodyPr anchor="ctr"/>
          <a:lstStyle/>
          <a:p>
            <a:pPr algn="ctr">
              <a:defRPr sz="1650" b="1">
                <a:solidFill>
                  <a:srgbClr val="2E7D32"/>
                </a:solidFill>
              </a:defRPr>
            </a:pPr>
            <a:r>
              <a:rPr sz="1650" b="1">
                <a:solidFill>
                  <a:srgbClr val="2E7D32"/>
                </a:solidFill>
              </a:rPr>
              <a:t>2</a:t>
            </a:r>
          </a:p>
        </p:txBody>
      </p:sp>
      <p:sp>
        <p:nvSpPr>
          <p:cNvPr id="14" name="head-1">
            <a:extLst>
              <a:ext uri="{FF2B5EF4-FFF2-40B4-BE49-F238E27FC236}">
                <a16:creationId xmlns:a16="http://schemas.microsoft.com/office/drawing/2014/main" id="{78402C78-BAD7-449E-91E5-11FD32C5D3CD}"/>
              </a:ext>
            </a:extLst>
          </p:cNvPr>
          <p:cNvSpPr>
            <a:spLocks noGrp="1"/>
          </p:cNvSpPr>
          <p:nvPr/>
        </p:nvSpPr>
        <p:spPr>
          <a:xfrm>
            <a:off x="4448175" y="2971800"/>
            <a:ext cx="2076450" cy="342900"/>
          </a:xfrm>
          <a:prstGeom prst="rect">
            <a:avLst/>
          </a:prstGeom>
          <a:noFill/>
          <a:ln w="0">
            <a:noFill/>
            <a:prstDash val="solid"/>
          </a:ln>
        </p:spPr>
        <p:txBody>
          <a:bodyPr anchor="ctr"/>
          <a:lstStyle/>
          <a:p>
            <a:pPr algn="ctr">
              <a:defRPr sz="1800" b="1">
                <a:solidFill>
                  <a:srgbClr val="2E7D32"/>
                </a:solidFill>
              </a:defRPr>
            </a:pPr>
            <a:r>
              <a:rPr sz="1800" b="1">
                <a:solidFill>
                  <a:srgbClr val="2E7D32"/>
                </a:solidFill>
              </a:rPr>
              <a:t>Run unit tests</a:t>
            </a:r>
          </a:p>
        </p:txBody>
      </p:sp>
      <p:sp>
        <p:nvSpPr>
          <p:cNvPr id="15" name="detail-1">
            <a:extLst>
              <a:ext uri="{FF2B5EF4-FFF2-40B4-BE49-F238E27FC236}">
                <a16:creationId xmlns:a16="http://schemas.microsoft.com/office/drawing/2014/main" id="{44C3EFCD-10F1-4245-BF8A-0919A0588402}"/>
              </a:ext>
            </a:extLst>
          </p:cNvPr>
          <p:cNvSpPr>
            <a:spLocks noGrp="1"/>
          </p:cNvSpPr>
          <p:nvPr/>
        </p:nvSpPr>
        <p:spPr>
          <a:xfrm>
            <a:off x="4486275" y="3371850"/>
            <a:ext cx="2000250" cy="476250"/>
          </a:xfrm>
          <a:prstGeom prst="rect">
            <a:avLst/>
          </a:prstGeom>
          <a:noFill/>
          <a:ln w="0">
            <a:noFill/>
            <a:prstDash val="solid"/>
          </a:ln>
        </p:spPr>
        <p:txBody>
          <a:bodyPr anchor="ctr"/>
          <a:lstStyle/>
          <a:p>
            <a:pPr algn="ctr">
              <a:defRPr sz="1350" b="0">
                <a:solidFill>
                  <a:srgbClr val="5A6573"/>
                </a:solidFill>
              </a:defRPr>
            </a:pPr>
            <a:r>
              <a:rPr sz="1350" b="0">
                <a:solidFill>
                  <a:srgbClr val="5A6573"/>
                </a:solidFill>
              </a:rPr>
              <a:t>Locally or through CI</a:t>
            </a:r>
          </a:p>
        </p:txBody>
      </p:sp>
      <p:sp>
        <p:nvSpPr>
          <p:cNvPr id="16" name="step-2">
            <a:extLst>
              <a:ext uri="{FF2B5EF4-FFF2-40B4-BE49-F238E27FC236}">
                <a16:creationId xmlns:a16="http://schemas.microsoft.com/office/drawing/2014/main" id="{ED53CEEA-852B-48C1-BF51-8EBE28F71C88}"/>
              </a:ext>
            </a:extLst>
          </p:cNvPr>
          <p:cNvSpPr>
            <a:spLocks noGrp="1"/>
          </p:cNvSpPr>
          <p:nvPr/>
        </p:nvSpPr>
        <p:spPr>
          <a:xfrm>
            <a:off x="7258050" y="2095500"/>
            <a:ext cx="2457450" cy="2000250"/>
          </a:xfrm>
          <a:prstGeom prst="roundRect">
            <a:avLst>
              <a:gd name="adj" fmla="val 5714"/>
            </a:avLst>
          </a:prstGeom>
          <a:solidFill>
            <a:srgbClr val="F5F8FC"/>
          </a:solidFill>
          <a:ln w="19050">
            <a:solidFill>
              <a:srgbClr val="17365D"/>
            </a:solidFill>
            <a:prstDash val="solid"/>
          </a:ln>
        </p:spPr>
        <p:txBody>
          <a:bodyPr/>
          <a:lstStyle/>
          <a:p>
            <a:endParaRPr lang="en-US"/>
          </a:p>
        </p:txBody>
      </p:sp>
      <p:sp>
        <p:nvSpPr>
          <p:cNvPr id="17" name="num-2-circle">
            <a:extLst>
              <a:ext uri="{FF2B5EF4-FFF2-40B4-BE49-F238E27FC236}">
                <a16:creationId xmlns:a16="http://schemas.microsoft.com/office/drawing/2014/main" id="{1B418407-04CC-40F5-99A4-CF17B49666E2}"/>
              </a:ext>
            </a:extLst>
          </p:cNvPr>
          <p:cNvSpPr>
            <a:spLocks noGrp="1"/>
          </p:cNvSpPr>
          <p:nvPr/>
        </p:nvSpPr>
        <p:spPr>
          <a:xfrm>
            <a:off x="8134350" y="2324100"/>
            <a:ext cx="514350" cy="514350"/>
          </a:xfrm>
          <a:prstGeom prst="ellipse">
            <a:avLst/>
          </a:prstGeom>
          <a:solidFill>
            <a:srgbClr val="FFFFFF"/>
          </a:solidFill>
          <a:ln w="28575">
            <a:solidFill>
              <a:srgbClr val="17365D"/>
            </a:solidFill>
            <a:prstDash val="solid"/>
          </a:ln>
        </p:spPr>
        <p:txBody>
          <a:bodyPr/>
          <a:lstStyle/>
          <a:p>
            <a:endParaRPr lang="en-US"/>
          </a:p>
        </p:txBody>
      </p:sp>
      <p:sp>
        <p:nvSpPr>
          <p:cNvPr id="18" name="num-2-label">
            <a:extLst>
              <a:ext uri="{FF2B5EF4-FFF2-40B4-BE49-F238E27FC236}">
                <a16:creationId xmlns:a16="http://schemas.microsoft.com/office/drawing/2014/main" id="{621246A9-D166-474A-BB3B-E74DD2C5C2BD}"/>
              </a:ext>
            </a:extLst>
          </p:cNvPr>
          <p:cNvSpPr>
            <a:spLocks noGrp="1"/>
          </p:cNvSpPr>
          <p:nvPr/>
        </p:nvSpPr>
        <p:spPr>
          <a:xfrm>
            <a:off x="8134350" y="2314575"/>
            <a:ext cx="514350" cy="514350"/>
          </a:xfrm>
          <a:prstGeom prst="rect">
            <a:avLst/>
          </a:prstGeom>
          <a:noFill/>
          <a:ln w="0">
            <a:noFill/>
            <a:prstDash val="solid"/>
          </a:ln>
        </p:spPr>
        <p:txBody>
          <a:bodyPr anchor="ctr"/>
          <a:lstStyle/>
          <a:p>
            <a:pPr algn="ctr">
              <a:defRPr sz="1650" b="1">
                <a:solidFill>
                  <a:srgbClr val="17365D"/>
                </a:solidFill>
              </a:defRPr>
            </a:pPr>
            <a:r>
              <a:rPr sz="1650" b="1">
                <a:solidFill>
                  <a:srgbClr val="17365D"/>
                </a:solidFill>
              </a:rPr>
              <a:t>3</a:t>
            </a:r>
          </a:p>
        </p:txBody>
      </p:sp>
      <p:sp>
        <p:nvSpPr>
          <p:cNvPr id="19" name="head-2">
            <a:extLst>
              <a:ext uri="{FF2B5EF4-FFF2-40B4-BE49-F238E27FC236}">
                <a16:creationId xmlns:a16="http://schemas.microsoft.com/office/drawing/2014/main" id="{E73CB271-3A67-4FEE-AE1E-2EA8DA94BAAE}"/>
              </a:ext>
            </a:extLst>
          </p:cNvPr>
          <p:cNvSpPr>
            <a:spLocks noGrp="1"/>
          </p:cNvSpPr>
          <p:nvPr/>
        </p:nvSpPr>
        <p:spPr>
          <a:xfrm>
            <a:off x="7448550" y="2971800"/>
            <a:ext cx="2076450" cy="342900"/>
          </a:xfrm>
          <a:prstGeom prst="rect">
            <a:avLst/>
          </a:prstGeom>
          <a:noFill/>
          <a:ln w="0">
            <a:noFill/>
            <a:prstDash val="solid"/>
          </a:ln>
        </p:spPr>
        <p:txBody>
          <a:bodyPr anchor="ctr"/>
          <a:lstStyle/>
          <a:p>
            <a:pPr algn="ctr">
              <a:defRPr sz="1800" b="1">
                <a:solidFill>
                  <a:srgbClr val="17365D"/>
                </a:solidFill>
              </a:defRPr>
            </a:pPr>
            <a:r>
              <a:rPr sz="1800" b="1">
                <a:solidFill>
                  <a:srgbClr val="17365D"/>
                </a:solidFill>
              </a:rPr>
              <a:t>Act on feedback</a:t>
            </a:r>
          </a:p>
        </p:txBody>
      </p:sp>
      <p:sp>
        <p:nvSpPr>
          <p:cNvPr id="20" name="detail-2">
            <a:extLst>
              <a:ext uri="{FF2B5EF4-FFF2-40B4-BE49-F238E27FC236}">
                <a16:creationId xmlns:a16="http://schemas.microsoft.com/office/drawing/2014/main" id="{70BEE27E-B447-4C07-9837-D64F48F7958B}"/>
              </a:ext>
            </a:extLst>
          </p:cNvPr>
          <p:cNvSpPr>
            <a:spLocks noGrp="1"/>
          </p:cNvSpPr>
          <p:nvPr/>
        </p:nvSpPr>
        <p:spPr>
          <a:xfrm>
            <a:off x="7486650" y="3371850"/>
            <a:ext cx="2000250" cy="476250"/>
          </a:xfrm>
          <a:prstGeom prst="rect">
            <a:avLst/>
          </a:prstGeom>
          <a:noFill/>
          <a:ln w="0">
            <a:noFill/>
            <a:prstDash val="solid"/>
          </a:ln>
        </p:spPr>
        <p:txBody>
          <a:bodyPr anchor="ctr"/>
          <a:lstStyle/>
          <a:p>
            <a:pPr algn="ctr">
              <a:defRPr sz="1350" b="0">
                <a:solidFill>
                  <a:srgbClr val="5A6573"/>
                </a:solidFill>
              </a:defRPr>
            </a:pPr>
            <a:r>
              <a:rPr sz="1350" b="0">
                <a:solidFill>
                  <a:srgbClr val="5A6573"/>
                </a:solidFill>
              </a:rPr>
              <a:t>Fix quickly or continue</a:t>
            </a:r>
          </a:p>
        </p:txBody>
      </p:sp>
      <p:sp>
        <p:nvSpPr>
          <p:cNvPr id="21" name="slow">
            <a:extLst>
              <a:ext uri="{FF2B5EF4-FFF2-40B4-BE49-F238E27FC236}">
                <a16:creationId xmlns:a16="http://schemas.microsoft.com/office/drawing/2014/main" id="{445A26F5-BF84-48B8-B7F2-40E82CFDE942}"/>
              </a:ext>
            </a:extLst>
          </p:cNvPr>
          <p:cNvSpPr>
            <a:spLocks noGrp="1"/>
          </p:cNvSpPr>
          <p:nvPr/>
        </p:nvSpPr>
        <p:spPr>
          <a:xfrm>
            <a:off x="9953625" y="2095500"/>
            <a:ext cx="1457325" cy="2000250"/>
          </a:xfrm>
          <a:prstGeom prst="roundRect">
            <a:avLst>
              <a:gd name="adj" fmla="val 9677"/>
            </a:avLst>
          </a:prstGeom>
          <a:solidFill>
            <a:srgbClr val="FCEBEC"/>
          </a:solidFill>
          <a:ln w="19050">
            <a:solidFill>
              <a:srgbClr val="C62828"/>
            </a:solidFill>
            <a:prstDash val="solid"/>
          </a:ln>
        </p:spPr>
        <p:txBody>
          <a:bodyPr/>
          <a:lstStyle/>
          <a:p>
            <a:endParaRPr lang="en-US"/>
          </a:p>
        </p:txBody>
      </p:sp>
      <p:sp>
        <p:nvSpPr>
          <p:cNvPr id="22" name="slow-head">
            <a:extLst>
              <a:ext uri="{FF2B5EF4-FFF2-40B4-BE49-F238E27FC236}">
                <a16:creationId xmlns:a16="http://schemas.microsoft.com/office/drawing/2014/main" id="{69AD533D-A2AB-43C9-BF81-1721DC3EEE7E}"/>
              </a:ext>
            </a:extLst>
          </p:cNvPr>
          <p:cNvSpPr>
            <a:spLocks noGrp="1"/>
          </p:cNvSpPr>
          <p:nvPr/>
        </p:nvSpPr>
        <p:spPr>
          <a:xfrm>
            <a:off x="9953625" y="2324100"/>
            <a:ext cx="1181100" cy="304800"/>
          </a:xfrm>
          <a:prstGeom prst="rect">
            <a:avLst/>
          </a:prstGeom>
          <a:noFill/>
          <a:ln w="0">
            <a:noFill/>
            <a:prstDash val="solid"/>
          </a:ln>
        </p:spPr>
        <p:txBody>
          <a:bodyPr anchor="ctr"/>
          <a:lstStyle/>
          <a:p>
            <a:pPr algn="ctr">
              <a:defRPr sz="1500" b="1">
                <a:solidFill>
                  <a:srgbClr val="C62828"/>
                </a:solidFill>
              </a:defRPr>
            </a:pPr>
            <a:r>
              <a:rPr sz="1500" b="1">
                <a:solidFill>
                  <a:srgbClr val="C62828"/>
                </a:solidFill>
              </a:rPr>
              <a:t>SLOW</a:t>
            </a:r>
          </a:p>
        </p:txBody>
      </p:sp>
      <p:sp>
        <p:nvSpPr>
          <p:cNvPr id="23" name="slow-clock">
            <a:extLst>
              <a:ext uri="{FF2B5EF4-FFF2-40B4-BE49-F238E27FC236}">
                <a16:creationId xmlns:a16="http://schemas.microsoft.com/office/drawing/2014/main" id="{5B09D547-0117-4A21-B68A-C18146DC9F4A}"/>
              </a:ext>
            </a:extLst>
          </p:cNvPr>
          <p:cNvSpPr>
            <a:spLocks noGrp="1"/>
          </p:cNvSpPr>
          <p:nvPr/>
        </p:nvSpPr>
        <p:spPr>
          <a:xfrm>
            <a:off x="9953624" y="2762250"/>
            <a:ext cx="1362075" cy="666750"/>
          </a:xfrm>
          <a:prstGeom prst="rect">
            <a:avLst/>
          </a:prstGeom>
          <a:noFill/>
          <a:ln w="0">
            <a:noFill/>
            <a:prstDash val="solid"/>
          </a:ln>
        </p:spPr>
        <p:txBody>
          <a:bodyPr anchor="ctr"/>
          <a:lstStyle/>
          <a:p>
            <a:pPr algn="ctr">
              <a:defRPr sz="2025" b="1">
                <a:solidFill>
                  <a:srgbClr val="C62828"/>
                </a:solidFill>
              </a:defRPr>
            </a:pPr>
            <a:r>
              <a:rPr lang="en-US" sz="2025" b="1" dirty="0">
                <a:solidFill>
                  <a:srgbClr val="C62828"/>
                </a:solidFill>
              </a:rPr>
              <a:t>Long wait</a:t>
            </a:r>
            <a:endParaRPr sz="2025" b="1" dirty="0">
              <a:solidFill>
                <a:srgbClr val="C62828"/>
              </a:solidFill>
            </a:endParaRPr>
          </a:p>
        </p:txBody>
      </p:sp>
      <p:sp>
        <p:nvSpPr>
          <p:cNvPr id="24" name="slow-note">
            <a:extLst>
              <a:ext uri="{FF2B5EF4-FFF2-40B4-BE49-F238E27FC236}">
                <a16:creationId xmlns:a16="http://schemas.microsoft.com/office/drawing/2014/main" id="{316929B1-9ED3-44DB-A0B5-8499DEC3E272}"/>
              </a:ext>
            </a:extLst>
          </p:cNvPr>
          <p:cNvSpPr>
            <a:spLocks noGrp="1"/>
          </p:cNvSpPr>
          <p:nvPr/>
        </p:nvSpPr>
        <p:spPr>
          <a:xfrm>
            <a:off x="9953625" y="3514725"/>
            <a:ext cx="1181100" cy="45720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Tests get</a:t>
            </a:r>
          </a:p>
          <a:p>
            <a:pPr algn="ctr">
              <a:defRPr sz="1200" b="0">
                <a:solidFill>
                  <a:srgbClr val="5A6573"/>
                </a:solidFill>
              </a:defRPr>
            </a:pPr>
            <a:r>
              <a:rPr sz="1200" b="0">
                <a:solidFill>
                  <a:srgbClr val="5A6573"/>
                </a:solidFill>
              </a:rPr>
              <a:t>postponed</a:t>
            </a:r>
          </a:p>
        </p:txBody>
      </p:sp>
      <p:sp>
        <p:nvSpPr>
          <p:cNvPr id="25" name="takeaway">
            <a:extLst>
              <a:ext uri="{FF2B5EF4-FFF2-40B4-BE49-F238E27FC236}">
                <a16:creationId xmlns:a16="http://schemas.microsoft.com/office/drawing/2014/main" id="{71F409B6-2B56-4225-8FA6-A8FBC509D98A}"/>
              </a:ext>
            </a:extLst>
          </p:cNvPr>
          <p:cNvSpPr>
            <a:spLocks noGrp="1"/>
          </p:cNvSpPr>
          <p:nvPr/>
        </p:nvSpPr>
        <p:spPr>
          <a:xfrm>
            <a:off x="781050" y="5467350"/>
            <a:ext cx="10629900" cy="723900"/>
          </a:xfrm>
          <a:prstGeom prst="roundRect">
            <a:avLst>
              <a:gd name="adj" fmla="val 10526"/>
            </a:avLst>
          </a:prstGeom>
          <a:solidFill>
            <a:srgbClr val="EAF5EB"/>
          </a:solidFill>
          <a:ln w="19050">
            <a:solidFill>
              <a:srgbClr val="2E7D32"/>
            </a:solidFill>
            <a:prstDash val="solid"/>
          </a:ln>
        </p:spPr>
        <p:txBody>
          <a:bodyPr/>
          <a:lstStyle/>
          <a:p>
            <a:endParaRPr lang="en-US"/>
          </a:p>
        </p:txBody>
      </p:sp>
      <p:sp>
        <p:nvSpPr>
          <p:cNvPr id="26" name="takeaway-text">
            <a:extLst>
              <a:ext uri="{FF2B5EF4-FFF2-40B4-BE49-F238E27FC236}">
                <a16:creationId xmlns:a16="http://schemas.microsoft.com/office/drawing/2014/main" id="{65741827-C2C4-4770-AD09-754EC778CE36}"/>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2E7D32"/>
                </a:solidFill>
              </a:defRPr>
            </a:pPr>
            <a:r>
              <a:rPr sz="1800" b="1">
                <a:solidFill>
                  <a:srgbClr val="2E7D32"/>
                </a:solidFill>
              </a:rPr>
              <a:t>Keep the unit-test suite fast enough to run repeatedly during development.</a:t>
            </a:r>
          </a:p>
        </p:txBody>
      </p:sp>
    </p:spTree>
    <p:extLst>
      <p:ext uri="{BB962C8B-B14F-4D97-AF65-F5344CB8AC3E}">
        <p14:creationId xmlns:p14="http://schemas.microsoft.com/office/powerpoint/2010/main" val="2067380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fade">
                                      <p:cBhvr>
                                        <p:cTn id="44" dur="500"/>
                                        <p:tgtEl>
                                          <p:spTgt spid="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P spid="9" grpId="0"/>
      <p:bldP spid="10" grpId="0"/>
      <p:bldP spid="11" grpId="0" animBg="1"/>
      <p:bldP spid="12" grpId="0" animBg="1"/>
      <p:bldP spid="13" grpId="0"/>
      <p:bldP spid="14" grpId="0"/>
      <p:bldP spid="15" grpId="0"/>
      <p:bldP spid="16" grpId="0" animBg="1"/>
      <p:bldP spid="17" grpId="0" animBg="1"/>
      <p:bldP spid="18" grpId="0"/>
      <p:bldP spid="19" grpId="0"/>
      <p:bldP spid="20" grpId="0"/>
      <p:bldP spid="21" grpId="0" animBg="1"/>
      <p:bldP spid="22" grpId="0"/>
      <p:bldP spid="23" grpId="0"/>
      <p:bldP spid="24" grpId="0"/>
      <p:bldP spid="25" grpId="0" animBg="1"/>
      <p:bldP spid="2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a:extLst>
              <a:ext uri="{FF2B5EF4-FFF2-40B4-BE49-F238E27FC236}">
                <a16:creationId xmlns:a16="http://schemas.microsoft.com/office/drawing/2014/main" id="{3BE06297-6EC0-47A4-8BE6-C08321D1EDF5}"/>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150" b="0">
                <a:solidFill>
                  <a:srgbClr val="111111"/>
                </a:solidFill>
              </a:defRPr>
            </a:pPr>
            <a:r>
              <a:rPr sz="3150" b="0">
                <a:solidFill>
                  <a:srgbClr val="111111"/>
                </a:solidFill>
              </a:rPr>
              <a:t>We cannot test every possible input value</a:t>
            </a:r>
          </a:p>
        </p:txBody>
      </p:sp>
      <p:sp>
        <p:nvSpPr>
          <p:cNvPr id="2" name="title-rule">
            <a:extLst>
              <a:ext uri="{FF2B5EF4-FFF2-40B4-BE49-F238E27FC236}">
                <a16:creationId xmlns:a16="http://schemas.microsoft.com/office/drawing/2014/main" id="{BAFE0D42-AD73-434B-9FAF-9E2314339499}"/>
              </a:ext>
            </a:extLst>
          </p:cNvPr>
          <p:cNvSpPr>
            <a:spLocks noGrp="1"/>
          </p:cNvSpPr>
          <p:nvPr/>
        </p:nvSpPr>
        <p:spPr>
          <a:xfrm>
            <a:off x="685800" y="1066800"/>
            <a:ext cx="1571625" cy="38100"/>
          </a:xfrm>
          <a:prstGeom prst="rect">
            <a:avLst/>
          </a:prstGeom>
          <a:solidFill>
            <a:srgbClr val="17365D"/>
          </a:solidFill>
          <a:ln w="0">
            <a:solidFill>
              <a:srgbClr val="17365D"/>
            </a:solidFill>
            <a:prstDash val="solid"/>
          </a:ln>
        </p:spPr>
        <p:txBody>
          <a:bodyPr/>
          <a:lstStyle/>
          <a:p>
            <a:endParaRPr lang="en-US"/>
          </a:p>
        </p:txBody>
      </p:sp>
      <p:sp>
        <p:nvSpPr>
          <p:cNvPr id="3" name="subtitle">
            <a:extLst>
              <a:ext uri="{FF2B5EF4-FFF2-40B4-BE49-F238E27FC236}">
                <a16:creationId xmlns:a16="http://schemas.microsoft.com/office/drawing/2014/main" id="{8BB41B50-A778-4206-B85B-B268CE787B98}"/>
              </a:ext>
            </a:extLst>
          </p:cNvPr>
          <p:cNvSpPr>
            <a:spLocks noGrp="1"/>
          </p:cNvSpPr>
          <p:nvPr/>
        </p:nvSpPr>
        <p:spPr>
          <a:xfrm>
            <a:off x="876300" y="1381125"/>
            <a:ext cx="10439400" cy="400050"/>
          </a:xfrm>
          <a:prstGeom prst="rect">
            <a:avLst/>
          </a:prstGeom>
          <a:noFill/>
          <a:ln w="0">
            <a:noFill/>
            <a:prstDash val="solid"/>
          </a:ln>
        </p:spPr>
        <p:txBody>
          <a:bodyPr anchor="ctr"/>
          <a:lstStyle/>
          <a:p>
            <a:pPr algn="ctr">
              <a:defRPr sz="1800" b="0">
                <a:solidFill>
                  <a:srgbClr val="5A6573"/>
                </a:solidFill>
              </a:defRPr>
            </a:pPr>
            <a:r>
              <a:rPr sz="2000" b="0" dirty="0">
                <a:solidFill>
                  <a:srgbClr val="5A6573"/>
                </a:solidFill>
              </a:rPr>
              <a:t>Example: a bank-interest function may accept any account balance.</a:t>
            </a:r>
          </a:p>
        </p:txBody>
      </p:sp>
      <p:sp>
        <p:nvSpPr>
          <p:cNvPr id="4" name="all-inputs">
            <a:extLst>
              <a:ext uri="{FF2B5EF4-FFF2-40B4-BE49-F238E27FC236}">
                <a16:creationId xmlns:a16="http://schemas.microsoft.com/office/drawing/2014/main" id="{F12998BD-9034-4212-A303-6A70F6B0F1B8}"/>
              </a:ext>
            </a:extLst>
          </p:cNvPr>
          <p:cNvSpPr>
            <a:spLocks noGrp="1"/>
          </p:cNvSpPr>
          <p:nvPr/>
        </p:nvSpPr>
        <p:spPr>
          <a:xfrm>
            <a:off x="876300" y="2095500"/>
            <a:ext cx="4000500" cy="2647950"/>
          </a:xfrm>
          <a:prstGeom prst="roundRect">
            <a:avLst>
              <a:gd name="adj" fmla="val 4317"/>
            </a:avLst>
          </a:prstGeom>
          <a:solidFill>
            <a:srgbClr val="F5F8FC"/>
          </a:solidFill>
          <a:ln w="19050">
            <a:solidFill>
              <a:srgbClr val="17365D"/>
            </a:solidFill>
            <a:prstDash val="solid"/>
          </a:ln>
        </p:spPr>
        <p:txBody>
          <a:bodyPr/>
          <a:lstStyle/>
          <a:p>
            <a:endParaRPr lang="en-US"/>
          </a:p>
        </p:txBody>
      </p:sp>
      <p:sp>
        <p:nvSpPr>
          <p:cNvPr id="5" name="all-title">
            <a:extLst>
              <a:ext uri="{FF2B5EF4-FFF2-40B4-BE49-F238E27FC236}">
                <a16:creationId xmlns:a16="http://schemas.microsoft.com/office/drawing/2014/main" id="{567F7666-AA6E-4715-B9FF-EC0D046189EF}"/>
              </a:ext>
            </a:extLst>
          </p:cNvPr>
          <p:cNvSpPr>
            <a:spLocks noGrp="1"/>
          </p:cNvSpPr>
          <p:nvPr/>
        </p:nvSpPr>
        <p:spPr>
          <a:xfrm>
            <a:off x="1162050" y="2324100"/>
            <a:ext cx="3429000" cy="285750"/>
          </a:xfrm>
          <a:prstGeom prst="rect">
            <a:avLst/>
          </a:prstGeom>
          <a:noFill/>
          <a:ln w="0">
            <a:noFill/>
            <a:prstDash val="solid"/>
          </a:ln>
        </p:spPr>
        <p:txBody>
          <a:bodyPr anchor="ctr"/>
          <a:lstStyle/>
          <a:p>
            <a:pPr algn="ctr">
              <a:defRPr sz="1275" b="1">
                <a:solidFill>
                  <a:srgbClr val="244E7A"/>
                </a:solidFill>
              </a:defRPr>
            </a:pPr>
            <a:r>
              <a:rPr sz="1275" b="1">
                <a:solidFill>
                  <a:srgbClr val="244E7A"/>
                </a:solidFill>
              </a:rPr>
              <a:t>POSSIBLE INPUT VALUES</a:t>
            </a:r>
          </a:p>
        </p:txBody>
      </p:sp>
      <p:sp>
        <p:nvSpPr>
          <p:cNvPr id="6" name="axis">
            <a:extLst>
              <a:ext uri="{FF2B5EF4-FFF2-40B4-BE49-F238E27FC236}">
                <a16:creationId xmlns:a16="http://schemas.microsoft.com/office/drawing/2014/main" id="{4B79C4F9-F8AC-448F-9EC7-A28CD2B1935D}"/>
              </a:ext>
            </a:extLst>
          </p:cNvPr>
          <p:cNvSpPr>
            <a:spLocks noGrp="1"/>
          </p:cNvSpPr>
          <p:nvPr/>
        </p:nvSpPr>
        <p:spPr>
          <a:xfrm>
            <a:off x="1285875" y="3276600"/>
            <a:ext cx="3162300" cy="38100"/>
          </a:xfrm>
          <a:prstGeom prst="rect">
            <a:avLst/>
          </a:prstGeom>
          <a:solidFill>
            <a:srgbClr val="111111"/>
          </a:solidFill>
          <a:ln w="0">
            <a:solidFill>
              <a:srgbClr val="111111"/>
            </a:solidFill>
            <a:prstDash val="solid"/>
          </a:ln>
        </p:spPr>
        <p:txBody>
          <a:bodyPr/>
          <a:lstStyle/>
          <a:p>
            <a:endParaRPr lang="en-US"/>
          </a:p>
        </p:txBody>
      </p:sp>
      <p:sp>
        <p:nvSpPr>
          <p:cNvPr id="7" name="axis-arrow">
            <a:extLst>
              <a:ext uri="{FF2B5EF4-FFF2-40B4-BE49-F238E27FC236}">
                <a16:creationId xmlns:a16="http://schemas.microsoft.com/office/drawing/2014/main" id="{D698E623-F3DE-4DAF-98DE-3FD2EA164FC3}"/>
              </a:ext>
            </a:extLst>
          </p:cNvPr>
          <p:cNvSpPr>
            <a:spLocks noGrp="1"/>
          </p:cNvSpPr>
          <p:nvPr/>
        </p:nvSpPr>
        <p:spPr>
          <a:xfrm>
            <a:off x="4359648" y="3105150"/>
            <a:ext cx="514350" cy="381000"/>
          </a:xfrm>
          <a:prstGeom prst="rightArrow">
            <a:avLst/>
          </a:prstGeom>
          <a:solidFill>
            <a:srgbClr val="111111"/>
          </a:solidFill>
          <a:ln w="0">
            <a:solidFill>
              <a:srgbClr val="111111"/>
            </a:solidFill>
            <a:prstDash val="solid"/>
          </a:ln>
        </p:spPr>
        <p:txBody>
          <a:bodyPr/>
          <a:lstStyle/>
          <a:p>
            <a:endParaRPr lang="en-US"/>
          </a:p>
        </p:txBody>
      </p:sp>
      <p:sp>
        <p:nvSpPr>
          <p:cNvPr id="8" name="value-0">
            <a:extLst>
              <a:ext uri="{FF2B5EF4-FFF2-40B4-BE49-F238E27FC236}">
                <a16:creationId xmlns:a16="http://schemas.microsoft.com/office/drawing/2014/main" id="{3258CB23-8F53-41B0-B504-C831C647BA21}"/>
              </a:ext>
            </a:extLst>
          </p:cNvPr>
          <p:cNvSpPr>
            <a:spLocks noGrp="1"/>
          </p:cNvSpPr>
          <p:nvPr/>
        </p:nvSpPr>
        <p:spPr>
          <a:xfrm>
            <a:off x="1381125" y="3105150"/>
            <a:ext cx="190500" cy="190500"/>
          </a:xfrm>
          <a:prstGeom prst="ellipse">
            <a:avLst/>
          </a:prstGeom>
          <a:solidFill>
            <a:srgbClr val="FCEBEC"/>
          </a:solidFill>
          <a:ln w="19050">
            <a:solidFill>
              <a:srgbClr val="C62828"/>
            </a:solidFill>
            <a:prstDash val="solid"/>
          </a:ln>
        </p:spPr>
        <p:txBody>
          <a:bodyPr/>
          <a:lstStyle/>
          <a:p>
            <a:endParaRPr lang="en-US"/>
          </a:p>
        </p:txBody>
      </p:sp>
      <p:sp>
        <p:nvSpPr>
          <p:cNvPr id="9" name="value-1">
            <a:extLst>
              <a:ext uri="{FF2B5EF4-FFF2-40B4-BE49-F238E27FC236}">
                <a16:creationId xmlns:a16="http://schemas.microsoft.com/office/drawing/2014/main" id="{4B523D55-60F2-4F67-984C-F5D7E6041943}"/>
              </a:ext>
            </a:extLst>
          </p:cNvPr>
          <p:cNvSpPr>
            <a:spLocks noGrp="1"/>
          </p:cNvSpPr>
          <p:nvPr/>
        </p:nvSpPr>
        <p:spPr>
          <a:xfrm>
            <a:off x="16668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0" name="value-2">
            <a:extLst>
              <a:ext uri="{FF2B5EF4-FFF2-40B4-BE49-F238E27FC236}">
                <a16:creationId xmlns:a16="http://schemas.microsoft.com/office/drawing/2014/main" id="{03D29E76-6B66-4B3D-8AB0-1FCD0E1BB8DE}"/>
              </a:ext>
            </a:extLst>
          </p:cNvPr>
          <p:cNvSpPr>
            <a:spLocks noGrp="1"/>
          </p:cNvSpPr>
          <p:nvPr/>
        </p:nvSpPr>
        <p:spPr>
          <a:xfrm>
            <a:off x="19716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1" name="value-3">
            <a:extLst>
              <a:ext uri="{FF2B5EF4-FFF2-40B4-BE49-F238E27FC236}">
                <a16:creationId xmlns:a16="http://schemas.microsoft.com/office/drawing/2014/main" id="{5105992D-61FD-488E-9D91-8C370C1B2C8E}"/>
              </a:ext>
            </a:extLst>
          </p:cNvPr>
          <p:cNvSpPr>
            <a:spLocks noGrp="1"/>
          </p:cNvSpPr>
          <p:nvPr/>
        </p:nvSpPr>
        <p:spPr>
          <a:xfrm>
            <a:off x="22764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2" name="value-4">
            <a:extLst>
              <a:ext uri="{FF2B5EF4-FFF2-40B4-BE49-F238E27FC236}">
                <a16:creationId xmlns:a16="http://schemas.microsoft.com/office/drawing/2014/main" id="{FC11741F-DE8D-4B77-B06F-6F84D41EE3FB}"/>
              </a:ext>
            </a:extLst>
          </p:cNvPr>
          <p:cNvSpPr>
            <a:spLocks noGrp="1"/>
          </p:cNvSpPr>
          <p:nvPr/>
        </p:nvSpPr>
        <p:spPr>
          <a:xfrm>
            <a:off x="25812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3" name="value-5">
            <a:extLst>
              <a:ext uri="{FF2B5EF4-FFF2-40B4-BE49-F238E27FC236}">
                <a16:creationId xmlns:a16="http://schemas.microsoft.com/office/drawing/2014/main" id="{1B93173A-2C55-4193-B2CE-A7844DE0C931}"/>
              </a:ext>
            </a:extLst>
          </p:cNvPr>
          <p:cNvSpPr>
            <a:spLocks noGrp="1"/>
          </p:cNvSpPr>
          <p:nvPr/>
        </p:nvSpPr>
        <p:spPr>
          <a:xfrm>
            <a:off x="28860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4" name="value-6">
            <a:extLst>
              <a:ext uri="{FF2B5EF4-FFF2-40B4-BE49-F238E27FC236}">
                <a16:creationId xmlns:a16="http://schemas.microsoft.com/office/drawing/2014/main" id="{E83CA791-6629-4C97-BCCD-E6454C097E7C}"/>
              </a:ext>
            </a:extLst>
          </p:cNvPr>
          <p:cNvSpPr>
            <a:spLocks noGrp="1"/>
          </p:cNvSpPr>
          <p:nvPr/>
        </p:nvSpPr>
        <p:spPr>
          <a:xfrm>
            <a:off x="31908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5" name="value-7">
            <a:extLst>
              <a:ext uri="{FF2B5EF4-FFF2-40B4-BE49-F238E27FC236}">
                <a16:creationId xmlns:a16="http://schemas.microsoft.com/office/drawing/2014/main" id="{E86B52FE-AEA5-4281-B1F5-107F5FB2AA9C}"/>
              </a:ext>
            </a:extLst>
          </p:cNvPr>
          <p:cNvSpPr>
            <a:spLocks noGrp="1"/>
          </p:cNvSpPr>
          <p:nvPr/>
        </p:nvSpPr>
        <p:spPr>
          <a:xfrm>
            <a:off x="34956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6" name="value-8">
            <a:extLst>
              <a:ext uri="{FF2B5EF4-FFF2-40B4-BE49-F238E27FC236}">
                <a16:creationId xmlns:a16="http://schemas.microsoft.com/office/drawing/2014/main" id="{73153703-2B70-4BCA-BE1F-2FD37A20DB01}"/>
              </a:ext>
            </a:extLst>
          </p:cNvPr>
          <p:cNvSpPr>
            <a:spLocks noGrp="1"/>
          </p:cNvSpPr>
          <p:nvPr/>
        </p:nvSpPr>
        <p:spPr>
          <a:xfrm>
            <a:off x="38004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7" name="value-9">
            <a:extLst>
              <a:ext uri="{FF2B5EF4-FFF2-40B4-BE49-F238E27FC236}">
                <a16:creationId xmlns:a16="http://schemas.microsoft.com/office/drawing/2014/main" id="{98BAF8D5-A7F7-4FBC-B920-18C07D82099C}"/>
              </a:ext>
            </a:extLst>
          </p:cNvPr>
          <p:cNvSpPr>
            <a:spLocks noGrp="1"/>
          </p:cNvSpPr>
          <p:nvPr/>
        </p:nvSpPr>
        <p:spPr>
          <a:xfrm>
            <a:off x="4105275" y="3105150"/>
            <a:ext cx="190500" cy="190500"/>
          </a:xfrm>
          <a:prstGeom prst="ellipse">
            <a:avLst/>
          </a:prstGeom>
          <a:solidFill>
            <a:srgbClr val="FCEBEC"/>
          </a:solidFill>
          <a:ln w="19050">
            <a:solidFill>
              <a:srgbClr val="C62828"/>
            </a:solidFill>
            <a:prstDash val="solid"/>
          </a:ln>
        </p:spPr>
        <p:txBody>
          <a:bodyPr/>
          <a:lstStyle/>
          <a:p>
            <a:endParaRPr lang="en-US"/>
          </a:p>
        </p:txBody>
      </p:sp>
      <p:sp>
        <p:nvSpPr>
          <p:cNvPr id="18" name="low">
            <a:extLst>
              <a:ext uri="{FF2B5EF4-FFF2-40B4-BE49-F238E27FC236}">
                <a16:creationId xmlns:a16="http://schemas.microsoft.com/office/drawing/2014/main" id="{EC87A143-8379-4277-ABCE-F7743B77EC4D}"/>
              </a:ext>
            </a:extLst>
          </p:cNvPr>
          <p:cNvSpPr>
            <a:spLocks noGrp="1"/>
          </p:cNvSpPr>
          <p:nvPr/>
        </p:nvSpPr>
        <p:spPr>
          <a:xfrm>
            <a:off x="1190625" y="3638550"/>
            <a:ext cx="1000125" cy="266700"/>
          </a:xfrm>
          <a:prstGeom prst="rect">
            <a:avLst/>
          </a:prstGeom>
          <a:noFill/>
          <a:ln w="0">
            <a:noFill/>
            <a:prstDash val="solid"/>
          </a:ln>
        </p:spPr>
        <p:txBody>
          <a:bodyPr anchor="ctr"/>
          <a:lstStyle/>
          <a:p>
            <a:pPr algn="ctr">
              <a:defRPr sz="1200" b="0">
                <a:solidFill>
                  <a:srgbClr val="5A6573"/>
                </a:solidFill>
              </a:defRPr>
            </a:pPr>
            <a:r>
              <a:rPr sz="1200" b="0" dirty="0">
                <a:solidFill>
                  <a:srgbClr val="5A6573"/>
                </a:solidFill>
              </a:rPr>
              <a:t>negative</a:t>
            </a:r>
          </a:p>
        </p:txBody>
      </p:sp>
      <p:sp>
        <p:nvSpPr>
          <p:cNvPr id="19" name="middle">
            <a:extLst>
              <a:ext uri="{FF2B5EF4-FFF2-40B4-BE49-F238E27FC236}">
                <a16:creationId xmlns:a16="http://schemas.microsoft.com/office/drawing/2014/main" id="{71F1769C-CD8D-4EE0-B938-F06137BBECB8}"/>
              </a:ext>
            </a:extLst>
          </p:cNvPr>
          <p:cNvSpPr>
            <a:spLocks noGrp="1"/>
          </p:cNvSpPr>
          <p:nvPr/>
        </p:nvSpPr>
        <p:spPr>
          <a:xfrm>
            <a:off x="2181225" y="3638550"/>
            <a:ext cx="1666875" cy="266700"/>
          </a:xfrm>
          <a:prstGeom prst="rect">
            <a:avLst/>
          </a:prstGeom>
          <a:noFill/>
          <a:ln w="0">
            <a:noFill/>
            <a:prstDash val="solid"/>
          </a:ln>
        </p:spPr>
        <p:txBody>
          <a:bodyPr anchor="ctr"/>
          <a:lstStyle/>
          <a:p>
            <a:pPr algn="ctr">
              <a:defRPr sz="1200" b="0">
                <a:solidFill>
                  <a:srgbClr val="5A6573"/>
                </a:solidFill>
              </a:defRPr>
            </a:pPr>
            <a:r>
              <a:rPr sz="1200" b="0" dirty="0">
                <a:solidFill>
                  <a:srgbClr val="5A6573"/>
                </a:solidFill>
              </a:rPr>
              <a:t>many valid balances</a:t>
            </a:r>
          </a:p>
        </p:txBody>
      </p:sp>
      <p:sp>
        <p:nvSpPr>
          <p:cNvPr id="20" name="high">
            <a:extLst>
              <a:ext uri="{FF2B5EF4-FFF2-40B4-BE49-F238E27FC236}">
                <a16:creationId xmlns:a16="http://schemas.microsoft.com/office/drawing/2014/main" id="{927A6D3E-6847-44B8-A0FA-E97380DF6BE0}"/>
              </a:ext>
            </a:extLst>
          </p:cNvPr>
          <p:cNvSpPr>
            <a:spLocks noGrp="1"/>
          </p:cNvSpPr>
          <p:nvPr/>
        </p:nvSpPr>
        <p:spPr>
          <a:xfrm>
            <a:off x="3705225" y="3638550"/>
            <a:ext cx="952500" cy="26670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very large</a:t>
            </a:r>
          </a:p>
        </p:txBody>
      </p:sp>
      <p:sp>
        <p:nvSpPr>
          <p:cNvPr id="21" name="problem">
            <a:extLst>
              <a:ext uri="{FF2B5EF4-FFF2-40B4-BE49-F238E27FC236}">
                <a16:creationId xmlns:a16="http://schemas.microsoft.com/office/drawing/2014/main" id="{1F52ECA8-6C1D-4699-AEA8-FF2C5B0A7DC6}"/>
              </a:ext>
            </a:extLst>
          </p:cNvPr>
          <p:cNvSpPr>
            <a:spLocks noGrp="1"/>
          </p:cNvSpPr>
          <p:nvPr/>
        </p:nvSpPr>
        <p:spPr>
          <a:xfrm>
            <a:off x="1257300" y="4181475"/>
            <a:ext cx="3238500" cy="304800"/>
          </a:xfrm>
          <a:prstGeom prst="rect">
            <a:avLst/>
          </a:prstGeom>
          <a:noFill/>
          <a:ln w="0">
            <a:noFill/>
            <a:prstDash val="solid"/>
          </a:ln>
        </p:spPr>
        <p:txBody>
          <a:bodyPr anchor="ctr"/>
          <a:lstStyle/>
          <a:p>
            <a:pPr algn="ctr">
              <a:defRPr sz="1575" b="1">
                <a:solidFill>
                  <a:srgbClr val="C62828"/>
                </a:solidFill>
              </a:defRPr>
            </a:pPr>
            <a:r>
              <a:rPr sz="1575" b="1">
                <a:solidFill>
                  <a:srgbClr val="C62828"/>
                </a:solidFill>
              </a:rPr>
              <a:t>Testing every value is impossible.</a:t>
            </a:r>
          </a:p>
        </p:txBody>
      </p:sp>
      <p:sp>
        <p:nvSpPr>
          <p:cNvPr id="22" name="select-label">
            <a:extLst>
              <a:ext uri="{FF2B5EF4-FFF2-40B4-BE49-F238E27FC236}">
                <a16:creationId xmlns:a16="http://schemas.microsoft.com/office/drawing/2014/main" id="{88F4262E-F040-41D0-93C6-AD80352D874D}"/>
              </a:ext>
            </a:extLst>
          </p:cNvPr>
          <p:cNvSpPr>
            <a:spLocks noGrp="1"/>
          </p:cNvSpPr>
          <p:nvPr/>
        </p:nvSpPr>
        <p:spPr>
          <a:xfrm>
            <a:off x="4943475" y="2657475"/>
            <a:ext cx="1790700" cy="381000"/>
          </a:xfrm>
          <a:prstGeom prst="rect">
            <a:avLst/>
          </a:prstGeom>
          <a:noFill/>
          <a:ln w="0">
            <a:noFill/>
            <a:prstDash val="solid"/>
          </a:ln>
        </p:spPr>
        <p:txBody>
          <a:bodyPr anchor="ctr"/>
          <a:lstStyle/>
          <a:p>
            <a:pPr algn="ctr">
              <a:defRPr sz="1425" b="1">
                <a:solidFill>
                  <a:srgbClr val="17365D"/>
                </a:solidFill>
              </a:defRPr>
            </a:pPr>
            <a:r>
              <a:rPr sz="1425" b="1">
                <a:solidFill>
                  <a:srgbClr val="17365D"/>
                </a:solidFill>
              </a:rPr>
              <a:t>Select systematically</a:t>
            </a:r>
          </a:p>
        </p:txBody>
      </p:sp>
      <p:sp>
        <p:nvSpPr>
          <p:cNvPr id="23" name="selection-arrow">
            <a:extLst>
              <a:ext uri="{FF2B5EF4-FFF2-40B4-BE49-F238E27FC236}">
                <a16:creationId xmlns:a16="http://schemas.microsoft.com/office/drawing/2014/main" id="{C379FF50-9EE6-4948-9724-3722815FBCB3}"/>
              </a:ext>
            </a:extLst>
          </p:cNvPr>
          <p:cNvSpPr>
            <a:spLocks noGrp="1"/>
          </p:cNvSpPr>
          <p:nvPr/>
        </p:nvSpPr>
        <p:spPr>
          <a:xfrm>
            <a:off x="5095875" y="3219450"/>
            <a:ext cx="1485900" cy="590550"/>
          </a:xfrm>
          <a:prstGeom prst="rightArrow">
            <a:avLst/>
          </a:prstGeom>
          <a:solidFill>
            <a:srgbClr val="17365D"/>
          </a:solidFill>
          <a:ln w="0">
            <a:solidFill>
              <a:srgbClr val="17365D"/>
            </a:solidFill>
            <a:prstDash val="solid"/>
          </a:ln>
        </p:spPr>
        <p:txBody>
          <a:bodyPr/>
          <a:lstStyle/>
          <a:p>
            <a:endParaRPr lang="en-US"/>
          </a:p>
        </p:txBody>
      </p:sp>
      <p:sp>
        <p:nvSpPr>
          <p:cNvPr id="24" name="selected">
            <a:extLst>
              <a:ext uri="{FF2B5EF4-FFF2-40B4-BE49-F238E27FC236}">
                <a16:creationId xmlns:a16="http://schemas.microsoft.com/office/drawing/2014/main" id="{3C3C8074-86DE-4774-A32C-C6E3D462FABC}"/>
              </a:ext>
            </a:extLst>
          </p:cNvPr>
          <p:cNvSpPr>
            <a:spLocks noGrp="1"/>
          </p:cNvSpPr>
          <p:nvPr/>
        </p:nvSpPr>
        <p:spPr>
          <a:xfrm>
            <a:off x="6858000" y="1943100"/>
            <a:ext cx="4457700" cy="2952750"/>
          </a:xfrm>
          <a:prstGeom prst="roundRect">
            <a:avLst>
              <a:gd name="adj" fmla="val 3871"/>
            </a:avLst>
          </a:prstGeom>
          <a:solidFill>
            <a:srgbClr val="EAF5EB"/>
          </a:solidFill>
          <a:ln w="19050">
            <a:solidFill>
              <a:srgbClr val="2E7D32"/>
            </a:solidFill>
            <a:prstDash val="solid"/>
          </a:ln>
        </p:spPr>
        <p:txBody>
          <a:bodyPr/>
          <a:lstStyle/>
          <a:p>
            <a:endParaRPr lang="en-US"/>
          </a:p>
        </p:txBody>
      </p:sp>
      <p:sp>
        <p:nvSpPr>
          <p:cNvPr id="25" name="selected-title">
            <a:extLst>
              <a:ext uri="{FF2B5EF4-FFF2-40B4-BE49-F238E27FC236}">
                <a16:creationId xmlns:a16="http://schemas.microsoft.com/office/drawing/2014/main" id="{AC980DA1-CDD6-4642-8A81-1FE1D7D4EF99}"/>
              </a:ext>
            </a:extLst>
          </p:cNvPr>
          <p:cNvSpPr>
            <a:spLocks noGrp="1"/>
          </p:cNvSpPr>
          <p:nvPr/>
        </p:nvSpPr>
        <p:spPr>
          <a:xfrm>
            <a:off x="7124700" y="2181225"/>
            <a:ext cx="3924300" cy="285750"/>
          </a:xfrm>
          <a:prstGeom prst="rect">
            <a:avLst/>
          </a:prstGeom>
          <a:noFill/>
          <a:ln w="0">
            <a:noFill/>
            <a:prstDash val="solid"/>
          </a:ln>
        </p:spPr>
        <p:txBody>
          <a:bodyPr anchor="ctr"/>
          <a:lstStyle/>
          <a:p>
            <a:pPr algn="ctr">
              <a:defRPr sz="1275" b="1">
                <a:solidFill>
                  <a:srgbClr val="2E7D32"/>
                </a:solidFill>
              </a:defRPr>
            </a:pPr>
            <a:r>
              <a:rPr sz="1275" b="1">
                <a:solidFill>
                  <a:srgbClr val="2E7D32"/>
                </a:solidFill>
              </a:rPr>
              <a:t>REPRESENTATIVE TEST CASES</a:t>
            </a:r>
          </a:p>
        </p:txBody>
      </p:sp>
      <p:sp>
        <p:nvSpPr>
          <p:cNvPr id="26" name="selected-dot-0">
            <a:extLst>
              <a:ext uri="{FF2B5EF4-FFF2-40B4-BE49-F238E27FC236}">
                <a16:creationId xmlns:a16="http://schemas.microsoft.com/office/drawing/2014/main" id="{D56DD997-6868-469F-BCAE-8F0290C4E9C0}"/>
              </a:ext>
            </a:extLst>
          </p:cNvPr>
          <p:cNvSpPr>
            <a:spLocks noGrp="1"/>
          </p:cNvSpPr>
          <p:nvPr/>
        </p:nvSpPr>
        <p:spPr>
          <a:xfrm>
            <a:off x="7200900" y="2714625"/>
            <a:ext cx="209550" cy="209550"/>
          </a:xfrm>
          <a:prstGeom prst="ellipse">
            <a:avLst/>
          </a:prstGeom>
          <a:solidFill>
            <a:srgbClr val="FFFFFF"/>
          </a:solidFill>
          <a:ln w="19050">
            <a:solidFill>
              <a:srgbClr val="C62828"/>
            </a:solidFill>
            <a:prstDash val="solid"/>
          </a:ln>
        </p:spPr>
        <p:txBody>
          <a:bodyPr/>
          <a:lstStyle/>
          <a:p>
            <a:endParaRPr lang="en-US"/>
          </a:p>
        </p:txBody>
      </p:sp>
      <p:sp>
        <p:nvSpPr>
          <p:cNvPr id="27" name="amount-0">
            <a:extLst>
              <a:ext uri="{FF2B5EF4-FFF2-40B4-BE49-F238E27FC236}">
                <a16:creationId xmlns:a16="http://schemas.microsoft.com/office/drawing/2014/main" id="{7B2379DA-5C8D-423F-B911-89E99FCE2D63}"/>
              </a:ext>
            </a:extLst>
          </p:cNvPr>
          <p:cNvSpPr>
            <a:spLocks noGrp="1"/>
          </p:cNvSpPr>
          <p:nvPr/>
        </p:nvSpPr>
        <p:spPr>
          <a:xfrm>
            <a:off x="7572375" y="2647950"/>
            <a:ext cx="1123950" cy="323850"/>
          </a:xfrm>
          <a:prstGeom prst="rect">
            <a:avLst/>
          </a:prstGeom>
          <a:noFill/>
          <a:ln w="0">
            <a:noFill/>
            <a:prstDash val="solid"/>
          </a:ln>
        </p:spPr>
        <p:txBody>
          <a:bodyPr anchor="ctr"/>
          <a:lstStyle/>
          <a:p>
            <a:pPr algn="l">
              <a:defRPr sz="1425" b="1">
                <a:solidFill>
                  <a:srgbClr val="C62828"/>
                </a:solidFill>
              </a:defRPr>
            </a:pPr>
            <a:r>
              <a:rPr sz="1425" b="1">
                <a:solidFill>
                  <a:srgbClr val="C62828"/>
                </a:solidFill>
              </a:rPr>
              <a:t>−$2,000</a:t>
            </a:r>
          </a:p>
        </p:txBody>
      </p:sp>
      <p:sp>
        <p:nvSpPr>
          <p:cNvPr id="28" name="meaning-0">
            <a:extLst>
              <a:ext uri="{FF2B5EF4-FFF2-40B4-BE49-F238E27FC236}">
                <a16:creationId xmlns:a16="http://schemas.microsoft.com/office/drawing/2014/main" id="{0A387CD7-4719-4270-A8FE-6F408E356947}"/>
              </a:ext>
            </a:extLst>
          </p:cNvPr>
          <p:cNvSpPr>
            <a:spLocks noGrp="1"/>
          </p:cNvSpPr>
          <p:nvPr/>
        </p:nvSpPr>
        <p:spPr>
          <a:xfrm>
            <a:off x="8743950" y="2647950"/>
            <a:ext cx="2143125" cy="323850"/>
          </a:xfrm>
          <a:prstGeom prst="rect">
            <a:avLst/>
          </a:prstGeom>
          <a:noFill/>
          <a:ln w="0">
            <a:noFill/>
            <a:prstDash val="solid"/>
          </a:ln>
        </p:spPr>
        <p:txBody>
          <a:bodyPr anchor="ctr"/>
          <a:lstStyle/>
          <a:p>
            <a:pPr algn="l">
              <a:defRPr sz="1350" b="0">
                <a:solidFill>
                  <a:srgbClr val="5A6573"/>
                </a:solidFill>
              </a:defRPr>
            </a:pPr>
            <a:r>
              <a:rPr sz="1350" b="0">
                <a:solidFill>
                  <a:srgbClr val="5A6573"/>
                </a:solidFill>
              </a:rPr>
              <a:t>overdraft behavior</a:t>
            </a:r>
          </a:p>
        </p:txBody>
      </p:sp>
      <p:sp>
        <p:nvSpPr>
          <p:cNvPr id="29" name="selected-dot-1">
            <a:extLst>
              <a:ext uri="{FF2B5EF4-FFF2-40B4-BE49-F238E27FC236}">
                <a16:creationId xmlns:a16="http://schemas.microsoft.com/office/drawing/2014/main" id="{366902A2-D7B8-4EAA-971E-E50D0479099D}"/>
              </a:ext>
            </a:extLst>
          </p:cNvPr>
          <p:cNvSpPr>
            <a:spLocks noGrp="1"/>
          </p:cNvSpPr>
          <p:nvPr/>
        </p:nvSpPr>
        <p:spPr>
          <a:xfrm>
            <a:off x="7200900" y="3171825"/>
            <a:ext cx="209550" cy="209550"/>
          </a:xfrm>
          <a:prstGeom prst="ellipse">
            <a:avLst/>
          </a:prstGeom>
          <a:solidFill>
            <a:srgbClr val="FFFFFF"/>
          </a:solidFill>
          <a:ln w="19050">
            <a:solidFill>
              <a:srgbClr val="17365D"/>
            </a:solidFill>
            <a:prstDash val="solid"/>
          </a:ln>
        </p:spPr>
        <p:txBody>
          <a:bodyPr/>
          <a:lstStyle/>
          <a:p>
            <a:endParaRPr lang="en-US"/>
          </a:p>
        </p:txBody>
      </p:sp>
      <p:sp>
        <p:nvSpPr>
          <p:cNvPr id="30" name="amount-1">
            <a:extLst>
              <a:ext uri="{FF2B5EF4-FFF2-40B4-BE49-F238E27FC236}">
                <a16:creationId xmlns:a16="http://schemas.microsoft.com/office/drawing/2014/main" id="{80CD2479-B3BC-422B-BEE1-901ABC3558A9}"/>
              </a:ext>
            </a:extLst>
          </p:cNvPr>
          <p:cNvSpPr>
            <a:spLocks noGrp="1"/>
          </p:cNvSpPr>
          <p:nvPr/>
        </p:nvSpPr>
        <p:spPr>
          <a:xfrm>
            <a:off x="7572375" y="3105150"/>
            <a:ext cx="1123950" cy="323850"/>
          </a:xfrm>
          <a:prstGeom prst="rect">
            <a:avLst/>
          </a:prstGeom>
          <a:noFill/>
          <a:ln w="0">
            <a:noFill/>
            <a:prstDash val="solid"/>
          </a:ln>
        </p:spPr>
        <p:txBody>
          <a:bodyPr anchor="ctr"/>
          <a:lstStyle/>
          <a:p>
            <a:pPr algn="l">
              <a:defRPr sz="1425" b="1">
                <a:solidFill>
                  <a:srgbClr val="17365D"/>
                </a:solidFill>
              </a:defRPr>
            </a:pPr>
            <a:r>
              <a:rPr sz="1425" b="1">
                <a:solidFill>
                  <a:srgbClr val="17365D"/>
                </a:solidFill>
              </a:rPr>
              <a:t>$2,500</a:t>
            </a:r>
          </a:p>
        </p:txBody>
      </p:sp>
      <p:sp>
        <p:nvSpPr>
          <p:cNvPr id="31" name="meaning-1">
            <a:extLst>
              <a:ext uri="{FF2B5EF4-FFF2-40B4-BE49-F238E27FC236}">
                <a16:creationId xmlns:a16="http://schemas.microsoft.com/office/drawing/2014/main" id="{547C0754-981D-42BC-84BF-23F88AFC5AB4}"/>
              </a:ext>
            </a:extLst>
          </p:cNvPr>
          <p:cNvSpPr>
            <a:spLocks noGrp="1"/>
          </p:cNvSpPr>
          <p:nvPr/>
        </p:nvSpPr>
        <p:spPr>
          <a:xfrm>
            <a:off x="8743950" y="3105150"/>
            <a:ext cx="2143125" cy="323850"/>
          </a:xfrm>
          <a:prstGeom prst="rect">
            <a:avLst/>
          </a:prstGeom>
          <a:noFill/>
          <a:ln w="0">
            <a:noFill/>
            <a:prstDash val="solid"/>
          </a:ln>
        </p:spPr>
        <p:txBody>
          <a:bodyPr anchor="ctr"/>
          <a:lstStyle/>
          <a:p>
            <a:pPr algn="l">
              <a:defRPr sz="1350" b="0">
                <a:solidFill>
                  <a:srgbClr val="5A6573"/>
                </a:solidFill>
              </a:defRPr>
            </a:pPr>
            <a:r>
              <a:rPr sz="1350" b="0">
                <a:solidFill>
                  <a:srgbClr val="5A6573"/>
                </a:solidFill>
              </a:rPr>
              <a:t>first interest tier</a:t>
            </a:r>
          </a:p>
        </p:txBody>
      </p:sp>
      <p:sp>
        <p:nvSpPr>
          <p:cNvPr id="32" name="selected-dot-2">
            <a:extLst>
              <a:ext uri="{FF2B5EF4-FFF2-40B4-BE49-F238E27FC236}">
                <a16:creationId xmlns:a16="http://schemas.microsoft.com/office/drawing/2014/main" id="{BDACC7A0-954A-44AA-AD2F-B75D44353957}"/>
              </a:ext>
            </a:extLst>
          </p:cNvPr>
          <p:cNvSpPr>
            <a:spLocks noGrp="1"/>
          </p:cNvSpPr>
          <p:nvPr/>
        </p:nvSpPr>
        <p:spPr>
          <a:xfrm>
            <a:off x="7200900" y="3629025"/>
            <a:ext cx="209550" cy="209550"/>
          </a:xfrm>
          <a:prstGeom prst="ellipse">
            <a:avLst/>
          </a:prstGeom>
          <a:solidFill>
            <a:srgbClr val="FFFFFF"/>
          </a:solidFill>
          <a:ln w="19050">
            <a:solidFill>
              <a:srgbClr val="2E7D32"/>
            </a:solidFill>
            <a:prstDash val="solid"/>
          </a:ln>
        </p:spPr>
        <p:txBody>
          <a:bodyPr/>
          <a:lstStyle/>
          <a:p>
            <a:endParaRPr lang="en-US"/>
          </a:p>
        </p:txBody>
      </p:sp>
      <p:sp>
        <p:nvSpPr>
          <p:cNvPr id="33" name="amount-2">
            <a:extLst>
              <a:ext uri="{FF2B5EF4-FFF2-40B4-BE49-F238E27FC236}">
                <a16:creationId xmlns:a16="http://schemas.microsoft.com/office/drawing/2014/main" id="{023C8E32-408E-4019-8A45-1CF01BFE13C6}"/>
              </a:ext>
            </a:extLst>
          </p:cNvPr>
          <p:cNvSpPr>
            <a:spLocks noGrp="1"/>
          </p:cNvSpPr>
          <p:nvPr/>
        </p:nvSpPr>
        <p:spPr>
          <a:xfrm>
            <a:off x="7572375" y="3562350"/>
            <a:ext cx="1123950" cy="323850"/>
          </a:xfrm>
          <a:prstGeom prst="rect">
            <a:avLst/>
          </a:prstGeom>
          <a:noFill/>
          <a:ln w="0">
            <a:noFill/>
            <a:prstDash val="solid"/>
          </a:ln>
        </p:spPr>
        <p:txBody>
          <a:bodyPr anchor="ctr"/>
          <a:lstStyle/>
          <a:p>
            <a:pPr algn="l">
              <a:defRPr sz="1425" b="1">
                <a:solidFill>
                  <a:srgbClr val="2E7D32"/>
                </a:solidFill>
              </a:defRPr>
            </a:pPr>
            <a:r>
              <a:rPr sz="1425" b="1">
                <a:solidFill>
                  <a:srgbClr val="2E7D32"/>
                </a:solidFill>
              </a:rPr>
              <a:t>$7,500</a:t>
            </a:r>
          </a:p>
        </p:txBody>
      </p:sp>
      <p:sp>
        <p:nvSpPr>
          <p:cNvPr id="34" name="meaning-2">
            <a:extLst>
              <a:ext uri="{FF2B5EF4-FFF2-40B4-BE49-F238E27FC236}">
                <a16:creationId xmlns:a16="http://schemas.microsoft.com/office/drawing/2014/main" id="{797C1F40-B1F1-4630-A645-71E4B31A6385}"/>
              </a:ext>
            </a:extLst>
          </p:cNvPr>
          <p:cNvSpPr>
            <a:spLocks noGrp="1"/>
          </p:cNvSpPr>
          <p:nvPr/>
        </p:nvSpPr>
        <p:spPr>
          <a:xfrm>
            <a:off x="8743950" y="3562350"/>
            <a:ext cx="2143125" cy="323850"/>
          </a:xfrm>
          <a:prstGeom prst="rect">
            <a:avLst/>
          </a:prstGeom>
          <a:noFill/>
          <a:ln w="0">
            <a:noFill/>
            <a:prstDash val="solid"/>
          </a:ln>
        </p:spPr>
        <p:txBody>
          <a:bodyPr anchor="ctr"/>
          <a:lstStyle/>
          <a:p>
            <a:pPr algn="l">
              <a:defRPr sz="1350" b="0">
                <a:solidFill>
                  <a:srgbClr val="5A6573"/>
                </a:solidFill>
              </a:defRPr>
            </a:pPr>
            <a:r>
              <a:rPr sz="1350" b="0">
                <a:solidFill>
                  <a:srgbClr val="5A6573"/>
                </a:solidFill>
              </a:rPr>
              <a:t>second interest tier</a:t>
            </a:r>
          </a:p>
        </p:txBody>
      </p:sp>
      <p:sp>
        <p:nvSpPr>
          <p:cNvPr id="35" name="selected-dot-3">
            <a:extLst>
              <a:ext uri="{FF2B5EF4-FFF2-40B4-BE49-F238E27FC236}">
                <a16:creationId xmlns:a16="http://schemas.microsoft.com/office/drawing/2014/main" id="{7BAC9BED-627D-4CC3-9FF8-8B9F2507C8B1}"/>
              </a:ext>
            </a:extLst>
          </p:cNvPr>
          <p:cNvSpPr>
            <a:spLocks noGrp="1"/>
          </p:cNvSpPr>
          <p:nvPr/>
        </p:nvSpPr>
        <p:spPr>
          <a:xfrm>
            <a:off x="7200900" y="4086225"/>
            <a:ext cx="209550" cy="209550"/>
          </a:xfrm>
          <a:prstGeom prst="ellipse">
            <a:avLst/>
          </a:prstGeom>
          <a:solidFill>
            <a:srgbClr val="FFFFFF"/>
          </a:solidFill>
          <a:ln w="19050">
            <a:solidFill>
              <a:srgbClr val="B26A00"/>
            </a:solidFill>
            <a:prstDash val="solid"/>
          </a:ln>
        </p:spPr>
        <p:txBody>
          <a:bodyPr/>
          <a:lstStyle/>
          <a:p>
            <a:endParaRPr lang="en-US"/>
          </a:p>
        </p:txBody>
      </p:sp>
      <p:sp>
        <p:nvSpPr>
          <p:cNvPr id="36" name="amount-3">
            <a:extLst>
              <a:ext uri="{FF2B5EF4-FFF2-40B4-BE49-F238E27FC236}">
                <a16:creationId xmlns:a16="http://schemas.microsoft.com/office/drawing/2014/main" id="{38252AF2-4914-4ED1-BC81-DBC05E9FA529}"/>
              </a:ext>
            </a:extLst>
          </p:cNvPr>
          <p:cNvSpPr>
            <a:spLocks noGrp="1"/>
          </p:cNvSpPr>
          <p:nvPr/>
        </p:nvSpPr>
        <p:spPr>
          <a:xfrm>
            <a:off x="7572375" y="4019550"/>
            <a:ext cx="1123950" cy="323850"/>
          </a:xfrm>
          <a:prstGeom prst="rect">
            <a:avLst/>
          </a:prstGeom>
          <a:noFill/>
          <a:ln w="0">
            <a:noFill/>
            <a:prstDash val="solid"/>
          </a:ln>
        </p:spPr>
        <p:txBody>
          <a:bodyPr anchor="ctr"/>
          <a:lstStyle/>
          <a:p>
            <a:pPr algn="l">
              <a:defRPr sz="1425" b="1">
                <a:solidFill>
                  <a:srgbClr val="B26A00"/>
                </a:solidFill>
              </a:defRPr>
            </a:pPr>
            <a:r>
              <a:rPr sz="1425" b="1">
                <a:solidFill>
                  <a:srgbClr val="B26A00"/>
                </a:solidFill>
              </a:rPr>
              <a:t>$15,000</a:t>
            </a:r>
          </a:p>
        </p:txBody>
      </p:sp>
      <p:sp>
        <p:nvSpPr>
          <p:cNvPr id="37" name="meaning-3">
            <a:extLst>
              <a:ext uri="{FF2B5EF4-FFF2-40B4-BE49-F238E27FC236}">
                <a16:creationId xmlns:a16="http://schemas.microsoft.com/office/drawing/2014/main" id="{A02876BA-34D5-4188-8F9B-58936991ACDA}"/>
              </a:ext>
            </a:extLst>
          </p:cNvPr>
          <p:cNvSpPr>
            <a:spLocks noGrp="1"/>
          </p:cNvSpPr>
          <p:nvPr/>
        </p:nvSpPr>
        <p:spPr>
          <a:xfrm>
            <a:off x="8743950" y="4019550"/>
            <a:ext cx="2143125" cy="323850"/>
          </a:xfrm>
          <a:prstGeom prst="rect">
            <a:avLst/>
          </a:prstGeom>
          <a:noFill/>
          <a:ln w="0">
            <a:noFill/>
            <a:prstDash val="solid"/>
          </a:ln>
        </p:spPr>
        <p:txBody>
          <a:bodyPr anchor="ctr"/>
          <a:lstStyle/>
          <a:p>
            <a:pPr algn="l">
              <a:defRPr sz="1350" b="0">
                <a:solidFill>
                  <a:srgbClr val="5A6573"/>
                </a:solidFill>
              </a:defRPr>
            </a:pPr>
            <a:r>
              <a:rPr sz="1350" b="0">
                <a:solidFill>
                  <a:srgbClr val="5A6573"/>
                </a:solidFill>
              </a:rPr>
              <a:t>highest interest tier</a:t>
            </a:r>
          </a:p>
        </p:txBody>
      </p:sp>
      <p:sp>
        <p:nvSpPr>
          <p:cNvPr id="38" name="selected-note">
            <a:extLst>
              <a:ext uri="{FF2B5EF4-FFF2-40B4-BE49-F238E27FC236}">
                <a16:creationId xmlns:a16="http://schemas.microsoft.com/office/drawing/2014/main" id="{0A49F863-09F5-4AA7-A67D-35BEA21752B3}"/>
              </a:ext>
            </a:extLst>
          </p:cNvPr>
          <p:cNvSpPr>
            <a:spLocks noGrp="1"/>
          </p:cNvSpPr>
          <p:nvPr/>
        </p:nvSpPr>
        <p:spPr>
          <a:xfrm>
            <a:off x="7239000" y="4457700"/>
            <a:ext cx="3695700" cy="266700"/>
          </a:xfrm>
          <a:prstGeom prst="rect">
            <a:avLst/>
          </a:prstGeom>
          <a:noFill/>
          <a:ln w="0">
            <a:noFill/>
            <a:prstDash val="solid"/>
          </a:ln>
        </p:spPr>
        <p:txBody>
          <a:bodyPr anchor="ctr"/>
          <a:lstStyle/>
          <a:p>
            <a:pPr algn="ctr">
              <a:defRPr sz="1200" b="1">
                <a:solidFill>
                  <a:srgbClr val="2E7D32"/>
                </a:solidFill>
              </a:defRPr>
            </a:pPr>
            <a:r>
              <a:rPr sz="1200" b="1">
                <a:solidFill>
                  <a:srgbClr val="2E7D32"/>
                </a:solidFill>
              </a:rPr>
              <a:t>A manageable starting set—not random samples</a:t>
            </a:r>
          </a:p>
        </p:txBody>
      </p:sp>
      <p:sp>
        <p:nvSpPr>
          <p:cNvPr id="39" name="methods">
            <a:extLst>
              <a:ext uri="{FF2B5EF4-FFF2-40B4-BE49-F238E27FC236}">
                <a16:creationId xmlns:a16="http://schemas.microsoft.com/office/drawing/2014/main" id="{3D19C40B-D640-43AF-8E32-B49F3357FAC4}"/>
              </a:ext>
            </a:extLst>
          </p:cNvPr>
          <p:cNvSpPr>
            <a:spLocks noGrp="1"/>
          </p:cNvSpPr>
          <p:nvPr/>
        </p:nvSpPr>
        <p:spPr>
          <a:xfrm>
            <a:off x="876300" y="5219700"/>
            <a:ext cx="10439400" cy="914400"/>
          </a:xfrm>
          <a:prstGeom prst="roundRect">
            <a:avLst>
              <a:gd name="adj" fmla="val 8333"/>
            </a:avLst>
          </a:prstGeom>
          <a:solidFill>
            <a:srgbClr val="FFFFFF"/>
          </a:solidFill>
          <a:ln w="19050">
            <a:solidFill>
              <a:srgbClr val="D6DEE8"/>
            </a:solidFill>
            <a:prstDash val="solid"/>
          </a:ln>
        </p:spPr>
        <p:txBody>
          <a:bodyPr/>
          <a:lstStyle/>
          <a:p>
            <a:endParaRPr lang="en-US"/>
          </a:p>
        </p:txBody>
      </p:sp>
      <p:sp>
        <p:nvSpPr>
          <p:cNvPr id="40" name="partition">
            <a:extLst>
              <a:ext uri="{FF2B5EF4-FFF2-40B4-BE49-F238E27FC236}">
                <a16:creationId xmlns:a16="http://schemas.microsoft.com/office/drawing/2014/main" id="{FC1A3793-4024-4AF3-BB0C-BE620C753ADF}"/>
              </a:ext>
            </a:extLst>
          </p:cNvPr>
          <p:cNvSpPr>
            <a:spLocks noGrp="1"/>
          </p:cNvSpPr>
          <p:nvPr/>
        </p:nvSpPr>
        <p:spPr>
          <a:xfrm>
            <a:off x="1162050" y="5353050"/>
            <a:ext cx="2571750" cy="266700"/>
          </a:xfrm>
          <a:prstGeom prst="rect">
            <a:avLst/>
          </a:prstGeom>
          <a:noFill/>
          <a:ln w="0">
            <a:noFill/>
            <a:prstDash val="solid"/>
          </a:ln>
        </p:spPr>
        <p:txBody>
          <a:bodyPr anchor="ctr"/>
          <a:lstStyle/>
          <a:p>
            <a:pPr algn="l">
              <a:defRPr sz="1575" b="1">
                <a:solidFill>
                  <a:srgbClr val="17365D"/>
                </a:solidFill>
              </a:defRPr>
            </a:pPr>
            <a:r>
              <a:rPr sz="1575" b="1">
                <a:solidFill>
                  <a:srgbClr val="17365D"/>
                </a:solidFill>
              </a:rPr>
              <a:t>Equivalence partitioning</a:t>
            </a:r>
          </a:p>
        </p:txBody>
      </p:sp>
      <p:sp>
        <p:nvSpPr>
          <p:cNvPr id="41" name="partition-detail">
            <a:extLst>
              <a:ext uri="{FF2B5EF4-FFF2-40B4-BE49-F238E27FC236}">
                <a16:creationId xmlns:a16="http://schemas.microsoft.com/office/drawing/2014/main" id="{8BD1D062-A578-49DD-AC78-C43596EF27AA}"/>
              </a:ext>
            </a:extLst>
          </p:cNvPr>
          <p:cNvSpPr>
            <a:spLocks noGrp="1"/>
          </p:cNvSpPr>
          <p:nvPr/>
        </p:nvSpPr>
        <p:spPr>
          <a:xfrm>
            <a:off x="1162050" y="5676900"/>
            <a:ext cx="4095750" cy="247650"/>
          </a:xfrm>
          <a:prstGeom prst="rect">
            <a:avLst/>
          </a:prstGeom>
          <a:noFill/>
          <a:ln w="0">
            <a:noFill/>
            <a:prstDash val="solid"/>
          </a:ln>
        </p:spPr>
        <p:txBody>
          <a:bodyPr anchor="ctr"/>
          <a:lstStyle/>
          <a:p>
            <a:pPr algn="l">
              <a:defRPr sz="1275" b="0">
                <a:solidFill>
                  <a:srgbClr val="5A6573"/>
                </a:solidFill>
              </a:defRPr>
            </a:pPr>
            <a:r>
              <a:rPr sz="1275" b="0">
                <a:solidFill>
                  <a:srgbClr val="5A6573"/>
                </a:solidFill>
              </a:rPr>
              <a:t>Choose values from behaviors that should differ.</a:t>
            </a:r>
          </a:p>
        </p:txBody>
      </p:sp>
      <p:sp>
        <p:nvSpPr>
          <p:cNvPr id="42" name="method-divider">
            <a:extLst>
              <a:ext uri="{FF2B5EF4-FFF2-40B4-BE49-F238E27FC236}">
                <a16:creationId xmlns:a16="http://schemas.microsoft.com/office/drawing/2014/main" id="{195EA548-3404-4C83-96E1-97D16247B975}"/>
              </a:ext>
            </a:extLst>
          </p:cNvPr>
          <p:cNvSpPr>
            <a:spLocks noGrp="1"/>
          </p:cNvSpPr>
          <p:nvPr/>
        </p:nvSpPr>
        <p:spPr>
          <a:xfrm>
            <a:off x="5953125" y="5372100"/>
            <a:ext cx="19050" cy="590550"/>
          </a:xfrm>
          <a:prstGeom prst="rect">
            <a:avLst/>
          </a:prstGeom>
          <a:solidFill>
            <a:srgbClr val="D6DEE8"/>
          </a:solidFill>
          <a:ln w="0">
            <a:solidFill>
              <a:srgbClr val="D6DEE8"/>
            </a:solidFill>
            <a:prstDash val="solid"/>
          </a:ln>
        </p:spPr>
        <p:txBody>
          <a:bodyPr/>
          <a:lstStyle/>
          <a:p>
            <a:endParaRPr lang="en-US"/>
          </a:p>
        </p:txBody>
      </p:sp>
      <p:sp>
        <p:nvSpPr>
          <p:cNvPr id="43" name="boundary">
            <a:extLst>
              <a:ext uri="{FF2B5EF4-FFF2-40B4-BE49-F238E27FC236}">
                <a16:creationId xmlns:a16="http://schemas.microsoft.com/office/drawing/2014/main" id="{AAF2F870-7802-4D87-8846-81FC7BF0AB03}"/>
              </a:ext>
            </a:extLst>
          </p:cNvPr>
          <p:cNvSpPr>
            <a:spLocks noGrp="1"/>
          </p:cNvSpPr>
          <p:nvPr/>
        </p:nvSpPr>
        <p:spPr>
          <a:xfrm>
            <a:off x="6305550" y="5353050"/>
            <a:ext cx="2571750" cy="266700"/>
          </a:xfrm>
          <a:prstGeom prst="rect">
            <a:avLst/>
          </a:prstGeom>
          <a:noFill/>
          <a:ln w="0">
            <a:noFill/>
            <a:prstDash val="solid"/>
          </a:ln>
        </p:spPr>
        <p:txBody>
          <a:bodyPr anchor="ctr"/>
          <a:lstStyle/>
          <a:p>
            <a:pPr algn="l">
              <a:defRPr sz="1575" b="1">
                <a:solidFill>
                  <a:srgbClr val="2E7D32"/>
                </a:solidFill>
              </a:defRPr>
            </a:pPr>
            <a:r>
              <a:rPr sz="1575" b="1">
                <a:solidFill>
                  <a:srgbClr val="2E7D32"/>
                </a:solidFill>
              </a:rPr>
              <a:t>Boundary-value analysis</a:t>
            </a:r>
          </a:p>
        </p:txBody>
      </p:sp>
      <p:sp>
        <p:nvSpPr>
          <p:cNvPr id="44" name="boundary-detail">
            <a:extLst>
              <a:ext uri="{FF2B5EF4-FFF2-40B4-BE49-F238E27FC236}">
                <a16:creationId xmlns:a16="http://schemas.microsoft.com/office/drawing/2014/main" id="{71FC7DCA-09E8-4B2F-8925-9D8148A8A586}"/>
              </a:ext>
            </a:extLst>
          </p:cNvPr>
          <p:cNvSpPr>
            <a:spLocks noGrp="1"/>
          </p:cNvSpPr>
          <p:nvPr/>
        </p:nvSpPr>
        <p:spPr>
          <a:xfrm>
            <a:off x="6305550" y="5676900"/>
            <a:ext cx="4095750" cy="247650"/>
          </a:xfrm>
          <a:prstGeom prst="rect">
            <a:avLst/>
          </a:prstGeom>
          <a:noFill/>
          <a:ln w="0">
            <a:noFill/>
            <a:prstDash val="solid"/>
          </a:ln>
        </p:spPr>
        <p:txBody>
          <a:bodyPr anchor="ctr"/>
          <a:lstStyle/>
          <a:p>
            <a:pPr algn="l">
              <a:defRPr sz="1275" b="0">
                <a:solidFill>
                  <a:srgbClr val="5A6573"/>
                </a:solidFill>
              </a:defRPr>
            </a:pPr>
            <a:r>
              <a:rPr sz="1275" b="0">
                <a:solidFill>
                  <a:srgbClr val="5A6573"/>
                </a:solidFill>
              </a:rPr>
              <a:t>Then test values near each rule change.</a:t>
            </a:r>
          </a:p>
        </p:txBody>
      </p:sp>
    </p:spTree>
    <p:extLst>
      <p:ext uri="{BB962C8B-B14F-4D97-AF65-F5344CB8AC3E}">
        <p14:creationId xmlns:p14="http://schemas.microsoft.com/office/powerpoint/2010/main" val="1970803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50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5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50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50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50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50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500"/>
                                        <p:tgtEl>
                                          <p:spTgt spid="3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500"/>
                                        <p:tgtEl>
                                          <p:spTgt spid="38"/>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39"/>
                                        </p:tgtEl>
                                        <p:attrNameLst>
                                          <p:attrName>style.visibility</p:attrName>
                                        </p:attrNameLst>
                                      </p:cBhvr>
                                      <p:to>
                                        <p:strVal val="visible"/>
                                      </p:to>
                                    </p:set>
                                    <p:animEffect transition="in" filter="fade">
                                      <p:cBhvr>
                                        <p:cTn id="116" dur="500"/>
                                        <p:tgtEl>
                                          <p:spTgt spid="39"/>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0"/>
                                        </p:tgtEl>
                                        <p:attrNameLst>
                                          <p:attrName>style.visibility</p:attrName>
                                        </p:attrNameLst>
                                      </p:cBhvr>
                                      <p:to>
                                        <p:strVal val="visible"/>
                                      </p:to>
                                    </p:set>
                                    <p:animEffect transition="in" filter="fade">
                                      <p:cBhvr>
                                        <p:cTn id="119" dur="500"/>
                                        <p:tgtEl>
                                          <p:spTgt spid="40"/>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1"/>
                                        </p:tgtEl>
                                        <p:attrNameLst>
                                          <p:attrName>style.visibility</p:attrName>
                                        </p:attrNameLst>
                                      </p:cBhvr>
                                      <p:to>
                                        <p:strVal val="visible"/>
                                      </p:to>
                                    </p:set>
                                    <p:animEffect transition="in" filter="fade">
                                      <p:cBhvr>
                                        <p:cTn id="122" dur="500"/>
                                        <p:tgtEl>
                                          <p:spTgt spid="41"/>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2"/>
                                        </p:tgtEl>
                                        <p:attrNameLst>
                                          <p:attrName>style.visibility</p:attrName>
                                        </p:attrNameLst>
                                      </p:cBhvr>
                                      <p:to>
                                        <p:strVal val="visible"/>
                                      </p:to>
                                    </p:set>
                                    <p:animEffect transition="in" filter="fade">
                                      <p:cBhvr>
                                        <p:cTn id="125" dur="500"/>
                                        <p:tgtEl>
                                          <p:spTgt spid="42"/>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3"/>
                                        </p:tgtEl>
                                        <p:attrNameLst>
                                          <p:attrName>style.visibility</p:attrName>
                                        </p:attrNameLst>
                                      </p:cBhvr>
                                      <p:to>
                                        <p:strVal val="visible"/>
                                      </p:to>
                                    </p:set>
                                    <p:animEffect transition="in" filter="fade">
                                      <p:cBhvr>
                                        <p:cTn id="128" dur="500"/>
                                        <p:tgtEl>
                                          <p:spTgt spid="43"/>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4"/>
                                        </p:tgtEl>
                                        <p:attrNameLst>
                                          <p:attrName>style.visibility</p:attrName>
                                        </p:attrNameLst>
                                      </p:cBhvr>
                                      <p:to>
                                        <p:strVal val="visible"/>
                                      </p:to>
                                    </p:set>
                                    <p:animEffect transition="in" filter="fade">
                                      <p:cBhvr>
                                        <p:cTn id="131"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p:bldP spid="19" grpId="0"/>
      <p:bldP spid="20" grpId="0"/>
      <p:bldP spid="21" grpId="0"/>
      <p:bldP spid="22" grpId="0"/>
      <p:bldP spid="23" grpId="0" animBg="1"/>
      <p:bldP spid="24" grpId="0" animBg="1"/>
      <p:bldP spid="25" grpId="0"/>
      <p:bldP spid="26" grpId="0" animBg="1"/>
      <p:bldP spid="27" grpId="0"/>
      <p:bldP spid="28" grpId="0"/>
      <p:bldP spid="29" grpId="0" animBg="1"/>
      <p:bldP spid="30" grpId="0"/>
      <p:bldP spid="31" grpId="0"/>
      <p:bldP spid="32" grpId="0" animBg="1"/>
      <p:bldP spid="33" grpId="0"/>
      <p:bldP spid="34" grpId="0"/>
      <p:bldP spid="35" grpId="0" animBg="1"/>
      <p:bldP spid="36" grpId="0"/>
      <p:bldP spid="37" grpId="0"/>
      <p:bldP spid="38" grpId="0"/>
      <p:bldP spid="39" grpId="0" animBg="1"/>
      <p:bldP spid="40" grpId="0"/>
      <p:bldP spid="41" grpId="0"/>
      <p:bldP spid="42" grpId="0" animBg="1"/>
      <p:bldP spid="43" grpId="0"/>
      <p:bldP spid="4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a:extLst>
              <a:ext uri="{FF2B5EF4-FFF2-40B4-BE49-F238E27FC236}">
                <a16:creationId xmlns:a16="http://schemas.microsoft.com/office/drawing/2014/main" id="{2A373CBC-79DF-4970-946F-1C5A81CBCD12}"/>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11111"/>
                </a:solidFill>
              </a:defRPr>
            </a:pPr>
            <a:r>
              <a:rPr sz="3000" b="0">
                <a:solidFill>
                  <a:srgbClr val="111111"/>
                </a:solidFill>
              </a:rPr>
              <a:t>Equivalence partitioning samples each behavior class</a:t>
            </a:r>
          </a:p>
        </p:txBody>
      </p:sp>
      <p:sp>
        <p:nvSpPr>
          <p:cNvPr id="2" name="title-rule">
            <a:extLst>
              <a:ext uri="{FF2B5EF4-FFF2-40B4-BE49-F238E27FC236}">
                <a16:creationId xmlns:a16="http://schemas.microsoft.com/office/drawing/2014/main" id="{791BD2A3-B334-4C1E-956F-E3DE542437FA}"/>
              </a:ext>
            </a:extLst>
          </p:cNvPr>
          <p:cNvSpPr>
            <a:spLocks noGrp="1"/>
          </p:cNvSpPr>
          <p:nvPr/>
        </p:nvSpPr>
        <p:spPr>
          <a:xfrm>
            <a:off x="685800" y="1066800"/>
            <a:ext cx="1571625" cy="38100"/>
          </a:xfrm>
          <a:prstGeom prst="rect">
            <a:avLst/>
          </a:prstGeom>
          <a:solidFill>
            <a:srgbClr val="17365D"/>
          </a:solidFill>
          <a:ln w="0">
            <a:solidFill>
              <a:srgbClr val="17365D"/>
            </a:solidFill>
            <a:prstDash val="solid"/>
          </a:ln>
        </p:spPr>
        <p:txBody>
          <a:bodyPr/>
          <a:lstStyle/>
          <a:p>
            <a:endParaRPr lang="en-US"/>
          </a:p>
        </p:txBody>
      </p:sp>
      <p:sp>
        <p:nvSpPr>
          <p:cNvPr id="3" name="setup">
            <a:extLst>
              <a:ext uri="{FF2B5EF4-FFF2-40B4-BE49-F238E27FC236}">
                <a16:creationId xmlns:a16="http://schemas.microsoft.com/office/drawing/2014/main" id="{3FDF73DD-F644-4A73-A7A2-E9788210F916}"/>
              </a:ext>
            </a:extLst>
          </p:cNvPr>
          <p:cNvSpPr>
            <a:spLocks noGrp="1"/>
          </p:cNvSpPr>
          <p:nvPr/>
        </p:nvSpPr>
        <p:spPr>
          <a:xfrm>
            <a:off x="895350" y="1381125"/>
            <a:ext cx="10401300" cy="400050"/>
          </a:xfrm>
          <a:prstGeom prst="rect">
            <a:avLst/>
          </a:prstGeom>
          <a:noFill/>
          <a:ln w="0">
            <a:noFill/>
            <a:prstDash val="solid"/>
          </a:ln>
        </p:spPr>
        <p:txBody>
          <a:bodyPr anchor="ctr"/>
          <a:lstStyle/>
          <a:p>
            <a:pPr algn="ctr">
              <a:defRPr sz="1800" b="0">
                <a:solidFill>
                  <a:srgbClr val="5A6573"/>
                </a:solidFill>
              </a:defRPr>
            </a:pPr>
            <a:r>
              <a:rPr sz="1800" b="0">
                <a:solidFill>
                  <a:srgbClr val="5A6573"/>
                </a:solidFill>
              </a:rPr>
              <a:t>Example: a bank applies different interest rules to different account balances.</a:t>
            </a:r>
          </a:p>
        </p:txBody>
      </p:sp>
      <p:sp>
        <p:nvSpPr>
          <p:cNvPr id="4" name="overdraft">
            <a:extLst>
              <a:ext uri="{FF2B5EF4-FFF2-40B4-BE49-F238E27FC236}">
                <a16:creationId xmlns:a16="http://schemas.microsoft.com/office/drawing/2014/main" id="{D9AE1117-50DB-4203-BEE6-1A699A364253}"/>
              </a:ext>
            </a:extLst>
          </p:cNvPr>
          <p:cNvSpPr>
            <a:spLocks noGrp="1"/>
          </p:cNvSpPr>
          <p:nvPr/>
        </p:nvSpPr>
        <p:spPr>
          <a:xfrm>
            <a:off x="952500" y="2714625"/>
            <a:ext cx="2190750" cy="1066800"/>
          </a:xfrm>
          <a:prstGeom prst="roundRect">
            <a:avLst>
              <a:gd name="adj" fmla="val 7143"/>
            </a:avLst>
          </a:prstGeom>
          <a:solidFill>
            <a:srgbClr val="FCEBEC"/>
          </a:solidFill>
          <a:ln w="19050">
            <a:solidFill>
              <a:srgbClr val="C62828"/>
            </a:solidFill>
            <a:prstDash val="solid"/>
          </a:ln>
        </p:spPr>
        <p:txBody>
          <a:bodyPr/>
          <a:lstStyle/>
          <a:p>
            <a:endParaRPr lang="en-US"/>
          </a:p>
        </p:txBody>
      </p:sp>
      <p:sp>
        <p:nvSpPr>
          <p:cNvPr id="5" name="overdraft-label">
            <a:extLst>
              <a:ext uri="{FF2B5EF4-FFF2-40B4-BE49-F238E27FC236}">
                <a16:creationId xmlns:a16="http://schemas.microsoft.com/office/drawing/2014/main" id="{1E7591E8-1700-45FA-AA12-DE92A9F1D37C}"/>
              </a:ext>
            </a:extLst>
          </p:cNvPr>
          <p:cNvSpPr>
            <a:spLocks noGrp="1"/>
          </p:cNvSpPr>
          <p:nvPr/>
        </p:nvSpPr>
        <p:spPr>
          <a:xfrm>
            <a:off x="1028700" y="2838450"/>
            <a:ext cx="2038350" cy="323850"/>
          </a:xfrm>
          <a:prstGeom prst="rect">
            <a:avLst/>
          </a:prstGeom>
          <a:noFill/>
          <a:ln w="0">
            <a:noFill/>
            <a:prstDash val="solid"/>
          </a:ln>
        </p:spPr>
        <p:txBody>
          <a:bodyPr anchor="ctr"/>
          <a:lstStyle/>
          <a:p>
            <a:pPr algn="ctr">
              <a:defRPr sz="1500" b="1">
                <a:solidFill>
                  <a:srgbClr val="C62828"/>
                </a:solidFill>
              </a:defRPr>
            </a:pPr>
            <a:r>
              <a:rPr sz="1500" b="1">
                <a:solidFill>
                  <a:srgbClr val="C62828"/>
                </a:solidFill>
              </a:rPr>
              <a:t>Balance &lt; $0</a:t>
            </a:r>
          </a:p>
        </p:txBody>
      </p:sp>
      <p:sp>
        <p:nvSpPr>
          <p:cNvPr id="6" name="overdraft-sub">
            <a:extLst>
              <a:ext uri="{FF2B5EF4-FFF2-40B4-BE49-F238E27FC236}">
                <a16:creationId xmlns:a16="http://schemas.microsoft.com/office/drawing/2014/main" id="{2EF44B6B-4F5B-4DC9-826C-F95C04ADAF53}"/>
              </a:ext>
            </a:extLst>
          </p:cNvPr>
          <p:cNvSpPr>
            <a:spLocks noGrp="1"/>
          </p:cNvSpPr>
          <p:nvPr/>
        </p:nvSpPr>
        <p:spPr>
          <a:xfrm>
            <a:off x="1028700" y="3257550"/>
            <a:ext cx="2038350" cy="32385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4% overdraft penalty</a:t>
            </a:r>
          </a:p>
        </p:txBody>
      </p:sp>
      <p:sp>
        <p:nvSpPr>
          <p:cNvPr id="7" name="tier1">
            <a:extLst>
              <a:ext uri="{FF2B5EF4-FFF2-40B4-BE49-F238E27FC236}">
                <a16:creationId xmlns:a16="http://schemas.microsoft.com/office/drawing/2014/main" id="{604A075B-CC4D-4CB1-A1E8-32DE7185BA29}"/>
              </a:ext>
            </a:extLst>
          </p:cNvPr>
          <p:cNvSpPr>
            <a:spLocks noGrp="1"/>
          </p:cNvSpPr>
          <p:nvPr/>
        </p:nvSpPr>
        <p:spPr>
          <a:xfrm>
            <a:off x="3143250" y="2714625"/>
            <a:ext cx="2333625" cy="1066800"/>
          </a:xfrm>
          <a:prstGeom prst="roundRect">
            <a:avLst>
              <a:gd name="adj" fmla="val 7143"/>
            </a:avLst>
          </a:prstGeom>
          <a:solidFill>
            <a:srgbClr val="F5F8FC"/>
          </a:solidFill>
          <a:ln w="19050">
            <a:solidFill>
              <a:srgbClr val="17365D"/>
            </a:solidFill>
            <a:prstDash val="solid"/>
          </a:ln>
        </p:spPr>
        <p:txBody>
          <a:bodyPr/>
          <a:lstStyle/>
          <a:p>
            <a:endParaRPr lang="en-US"/>
          </a:p>
        </p:txBody>
      </p:sp>
      <p:sp>
        <p:nvSpPr>
          <p:cNvPr id="8" name="tier1-label">
            <a:extLst>
              <a:ext uri="{FF2B5EF4-FFF2-40B4-BE49-F238E27FC236}">
                <a16:creationId xmlns:a16="http://schemas.microsoft.com/office/drawing/2014/main" id="{0104192B-766A-45D7-861C-8A8C5E30D19F}"/>
              </a:ext>
            </a:extLst>
          </p:cNvPr>
          <p:cNvSpPr>
            <a:spLocks noGrp="1"/>
          </p:cNvSpPr>
          <p:nvPr/>
        </p:nvSpPr>
        <p:spPr>
          <a:xfrm>
            <a:off x="3219450" y="2838450"/>
            <a:ext cx="2181225" cy="32385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$0–$5,000</a:t>
            </a:r>
          </a:p>
        </p:txBody>
      </p:sp>
      <p:sp>
        <p:nvSpPr>
          <p:cNvPr id="9" name="tier1-sub">
            <a:extLst>
              <a:ext uri="{FF2B5EF4-FFF2-40B4-BE49-F238E27FC236}">
                <a16:creationId xmlns:a16="http://schemas.microsoft.com/office/drawing/2014/main" id="{332BE51B-9816-416A-9A57-5C1B3AF5A8DE}"/>
              </a:ext>
            </a:extLst>
          </p:cNvPr>
          <p:cNvSpPr>
            <a:spLocks noGrp="1"/>
          </p:cNvSpPr>
          <p:nvPr/>
        </p:nvSpPr>
        <p:spPr>
          <a:xfrm>
            <a:off x="3219450" y="3257550"/>
            <a:ext cx="2181225" cy="32385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0.5% interest</a:t>
            </a:r>
          </a:p>
        </p:txBody>
      </p:sp>
      <p:sp>
        <p:nvSpPr>
          <p:cNvPr id="10" name="tier2">
            <a:extLst>
              <a:ext uri="{FF2B5EF4-FFF2-40B4-BE49-F238E27FC236}">
                <a16:creationId xmlns:a16="http://schemas.microsoft.com/office/drawing/2014/main" id="{59D7E906-295F-4BCD-A74D-D5E8B4709207}"/>
              </a:ext>
            </a:extLst>
          </p:cNvPr>
          <p:cNvSpPr>
            <a:spLocks noGrp="1"/>
          </p:cNvSpPr>
          <p:nvPr/>
        </p:nvSpPr>
        <p:spPr>
          <a:xfrm>
            <a:off x="5476875" y="2714625"/>
            <a:ext cx="2333625" cy="1066800"/>
          </a:xfrm>
          <a:prstGeom prst="roundRect">
            <a:avLst>
              <a:gd name="adj" fmla="val 7143"/>
            </a:avLst>
          </a:prstGeom>
          <a:solidFill>
            <a:srgbClr val="EAF5EB"/>
          </a:solidFill>
          <a:ln w="19050">
            <a:solidFill>
              <a:srgbClr val="2E7D32"/>
            </a:solidFill>
            <a:prstDash val="solid"/>
          </a:ln>
        </p:spPr>
        <p:txBody>
          <a:bodyPr/>
          <a:lstStyle/>
          <a:p>
            <a:endParaRPr lang="en-US"/>
          </a:p>
        </p:txBody>
      </p:sp>
      <p:sp>
        <p:nvSpPr>
          <p:cNvPr id="11" name="tier2-label">
            <a:extLst>
              <a:ext uri="{FF2B5EF4-FFF2-40B4-BE49-F238E27FC236}">
                <a16:creationId xmlns:a16="http://schemas.microsoft.com/office/drawing/2014/main" id="{45405AF0-FC57-4A9C-B88B-8F3D89D282F4}"/>
              </a:ext>
            </a:extLst>
          </p:cNvPr>
          <p:cNvSpPr>
            <a:spLocks noGrp="1"/>
          </p:cNvSpPr>
          <p:nvPr/>
        </p:nvSpPr>
        <p:spPr>
          <a:xfrm>
            <a:off x="5553075" y="2838450"/>
            <a:ext cx="2181225" cy="323850"/>
          </a:xfrm>
          <a:prstGeom prst="rect">
            <a:avLst/>
          </a:prstGeom>
          <a:noFill/>
          <a:ln w="0">
            <a:noFill/>
            <a:prstDash val="solid"/>
          </a:ln>
        </p:spPr>
        <p:txBody>
          <a:bodyPr anchor="ctr"/>
          <a:lstStyle/>
          <a:p>
            <a:pPr algn="ctr">
              <a:defRPr sz="1500" b="1">
                <a:solidFill>
                  <a:srgbClr val="2E7D32"/>
                </a:solidFill>
              </a:defRPr>
            </a:pPr>
            <a:r>
              <a:rPr sz="1500" b="1">
                <a:solidFill>
                  <a:srgbClr val="2E7D32"/>
                </a:solidFill>
              </a:rPr>
              <a:t>$5,000–$10,000</a:t>
            </a:r>
          </a:p>
        </p:txBody>
      </p:sp>
      <p:sp>
        <p:nvSpPr>
          <p:cNvPr id="12" name="tier2-sub">
            <a:extLst>
              <a:ext uri="{FF2B5EF4-FFF2-40B4-BE49-F238E27FC236}">
                <a16:creationId xmlns:a16="http://schemas.microsoft.com/office/drawing/2014/main" id="{178D4DFC-234D-4DA0-A06B-0AA3B22EEDD5}"/>
              </a:ext>
            </a:extLst>
          </p:cNvPr>
          <p:cNvSpPr>
            <a:spLocks noGrp="1"/>
          </p:cNvSpPr>
          <p:nvPr/>
        </p:nvSpPr>
        <p:spPr>
          <a:xfrm>
            <a:off x="5553075" y="3257550"/>
            <a:ext cx="2181225" cy="32385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1% interest</a:t>
            </a:r>
          </a:p>
        </p:txBody>
      </p:sp>
      <p:sp>
        <p:nvSpPr>
          <p:cNvPr id="13" name="tier3">
            <a:extLst>
              <a:ext uri="{FF2B5EF4-FFF2-40B4-BE49-F238E27FC236}">
                <a16:creationId xmlns:a16="http://schemas.microsoft.com/office/drawing/2014/main" id="{680C0C8A-AC50-42FD-9B17-226D23FF2524}"/>
              </a:ext>
            </a:extLst>
          </p:cNvPr>
          <p:cNvSpPr>
            <a:spLocks noGrp="1"/>
          </p:cNvSpPr>
          <p:nvPr/>
        </p:nvSpPr>
        <p:spPr>
          <a:xfrm>
            <a:off x="7810500" y="2714625"/>
            <a:ext cx="3429000" cy="1066800"/>
          </a:xfrm>
          <a:prstGeom prst="roundRect">
            <a:avLst>
              <a:gd name="adj" fmla="val 7143"/>
            </a:avLst>
          </a:prstGeom>
          <a:solidFill>
            <a:srgbClr val="FFF3DB"/>
          </a:solidFill>
          <a:ln w="19050">
            <a:solidFill>
              <a:srgbClr val="B26A00"/>
            </a:solidFill>
            <a:prstDash val="solid"/>
          </a:ln>
        </p:spPr>
        <p:txBody>
          <a:bodyPr/>
          <a:lstStyle/>
          <a:p>
            <a:endParaRPr lang="en-US"/>
          </a:p>
        </p:txBody>
      </p:sp>
      <p:sp>
        <p:nvSpPr>
          <p:cNvPr id="14" name="tier3-label">
            <a:extLst>
              <a:ext uri="{FF2B5EF4-FFF2-40B4-BE49-F238E27FC236}">
                <a16:creationId xmlns:a16="http://schemas.microsoft.com/office/drawing/2014/main" id="{8BE79DA7-972E-4F5F-8C54-AA6018004057}"/>
              </a:ext>
            </a:extLst>
          </p:cNvPr>
          <p:cNvSpPr>
            <a:spLocks noGrp="1"/>
          </p:cNvSpPr>
          <p:nvPr/>
        </p:nvSpPr>
        <p:spPr>
          <a:xfrm>
            <a:off x="7886700" y="2838450"/>
            <a:ext cx="3276600" cy="323850"/>
          </a:xfrm>
          <a:prstGeom prst="rect">
            <a:avLst/>
          </a:prstGeom>
          <a:noFill/>
          <a:ln w="0">
            <a:noFill/>
            <a:prstDash val="solid"/>
          </a:ln>
        </p:spPr>
        <p:txBody>
          <a:bodyPr anchor="ctr"/>
          <a:lstStyle/>
          <a:p>
            <a:pPr algn="ctr">
              <a:defRPr sz="1500" b="1">
                <a:solidFill>
                  <a:srgbClr val="B26A00"/>
                </a:solidFill>
              </a:defRPr>
            </a:pPr>
            <a:r>
              <a:rPr sz="1500" b="1">
                <a:solidFill>
                  <a:srgbClr val="B26A00"/>
                </a:solidFill>
              </a:rPr>
              <a:t>Balance &gt; $10,000</a:t>
            </a:r>
          </a:p>
        </p:txBody>
      </p:sp>
      <p:sp>
        <p:nvSpPr>
          <p:cNvPr id="15" name="tier3-sub">
            <a:extLst>
              <a:ext uri="{FF2B5EF4-FFF2-40B4-BE49-F238E27FC236}">
                <a16:creationId xmlns:a16="http://schemas.microsoft.com/office/drawing/2014/main" id="{28937338-B759-4ACA-8FB1-5CF518DB2547}"/>
              </a:ext>
            </a:extLst>
          </p:cNvPr>
          <p:cNvSpPr>
            <a:spLocks noGrp="1"/>
          </p:cNvSpPr>
          <p:nvPr/>
        </p:nvSpPr>
        <p:spPr>
          <a:xfrm>
            <a:off x="7886700" y="3257550"/>
            <a:ext cx="3276600" cy="32385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2% interest</a:t>
            </a:r>
          </a:p>
        </p:txBody>
      </p:sp>
      <p:sp>
        <p:nvSpPr>
          <p:cNvPr id="16" name="axis">
            <a:extLst>
              <a:ext uri="{FF2B5EF4-FFF2-40B4-BE49-F238E27FC236}">
                <a16:creationId xmlns:a16="http://schemas.microsoft.com/office/drawing/2014/main" id="{5EB1A314-405F-4F0E-9A94-638D523E3395}"/>
              </a:ext>
            </a:extLst>
          </p:cNvPr>
          <p:cNvSpPr>
            <a:spLocks noGrp="1"/>
          </p:cNvSpPr>
          <p:nvPr/>
        </p:nvSpPr>
        <p:spPr>
          <a:xfrm>
            <a:off x="952500" y="4057650"/>
            <a:ext cx="10287000" cy="38100"/>
          </a:xfrm>
          <a:prstGeom prst="rect">
            <a:avLst/>
          </a:prstGeom>
          <a:solidFill>
            <a:srgbClr val="111111"/>
          </a:solidFill>
          <a:ln w="0">
            <a:solidFill>
              <a:srgbClr val="111111"/>
            </a:solidFill>
            <a:prstDash val="solid"/>
          </a:ln>
        </p:spPr>
        <p:txBody>
          <a:bodyPr/>
          <a:lstStyle/>
          <a:p>
            <a:endParaRPr lang="en-US"/>
          </a:p>
        </p:txBody>
      </p:sp>
      <p:sp>
        <p:nvSpPr>
          <p:cNvPr id="17" name="tick-0">
            <a:extLst>
              <a:ext uri="{FF2B5EF4-FFF2-40B4-BE49-F238E27FC236}">
                <a16:creationId xmlns:a16="http://schemas.microsoft.com/office/drawing/2014/main" id="{36CA8344-3F5E-4B67-AA80-6DB711B03FD1}"/>
              </a:ext>
            </a:extLst>
          </p:cNvPr>
          <p:cNvSpPr>
            <a:spLocks noGrp="1"/>
          </p:cNvSpPr>
          <p:nvPr/>
        </p:nvSpPr>
        <p:spPr>
          <a:xfrm>
            <a:off x="2047875" y="3962400"/>
            <a:ext cx="28575" cy="228600"/>
          </a:xfrm>
          <a:prstGeom prst="rect">
            <a:avLst/>
          </a:prstGeom>
          <a:solidFill>
            <a:srgbClr val="C62828"/>
          </a:solidFill>
          <a:ln w="0">
            <a:solidFill>
              <a:srgbClr val="C62828"/>
            </a:solidFill>
            <a:prstDash val="solid"/>
          </a:ln>
        </p:spPr>
        <p:txBody>
          <a:bodyPr/>
          <a:lstStyle/>
          <a:p>
            <a:endParaRPr lang="en-US"/>
          </a:p>
        </p:txBody>
      </p:sp>
      <p:sp>
        <p:nvSpPr>
          <p:cNvPr id="18" name="rep-0-circle">
            <a:extLst>
              <a:ext uri="{FF2B5EF4-FFF2-40B4-BE49-F238E27FC236}">
                <a16:creationId xmlns:a16="http://schemas.microsoft.com/office/drawing/2014/main" id="{7D2F05D9-3A32-4C15-A03E-F95822B70C10}"/>
              </a:ext>
            </a:extLst>
          </p:cNvPr>
          <p:cNvSpPr>
            <a:spLocks noGrp="1"/>
          </p:cNvSpPr>
          <p:nvPr/>
        </p:nvSpPr>
        <p:spPr>
          <a:xfrm>
            <a:off x="1857375" y="4286250"/>
            <a:ext cx="400050" cy="400050"/>
          </a:xfrm>
          <a:prstGeom prst="ellipse">
            <a:avLst/>
          </a:prstGeom>
          <a:solidFill>
            <a:srgbClr val="FFFFFF"/>
          </a:solidFill>
          <a:ln w="28575">
            <a:solidFill>
              <a:srgbClr val="C62828"/>
            </a:solidFill>
            <a:prstDash val="solid"/>
          </a:ln>
        </p:spPr>
        <p:txBody>
          <a:bodyPr/>
          <a:lstStyle/>
          <a:p>
            <a:endParaRPr lang="en-US"/>
          </a:p>
        </p:txBody>
      </p:sp>
      <p:sp>
        <p:nvSpPr>
          <p:cNvPr id="19" name="rep-0-label">
            <a:extLst>
              <a:ext uri="{FF2B5EF4-FFF2-40B4-BE49-F238E27FC236}">
                <a16:creationId xmlns:a16="http://schemas.microsoft.com/office/drawing/2014/main" id="{58559CA4-6BA8-4728-8514-04FECB31CCA6}"/>
              </a:ext>
            </a:extLst>
          </p:cNvPr>
          <p:cNvSpPr>
            <a:spLocks noGrp="1"/>
          </p:cNvSpPr>
          <p:nvPr/>
        </p:nvSpPr>
        <p:spPr>
          <a:xfrm>
            <a:off x="1857375" y="4276725"/>
            <a:ext cx="400050" cy="400050"/>
          </a:xfrm>
          <a:prstGeom prst="rect">
            <a:avLst/>
          </a:prstGeom>
          <a:noFill/>
          <a:ln w="0">
            <a:noFill/>
            <a:prstDash val="solid"/>
          </a:ln>
        </p:spPr>
        <p:txBody>
          <a:bodyPr anchor="ctr"/>
          <a:lstStyle/>
          <a:p>
            <a:pPr algn="ctr">
              <a:defRPr sz="1425" b="1">
                <a:solidFill>
                  <a:srgbClr val="C62828"/>
                </a:solidFill>
              </a:defRPr>
            </a:pPr>
            <a:r>
              <a:rPr sz="1425" b="1">
                <a:solidFill>
                  <a:srgbClr val="C62828"/>
                </a:solidFill>
              </a:rPr>
              <a:t>✓</a:t>
            </a:r>
          </a:p>
        </p:txBody>
      </p:sp>
      <p:sp>
        <p:nvSpPr>
          <p:cNvPr id="20" name="rep-text-0">
            <a:extLst>
              <a:ext uri="{FF2B5EF4-FFF2-40B4-BE49-F238E27FC236}">
                <a16:creationId xmlns:a16="http://schemas.microsoft.com/office/drawing/2014/main" id="{D20C5D53-5213-4EEA-920B-9ABBC044A427}"/>
              </a:ext>
            </a:extLst>
          </p:cNvPr>
          <p:cNvSpPr>
            <a:spLocks noGrp="1"/>
          </p:cNvSpPr>
          <p:nvPr/>
        </p:nvSpPr>
        <p:spPr>
          <a:xfrm>
            <a:off x="1495425" y="4724400"/>
            <a:ext cx="1104900" cy="285750"/>
          </a:xfrm>
          <a:prstGeom prst="rect">
            <a:avLst/>
          </a:prstGeom>
          <a:noFill/>
          <a:ln w="0">
            <a:noFill/>
            <a:prstDash val="solid"/>
          </a:ln>
        </p:spPr>
        <p:txBody>
          <a:bodyPr anchor="ctr"/>
          <a:lstStyle/>
          <a:p>
            <a:pPr algn="ctr">
              <a:defRPr sz="1350" b="1">
                <a:solidFill>
                  <a:srgbClr val="C62828"/>
                </a:solidFill>
              </a:defRPr>
            </a:pPr>
            <a:r>
              <a:rPr sz="1350" b="1">
                <a:solidFill>
                  <a:srgbClr val="C62828"/>
                </a:solidFill>
              </a:rPr>
              <a:t>−$2,000</a:t>
            </a:r>
          </a:p>
        </p:txBody>
      </p:sp>
      <p:sp>
        <p:nvSpPr>
          <p:cNvPr id="21" name="tick-1">
            <a:extLst>
              <a:ext uri="{FF2B5EF4-FFF2-40B4-BE49-F238E27FC236}">
                <a16:creationId xmlns:a16="http://schemas.microsoft.com/office/drawing/2014/main" id="{80FB665D-1F74-4C2D-AE50-2DCC0BFA4A0E}"/>
              </a:ext>
            </a:extLst>
          </p:cNvPr>
          <p:cNvSpPr>
            <a:spLocks noGrp="1"/>
          </p:cNvSpPr>
          <p:nvPr/>
        </p:nvSpPr>
        <p:spPr>
          <a:xfrm>
            <a:off x="4305300" y="3962400"/>
            <a:ext cx="28575" cy="228600"/>
          </a:xfrm>
          <a:prstGeom prst="rect">
            <a:avLst/>
          </a:prstGeom>
          <a:solidFill>
            <a:srgbClr val="17365D"/>
          </a:solidFill>
          <a:ln w="0">
            <a:solidFill>
              <a:srgbClr val="17365D"/>
            </a:solidFill>
            <a:prstDash val="solid"/>
          </a:ln>
        </p:spPr>
        <p:txBody>
          <a:bodyPr/>
          <a:lstStyle/>
          <a:p>
            <a:endParaRPr lang="en-US"/>
          </a:p>
        </p:txBody>
      </p:sp>
      <p:sp>
        <p:nvSpPr>
          <p:cNvPr id="22" name="rep-1-circle">
            <a:extLst>
              <a:ext uri="{FF2B5EF4-FFF2-40B4-BE49-F238E27FC236}">
                <a16:creationId xmlns:a16="http://schemas.microsoft.com/office/drawing/2014/main" id="{46C7AEC9-BD56-43AA-9B6B-25F9A7E1DBE5}"/>
              </a:ext>
            </a:extLst>
          </p:cNvPr>
          <p:cNvSpPr>
            <a:spLocks noGrp="1"/>
          </p:cNvSpPr>
          <p:nvPr/>
        </p:nvSpPr>
        <p:spPr>
          <a:xfrm>
            <a:off x="4114800" y="4286250"/>
            <a:ext cx="400050" cy="400050"/>
          </a:xfrm>
          <a:prstGeom prst="ellipse">
            <a:avLst/>
          </a:prstGeom>
          <a:solidFill>
            <a:srgbClr val="FFFFFF"/>
          </a:solidFill>
          <a:ln w="28575">
            <a:solidFill>
              <a:srgbClr val="17365D"/>
            </a:solidFill>
            <a:prstDash val="solid"/>
          </a:ln>
        </p:spPr>
        <p:txBody>
          <a:bodyPr/>
          <a:lstStyle/>
          <a:p>
            <a:endParaRPr lang="en-US"/>
          </a:p>
        </p:txBody>
      </p:sp>
      <p:sp>
        <p:nvSpPr>
          <p:cNvPr id="23" name="rep-1-label">
            <a:extLst>
              <a:ext uri="{FF2B5EF4-FFF2-40B4-BE49-F238E27FC236}">
                <a16:creationId xmlns:a16="http://schemas.microsoft.com/office/drawing/2014/main" id="{6BF897AB-38B1-477E-9C00-493B728AECD1}"/>
              </a:ext>
            </a:extLst>
          </p:cNvPr>
          <p:cNvSpPr>
            <a:spLocks noGrp="1"/>
          </p:cNvSpPr>
          <p:nvPr/>
        </p:nvSpPr>
        <p:spPr>
          <a:xfrm>
            <a:off x="4114800" y="4276725"/>
            <a:ext cx="400050" cy="400050"/>
          </a:xfrm>
          <a:prstGeom prst="rect">
            <a:avLst/>
          </a:prstGeom>
          <a:noFill/>
          <a:ln w="0">
            <a:noFill/>
            <a:prstDash val="solid"/>
          </a:ln>
        </p:spPr>
        <p:txBody>
          <a:bodyPr anchor="ctr"/>
          <a:lstStyle/>
          <a:p>
            <a:pPr algn="ctr">
              <a:defRPr sz="1425" b="1">
                <a:solidFill>
                  <a:srgbClr val="17365D"/>
                </a:solidFill>
              </a:defRPr>
            </a:pPr>
            <a:r>
              <a:rPr sz="1425" b="1">
                <a:solidFill>
                  <a:srgbClr val="17365D"/>
                </a:solidFill>
              </a:rPr>
              <a:t>✓</a:t>
            </a:r>
          </a:p>
        </p:txBody>
      </p:sp>
      <p:sp>
        <p:nvSpPr>
          <p:cNvPr id="24" name="rep-text-1">
            <a:extLst>
              <a:ext uri="{FF2B5EF4-FFF2-40B4-BE49-F238E27FC236}">
                <a16:creationId xmlns:a16="http://schemas.microsoft.com/office/drawing/2014/main" id="{E1C009A8-379B-4E11-9586-586729FD4EA5}"/>
              </a:ext>
            </a:extLst>
          </p:cNvPr>
          <p:cNvSpPr>
            <a:spLocks noGrp="1"/>
          </p:cNvSpPr>
          <p:nvPr/>
        </p:nvSpPr>
        <p:spPr>
          <a:xfrm>
            <a:off x="3752850" y="4724400"/>
            <a:ext cx="1104900" cy="285750"/>
          </a:xfrm>
          <a:prstGeom prst="rect">
            <a:avLst/>
          </a:prstGeom>
          <a:noFill/>
          <a:ln w="0">
            <a:noFill/>
            <a:prstDash val="solid"/>
          </a:ln>
        </p:spPr>
        <p:txBody>
          <a:bodyPr anchor="ctr"/>
          <a:lstStyle/>
          <a:p>
            <a:pPr algn="ctr">
              <a:defRPr sz="1350" b="1">
                <a:solidFill>
                  <a:srgbClr val="17365D"/>
                </a:solidFill>
              </a:defRPr>
            </a:pPr>
            <a:r>
              <a:rPr sz="1350" b="1">
                <a:solidFill>
                  <a:srgbClr val="17365D"/>
                </a:solidFill>
              </a:rPr>
              <a:t>$2,500</a:t>
            </a:r>
          </a:p>
        </p:txBody>
      </p:sp>
      <p:sp>
        <p:nvSpPr>
          <p:cNvPr id="25" name="tick-2">
            <a:extLst>
              <a:ext uri="{FF2B5EF4-FFF2-40B4-BE49-F238E27FC236}">
                <a16:creationId xmlns:a16="http://schemas.microsoft.com/office/drawing/2014/main" id="{FA25EB3B-916B-4EE5-979A-B1A10B81EF46}"/>
              </a:ext>
            </a:extLst>
          </p:cNvPr>
          <p:cNvSpPr>
            <a:spLocks noGrp="1"/>
          </p:cNvSpPr>
          <p:nvPr/>
        </p:nvSpPr>
        <p:spPr>
          <a:xfrm>
            <a:off x="6638925" y="3962400"/>
            <a:ext cx="28575" cy="228600"/>
          </a:xfrm>
          <a:prstGeom prst="rect">
            <a:avLst/>
          </a:prstGeom>
          <a:solidFill>
            <a:srgbClr val="2E7D32"/>
          </a:solidFill>
          <a:ln w="0">
            <a:solidFill>
              <a:srgbClr val="2E7D32"/>
            </a:solidFill>
            <a:prstDash val="solid"/>
          </a:ln>
        </p:spPr>
        <p:txBody>
          <a:bodyPr/>
          <a:lstStyle/>
          <a:p>
            <a:endParaRPr lang="en-US"/>
          </a:p>
        </p:txBody>
      </p:sp>
      <p:sp>
        <p:nvSpPr>
          <p:cNvPr id="26" name="rep-2-circle">
            <a:extLst>
              <a:ext uri="{FF2B5EF4-FFF2-40B4-BE49-F238E27FC236}">
                <a16:creationId xmlns:a16="http://schemas.microsoft.com/office/drawing/2014/main" id="{4BCA45C0-E6A4-45CD-9F0E-25DBD515F5BD}"/>
              </a:ext>
            </a:extLst>
          </p:cNvPr>
          <p:cNvSpPr>
            <a:spLocks noGrp="1"/>
          </p:cNvSpPr>
          <p:nvPr/>
        </p:nvSpPr>
        <p:spPr>
          <a:xfrm>
            <a:off x="6448425" y="4286250"/>
            <a:ext cx="400050" cy="400050"/>
          </a:xfrm>
          <a:prstGeom prst="ellipse">
            <a:avLst/>
          </a:prstGeom>
          <a:solidFill>
            <a:srgbClr val="FFFFFF"/>
          </a:solidFill>
          <a:ln w="28575">
            <a:solidFill>
              <a:srgbClr val="2E7D32"/>
            </a:solidFill>
            <a:prstDash val="solid"/>
          </a:ln>
        </p:spPr>
        <p:txBody>
          <a:bodyPr/>
          <a:lstStyle/>
          <a:p>
            <a:endParaRPr lang="en-US"/>
          </a:p>
        </p:txBody>
      </p:sp>
      <p:sp>
        <p:nvSpPr>
          <p:cNvPr id="27" name="rep-2-label">
            <a:extLst>
              <a:ext uri="{FF2B5EF4-FFF2-40B4-BE49-F238E27FC236}">
                <a16:creationId xmlns:a16="http://schemas.microsoft.com/office/drawing/2014/main" id="{B3177E26-0356-4798-8A2B-317477479596}"/>
              </a:ext>
            </a:extLst>
          </p:cNvPr>
          <p:cNvSpPr>
            <a:spLocks noGrp="1"/>
          </p:cNvSpPr>
          <p:nvPr/>
        </p:nvSpPr>
        <p:spPr>
          <a:xfrm>
            <a:off x="6448425" y="4276725"/>
            <a:ext cx="400050" cy="400050"/>
          </a:xfrm>
          <a:prstGeom prst="rect">
            <a:avLst/>
          </a:prstGeom>
          <a:noFill/>
          <a:ln w="0">
            <a:noFill/>
            <a:prstDash val="solid"/>
          </a:ln>
        </p:spPr>
        <p:txBody>
          <a:bodyPr anchor="ctr"/>
          <a:lstStyle/>
          <a:p>
            <a:pPr algn="ctr">
              <a:defRPr sz="1425" b="1">
                <a:solidFill>
                  <a:srgbClr val="2E7D32"/>
                </a:solidFill>
              </a:defRPr>
            </a:pPr>
            <a:r>
              <a:rPr sz="1425" b="1">
                <a:solidFill>
                  <a:srgbClr val="2E7D32"/>
                </a:solidFill>
              </a:rPr>
              <a:t>✓</a:t>
            </a:r>
          </a:p>
        </p:txBody>
      </p:sp>
      <p:sp>
        <p:nvSpPr>
          <p:cNvPr id="28" name="rep-text-2">
            <a:extLst>
              <a:ext uri="{FF2B5EF4-FFF2-40B4-BE49-F238E27FC236}">
                <a16:creationId xmlns:a16="http://schemas.microsoft.com/office/drawing/2014/main" id="{36F4542E-2D24-4C05-9CCA-F17ECD467B0B}"/>
              </a:ext>
            </a:extLst>
          </p:cNvPr>
          <p:cNvSpPr>
            <a:spLocks noGrp="1"/>
          </p:cNvSpPr>
          <p:nvPr/>
        </p:nvSpPr>
        <p:spPr>
          <a:xfrm>
            <a:off x="6086475" y="4724400"/>
            <a:ext cx="1104900" cy="285750"/>
          </a:xfrm>
          <a:prstGeom prst="rect">
            <a:avLst/>
          </a:prstGeom>
          <a:noFill/>
          <a:ln w="0">
            <a:noFill/>
            <a:prstDash val="solid"/>
          </a:ln>
        </p:spPr>
        <p:txBody>
          <a:bodyPr anchor="ctr"/>
          <a:lstStyle/>
          <a:p>
            <a:pPr algn="ctr">
              <a:defRPr sz="1350" b="1">
                <a:solidFill>
                  <a:srgbClr val="2E7D32"/>
                </a:solidFill>
              </a:defRPr>
            </a:pPr>
            <a:r>
              <a:rPr sz="1350" b="1">
                <a:solidFill>
                  <a:srgbClr val="2E7D32"/>
                </a:solidFill>
              </a:rPr>
              <a:t>$7,500</a:t>
            </a:r>
          </a:p>
        </p:txBody>
      </p:sp>
      <p:sp>
        <p:nvSpPr>
          <p:cNvPr id="29" name="tick-3">
            <a:extLst>
              <a:ext uri="{FF2B5EF4-FFF2-40B4-BE49-F238E27FC236}">
                <a16:creationId xmlns:a16="http://schemas.microsoft.com/office/drawing/2014/main" id="{A19CF7D1-3972-44C2-8AF8-8A8363908306}"/>
              </a:ext>
            </a:extLst>
          </p:cNvPr>
          <p:cNvSpPr>
            <a:spLocks noGrp="1"/>
          </p:cNvSpPr>
          <p:nvPr/>
        </p:nvSpPr>
        <p:spPr>
          <a:xfrm>
            <a:off x="9496425" y="3962400"/>
            <a:ext cx="28575" cy="228600"/>
          </a:xfrm>
          <a:prstGeom prst="rect">
            <a:avLst/>
          </a:prstGeom>
          <a:solidFill>
            <a:srgbClr val="B26A00"/>
          </a:solidFill>
          <a:ln w="0">
            <a:solidFill>
              <a:srgbClr val="B26A00"/>
            </a:solidFill>
            <a:prstDash val="solid"/>
          </a:ln>
        </p:spPr>
        <p:txBody>
          <a:bodyPr/>
          <a:lstStyle/>
          <a:p>
            <a:endParaRPr lang="en-US"/>
          </a:p>
        </p:txBody>
      </p:sp>
      <p:sp>
        <p:nvSpPr>
          <p:cNvPr id="30" name="rep-3-circle">
            <a:extLst>
              <a:ext uri="{FF2B5EF4-FFF2-40B4-BE49-F238E27FC236}">
                <a16:creationId xmlns:a16="http://schemas.microsoft.com/office/drawing/2014/main" id="{CAAA8659-5B0E-403D-94A4-03AD24396045}"/>
              </a:ext>
            </a:extLst>
          </p:cNvPr>
          <p:cNvSpPr>
            <a:spLocks noGrp="1"/>
          </p:cNvSpPr>
          <p:nvPr/>
        </p:nvSpPr>
        <p:spPr>
          <a:xfrm>
            <a:off x="9305925" y="4286250"/>
            <a:ext cx="400050" cy="400050"/>
          </a:xfrm>
          <a:prstGeom prst="ellipse">
            <a:avLst/>
          </a:prstGeom>
          <a:solidFill>
            <a:srgbClr val="FFFFFF"/>
          </a:solidFill>
          <a:ln w="28575">
            <a:solidFill>
              <a:srgbClr val="B26A00"/>
            </a:solidFill>
            <a:prstDash val="solid"/>
          </a:ln>
        </p:spPr>
        <p:txBody>
          <a:bodyPr/>
          <a:lstStyle/>
          <a:p>
            <a:endParaRPr lang="en-US"/>
          </a:p>
        </p:txBody>
      </p:sp>
      <p:sp>
        <p:nvSpPr>
          <p:cNvPr id="31" name="rep-3-label">
            <a:extLst>
              <a:ext uri="{FF2B5EF4-FFF2-40B4-BE49-F238E27FC236}">
                <a16:creationId xmlns:a16="http://schemas.microsoft.com/office/drawing/2014/main" id="{B91EA2A0-84FC-4427-90BF-F3E602A029C9}"/>
              </a:ext>
            </a:extLst>
          </p:cNvPr>
          <p:cNvSpPr>
            <a:spLocks noGrp="1"/>
          </p:cNvSpPr>
          <p:nvPr/>
        </p:nvSpPr>
        <p:spPr>
          <a:xfrm>
            <a:off x="9305925" y="4276725"/>
            <a:ext cx="400050" cy="400050"/>
          </a:xfrm>
          <a:prstGeom prst="rect">
            <a:avLst/>
          </a:prstGeom>
          <a:noFill/>
          <a:ln w="0">
            <a:noFill/>
            <a:prstDash val="solid"/>
          </a:ln>
        </p:spPr>
        <p:txBody>
          <a:bodyPr anchor="ctr"/>
          <a:lstStyle/>
          <a:p>
            <a:pPr algn="ctr">
              <a:defRPr sz="1425" b="1">
                <a:solidFill>
                  <a:srgbClr val="B26A00"/>
                </a:solidFill>
              </a:defRPr>
            </a:pPr>
            <a:r>
              <a:rPr sz="1425" b="1">
                <a:solidFill>
                  <a:srgbClr val="B26A00"/>
                </a:solidFill>
              </a:rPr>
              <a:t>✓</a:t>
            </a:r>
          </a:p>
        </p:txBody>
      </p:sp>
      <p:sp>
        <p:nvSpPr>
          <p:cNvPr id="32" name="rep-text-3">
            <a:extLst>
              <a:ext uri="{FF2B5EF4-FFF2-40B4-BE49-F238E27FC236}">
                <a16:creationId xmlns:a16="http://schemas.microsoft.com/office/drawing/2014/main" id="{74EFFBAD-FF04-410B-BB75-FE4C48A3DCF6}"/>
              </a:ext>
            </a:extLst>
          </p:cNvPr>
          <p:cNvSpPr>
            <a:spLocks noGrp="1"/>
          </p:cNvSpPr>
          <p:nvPr/>
        </p:nvSpPr>
        <p:spPr>
          <a:xfrm>
            <a:off x="8943975" y="4724400"/>
            <a:ext cx="1104900" cy="285750"/>
          </a:xfrm>
          <a:prstGeom prst="rect">
            <a:avLst/>
          </a:prstGeom>
          <a:noFill/>
          <a:ln w="0">
            <a:noFill/>
            <a:prstDash val="solid"/>
          </a:ln>
        </p:spPr>
        <p:txBody>
          <a:bodyPr anchor="ctr"/>
          <a:lstStyle/>
          <a:p>
            <a:pPr algn="ctr">
              <a:defRPr sz="1350" b="1">
                <a:solidFill>
                  <a:srgbClr val="B26A00"/>
                </a:solidFill>
              </a:defRPr>
            </a:pPr>
            <a:r>
              <a:rPr sz="1350" b="1">
                <a:solidFill>
                  <a:srgbClr val="B26A00"/>
                </a:solidFill>
              </a:rPr>
              <a:t>$15,000</a:t>
            </a:r>
          </a:p>
        </p:txBody>
      </p:sp>
      <p:sp>
        <p:nvSpPr>
          <p:cNvPr id="33" name="takeaway">
            <a:extLst>
              <a:ext uri="{FF2B5EF4-FFF2-40B4-BE49-F238E27FC236}">
                <a16:creationId xmlns:a16="http://schemas.microsoft.com/office/drawing/2014/main" id="{39D6FB25-54C5-420B-A5BC-54CAD28FB28D}"/>
              </a:ext>
            </a:extLst>
          </p:cNvPr>
          <p:cNvSpPr>
            <a:spLocks noGrp="1"/>
          </p:cNvSpPr>
          <p:nvPr/>
        </p:nvSpPr>
        <p:spPr>
          <a:xfrm>
            <a:off x="781050" y="5467350"/>
            <a:ext cx="10629900" cy="723900"/>
          </a:xfrm>
          <a:prstGeom prst="roundRect">
            <a:avLst>
              <a:gd name="adj" fmla="val 10526"/>
            </a:avLst>
          </a:prstGeom>
          <a:solidFill>
            <a:srgbClr val="EAF5EB"/>
          </a:solidFill>
          <a:ln w="19050">
            <a:solidFill>
              <a:srgbClr val="2E7D32"/>
            </a:solidFill>
            <a:prstDash val="solid"/>
          </a:ln>
        </p:spPr>
        <p:txBody>
          <a:bodyPr/>
          <a:lstStyle/>
          <a:p>
            <a:endParaRPr lang="en-US"/>
          </a:p>
        </p:txBody>
      </p:sp>
      <p:sp>
        <p:nvSpPr>
          <p:cNvPr id="34" name="takeaway-text">
            <a:extLst>
              <a:ext uri="{FF2B5EF4-FFF2-40B4-BE49-F238E27FC236}">
                <a16:creationId xmlns:a16="http://schemas.microsoft.com/office/drawing/2014/main" id="{28ADFC45-1000-4026-BDA7-3B1F55D05D76}"/>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2E7D32"/>
                </a:solidFill>
              </a:defRPr>
            </a:pPr>
            <a:r>
              <a:rPr sz="1800" b="1">
                <a:solidFill>
                  <a:srgbClr val="2E7D32"/>
                </a:solidFill>
              </a:rPr>
              <a:t>Start with one representative value from every class that should behave differently.</a:t>
            </a:r>
          </a:p>
        </p:txBody>
      </p:sp>
    </p:spTree>
    <p:extLst>
      <p:ext uri="{BB962C8B-B14F-4D97-AF65-F5344CB8AC3E}">
        <p14:creationId xmlns:p14="http://schemas.microsoft.com/office/powerpoint/2010/main" val="1329773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50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5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500"/>
                                        <p:tgtEl>
                                          <p:spTgt spid="33"/>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fade">
                                      <p:cBhvr>
                                        <p:cTn id="10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animBg="1"/>
      <p:bldP spid="8" grpId="0"/>
      <p:bldP spid="9" grpId="0"/>
      <p:bldP spid="10" grpId="0" animBg="1"/>
      <p:bldP spid="11" grpId="0"/>
      <p:bldP spid="12" grpId="0"/>
      <p:bldP spid="13" grpId="0" animBg="1"/>
      <p:bldP spid="14" grpId="0"/>
      <p:bldP spid="15" grpId="0"/>
      <p:bldP spid="16" grpId="0" animBg="1"/>
      <p:bldP spid="17" grpId="0" animBg="1"/>
      <p:bldP spid="18" grpId="0" animBg="1"/>
      <p:bldP spid="19" grpId="0"/>
      <p:bldP spid="20" grpId="0"/>
      <p:bldP spid="21" grpId="0" animBg="1"/>
      <p:bldP spid="22" grpId="0" animBg="1"/>
      <p:bldP spid="23" grpId="0"/>
      <p:bldP spid="24" grpId="0"/>
      <p:bldP spid="25" grpId="0" animBg="1"/>
      <p:bldP spid="26" grpId="0" animBg="1"/>
      <p:bldP spid="27" grpId="0"/>
      <p:bldP spid="28" grpId="0"/>
      <p:bldP spid="29" grpId="0" animBg="1"/>
      <p:bldP spid="30" grpId="0" animBg="1"/>
      <p:bldP spid="31" grpId="0"/>
      <p:bldP spid="32" grpId="0"/>
      <p:bldP spid="33" grpId="0" animBg="1"/>
      <p:bldP spid="3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a:extLst>
              <a:ext uri="{FF2B5EF4-FFF2-40B4-BE49-F238E27FC236}">
                <a16:creationId xmlns:a16="http://schemas.microsoft.com/office/drawing/2014/main" id="{1FBBB8D0-D494-4888-8C41-958F526331CF}"/>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11111"/>
                </a:solidFill>
              </a:defRPr>
            </a:pPr>
            <a:r>
              <a:rPr sz="3000" b="0">
                <a:solidFill>
                  <a:srgbClr val="111111"/>
                </a:solidFill>
              </a:rPr>
              <a:t>Boundary-value analysis tests where behavior changes</a:t>
            </a:r>
          </a:p>
        </p:txBody>
      </p:sp>
      <p:sp>
        <p:nvSpPr>
          <p:cNvPr id="2" name="title-rule">
            <a:extLst>
              <a:ext uri="{FF2B5EF4-FFF2-40B4-BE49-F238E27FC236}">
                <a16:creationId xmlns:a16="http://schemas.microsoft.com/office/drawing/2014/main" id="{4AED3A3C-19AE-4C2B-9151-40CDEFFC1056}"/>
              </a:ext>
            </a:extLst>
          </p:cNvPr>
          <p:cNvSpPr>
            <a:spLocks noGrp="1"/>
          </p:cNvSpPr>
          <p:nvPr/>
        </p:nvSpPr>
        <p:spPr>
          <a:xfrm>
            <a:off x="685800" y="1066800"/>
            <a:ext cx="1571625" cy="38100"/>
          </a:xfrm>
          <a:prstGeom prst="rect">
            <a:avLst/>
          </a:prstGeom>
          <a:solidFill>
            <a:srgbClr val="17365D"/>
          </a:solidFill>
          <a:ln w="0">
            <a:solidFill>
              <a:srgbClr val="17365D"/>
            </a:solidFill>
            <a:prstDash val="solid"/>
          </a:ln>
        </p:spPr>
        <p:txBody>
          <a:bodyPr/>
          <a:lstStyle/>
          <a:p>
            <a:endParaRPr lang="en-US"/>
          </a:p>
        </p:txBody>
      </p:sp>
      <p:sp>
        <p:nvSpPr>
          <p:cNvPr id="3" name="setup">
            <a:extLst>
              <a:ext uri="{FF2B5EF4-FFF2-40B4-BE49-F238E27FC236}">
                <a16:creationId xmlns:a16="http://schemas.microsoft.com/office/drawing/2014/main" id="{ED9D6F5E-1732-48AF-8195-342332367F77}"/>
              </a:ext>
            </a:extLst>
          </p:cNvPr>
          <p:cNvSpPr>
            <a:spLocks noGrp="1"/>
          </p:cNvSpPr>
          <p:nvPr/>
        </p:nvSpPr>
        <p:spPr>
          <a:xfrm>
            <a:off x="895350" y="1381125"/>
            <a:ext cx="10401300" cy="400050"/>
          </a:xfrm>
          <a:prstGeom prst="rect">
            <a:avLst/>
          </a:prstGeom>
          <a:noFill/>
          <a:ln w="0">
            <a:noFill/>
            <a:prstDash val="solid"/>
          </a:ln>
        </p:spPr>
        <p:txBody>
          <a:bodyPr anchor="ctr"/>
          <a:lstStyle/>
          <a:p>
            <a:pPr algn="ctr">
              <a:defRPr sz="1800" b="0">
                <a:solidFill>
                  <a:srgbClr val="5A6573"/>
                </a:solidFill>
              </a:defRPr>
            </a:pPr>
            <a:r>
              <a:rPr sz="1800" b="0">
                <a:solidFill>
                  <a:srgbClr val="5A6573"/>
                </a:solidFill>
              </a:rPr>
              <a:t>Defects often hide immediately below, at, or above a boundary.</a:t>
            </a:r>
          </a:p>
        </p:txBody>
      </p:sp>
      <p:sp>
        <p:nvSpPr>
          <p:cNvPr id="4" name="axis">
            <a:extLst>
              <a:ext uri="{FF2B5EF4-FFF2-40B4-BE49-F238E27FC236}">
                <a16:creationId xmlns:a16="http://schemas.microsoft.com/office/drawing/2014/main" id="{D12B0B33-095D-4652-BD32-E8411BD515F2}"/>
              </a:ext>
            </a:extLst>
          </p:cNvPr>
          <p:cNvSpPr>
            <a:spLocks noGrp="1"/>
          </p:cNvSpPr>
          <p:nvPr/>
        </p:nvSpPr>
        <p:spPr>
          <a:xfrm>
            <a:off x="1238250" y="3143250"/>
            <a:ext cx="9715500" cy="47625"/>
          </a:xfrm>
          <a:prstGeom prst="rect">
            <a:avLst/>
          </a:prstGeom>
          <a:solidFill>
            <a:srgbClr val="111111"/>
          </a:solidFill>
          <a:ln w="0">
            <a:solidFill>
              <a:srgbClr val="111111"/>
            </a:solidFill>
            <a:prstDash val="solid"/>
          </a:ln>
        </p:spPr>
        <p:txBody>
          <a:bodyPr/>
          <a:lstStyle/>
          <a:p>
            <a:endParaRPr lang="en-US"/>
          </a:p>
        </p:txBody>
      </p:sp>
      <p:sp>
        <p:nvSpPr>
          <p:cNvPr id="5" name="axis-arrow">
            <a:extLst>
              <a:ext uri="{FF2B5EF4-FFF2-40B4-BE49-F238E27FC236}">
                <a16:creationId xmlns:a16="http://schemas.microsoft.com/office/drawing/2014/main" id="{3E43436D-08B7-455C-9085-B09107001980}"/>
              </a:ext>
            </a:extLst>
          </p:cNvPr>
          <p:cNvSpPr>
            <a:spLocks noGrp="1"/>
          </p:cNvSpPr>
          <p:nvPr/>
        </p:nvSpPr>
        <p:spPr>
          <a:xfrm>
            <a:off x="10715625" y="2952750"/>
            <a:ext cx="590550" cy="419100"/>
          </a:xfrm>
          <a:prstGeom prst="rightArrow">
            <a:avLst/>
          </a:prstGeom>
          <a:solidFill>
            <a:srgbClr val="111111"/>
          </a:solidFill>
          <a:ln w="0">
            <a:solidFill>
              <a:srgbClr val="111111"/>
            </a:solidFill>
            <a:prstDash val="solid"/>
          </a:ln>
        </p:spPr>
        <p:txBody>
          <a:bodyPr/>
          <a:lstStyle/>
          <a:p>
            <a:endParaRPr lang="en-US"/>
          </a:p>
        </p:txBody>
      </p:sp>
      <p:sp>
        <p:nvSpPr>
          <p:cNvPr id="6" name="boundary-0">
            <a:extLst>
              <a:ext uri="{FF2B5EF4-FFF2-40B4-BE49-F238E27FC236}">
                <a16:creationId xmlns:a16="http://schemas.microsoft.com/office/drawing/2014/main" id="{438CC472-A06F-4F31-9392-5F5A7DF76F43}"/>
              </a:ext>
            </a:extLst>
          </p:cNvPr>
          <p:cNvSpPr>
            <a:spLocks noGrp="1"/>
          </p:cNvSpPr>
          <p:nvPr/>
        </p:nvSpPr>
        <p:spPr>
          <a:xfrm>
            <a:off x="2857500" y="2352675"/>
            <a:ext cx="38100" cy="1600200"/>
          </a:xfrm>
          <a:prstGeom prst="rect">
            <a:avLst/>
          </a:prstGeom>
          <a:solidFill>
            <a:srgbClr val="C62828"/>
          </a:solidFill>
          <a:ln w="0">
            <a:solidFill>
              <a:srgbClr val="C62828"/>
            </a:solidFill>
            <a:prstDash val="solid"/>
          </a:ln>
        </p:spPr>
        <p:txBody>
          <a:bodyPr/>
          <a:lstStyle/>
          <a:p>
            <a:endParaRPr lang="en-US"/>
          </a:p>
        </p:txBody>
      </p:sp>
      <p:sp>
        <p:nvSpPr>
          <p:cNvPr id="7" name="boundary-label-0">
            <a:extLst>
              <a:ext uri="{FF2B5EF4-FFF2-40B4-BE49-F238E27FC236}">
                <a16:creationId xmlns:a16="http://schemas.microsoft.com/office/drawing/2014/main" id="{2D27DCEE-6425-4123-AFDF-06373810E9B8}"/>
              </a:ext>
            </a:extLst>
          </p:cNvPr>
          <p:cNvSpPr>
            <a:spLocks noGrp="1"/>
          </p:cNvSpPr>
          <p:nvPr/>
        </p:nvSpPr>
        <p:spPr>
          <a:xfrm>
            <a:off x="2286000" y="2000250"/>
            <a:ext cx="1143000" cy="285750"/>
          </a:xfrm>
          <a:prstGeom prst="rect">
            <a:avLst/>
          </a:prstGeom>
          <a:noFill/>
          <a:ln w="0">
            <a:noFill/>
            <a:prstDash val="solid"/>
          </a:ln>
        </p:spPr>
        <p:txBody>
          <a:bodyPr anchor="ctr"/>
          <a:lstStyle/>
          <a:p>
            <a:pPr algn="ctr">
              <a:defRPr sz="1500" b="1">
                <a:solidFill>
                  <a:srgbClr val="C62828"/>
                </a:solidFill>
              </a:defRPr>
            </a:pPr>
            <a:r>
              <a:rPr sz="1500" b="1">
                <a:solidFill>
                  <a:srgbClr val="C62828"/>
                </a:solidFill>
              </a:rPr>
              <a:t>$0</a:t>
            </a:r>
          </a:p>
        </p:txBody>
      </p:sp>
      <p:sp>
        <p:nvSpPr>
          <p:cNvPr id="8" name="b0v0-circle">
            <a:extLst>
              <a:ext uri="{FF2B5EF4-FFF2-40B4-BE49-F238E27FC236}">
                <a16:creationId xmlns:a16="http://schemas.microsoft.com/office/drawing/2014/main" id="{63C951F6-B7C9-4DAB-863F-0CE77131CBB5}"/>
              </a:ext>
            </a:extLst>
          </p:cNvPr>
          <p:cNvSpPr>
            <a:spLocks noGrp="1"/>
          </p:cNvSpPr>
          <p:nvPr/>
        </p:nvSpPr>
        <p:spPr>
          <a:xfrm>
            <a:off x="1981200"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9" name="b0v0-label">
            <a:extLst>
              <a:ext uri="{FF2B5EF4-FFF2-40B4-BE49-F238E27FC236}">
                <a16:creationId xmlns:a16="http://schemas.microsoft.com/office/drawing/2014/main" id="{82594F39-4229-4503-A518-50CBF5E8E610}"/>
              </a:ext>
            </a:extLst>
          </p:cNvPr>
          <p:cNvSpPr>
            <a:spLocks noGrp="1"/>
          </p:cNvSpPr>
          <p:nvPr/>
        </p:nvSpPr>
        <p:spPr>
          <a:xfrm>
            <a:off x="1981200"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10" name="b0t0">
            <a:extLst>
              <a:ext uri="{FF2B5EF4-FFF2-40B4-BE49-F238E27FC236}">
                <a16:creationId xmlns:a16="http://schemas.microsoft.com/office/drawing/2014/main" id="{E0DB5863-664D-465E-9E21-01B7EA46BB26}"/>
              </a:ext>
            </a:extLst>
          </p:cNvPr>
          <p:cNvSpPr>
            <a:spLocks noGrp="1"/>
          </p:cNvSpPr>
          <p:nvPr/>
        </p:nvSpPr>
        <p:spPr>
          <a:xfrm>
            <a:off x="1724025"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−1</a:t>
            </a:r>
          </a:p>
        </p:txBody>
      </p:sp>
      <p:sp>
        <p:nvSpPr>
          <p:cNvPr id="11" name="b0v1-circle">
            <a:extLst>
              <a:ext uri="{FF2B5EF4-FFF2-40B4-BE49-F238E27FC236}">
                <a16:creationId xmlns:a16="http://schemas.microsoft.com/office/drawing/2014/main" id="{024DF322-1215-4364-8D85-C1BF31FA9149}"/>
              </a:ext>
            </a:extLst>
          </p:cNvPr>
          <p:cNvSpPr>
            <a:spLocks noGrp="1"/>
          </p:cNvSpPr>
          <p:nvPr/>
        </p:nvSpPr>
        <p:spPr>
          <a:xfrm>
            <a:off x="2667000" y="4219575"/>
            <a:ext cx="381000" cy="381000"/>
          </a:xfrm>
          <a:prstGeom prst="ellipse">
            <a:avLst/>
          </a:prstGeom>
          <a:solidFill>
            <a:srgbClr val="FFFFFF"/>
          </a:solidFill>
          <a:ln w="28575">
            <a:solidFill>
              <a:srgbClr val="C62828"/>
            </a:solidFill>
            <a:prstDash val="solid"/>
          </a:ln>
        </p:spPr>
        <p:txBody>
          <a:bodyPr/>
          <a:lstStyle/>
          <a:p>
            <a:endParaRPr lang="en-US"/>
          </a:p>
        </p:txBody>
      </p:sp>
      <p:sp>
        <p:nvSpPr>
          <p:cNvPr id="12" name="b0v1-label">
            <a:extLst>
              <a:ext uri="{FF2B5EF4-FFF2-40B4-BE49-F238E27FC236}">
                <a16:creationId xmlns:a16="http://schemas.microsoft.com/office/drawing/2014/main" id="{55C9CB75-49D8-4D86-AF61-890B6C0D9C90}"/>
              </a:ext>
            </a:extLst>
          </p:cNvPr>
          <p:cNvSpPr>
            <a:spLocks noGrp="1"/>
          </p:cNvSpPr>
          <p:nvPr/>
        </p:nvSpPr>
        <p:spPr>
          <a:xfrm>
            <a:off x="2667000" y="4210050"/>
            <a:ext cx="381000" cy="381000"/>
          </a:xfrm>
          <a:prstGeom prst="rect">
            <a:avLst/>
          </a:prstGeom>
          <a:noFill/>
          <a:ln w="0">
            <a:noFill/>
            <a:prstDash val="solid"/>
          </a:ln>
        </p:spPr>
        <p:txBody>
          <a:bodyPr anchor="ctr"/>
          <a:lstStyle/>
          <a:p>
            <a:pPr algn="ctr">
              <a:defRPr sz="1275" b="1">
                <a:solidFill>
                  <a:srgbClr val="C62828"/>
                </a:solidFill>
              </a:defRPr>
            </a:pPr>
            <a:r>
              <a:rPr sz="1275" b="1">
                <a:solidFill>
                  <a:srgbClr val="C62828"/>
                </a:solidFill>
              </a:rPr>
              <a:t>●</a:t>
            </a:r>
          </a:p>
        </p:txBody>
      </p:sp>
      <p:sp>
        <p:nvSpPr>
          <p:cNvPr id="13" name="b0t1">
            <a:extLst>
              <a:ext uri="{FF2B5EF4-FFF2-40B4-BE49-F238E27FC236}">
                <a16:creationId xmlns:a16="http://schemas.microsoft.com/office/drawing/2014/main" id="{5A646825-1D95-4997-B1DC-E332B6EBB9F1}"/>
              </a:ext>
            </a:extLst>
          </p:cNvPr>
          <p:cNvSpPr>
            <a:spLocks noGrp="1"/>
          </p:cNvSpPr>
          <p:nvPr/>
        </p:nvSpPr>
        <p:spPr>
          <a:xfrm>
            <a:off x="2409825" y="4667250"/>
            <a:ext cx="895350" cy="266700"/>
          </a:xfrm>
          <a:prstGeom prst="rect">
            <a:avLst/>
          </a:prstGeom>
          <a:noFill/>
          <a:ln w="0">
            <a:noFill/>
            <a:prstDash val="solid"/>
          </a:ln>
        </p:spPr>
        <p:txBody>
          <a:bodyPr anchor="ctr"/>
          <a:lstStyle/>
          <a:p>
            <a:pPr algn="ctr">
              <a:defRPr sz="1200" b="1">
                <a:solidFill>
                  <a:srgbClr val="C62828"/>
                </a:solidFill>
              </a:defRPr>
            </a:pPr>
            <a:r>
              <a:rPr sz="1200" b="1">
                <a:solidFill>
                  <a:srgbClr val="C62828"/>
                </a:solidFill>
              </a:rPr>
              <a:t>0</a:t>
            </a:r>
          </a:p>
        </p:txBody>
      </p:sp>
      <p:sp>
        <p:nvSpPr>
          <p:cNvPr id="14" name="b0v2-circle">
            <a:extLst>
              <a:ext uri="{FF2B5EF4-FFF2-40B4-BE49-F238E27FC236}">
                <a16:creationId xmlns:a16="http://schemas.microsoft.com/office/drawing/2014/main" id="{7C7A2902-81D1-41D4-82F1-D6A603B588E2}"/>
              </a:ext>
            </a:extLst>
          </p:cNvPr>
          <p:cNvSpPr>
            <a:spLocks noGrp="1"/>
          </p:cNvSpPr>
          <p:nvPr/>
        </p:nvSpPr>
        <p:spPr>
          <a:xfrm>
            <a:off x="3371850"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15" name="b0v2-label">
            <a:extLst>
              <a:ext uri="{FF2B5EF4-FFF2-40B4-BE49-F238E27FC236}">
                <a16:creationId xmlns:a16="http://schemas.microsoft.com/office/drawing/2014/main" id="{9AA28BE6-9FFA-4867-9C30-42E62649511F}"/>
              </a:ext>
            </a:extLst>
          </p:cNvPr>
          <p:cNvSpPr>
            <a:spLocks noGrp="1"/>
          </p:cNvSpPr>
          <p:nvPr/>
        </p:nvSpPr>
        <p:spPr>
          <a:xfrm>
            <a:off x="3371850"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16" name="b0t2">
            <a:extLst>
              <a:ext uri="{FF2B5EF4-FFF2-40B4-BE49-F238E27FC236}">
                <a16:creationId xmlns:a16="http://schemas.microsoft.com/office/drawing/2014/main" id="{F7572AA1-6FD4-4384-9680-44B1152DC9A1}"/>
              </a:ext>
            </a:extLst>
          </p:cNvPr>
          <p:cNvSpPr>
            <a:spLocks noGrp="1"/>
          </p:cNvSpPr>
          <p:nvPr/>
        </p:nvSpPr>
        <p:spPr>
          <a:xfrm>
            <a:off x="3114675"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1</a:t>
            </a:r>
          </a:p>
        </p:txBody>
      </p:sp>
      <p:sp>
        <p:nvSpPr>
          <p:cNvPr id="17" name="boundary-1">
            <a:extLst>
              <a:ext uri="{FF2B5EF4-FFF2-40B4-BE49-F238E27FC236}">
                <a16:creationId xmlns:a16="http://schemas.microsoft.com/office/drawing/2014/main" id="{94ADE813-4F39-4F55-9CB3-679934A22AD1}"/>
              </a:ext>
            </a:extLst>
          </p:cNvPr>
          <p:cNvSpPr>
            <a:spLocks noGrp="1"/>
          </p:cNvSpPr>
          <p:nvPr/>
        </p:nvSpPr>
        <p:spPr>
          <a:xfrm>
            <a:off x="5953125" y="2352675"/>
            <a:ext cx="38100" cy="1600200"/>
          </a:xfrm>
          <a:prstGeom prst="rect">
            <a:avLst/>
          </a:prstGeom>
          <a:solidFill>
            <a:srgbClr val="C62828"/>
          </a:solidFill>
          <a:ln w="0">
            <a:solidFill>
              <a:srgbClr val="C62828"/>
            </a:solidFill>
            <a:prstDash val="solid"/>
          </a:ln>
        </p:spPr>
        <p:txBody>
          <a:bodyPr/>
          <a:lstStyle/>
          <a:p>
            <a:endParaRPr lang="en-US"/>
          </a:p>
        </p:txBody>
      </p:sp>
      <p:sp>
        <p:nvSpPr>
          <p:cNvPr id="18" name="boundary-label-1">
            <a:extLst>
              <a:ext uri="{FF2B5EF4-FFF2-40B4-BE49-F238E27FC236}">
                <a16:creationId xmlns:a16="http://schemas.microsoft.com/office/drawing/2014/main" id="{B5D770A1-1945-4082-93CF-4BE5795D7F5B}"/>
              </a:ext>
            </a:extLst>
          </p:cNvPr>
          <p:cNvSpPr>
            <a:spLocks noGrp="1"/>
          </p:cNvSpPr>
          <p:nvPr/>
        </p:nvSpPr>
        <p:spPr>
          <a:xfrm>
            <a:off x="5381625" y="2000250"/>
            <a:ext cx="1143000" cy="285750"/>
          </a:xfrm>
          <a:prstGeom prst="rect">
            <a:avLst/>
          </a:prstGeom>
          <a:noFill/>
          <a:ln w="0">
            <a:noFill/>
            <a:prstDash val="solid"/>
          </a:ln>
        </p:spPr>
        <p:txBody>
          <a:bodyPr anchor="ctr"/>
          <a:lstStyle/>
          <a:p>
            <a:pPr algn="ctr">
              <a:defRPr sz="1500" b="1">
                <a:solidFill>
                  <a:srgbClr val="C62828"/>
                </a:solidFill>
              </a:defRPr>
            </a:pPr>
            <a:r>
              <a:rPr sz="1500" b="1">
                <a:solidFill>
                  <a:srgbClr val="C62828"/>
                </a:solidFill>
              </a:rPr>
              <a:t>$5,000</a:t>
            </a:r>
          </a:p>
        </p:txBody>
      </p:sp>
      <p:sp>
        <p:nvSpPr>
          <p:cNvPr id="19" name="b1v0-circle">
            <a:extLst>
              <a:ext uri="{FF2B5EF4-FFF2-40B4-BE49-F238E27FC236}">
                <a16:creationId xmlns:a16="http://schemas.microsoft.com/office/drawing/2014/main" id="{0256AAD3-7DF4-4EBD-BF70-00B85EE5B36C}"/>
              </a:ext>
            </a:extLst>
          </p:cNvPr>
          <p:cNvSpPr>
            <a:spLocks noGrp="1"/>
          </p:cNvSpPr>
          <p:nvPr/>
        </p:nvSpPr>
        <p:spPr>
          <a:xfrm>
            <a:off x="5076825"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20" name="b1v0-label">
            <a:extLst>
              <a:ext uri="{FF2B5EF4-FFF2-40B4-BE49-F238E27FC236}">
                <a16:creationId xmlns:a16="http://schemas.microsoft.com/office/drawing/2014/main" id="{5D0BB6C7-02AA-46A6-AF13-4F1BA30B1628}"/>
              </a:ext>
            </a:extLst>
          </p:cNvPr>
          <p:cNvSpPr>
            <a:spLocks noGrp="1"/>
          </p:cNvSpPr>
          <p:nvPr/>
        </p:nvSpPr>
        <p:spPr>
          <a:xfrm>
            <a:off x="5076825"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21" name="b1t0">
            <a:extLst>
              <a:ext uri="{FF2B5EF4-FFF2-40B4-BE49-F238E27FC236}">
                <a16:creationId xmlns:a16="http://schemas.microsoft.com/office/drawing/2014/main" id="{2B0B4F1D-296A-4CFD-9983-103818FB8D23}"/>
              </a:ext>
            </a:extLst>
          </p:cNvPr>
          <p:cNvSpPr>
            <a:spLocks noGrp="1"/>
          </p:cNvSpPr>
          <p:nvPr/>
        </p:nvSpPr>
        <p:spPr>
          <a:xfrm>
            <a:off x="4819650"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4,999</a:t>
            </a:r>
          </a:p>
        </p:txBody>
      </p:sp>
      <p:sp>
        <p:nvSpPr>
          <p:cNvPr id="22" name="b1v1-circle">
            <a:extLst>
              <a:ext uri="{FF2B5EF4-FFF2-40B4-BE49-F238E27FC236}">
                <a16:creationId xmlns:a16="http://schemas.microsoft.com/office/drawing/2014/main" id="{485DAEAA-8E3A-4530-ABF4-BDA097F9E140}"/>
              </a:ext>
            </a:extLst>
          </p:cNvPr>
          <p:cNvSpPr>
            <a:spLocks noGrp="1"/>
          </p:cNvSpPr>
          <p:nvPr/>
        </p:nvSpPr>
        <p:spPr>
          <a:xfrm>
            <a:off x="5762625" y="4219575"/>
            <a:ext cx="381000" cy="381000"/>
          </a:xfrm>
          <a:prstGeom prst="ellipse">
            <a:avLst/>
          </a:prstGeom>
          <a:solidFill>
            <a:srgbClr val="FFFFFF"/>
          </a:solidFill>
          <a:ln w="28575">
            <a:solidFill>
              <a:srgbClr val="C62828"/>
            </a:solidFill>
            <a:prstDash val="solid"/>
          </a:ln>
        </p:spPr>
        <p:txBody>
          <a:bodyPr/>
          <a:lstStyle/>
          <a:p>
            <a:endParaRPr lang="en-US"/>
          </a:p>
        </p:txBody>
      </p:sp>
      <p:sp>
        <p:nvSpPr>
          <p:cNvPr id="23" name="b1v1-label">
            <a:extLst>
              <a:ext uri="{FF2B5EF4-FFF2-40B4-BE49-F238E27FC236}">
                <a16:creationId xmlns:a16="http://schemas.microsoft.com/office/drawing/2014/main" id="{7249FC5B-7D68-4FA2-AA93-865D2494155E}"/>
              </a:ext>
            </a:extLst>
          </p:cNvPr>
          <p:cNvSpPr>
            <a:spLocks noGrp="1"/>
          </p:cNvSpPr>
          <p:nvPr/>
        </p:nvSpPr>
        <p:spPr>
          <a:xfrm>
            <a:off x="5762625" y="4210050"/>
            <a:ext cx="381000" cy="381000"/>
          </a:xfrm>
          <a:prstGeom prst="rect">
            <a:avLst/>
          </a:prstGeom>
          <a:noFill/>
          <a:ln w="0">
            <a:noFill/>
            <a:prstDash val="solid"/>
          </a:ln>
        </p:spPr>
        <p:txBody>
          <a:bodyPr anchor="ctr"/>
          <a:lstStyle/>
          <a:p>
            <a:pPr algn="ctr">
              <a:defRPr sz="1275" b="1">
                <a:solidFill>
                  <a:srgbClr val="C62828"/>
                </a:solidFill>
              </a:defRPr>
            </a:pPr>
            <a:r>
              <a:rPr sz="1275" b="1">
                <a:solidFill>
                  <a:srgbClr val="C62828"/>
                </a:solidFill>
              </a:rPr>
              <a:t>●</a:t>
            </a:r>
          </a:p>
        </p:txBody>
      </p:sp>
      <p:sp>
        <p:nvSpPr>
          <p:cNvPr id="24" name="b1t1">
            <a:extLst>
              <a:ext uri="{FF2B5EF4-FFF2-40B4-BE49-F238E27FC236}">
                <a16:creationId xmlns:a16="http://schemas.microsoft.com/office/drawing/2014/main" id="{4039AD06-4059-4CA5-9CF4-A787AFCB0561}"/>
              </a:ext>
            </a:extLst>
          </p:cNvPr>
          <p:cNvSpPr>
            <a:spLocks noGrp="1"/>
          </p:cNvSpPr>
          <p:nvPr/>
        </p:nvSpPr>
        <p:spPr>
          <a:xfrm>
            <a:off x="5505450" y="4667250"/>
            <a:ext cx="895350" cy="266700"/>
          </a:xfrm>
          <a:prstGeom prst="rect">
            <a:avLst/>
          </a:prstGeom>
          <a:noFill/>
          <a:ln w="0">
            <a:noFill/>
            <a:prstDash val="solid"/>
          </a:ln>
        </p:spPr>
        <p:txBody>
          <a:bodyPr anchor="ctr"/>
          <a:lstStyle/>
          <a:p>
            <a:pPr algn="ctr">
              <a:defRPr sz="1200" b="1">
                <a:solidFill>
                  <a:srgbClr val="C62828"/>
                </a:solidFill>
              </a:defRPr>
            </a:pPr>
            <a:r>
              <a:rPr sz="1200" b="1">
                <a:solidFill>
                  <a:srgbClr val="C62828"/>
                </a:solidFill>
              </a:rPr>
              <a:t>5,000</a:t>
            </a:r>
          </a:p>
        </p:txBody>
      </p:sp>
      <p:sp>
        <p:nvSpPr>
          <p:cNvPr id="25" name="b1v2-circle">
            <a:extLst>
              <a:ext uri="{FF2B5EF4-FFF2-40B4-BE49-F238E27FC236}">
                <a16:creationId xmlns:a16="http://schemas.microsoft.com/office/drawing/2014/main" id="{ABFC2D87-8DC9-4884-A65B-6171C82A65DB}"/>
              </a:ext>
            </a:extLst>
          </p:cNvPr>
          <p:cNvSpPr>
            <a:spLocks noGrp="1"/>
          </p:cNvSpPr>
          <p:nvPr/>
        </p:nvSpPr>
        <p:spPr>
          <a:xfrm>
            <a:off x="6467475"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26" name="b1v2-label">
            <a:extLst>
              <a:ext uri="{FF2B5EF4-FFF2-40B4-BE49-F238E27FC236}">
                <a16:creationId xmlns:a16="http://schemas.microsoft.com/office/drawing/2014/main" id="{30AE24CC-4417-4736-A82D-3E3FFBB558CE}"/>
              </a:ext>
            </a:extLst>
          </p:cNvPr>
          <p:cNvSpPr>
            <a:spLocks noGrp="1"/>
          </p:cNvSpPr>
          <p:nvPr/>
        </p:nvSpPr>
        <p:spPr>
          <a:xfrm>
            <a:off x="6467475"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27" name="b1t2">
            <a:extLst>
              <a:ext uri="{FF2B5EF4-FFF2-40B4-BE49-F238E27FC236}">
                <a16:creationId xmlns:a16="http://schemas.microsoft.com/office/drawing/2014/main" id="{2908CBD7-AD0D-408A-81A5-7F8BC8FEC675}"/>
              </a:ext>
            </a:extLst>
          </p:cNvPr>
          <p:cNvSpPr>
            <a:spLocks noGrp="1"/>
          </p:cNvSpPr>
          <p:nvPr/>
        </p:nvSpPr>
        <p:spPr>
          <a:xfrm>
            <a:off x="6210300"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5,001</a:t>
            </a:r>
          </a:p>
        </p:txBody>
      </p:sp>
      <p:sp>
        <p:nvSpPr>
          <p:cNvPr id="28" name="boundary-2">
            <a:extLst>
              <a:ext uri="{FF2B5EF4-FFF2-40B4-BE49-F238E27FC236}">
                <a16:creationId xmlns:a16="http://schemas.microsoft.com/office/drawing/2014/main" id="{8C4D745B-F34D-4BDA-B176-EB43CD829031}"/>
              </a:ext>
            </a:extLst>
          </p:cNvPr>
          <p:cNvSpPr>
            <a:spLocks noGrp="1"/>
          </p:cNvSpPr>
          <p:nvPr/>
        </p:nvSpPr>
        <p:spPr>
          <a:xfrm>
            <a:off x="9048750" y="2352675"/>
            <a:ext cx="38100" cy="1600200"/>
          </a:xfrm>
          <a:prstGeom prst="rect">
            <a:avLst/>
          </a:prstGeom>
          <a:solidFill>
            <a:srgbClr val="C62828"/>
          </a:solidFill>
          <a:ln w="0">
            <a:solidFill>
              <a:srgbClr val="C62828"/>
            </a:solidFill>
            <a:prstDash val="solid"/>
          </a:ln>
        </p:spPr>
        <p:txBody>
          <a:bodyPr/>
          <a:lstStyle/>
          <a:p>
            <a:endParaRPr lang="en-US"/>
          </a:p>
        </p:txBody>
      </p:sp>
      <p:sp>
        <p:nvSpPr>
          <p:cNvPr id="29" name="boundary-label-2">
            <a:extLst>
              <a:ext uri="{FF2B5EF4-FFF2-40B4-BE49-F238E27FC236}">
                <a16:creationId xmlns:a16="http://schemas.microsoft.com/office/drawing/2014/main" id="{92D787D5-C1A9-4E94-A71B-E93AAA8A087D}"/>
              </a:ext>
            </a:extLst>
          </p:cNvPr>
          <p:cNvSpPr>
            <a:spLocks noGrp="1"/>
          </p:cNvSpPr>
          <p:nvPr/>
        </p:nvSpPr>
        <p:spPr>
          <a:xfrm>
            <a:off x="8477250" y="2000250"/>
            <a:ext cx="1143000" cy="285750"/>
          </a:xfrm>
          <a:prstGeom prst="rect">
            <a:avLst/>
          </a:prstGeom>
          <a:noFill/>
          <a:ln w="0">
            <a:noFill/>
            <a:prstDash val="solid"/>
          </a:ln>
        </p:spPr>
        <p:txBody>
          <a:bodyPr anchor="ctr"/>
          <a:lstStyle/>
          <a:p>
            <a:pPr algn="ctr">
              <a:defRPr sz="1500" b="1">
                <a:solidFill>
                  <a:srgbClr val="C62828"/>
                </a:solidFill>
              </a:defRPr>
            </a:pPr>
            <a:r>
              <a:rPr sz="1500" b="1">
                <a:solidFill>
                  <a:srgbClr val="C62828"/>
                </a:solidFill>
              </a:rPr>
              <a:t>$10,000</a:t>
            </a:r>
          </a:p>
        </p:txBody>
      </p:sp>
      <p:sp>
        <p:nvSpPr>
          <p:cNvPr id="30" name="b2v0-circle">
            <a:extLst>
              <a:ext uri="{FF2B5EF4-FFF2-40B4-BE49-F238E27FC236}">
                <a16:creationId xmlns:a16="http://schemas.microsoft.com/office/drawing/2014/main" id="{737485A3-E169-4D11-9AA7-D9544143398E}"/>
              </a:ext>
            </a:extLst>
          </p:cNvPr>
          <p:cNvSpPr>
            <a:spLocks noGrp="1"/>
          </p:cNvSpPr>
          <p:nvPr/>
        </p:nvSpPr>
        <p:spPr>
          <a:xfrm>
            <a:off x="8172450"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31" name="b2v0-label">
            <a:extLst>
              <a:ext uri="{FF2B5EF4-FFF2-40B4-BE49-F238E27FC236}">
                <a16:creationId xmlns:a16="http://schemas.microsoft.com/office/drawing/2014/main" id="{5260CA20-3843-4289-8EB6-20DD4D470628}"/>
              </a:ext>
            </a:extLst>
          </p:cNvPr>
          <p:cNvSpPr>
            <a:spLocks noGrp="1"/>
          </p:cNvSpPr>
          <p:nvPr/>
        </p:nvSpPr>
        <p:spPr>
          <a:xfrm>
            <a:off x="8172450"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32" name="b2t0">
            <a:extLst>
              <a:ext uri="{FF2B5EF4-FFF2-40B4-BE49-F238E27FC236}">
                <a16:creationId xmlns:a16="http://schemas.microsoft.com/office/drawing/2014/main" id="{3E3FEA97-74AB-4039-8EA3-074C5F157B6D}"/>
              </a:ext>
            </a:extLst>
          </p:cNvPr>
          <p:cNvSpPr>
            <a:spLocks noGrp="1"/>
          </p:cNvSpPr>
          <p:nvPr/>
        </p:nvSpPr>
        <p:spPr>
          <a:xfrm>
            <a:off x="7915275"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9,999</a:t>
            </a:r>
          </a:p>
        </p:txBody>
      </p:sp>
      <p:sp>
        <p:nvSpPr>
          <p:cNvPr id="33" name="b2v1-circle">
            <a:extLst>
              <a:ext uri="{FF2B5EF4-FFF2-40B4-BE49-F238E27FC236}">
                <a16:creationId xmlns:a16="http://schemas.microsoft.com/office/drawing/2014/main" id="{BF328E9A-B6BC-45A2-9318-196382DB4204}"/>
              </a:ext>
            </a:extLst>
          </p:cNvPr>
          <p:cNvSpPr>
            <a:spLocks noGrp="1"/>
          </p:cNvSpPr>
          <p:nvPr/>
        </p:nvSpPr>
        <p:spPr>
          <a:xfrm>
            <a:off x="8858250" y="4219575"/>
            <a:ext cx="381000" cy="381000"/>
          </a:xfrm>
          <a:prstGeom prst="ellipse">
            <a:avLst/>
          </a:prstGeom>
          <a:solidFill>
            <a:srgbClr val="FFFFFF"/>
          </a:solidFill>
          <a:ln w="28575">
            <a:solidFill>
              <a:srgbClr val="C62828"/>
            </a:solidFill>
            <a:prstDash val="solid"/>
          </a:ln>
        </p:spPr>
        <p:txBody>
          <a:bodyPr/>
          <a:lstStyle/>
          <a:p>
            <a:endParaRPr lang="en-US"/>
          </a:p>
        </p:txBody>
      </p:sp>
      <p:sp>
        <p:nvSpPr>
          <p:cNvPr id="34" name="b2v1-label">
            <a:extLst>
              <a:ext uri="{FF2B5EF4-FFF2-40B4-BE49-F238E27FC236}">
                <a16:creationId xmlns:a16="http://schemas.microsoft.com/office/drawing/2014/main" id="{041131E5-8C94-4C78-A59B-AE0835C343EF}"/>
              </a:ext>
            </a:extLst>
          </p:cNvPr>
          <p:cNvSpPr>
            <a:spLocks noGrp="1"/>
          </p:cNvSpPr>
          <p:nvPr/>
        </p:nvSpPr>
        <p:spPr>
          <a:xfrm>
            <a:off x="8858250" y="4210050"/>
            <a:ext cx="381000" cy="381000"/>
          </a:xfrm>
          <a:prstGeom prst="rect">
            <a:avLst/>
          </a:prstGeom>
          <a:noFill/>
          <a:ln w="0">
            <a:noFill/>
            <a:prstDash val="solid"/>
          </a:ln>
        </p:spPr>
        <p:txBody>
          <a:bodyPr anchor="ctr"/>
          <a:lstStyle/>
          <a:p>
            <a:pPr algn="ctr">
              <a:defRPr sz="1275" b="1">
                <a:solidFill>
                  <a:srgbClr val="C62828"/>
                </a:solidFill>
              </a:defRPr>
            </a:pPr>
            <a:r>
              <a:rPr sz="1275" b="1">
                <a:solidFill>
                  <a:srgbClr val="C62828"/>
                </a:solidFill>
              </a:rPr>
              <a:t>●</a:t>
            </a:r>
          </a:p>
        </p:txBody>
      </p:sp>
      <p:sp>
        <p:nvSpPr>
          <p:cNvPr id="35" name="b2t1">
            <a:extLst>
              <a:ext uri="{FF2B5EF4-FFF2-40B4-BE49-F238E27FC236}">
                <a16:creationId xmlns:a16="http://schemas.microsoft.com/office/drawing/2014/main" id="{A1B350E7-5399-41DA-87F4-5CCB5B7291AC}"/>
              </a:ext>
            </a:extLst>
          </p:cNvPr>
          <p:cNvSpPr>
            <a:spLocks noGrp="1"/>
          </p:cNvSpPr>
          <p:nvPr/>
        </p:nvSpPr>
        <p:spPr>
          <a:xfrm>
            <a:off x="8601075" y="4667250"/>
            <a:ext cx="895350" cy="266700"/>
          </a:xfrm>
          <a:prstGeom prst="rect">
            <a:avLst/>
          </a:prstGeom>
          <a:noFill/>
          <a:ln w="0">
            <a:noFill/>
            <a:prstDash val="solid"/>
          </a:ln>
        </p:spPr>
        <p:txBody>
          <a:bodyPr anchor="ctr"/>
          <a:lstStyle/>
          <a:p>
            <a:pPr algn="ctr">
              <a:defRPr sz="1200" b="1">
                <a:solidFill>
                  <a:srgbClr val="C62828"/>
                </a:solidFill>
              </a:defRPr>
            </a:pPr>
            <a:r>
              <a:rPr sz="1200" b="1">
                <a:solidFill>
                  <a:srgbClr val="C62828"/>
                </a:solidFill>
              </a:rPr>
              <a:t>10,000</a:t>
            </a:r>
          </a:p>
        </p:txBody>
      </p:sp>
      <p:sp>
        <p:nvSpPr>
          <p:cNvPr id="36" name="b2v2-circle">
            <a:extLst>
              <a:ext uri="{FF2B5EF4-FFF2-40B4-BE49-F238E27FC236}">
                <a16:creationId xmlns:a16="http://schemas.microsoft.com/office/drawing/2014/main" id="{494C78D9-8963-4BC2-B231-692D28009515}"/>
              </a:ext>
            </a:extLst>
          </p:cNvPr>
          <p:cNvSpPr>
            <a:spLocks noGrp="1"/>
          </p:cNvSpPr>
          <p:nvPr/>
        </p:nvSpPr>
        <p:spPr>
          <a:xfrm>
            <a:off x="9563100"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37" name="b2v2-label">
            <a:extLst>
              <a:ext uri="{FF2B5EF4-FFF2-40B4-BE49-F238E27FC236}">
                <a16:creationId xmlns:a16="http://schemas.microsoft.com/office/drawing/2014/main" id="{05BF46A6-4CCA-445C-A07E-41571C026D19}"/>
              </a:ext>
            </a:extLst>
          </p:cNvPr>
          <p:cNvSpPr>
            <a:spLocks noGrp="1"/>
          </p:cNvSpPr>
          <p:nvPr/>
        </p:nvSpPr>
        <p:spPr>
          <a:xfrm>
            <a:off x="9563100"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38" name="b2t2">
            <a:extLst>
              <a:ext uri="{FF2B5EF4-FFF2-40B4-BE49-F238E27FC236}">
                <a16:creationId xmlns:a16="http://schemas.microsoft.com/office/drawing/2014/main" id="{095406F6-EA23-495C-9662-BD0675C5232C}"/>
              </a:ext>
            </a:extLst>
          </p:cNvPr>
          <p:cNvSpPr>
            <a:spLocks noGrp="1"/>
          </p:cNvSpPr>
          <p:nvPr/>
        </p:nvSpPr>
        <p:spPr>
          <a:xfrm>
            <a:off x="9305925"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10,001</a:t>
            </a:r>
          </a:p>
        </p:txBody>
      </p:sp>
      <p:sp>
        <p:nvSpPr>
          <p:cNvPr id="39" name="below">
            <a:extLst>
              <a:ext uri="{FF2B5EF4-FFF2-40B4-BE49-F238E27FC236}">
                <a16:creationId xmlns:a16="http://schemas.microsoft.com/office/drawing/2014/main" id="{C3B1B8A2-0A6B-48D7-A866-AD0AF0AA0A2D}"/>
              </a:ext>
            </a:extLst>
          </p:cNvPr>
          <p:cNvSpPr>
            <a:spLocks noGrp="1"/>
          </p:cNvSpPr>
          <p:nvPr/>
        </p:nvSpPr>
        <p:spPr>
          <a:xfrm>
            <a:off x="1447800" y="3781425"/>
            <a:ext cx="1619250" cy="266700"/>
          </a:xfrm>
          <a:prstGeom prst="rect">
            <a:avLst/>
          </a:prstGeom>
          <a:noFill/>
          <a:ln w="0">
            <a:noFill/>
            <a:prstDash val="solid"/>
          </a:ln>
        </p:spPr>
        <p:txBody>
          <a:bodyPr anchor="ctr"/>
          <a:lstStyle/>
          <a:p>
            <a:pPr algn="ctr">
              <a:defRPr sz="1200" b="0">
                <a:solidFill>
                  <a:srgbClr val="17365D"/>
                </a:solidFill>
              </a:defRPr>
            </a:pPr>
            <a:r>
              <a:rPr sz="1200" b="0" dirty="0">
                <a:solidFill>
                  <a:srgbClr val="17365D"/>
                </a:solidFill>
              </a:rPr>
              <a:t>just below</a:t>
            </a:r>
          </a:p>
        </p:txBody>
      </p:sp>
      <p:sp>
        <p:nvSpPr>
          <p:cNvPr id="40" name="at">
            <a:extLst>
              <a:ext uri="{FF2B5EF4-FFF2-40B4-BE49-F238E27FC236}">
                <a16:creationId xmlns:a16="http://schemas.microsoft.com/office/drawing/2014/main" id="{61CB594D-86CD-42B5-97E4-742209EB2B11}"/>
              </a:ext>
            </a:extLst>
          </p:cNvPr>
          <p:cNvSpPr>
            <a:spLocks noGrp="1"/>
          </p:cNvSpPr>
          <p:nvPr/>
        </p:nvSpPr>
        <p:spPr>
          <a:xfrm>
            <a:off x="3105150" y="3781425"/>
            <a:ext cx="857250" cy="266700"/>
          </a:xfrm>
          <a:prstGeom prst="rect">
            <a:avLst/>
          </a:prstGeom>
          <a:noFill/>
          <a:ln w="0">
            <a:noFill/>
            <a:prstDash val="solid"/>
          </a:ln>
        </p:spPr>
        <p:txBody>
          <a:bodyPr anchor="ctr"/>
          <a:lstStyle/>
          <a:p>
            <a:pPr algn="ctr">
              <a:defRPr sz="1200" b="1">
                <a:solidFill>
                  <a:srgbClr val="C62828"/>
                </a:solidFill>
              </a:defRPr>
            </a:pPr>
            <a:r>
              <a:rPr sz="1200" b="1">
                <a:solidFill>
                  <a:srgbClr val="C62828"/>
                </a:solidFill>
              </a:rPr>
              <a:t>at</a:t>
            </a:r>
          </a:p>
        </p:txBody>
      </p:sp>
      <p:sp>
        <p:nvSpPr>
          <p:cNvPr id="41" name="above">
            <a:extLst>
              <a:ext uri="{FF2B5EF4-FFF2-40B4-BE49-F238E27FC236}">
                <a16:creationId xmlns:a16="http://schemas.microsoft.com/office/drawing/2014/main" id="{FF14720B-11EF-40ED-A94C-4A188E5BB7EE}"/>
              </a:ext>
            </a:extLst>
          </p:cNvPr>
          <p:cNvSpPr>
            <a:spLocks noGrp="1"/>
          </p:cNvSpPr>
          <p:nvPr/>
        </p:nvSpPr>
        <p:spPr>
          <a:xfrm>
            <a:off x="3943350" y="3781425"/>
            <a:ext cx="16192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just above</a:t>
            </a:r>
          </a:p>
        </p:txBody>
      </p:sp>
      <p:sp>
        <p:nvSpPr>
          <p:cNvPr id="42" name="takeaway">
            <a:extLst>
              <a:ext uri="{FF2B5EF4-FFF2-40B4-BE49-F238E27FC236}">
                <a16:creationId xmlns:a16="http://schemas.microsoft.com/office/drawing/2014/main" id="{5A081469-EDA3-479C-8943-8A98724E3CE6}"/>
              </a:ext>
            </a:extLst>
          </p:cNvPr>
          <p:cNvSpPr>
            <a:spLocks noGrp="1"/>
          </p:cNvSpPr>
          <p:nvPr/>
        </p:nvSpPr>
        <p:spPr>
          <a:xfrm>
            <a:off x="781050" y="5467350"/>
            <a:ext cx="10629900" cy="723900"/>
          </a:xfrm>
          <a:prstGeom prst="roundRect">
            <a:avLst>
              <a:gd name="adj" fmla="val 10526"/>
            </a:avLst>
          </a:prstGeom>
          <a:solidFill>
            <a:srgbClr val="EAF5EB"/>
          </a:solidFill>
          <a:ln w="19050">
            <a:solidFill>
              <a:srgbClr val="2E7D32"/>
            </a:solidFill>
            <a:prstDash val="solid"/>
          </a:ln>
        </p:spPr>
        <p:txBody>
          <a:bodyPr/>
          <a:lstStyle/>
          <a:p>
            <a:endParaRPr lang="en-US"/>
          </a:p>
        </p:txBody>
      </p:sp>
      <p:sp>
        <p:nvSpPr>
          <p:cNvPr id="43" name="takeaway-text">
            <a:extLst>
              <a:ext uri="{FF2B5EF4-FFF2-40B4-BE49-F238E27FC236}">
                <a16:creationId xmlns:a16="http://schemas.microsoft.com/office/drawing/2014/main" id="{FD7C30D4-375B-4C28-814E-66BD4D955061}"/>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2E7D32"/>
                </a:solidFill>
              </a:defRPr>
            </a:pPr>
            <a:r>
              <a:rPr sz="1800" b="1">
                <a:solidFill>
                  <a:srgbClr val="2E7D32"/>
                </a:solidFill>
              </a:rPr>
              <a:t>Partitions cover the categories; boundary tests probe the transitions between them.</a:t>
            </a:r>
          </a:p>
        </p:txBody>
      </p:sp>
    </p:spTree>
    <p:extLst>
      <p:ext uri="{BB962C8B-B14F-4D97-AF65-F5344CB8AC3E}">
        <p14:creationId xmlns:p14="http://schemas.microsoft.com/office/powerpoint/2010/main" val="614523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500"/>
                                        <p:tgtEl>
                                          <p:spTgt spid="2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5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50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50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50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50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500"/>
                                        <p:tgtEl>
                                          <p:spTgt spid="3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500"/>
                                        <p:tgtEl>
                                          <p:spTgt spid="3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500"/>
                                        <p:tgtEl>
                                          <p:spTgt spid="39"/>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500"/>
                                        <p:tgtEl>
                                          <p:spTgt spid="40"/>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500"/>
                                        <p:tgtEl>
                                          <p:spTgt spid="41"/>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42"/>
                                        </p:tgtEl>
                                        <p:attrNameLst>
                                          <p:attrName>style.visibility</p:attrName>
                                        </p:attrNameLst>
                                      </p:cBhvr>
                                      <p:to>
                                        <p:strVal val="visible"/>
                                      </p:to>
                                    </p:set>
                                    <p:animEffect transition="in" filter="fade">
                                      <p:cBhvr>
                                        <p:cTn id="125" dur="500"/>
                                        <p:tgtEl>
                                          <p:spTgt spid="42"/>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3"/>
                                        </p:tgtEl>
                                        <p:attrNameLst>
                                          <p:attrName>style.visibility</p:attrName>
                                        </p:attrNameLst>
                                      </p:cBhvr>
                                      <p:to>
                                        <p:strVal val="visible"/>
                                      </p:to>
                                    </p:set>
                                    <p:animEffect transition="in" filter="fade">
                                      <p:cBhvr>
                                        <p:cTn id="128"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p:bldP spid="8" grpId="0" animBg="1"/>
      <p:bldP spid="9" grpId="0"/>
      <p:bldP spid="10" grpId="0"/>
      <p:bldP spid="11" grpId="0" animBg="1"/>
      <p:bldP spid="12" grpId="0"/>
      <p:bldP spid="13" grpId="0"/>
      <p:bldP spid="14" grpId="0" animBg="1"/>
      <p:bldP spid="15" grpId="0"/>
      <p:bldP spid="16" grpId="0"/>
      <p:bldP spid="17" grpId="0" animBg="1"/>
      <p:bldP spid="18" grpId="0"/>
      <p:bldP spid="19" grpId="0" animBg="1"/>
      <p:bldP spid="20" grpId="0"/>
      <p:bldP spid="21" grpId="0"/>
      <p:bldP spid="22" grpId="0" animBg="1"/>
      <p:bldP spid="23" grpId="0"/>
      <p:bldP spid="24" grpId="0"/>
      <p:bldP spid="25" grpId="0" animBg="1"/>
      <p:bldP spid="26" grpId="0"/>
      <p:bldP spid="27" grpId="0"/>
      <p:bldP spid="28" grpId="0" animBg="1"/>
      <p:bldP spid="29" grpId="0"/>
      <p:bldP spid="30" grpId="0" animBg="1"/>
      <p:bldP spid="31" grpId="0"/>
      <p:bldP spid="32" grpId="0"/>
      <p:bldP spid="33" grpId="0" animBg="1"/>
      <p:bldP spid="34" grpId="0"/>
      <p:bldP spid="35" grpId="0"/>
      <p:bldP spid="36" grpId="0" animBg="1"/>
      <p:bldP spid="37" grpId="0"/>
      <p:bldP spid="38" grpId="0"/>
      <p:bldP spid="39" grpId="0"/>
      <p:bldP spid="40" grpId="0"/>
      <p:bldP spid="41" grpId="0"/>
      <p:bldP spid="42" grpId="0" animBg="1"/>
      <p:bldP spid="4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FC6C2-BC66-F3C3-5F0C-5DC5B1DFC7EB}"/>
              </a:ext>
            </a:extLst>
          </p:cNvPr>
          <p:cNvSpPr>
            <a:spLocks noGrp="1"/>
          </p:cNvSpPr>
          <p:nvPr>
            <p:ph type="title"/>
          </p:nvPr>
        </p:nvSpPr>
        <p:spPr/>
        <p:txBody>
          <a:bodyPr/>
          <a:lstStyle/>
          <a:p>
            <a:r>
              <a:rPr lang="en-GB" b="1" dirty="0"/>
              <a:t>Quality of a Test Suite</a:t>
            </a:r>
            <a:endParaRPr lang="en-BE" b="1" dirty="0"/>
          </a:p>
        </p:txBody>
      </p:sp>
      <p:sp>
        <p:nvSpPr>
          <p:cNvPr id="3" name="Content Placeholder 2">
            <a:extLst>
              <a:ext uri="{FF2B5EF4-FFF2-40B4-BE49-F238E27FC236}">
                <a16:creationId xmlns:a16="http://schemas.microsoft.com/office/drawing/2014/main" id="{3E383776-2658-8837-799F-07B0F5A0360F}"/>
              </a:ext>
            </a:extLst>
          </p:cNvPr>
          <p:cNvSpPr>
            <a:spLocks noGrp="1"/>
          </p:cNvSpPr>
          <p:nvPr>
            <p:ph idx="1"/>
          </p:nvPr>
        </p:nvSpPr>
        <p:spPr/>
        <p:txBody>
          <a:bodyPr/>
          <a:lstStyle/>
          <a:p>
            <a:r>
              <a:rPr lang="en-GB" dirty="0"/>
              <a:t>How do you know if your unit test cases are good enough? </a:t>
            </a:r>
          </a:p>
          <a:p>
            <a:r>
              <a:rPr lang="en-GB" dirty="0"/>
              <a:t>Are they really testing the application? </a:t>
            </a:r>
          </a:p>
          <a:p>
            <a:r>
              <a:rPr lang="en-GB" dirty="0"/>
              <a:t>When do we stop testing?</a:t>
            </a:r>
          </a:p>
          <a:p>
            <a:endParaRPr lang="en-GB" dirty="0"/>
          </a:p>
          <a:p>
            <a:pPr marL="0" indent="0">
              <a:buNone/>
            </a:pPr>
            <a:r>
              <a:rPr lang="en-GB" b="1" dirty="0"/>
              <a:t>Solution</a:t>
            </a:r>
            <a:r>
              <a:rPr lang="en-GB" dirty="0"/>
              <a:t>: Test Coverage!</a:t>
            </a:r>
            <a:endParaRPr lang="en-BE" dirty="0"/>
          </a:p>
        </p:txBody>
      </p:sp>
    </p:spTree>
    <p:extLst>
      <p:ext uri="{BB962C8B-B14F-4D97-AF65-F5344CB8AC3E}">
        <p14:creationId xmlns:p14="http://schemas.microsoft.com/office/powerpoint/2010/main" val="866224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dissolve">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F94B8-3011-C8C4-162A-9502576C158D}"/>
              </a:ext>
            </a:extLst>
          </p:cNvPr>
          <p:cNvSpPr>
            <a:spLocks noGrp="1"/>
          </p:cNvSpPr>
          <p:nvPr>
            <p:ph type="title"/>
          </p:nvPr>
        </p:nvSpPr>
        <p:spPr/>
        <p:txBody>
          <a:bodyPr/>
          <a:lstStyle/>
          <a:p>
            <a:r>
              <a:rPr lang="en-GB" b="1" dirty="0"/>
              <a:t>Test Coverage</a:t>
            </a:r>
            <a:endParaRPr lang="en-BE" b="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7075A9-D8CC-A5A6-5A20-A4D50BA8DEF5}"/>
                  </a:ext>
                </a:extLst>
              </p:cNvPr>
              <p:cNvSpPr>
                <a:spLocks noGrp="1"/>
              </p:cNvSpPr>
              <p:nvPr>
                <p:ph idx="1"/>
              </p:nvPr>
            </p:nvSpPr>
            <p:spPr/>
            <p:txBody>
              <a:bodyPr/>
              <a:lstStyle/>
              <a:p>
                <a:pPr marL="0" indent="0">
                  <a:buNone/>
                </a:pPr>
                <a:r>
                  <a:rPr lang="en-BE" sz="3200" dirty="0"/>
                  <a:t>Coverage = </a:t>
                </a:r>
                <a14:m>
                  <m:oMath xmlns:m="http://schemas.openxmlformats.org/officeDocument/2006/math">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𝑁𝑢𝑚𝑏𝑒𝑟</m:t>
                        </m:r>
                        <m:r>
                          <a:rPr lang="en-US" sz="3200" b="0" i="1" smtClean="0">
                            <a:latin typeface="Cambria Math" panose="02040503050406030204" pitchFamily="18" charset="0"/>
                          </a:rPr>
                          <m:t> </m:t>
                        </m:r>
                        <m:r>
                          <a:rPr lang="en-US" sz="3200" b="0" i="1" smtClean="0">
                            <a:latin typeface="Cambria Math" panose="02040503050406030204" pitchFamily="18" charset="0"/>
                          </a:rPr>
                          <m:t>𝑜𝑓</m:t>
                        </m:r>
                        <m:r>
                          <a:rPr lang="en-US" sz="3200" b="0" i="1" smtClean="0">
                            <a:latin typeface="Cambria Math" panose="02040503050406030204" pitchFamily="18" charset="0"/>
                          </a:rPr>
                          <m:t> </m:t>
                        </m:r>
                        <m:r>
                          <a:rPr lang="en-US" sz="3200" b="0" i="1" smtClean="0">
                            <a:latin typeface="Cambria Math" panose="02040503050406030204" pitchFamily="18" charset="0"/>
                          </a:rPr>
                          <m:t>𝐶𝑜𝑣𝑒𝑟𝑒𝑑</m:t>
                        </m:r>
                        <m:r>
                          <a:rPr lang="en-US" sz="3200" b="0" i="1" smtClean="0">
                            <a:latin typeface="Cambria Math" panose="02040503050406030204" pitchFamily="18" charset="0"/>
                          </a:rPr>
                          <m:t> </m:t>
                        </m:r>
                        <m:r>
                          <a:rPr lang="en-US" sz="3200" b="0" i="1" smtClean="0">
                            <a:latin typeface="Cambria Math" panose="02040503050406030204" pitchFamily="18" charset="0"/>
                          </a:rPr>
                          <m:t>𝐼𝑡𝑒𝑚𝑠</m:t>
                        </m:r>
                      </m:num>
                      <m:den>
                        <m:r>
                          <a:rPr lang="en-US" sz="3200" b="0" i="1" smtClean="0">
                            <a:latin typeface="Cambria Math" panose="02040503050406030204" pitchFamily="18" charset="0"/>
                          </a:rPr>
                          <m:t>𝑇𝑜𝑡𝑎𝑙</m:t>
                        </m:r>
                        <m:r>
                          <a:rPr lang="en-US" sz="3200" b="0" i="1" smtClean="0">
                            <a:latin typeface="Cambria Math" panose="02040503050406030204" pitchFamily="18" charset="0"/>
                          </a:rPr>
                          <m:t> </m:t>
                        </m:r>
                        <m:r>
                          <a:rPr lang="en-US" sz="3200" b="0" i="1" smtClean="0">
                            <a:latin typeface="Cambria Math" panose="02040503050406030204" pitchFamily="18" charset="0"/>
                          </a:rPr>
                          <m:t>𝑛𝑢𝑚𝑏𝑒𝑟</m:t>
                        </m:r>
                        <m:r>
                          <a:rPr lang="en-US" sz="3200" b="0" i="1" smtClean="0">
                            <a:latin typeface="Cambria Math" panose="02040503050406030204" pitchFamily="18" charset="0"/>
                          </a:rPr>
                          <m:t> </m:t>
                        </m:r>
                        <m:r>
                          <a:rPr lang="en-US" sz="3200" b="0" i="1" smtClean="0">
                            <a:latin typeface="Cambria Math" panose="02040503050406030204" pitchFamily="18" charset="0"/>
                          </a:rPr>
                          <m:t>𝑜𝑓</m:t>
                        </m:r>
                        <m:r>
                          <a:rPr lang="en-US" sz="3200" b="0" i="1" smtClean="0">
                            <a:latin typeface="Cambria Math" panose="02040503050406030204" pitchFamily="18" charset="0"/>
                          </a:rPr>
                          <m:t> </m:t>
                        </m:r>
                        <m:r>
                          <a:rPr lang="en-US" sz="3200" b="0" i="1" smtClean="0">
                            <a:latin typeface="Cambria Math" panose="02040503050406030204" pitchFamily="18" charset="0"/>
                          </a:rPr>
                          <m:t>𝑖𝑡𝑒𝑚𝑠</m:t>
                        </m:r>
                      </m:den>
                    </m:f>
                  </m:oMath>
                </a14:m>
                <a:r>
                  <a:rPr lang="en-BE" sz="3200" dirty="0"/>
                  <a:t> X 100%</a:t>
                </a:r>
              </a:p>
              <a:p>
                <a:pPr marL="0" indent="0">
                  <a:buNone/>
                </a:pPr>
                <a:endParaRPr lang="en-BE" sz="3200" dirty="0"/>
              </a:p>
              <a:p>
                <a:r>
                  <a:rPr lang="en-BE" sz="3200" dirty="0"/>
                  <a:t>Examples:</a:t>
                </a:r>
              </a:p>
              <a:p>
                <a:pPr lvl="1"/>
                <a:r>
                  <a:rPr lang="en-BE" sz="2800" dirty="0"/>
                  <a:t>Statement (Line, or Code) Coverage.</a:t>
                </a:r>
              </a:p>
              <a:p>
                <a:pPr lvl="1"/>
                <a:r>
                  <a:rPr lang="en-BE" sz="2800" dirty="0"/>
                  <a:t>Branch (Condition) Coverage</a:t>
                </a:r>
              </a:p>
              <a:p>
                <a:pPr lvl="1"/>
                <a:r>
                  <a:rPr lang="en-BE" sz="2800" dirty="0"/>
                  <a:t>Path Caverage</a:t>
                </a:r>
              </a:p>
              <a:p>
                <a:pPr lvl="1"/>
                <a:r>
                  <a:rPr lang="en-BE" sz="2800" dirty="0"/>
                  <a:t>Mutation Caverage</a:t>
                </a:r>
              </a:p>
            </p:txBody>
          </p:sp>
        </mc:Choice>
        <mc:Fallback xmlns="">
          <p:sp>
            <p:nvSpPr>
              <p:cNvPr id="3" name="Content Placeholder 2">
                <a:extLst>
                  <a:ext uri="{FF2B5EF4-FFF2-40B4-BE49-F238E27FC236}">
                    <a16:creationId xmlns:a16="http://schemas.microsoft.com/office/drawing/2014/main" id="{217075A9-D8CC-A5A6-5A20-A4D50BA8DEF5}"/>
                  </a:ext>
                </a:extLst>
              </p:cNvPr>
              <p:cNvSpPr>
                <a:spLocks noGrp="1" noRot="1" noChangeAspect="1" noMove="1" noResize="1" noEditPoints="1" noAdjustHandles="1" noChangeArrowheads="1" noChangeShapeType="1" noTextEdit="1"/>
              </p:cNvSpPr>
              <p:nvPr>
                <p:ph idx="1"/>
              </p:nvPr>
            </p:nvSpPr>
            <p:spPr>
              <a:blipFill>
                <a:blip r:embed="rId3"/>
                <a:stretch>
                  <a:fillRect l="-1568" t="-1163"/>
                </a:stretch>
              </a:blipFill>
            </p:spPr>
            <p:txBody>
              <a:bodyPr/>
              <a:lstStyle/>
              <a:p>
                <a:r>
                  <a:rPr lang="en-BE">
                    <a:noFill/>
                  </a:rPr>
                  <a:t> </a:t>
                </a:r>
              </a:p>
            </p:txBody>
          </p:sp>
        </mc:Fallback>
      </mc:AlternateContent>
    </p:spTree>
    <p:extLst>
      <p:ext uri="{BB962C8B-B14F-4D97-AF65-F5344CB8AC3E}">
        <p14:creationId xmlns:p14="http://schemas.microsoft.com/office/powerpoint/2010/main" val="42551195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F94B8-3011-C8C4-162A-9502576C158D}"/>
              </a:ext>
            </a:extLst>
          </p:cNvPr>
          <p:cNvSpPr>
            <a:spLocks noGrp="1"/>
          </p:cNvSpPr>
          <p:nvPr>
            <p:ph type="title"/>
          </p:nvPr>
        </p:nvSpPr>
        <p:spPr/>
        <p:txBody>
          <a:bodyPr/>
          <a:lstStyle/>
          <a:p>
            <a:r>
              <a:rPr lang="en-GB" b="1" dirty="0"/>
              <a:t>Importance of test coverage</a:t>
            </a:r>
            <a:endParaRPr lang="en-BE" b="1" dirty="0"/>
          </a:p>
        </p:txBody>
      </p:sp>
      <p:sp>
        <p:nvSpPr>
          <p:cNvPr id="3" name="Content Placeholder 2">
            <a:extLst>
              <a:ext uri="{FF2B5EF4-FFF2-40B4-BE49-F238E27FC236}">
                <a16:creationId xmlns:a16="http://schemas.microsoft.com/office/drawing/2014/main" id="{217075A9-D8CC-A5A6-5A20-A4D50BA8DEF5}"/>
              </a:ext>
            </a:extLst>
          </p:cNvPr>
          <p:cNvSpPr>
            <a:spLocks noGrp="1"/>
          </p:cNvSpPr>
          <p:nvPr>
            <p:ph idx="1"/>
          </p:nvPr>
        </p:nvSpPr>
        <p:spPr>
          <a:xfrm>
            <a:off x="838200" y="1690688"/>
            <a:ext cx="10515600" cy="1531483"/>
          </a:xfrm>
        </p:spPr>
        <p:txBody>
          <a:bodyPr>
            <a:normAutofit/>
          </a:bodyPr>
          <a:lstStyle/>
          <a:p>
            <a:r>
              <a:rPr lang="en-US" dirty="0"/>
              <a:t>High test coverage gives you confidence that your code works as expected</a:t>
            </a:r>
          </a:p>
          <a:p>
            <a:r>
              <a:rPr lang="en-BE" dirty="0"/>
              <a:t>Test coverage reports can reveal which lines of code were not tested</a:t>
            </a:r>
          </a:p>
        </p:txBody>
      </p:sp>
      <p:pic>
        <p:nvPicPr>
          <p:cNvPr id="5" name="Picture 4" descr="A screen shot of a black background&#10;&#10;Description automatically generated">
            <a:extLst>
              <a:ext uri="{FF2B5EF4-FFF2-40B4-BE49-F238E27FC236}">
                <a16:creationId xmlns:a16="http://schemas.microsoft.com/office/drawing/2014/main" id="{0084C9A9-3325-5E1A-27C9-6EA31208E210}"/>
              </a:ext>
            </a:extLst>
          </p:cNvPr>
          <p:cNvPicPr>
            <a:picLocks noChangeAspect="1"/>
          </p:cNvPicPr>
          <p:nvPr/>
        </p:nvPicPr>
        <p:blipFill>
          <a:blip r:embed="rId3"/>
          <a:stretch>
            <a:fillRect/>
          </a:stretch>
        </p:blipFill>
        <p:spPr>
          <a:xfrm>
            <a:off x="1305377" y="3666895"/>
            <a:ext cx="10515600" cy="2684809"/>
          </a:xfrm>
          <a:prstGeom prst="rect">
            <a:avLst/>
          </a:prstGeom>
        </p:spPr>
      </p:pic>
      <p:grpSp>
        <p:nvGrpSpPr>
          <p:cNvPr id="9" name="Group 8">
            <a:extLst>
              <a:ext uri="{FF2B5EF4-FFF2-40B4-BE49-F238E27FC236}">
                <a16:creationId xmlns:a16="http://schemas.microsoft.com/office/drawing/2014/main" id="{9BA1E9CA-D5F7-62BC-AED2-0BED05BD499B}"/>
              </a:ext>
            </a:extLst>
          </p:cNvPr>
          <p:cNvGrpSpPr/>
          <p:nvPr/>
        </p:nvGrpSpPr>
        <p:grpSpPr>
          <a:xfrm>
            <a:off x="2939142" y="3059668"/>
            <a:ext cx="2975428" cy="725491"/>
            <a:chOff x="3018971" y="3265938"/>
            <a:chExt cx="2975428" cy="725491"/>
          </a:xfrm>
        </p:grpSpPr>
        <p:cxnSp>
          <p:nvCxnSpPr>
            <p:cNvPr id="7" name="Straight Arrow Connector 6">
              <a:extLst>
                <a:ext uri="{FF2B5EF4-FFF2-40B4-BE49-F238E27FC236}">
                  <a16:creationId xmlns:a16="http://schemas.microsoft.com/office/drawing/2014/main" id="{632B7E2E-0DDD-2617-A86E-59C29BA2BFA0}"/>
                </a:ext>
              </a:extLst>
            </p:cNvPr>
            <p:cNvCxnSpPr/>
            <p:nvPr/>
          </p:nvCxnSpPr>
          <p:spPr>
            <a:xfrm flipH="1">
              <a:off x="3018971" y="3429000"/>
              <a:ext cx="1190172" cy="562429"/>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672DD51-5F5D-E21E-A09C-963D3888C072}"/>
                </a:ext>
              </a:extLst>
            </p:cNvPr>
            <p:cNvSpPr txBox="1"/>
            <p:nvPr/>
          </p:nvSpPr>
          <p:spPr>
            <a:xfrm>
              <a:off x="4209143" y="3265938"/>
              <a:ext cx="1785256" cy="369332"/>
            </a:xfrm>
            <a:prstGeom prst="rect">
              <a:avLst/>
            </a:prstGeom>
            <a:noFill/>
            <a:ln w="28575">
              <a:solidFill>
                <a:srgbClr val="C00000"/>
              </a:solidFill>
            </a:ln>
          </p:spPr>
          <p:txBody>
            <a:bodyPr wrap="square" rtlCol="0">
              <a:spAutoFit/>
            </a:bodyPr>
            <a:lstStyle/>
            <a:p>
              <a:r>
                <a:rPr lang="en-BE" dirty="0"/>
                <a:t>Python cmd tool</a:t>
              </a:r>
            </a:p>
          </p:txBody>
        </p:sp>
      </p:grpSp>
      <p:grpSp>
        <p:nvGrpSpPr>
          <p:cNvPr id="12" name="Group 11">
            <a:extLst>
              <a:ext uri="{FF2B5EF4-FFF2-40B4-BE49-F238E27FC236}">
                <a16:creationId xmlns:a16="http://schemas.microsoft.com/office/drawing/2014/main" id="{40552DCC-DEE2-135A-3492-226BEBEC1ED3}"/>
              </a:ext>
            </a:extLst>
          </p:cNvPr>
          <p:cNvGrpSpPr/>
          <p:nvPr/>
        </p:nvGrpSpPr>
        <p:grpSpPr>
          <a:xfrm>
            <a:off x="3835400" y="5312229"/>
            <a:ext cx="1081313" cy="1483640"/>
            <a:chOff x="3603171" y="5312229"/>
            <a:chExt cx="1081313" cy="1483640"/>
          </a:xfrm>
        </p:grpSpPr>
        <p:sp>
          <p:nvSpPr>
            <p:cNvPr id="10" name="Rounded Rectangle 9">
              <a:extLst>
                <a:ext uri="{FF2B5EF4-FFF2-40B4-BE49-F238E27FC236}">
                  <a16:creationId xmlns:a16="http://schemas.microsoft.com/office/drawing/2014/main" id="{4F345FCF-F49A-63B3-6240-3871A56C3D67}"/>
                </a:ext>
              </a:extLst>
            </p:cNvPr>
            <p:cNvSpPr/>
            <p:nvPr/>
          </p:nvSpPr>
          <p:spPr>
            <a:xfrm>
              <a:off x="3603171" y="5855629"/>
              <a:ext cx="1081313" cy="940240"/>
            </a:xfrm>
            <a:prstGeom prst="round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Total lines of code</a:t>
              </a:r>
            </a:p>
          </p:txBody>
        </p:sp>
        <p:sp>
          <p:nvSpPr>
            <p:cNvPr id="11" name="Rectangle 10">
              <a:extLst>
                <a:ext uri="{FF2B5EF4-FFF2-40B4-BE49-F238E27FC236}">
                  <a16:creationId xmlns:a16="http://schemas.microsoft.com/office/drawing/2014/main" id="{41ABE68D-64CA-3918-CFB3-36473C1C6BBD}"/>
                </a:ext>
              </a:extLst>
            </p:cNvPr>
            <p:cNvSpPr/>
            <p:nvPr/>
          </p:nvSpPr>
          <p:spPr>
            <a:xfrm>
              <a:off x="3860800" y="5312229"/>
              <a:ext cx="566057" cy="435428"/>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13" name="Group 12">
            <a:extLst>
              <a:ext uri="{FF2B5EF4-FFF2-40B4-BE49-F238E27FC236}">
                <a16:creationId xmlns:a16="http://schemas.microsoft.com/office/drawing/2014/main" id="{4F0263CA-3B8C-DCDA-D8B7-DCBAB647AE33}"/>
              </a:ext>
            </a:extLst>
          </p:cNvPr>
          <p:cNvGrpSpPr/>
          <p:nvPr/>
        </p:nvGrpSpPr>
        <p:grpSpPr>
          <a:xfrm>
            <a:off x="5109029" y="5341257"/>
            <a:ext cx="1233714" cy="1478189"/>
            <a:chOff x="3548744" y="5312229"/>
            <a:chExt cx="1233714" cy="1478189"/>
          </a:xfrm>
        </p:grpSpPr>
        <p:sp>
          <p:nvSpPr>
            <p:cNvPr id="14" name="Rounded Rectangle 13">
              <a:extLst>
                <a:ext uri="{FF2B5EF4-FFF2-40B4-BE49-F238E27FC236}">
                  <a16:creationId xmlns:a16="http://schemas.microsoft.com/office/drawing/2014/main" id="{8B4ADB50-1649-38F0-2CEA-73E5B799D1A3}"/>
                </a:ext>
              </a:extLst>
            </p:cNvPr>
            <p:cNvSpPr/>
            <p:nvPr/>
          </p:nvSpPr>
          <p:spPr>
            <a:xfrm>
              <a:off x="3548744" y="5850178"/>
              <a:ext cx="1233714" cy="940240"/>
            </a:xfrm>
            <a:prstGeom prst="round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 lines without test cases</a:t>
              </a:r>
            </a:p>
          </p:txBody>
        </p:sp>
        <p:sp>
          <p:nvSpPr>
            <p:cNvPr id="15" name="Rectangle 14">
              <a:extLst>
                <a:ext uri="{FF2B5EF4-FFF2-40B4-BE49-F238E27FC236}">
                  <a16:creationId xmlns:a16="http://schemas.microsoft.com/office/drawing/2014/main" id="{D387097F-36FD-ED22-8676-EBDC4476E94F}"/>
                </a:ext>
              </a:extLst>
            </p:cNvPr>
            <p:cNvSpPr/>
            <p:nvPr/>
          </p:nvSpPr>
          <p:spPr>
            <a:xfrm>
              <a:off x="3918856" y="5312229"/>
              <a:ext cx="566057" cy="435428"/>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16" name="Group 15">
            <a:extLst>
              <a:ext uri="{FF2B5EF4-FFF2-40B4-BE49-F238E27FC236}">
                <a16:creationId xmlns:a16="http://schemas.microsoft.com/office/drawing/2014/main" id="{053A1F70-6475-C70D-5289-45E7CD28BDF0}"/>
              </a:ext>
            </a:extLst>
          </p:cNvPr>
          <p:cNvGrpSpPr/>
          <p:nvPr/>
        </p:nvGrpSpPr>
        <p:grpSpPr>
          <a:xfrm>
            <a:off x="6262910" y="5326743"/>
            <a:ext cx="1233714" cy="1478189"/>
            <a:chOff x="3548744" y="5312229"/>
            <a:chExt cx="1233714" cy="1478189"/>
          </a:xfrm>
        </p:grpSpPr>
        <p:sp>
          <p:nvSpPr>
            <p:cNvPr id="17" name="Rounded Rectangle 16">
              <a:extLst>
                <a:ext uri="{FF2B5EF4-FFF2-40B4-BE49-F238E27FC236}">
                  <a16:creationId xmlns:a16="http://schemas.microsoft.com/office/drawing/2014/main" id="{97CA56FB-F91D-7CA4-556C-21D9F8590E3E}"/>
                </a:ext>
              </a:extLst>
            </p:cNvPr>
            <p:cNvSpPr/>
            <p:nvPr/>
          </p:nvSpPr>
          <p:spPr>
            <a:xfrm>
              <a:off x="3548744" y="5850178"/>
              <a:ext cx="1233714" cy="940240"/>
            </a:xfrm>
            <a:prstGeom prst="round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Percent of coverage</a:t>
              </a:r>
            </a:p>
          </p:txBody>
        </p:sp>
        <p:sp>
          <p:nvSpPr>
            <p:cNvPr id="18" name="Rectangle 17">
              <a:extLst>
                <a:ext uri="{FF2B5EF4-FFF2-40B4-BE49-F238E27FC236}">
                  <a16:creationId xmlns:a16="http://schemas.microsoft.com/office/drawing/2014/main" id="{E33724FE-4780-142A-E237-5A63C6C50EBC}"/>
                </a:ext>
              </a:extLst>
            </p:cNvPr>
            <p:cNvSpPr/>
            <p:nvPr/>
          </p:nvSpPr>
          <p:spPr>
            <a:xfrm>
              <a:off x="3860800" y="5312229"/>
              <a:ext cx="652238" cy="435428"/>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19" name="Group 18">
            <a:extLst>
              <a:ext uri="{FF2B5EF4-FFF2-40B4-BE49-F238E27FC236}">
                <a16:creationId xmlns:a16="http://schemas.microsoft.com/office/drawing/2014/main" id="{E8A345A7-6CD5-944E-94FD-7429A3AABA06}"/>
              </a:ext>
            </a:extLst>
          </p:cNvPr>
          <p:cNvGrpSpPr/>
          <p:nvPr/>
        </p:nvGrpSpPr>
        <p:grpSpPr>
          <a:xfrm>
            <a:off x="7634505" y="5379811"/>
            <a:ext cx="3099716" cy="1416058"/>
            <a:chOff x="3635396" y="5312229"/>
            <a:chExt cx="1233714" cy="1416058"/>
          </a:xfrm>
        </p:grpSpPr>
        <p:sp>
          <p:nvSpPr>
            <p:cNvPr id="20" name="Rounded Rectangle 19">
              <a:extLst>
                <a:ext uri="{FF2B5EF4-FFF2-40B4-BE49-F238E27FC236}">
                  <a16:creationId xmlns:a16="http://schemas.microsoft.com/office/drawing/2014/main" id="{9851C3F4-082A-4791-7113-38D101C25A60}"/>
                </a:ext>
              </a:extLst>
            </p:cNvPr>
            <p:cNvSpPr/>
            <p:nvPr/>
          </p:nvSpPr>
          <p:spPr>
            <a:xfrm>
              <a:off x="3635396" y="5840652"/>
              <a:ext cx="1233714" cy="887635"/>
            </a:xfrm>
            <a:prstGeom prst="round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Lines without test cases</a:t>
              </a:r>
            </a:p>
          </p:txBody>
        </p:sp>
        <p:sp>
          <p:nvSpPr>
            <p:cNvPr id="21" name="Rectangle 20">
              <a:extLst>
                <a:ext uri="{FF2B5EF4-FFF2-40B4-BE49-F238E27FC236}">
                  <a16:creationId xmlns:a16="http://schemas.microsoft.com/office/drawing/2014/main" id="{94322C51-9C5A-3774-4CBD-63D01C7DB8F5}"/>
                </a:ext>
              </a:extLst>
            </p:cNvPr>
            <p:cNvSpPr/>
            <p:nvPr/>
          </p:nvSpPr>
          <p:spPr>
            <a:xfrm>
              <a:off x="3635396" y="5312229"/>
              <a:ext cx="1155366" cy="435428"/>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spTree>
    <p:extLst>
      <p:ext uri="{BB962C8B-B14F-4D97-AF65-F5344CB8AC3E}">
        <p14:creationId xmlns:p14="http://schemas.microsoft.com/office/powerpoint/2010/main" val="108174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nodeType="clickEffect">
                                  <p:stCondLst>
                                    <p:cond delay="0"/>
                                  </p:stCondLst>
                                  <p:childTnLst>
                                    <p:animEffect transition="out" filter="dissolve">
                                      <p:cBhvr>
                                        <p:cTn id="21" dur="500"/>
                                        <p:tgtEl>
                                          <p:spTgt spid="12"/>
                                        </p:tgtEl>
                                      </p:cBhvr>
                                    </p:animEffect>
                                    <p:set>
                                      <p:cBhvr>
                                        <p:cTn id="22" dur="1" fill="hold">
                                          <p:stCondLst>
                                            <p:cond delay="499"/>
                                          </p:stCondLst>
                                        </p:cTn>
                                        <p:tgtEl>
                                          <p:spTgt spid="12"/>
                                        </p:tgtEl>
                                        <p:attrNameLst>
                                          <p:attrName>style.visibility</p:attrName>
                                        </p:attrNameLst>
                                      </p:cBhvr>
                                      <p:to>
                                        <p:strVal val="hidden"/>
                                      </p:to>
                                    </p:set>
                                  </p:childTnLst>
                                </p:cTn>
                              </p:par>
                              <p:par>
                                <p:cTn id="23" presetID="9"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dissolve">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xit" presetSubtype="0" fill="hold" nodeType="clickEffect">
                                  <p:stCondLst>
                                    <p:cond delay="0"/>
                                  </p:stCondLst>
                                  <p:childTnLst>
                                    <p:animEffect transition="out" filter="dissolve">
                                      <p:cBhvr>
                                        <p:cTn id="29" dur="500"/>
                                        <p:tgtEl>
                                          <p:spTgt spid="13"/>
                                        </p:tgtEl>
                                      </p:cBhvr>
                                    </p:animEffect>
                                    <p:set>
                                      <p:cBhvr>
                                        <p:cTn id="30" dur="1" fill="hold">
                                          <p:stCondLst>
                                            <p:cond delay="499"/>
                                          </p:stCondLst>
                                        </p:cTn>
                                        <p:tgtEl>
                                          <p:spTgt spid="13"/>
                                        </p:tgtEl>
                                        <p:attrNameLst>
                                          <p:attrName>style.visibility</p:attrName>
                                        </p:attrNameLst>
                                      </p:cBhvr>
                                      <p:to>
                                        <p:strVal val="hidden"/>
                                      </p:to>
                                    </p:set>
                                  </p:childTnLst>
                                </p:cTn>
                              </p:par>
                              <p:par>
                                <p:cTn id="31" presetID="9"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dissolve">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xit" presetSubtype="0" fill="hold" nodeType="clickEffect">
                                  <p:stCondLst>
                                    <p:cond delay="0"/>
                                  </p:stCondLst>
                                  <p:childTnLst>
                                    <p:animEffect transition="out" filter="dissolve">
                                      <p:cBhvr>
                                        <p:cTn id="37" dur="500"/>
                                        <p:tgtEl>
                                          <p:spTgt spid="16"/>
                                        </p:tgtEl>
                                      </p:cBhvr>
                                    </p:animEffect>
                                    <p:set>
                                      <p:cBhvr>
                                        <p:cTn id="38" dur="1" fill="hold">
                                          <p:stCondLst>
                                            <p:cond delay="499"/>
                                          </p:stCondLst>
                                        </p:cTn>
                                        <p:tgtEl>
                                          <p:spTgt spid="16"/>
                                        </p:tgtEl>
                                        <p:attrNameLst>
                                          <p:attrName>style.visibility</p:attrName>
                                        </p:attrNameLst>
                                      </p:cBhvr>
                                      <p:to>
                                        <p:strVal val="hidden"/>
                                      </p:to>
                                    </p:set>
                                  </p:childTnLst>
                                </p:cTn>
                              </p:par>
                              <p:par>
                                <p:cTn id="39" presetID="9"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dissolve">
                                      <p:cBhvr>
                                        <p:cTn id="4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BA811-FA60-EB7C-5E83-D1B2EEC71F6C}"/>
              </a:ext>
            </a:extLst>
          </p:cNvPr>
          <p:cNvSpPr>
            <a:spLocks noGrp="1"/>
          </p:cNvSpPr>
          <p:nvPr>
            <p:ph type="title"/>
          </p:nvPr>
        </p:nvSpPr>
        <p:spPr/>
        <p:txBody>
          <a:bodyPr/>
          <a:lstStyle/>
          <a:p>
            <a:r>
              <a:rPr lang="en-BE" b="1" dirty="0"/>
              <a:t>Full test coverage</a:t>
            </a:r>
          </a:p>
        </p:txBody>
      </p:sp>
      <p:sp>
        <p:nvSpPr>
          <p:cNvPr id="3" name="Content Placeholder 2">
            <a:extLst>
              <a:ext uri="{FF2B5EF4-FFF2-40B4-BE49-F238E27FC236}">
                <a16:creationId xmlns:a16="http://schemas.microsoft.com/office/drawing/2014/main" id="{66F287EA-AA23-9842-88FC-8ED09ACB7EC0}"/>
              </a:ext>
            </a:extLst>
          </p:cNvPr>
          <p:cNvSpPr>
            <a:spLocks noGrp="1"/>
          </p:cNvSpPr>
          <p:nvPr>
            <p:ph idx="1"/>
          </p:nvPr>
        </p:nvSpPr>
        <p:spPr/>
        <p:txBody>
          <a:bodyPr>
            <a:normAutofit/>
          </a:bodyPr>
          <a:lstStyle/>
          <a:p>
            <a:r>
              <a:rPr lang="en-BE" sz="3200" dirty="0"/>
              <a:t>You must include “happy” paths and “Sad” paths to get full test coverage</a:t>
            </a:r>
          </a:p>
          <a:p>
            <a:pPr lvl="1"/>
            <a:r>
              <a:rPr lang="en-GB" b="0" i="0" dirty="0">
                <a:solidFill>
                  <a:srgbClr val="333333"/>
                </a:solidFill>
                <a:effectLst/>
              </a:rPr>
              <a:t>100% test coverage only means that every line of code has been tested with some known good data.</a:t>
            </a:r>
          </a:p>
          <a:p>
            <a:pPr lvl="1"/>
            <a:r>
              <a:rPr lang="en-GB" b="0" i="0" dirty="0">
                <a:solidFill>
                  <a:srgbClr val="333333"/>
                </a:solidFill>
                <a:effectLst/>
                <a:latin typeface="OpenSans"/>
              </a:rPr>
              <a:t>You can still pass bad data into your code and find bugs.</a:t>
            </a:r>
            <a:endParaRPr lang="en-BE" dirty="0"/>
          </a:p>
          <a:p>
            <a:r>
              <a:rPr lang="en-BE" sz="3200" dirty="0"/>
              <a:t>Even with 100% test coverage, your code can still have bugs</a:t>
            </a:r>
          </a:p>
          <a:p>
            <a:r>
              <a:rPr lang="en-BE" sz="3200" dirty="0"/>
              <a:t>Don’t stop testing when your code reaches 100%</a:t>
            </a:r>
          </a:p>
        </p:txBody>
      </p:sp>
    </p:spTree>
    <p:extLst>
      <p:ext uri="{BB962C8B-B14F-4D97-AF65-F5344CB8AC3E}">
        <p14:creationId xmlns:p14="http://schemas.microsoft.com/office/powerpoint/2010/main" val="1228810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a:extLst>
              <a:ext uri="{FF2B5EF4-FFF2-40B4-BE49-F238E27FC236}">
                <a16:creationId xmlns:a16="http://schemas.microsoft.com/office/drawing/2014/main" id="{AC8A8F93-4E9E-488E-B4A1-94325C096BBD}"/>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7202A"/>
                </a:solidFill>
              </a:defRPr>
            </a:pPr>
            <a:r>
              <a:rPr sz="3000" b="0">
                <a:solidFill>
                  <a:srgbClr val="17202A"/>
                </a:solidFill>
              </a:rPr>
              <a:t>One function contains three independent decisions</a:t>
            </a:r>
          </a:p>
        </p:txBody>
      </p:sp>
      <p:sp>
        <p:nvSpPr>
          <p:cNvPr id="2" name="title-rule">
            <a:extLst>
              <a:ext uri="{FF2B5EF4-FFF2-40B4-BE49-F238E27FC236}">
                <a16:creationId xmlns:a16="http://schemas.microsoft.com/office/drawing/2014/main" id="{5187DB08-1CF6-485C-A38E-679240BC228B}"/>
              </a:ext>
            </a:extLst>
          </p:cNvPr>
          <p:cNvSpPr>
            <a:spLocks noGrp="1"/>
          </p:cNvSpPr>
          <p:nvPr/>
        </p:nvSpPr>
        <p:spPr>
          <a:xfrm>
            <a:off x="685800" y="1066800"/>
            <a:ext cx="1571625" cy="38100"/>
          </a:xfrm>
          <a:prstGeom prst="rect">
            <a:avLst/>
          </a:prstGeom>
          <a:solidFill>
            <a:srgbClr val="25364A"/>
          </a:solidFill>
          <a:ln w="0">
            <a:solidFill>
              <a:srgbClr val="25364A"/>
            </a:solidFill>
            <a:prstDash val="solid"/>
          </a:ln>
        </p:spPr>
        <p:txBody>
          <a:bodyPr/>
          <a:lstStyle/>
          <a:p>
            <a:endParaRPr lang="en-US"/>
          </a:p>
        </p:txBody>
      </p:sp>
      <p:sp>
        <p:nvSpPr>
          <p:cNvPr id="3" name="code">
            <a:extLst>
              <a:ext uri="{FF2B5EF4-FFF2-40B4-BE49-F238E27FC236}">
                <a16:creationId xmlns:a16="http://schemas.microsoft.com/office/drawing/2014/main" id="{FDB307FD-AB94-4AA6-99B4-8178BB085019}"/>
              </a:ext>
            </a:extLst>
          </p:cNvPr>
          <p:cNvSpPr>
            <a:spLocks noGrp="1"/>
          </p:cNvSpPr>
          <p:nvPr/>
        </p:nvSpPr>
        <p:spPr>
          <a:xfrm>
            <a:off x="781050" y="1581150"/>
            <a:ext cx="5962650" cy="3371850"/>
          </a:xfrm>
          <a:prstGeom prst="roundRect">
            <a:avLst>
              <a:gd name="adj" fmla="val 3390"/>
            </a:avLst>
          </a:prstGeom>
          <a:solidFill>
            <a:srgbClr val="F3F5F7"/>
          </a:solidFill>
          <a:ln w="19050">
            <a:solidFill>
              <a:srgbClr val="25364A"/>
            </a:solidFill>
            <a:prstDash val="solid"/>
          </a:ln>
        </p:spPr>
        <p:txBody>
          <a:bodyPr/>
          <a:lstStyle/>
          <a:p>
            <a:endParaRPr lang="en-US"/>
          </a:p>
        </p:txBody>
      </p:sp>
      <p:sp>
        <p:nvSpPr>
          <p:cNvPr id="4" name="code-text">
            <a:extLst>
              <a:ext uri="{FF2B5EF4-FFF2-40B4-BE49-F238E27FC236}">
                <a16:creationId xmlns:a16="http://schemas.microsoft.com/office/drawing/2014/main" id="{68AF2C17-F2B8-4A4A-9528-098E9482DEC4}"/>
              </a:ext>
            </a:extLst>
          </p:cNvPr>
          <p:cNvSpPr>
            <a:spLocks noGrp="1"/>
          </p:cNvSpPr>
          <p:nvPr/>
        </p:nvSpPr>
        <p:spPr>
          <a:xfrm>
            <a:off x="1066800" y="1809750"/>
            <a:ext cx="5391150" cy="2857500"/>
          </a:xfrm>
          <a:prstGeom prst="rect">
            <a:avLst/>
          </a:prstGeom>
          <a:noFill/>
          <a:ln w="0">
            <a:noFill/>
            <a:prstDash val="solid"/>
          </a:ln>
        </p:spPr>
        <p:txBody>
          <a:bodyPr anchor="ctr"/>
          <a:lstStyle/>
          <a:p>
            <a:pPr algn="l">
              <a:defRPr sz="1425" b="0">
                <a:solidFill>
                  <a:srgbClr val="17202A"/>
                </a:solidFill>
              </a:defRPr>
            </a:pPr>
            <a:r>
              <a:rPr sz="1425" b="0">
                <a:solidFill>
                  <a:srgbClr val="17202A"/>
                </a:solidFill>
              </a:rPr>
              <a:t>int foo(int input, bool b1, bool b2, bool b3) {</a:t>
            </a:r>
          </a:p>
          <a:p>
            <a:pPr algn="l">
              <a:defRPr sz="1425" b="0">
                <a:solidFill>
                  <a:srgbClr val="17202A"/>
                </a:solidFill>
              </a:defRPr>
            </a:pPr>
            <a:r>
              <a:rPr sz="1425" b="0">
                <a:solidFill>
                  <a:srgbClr val="17202A"/>
                </a:solidFill>
              </a:rPr>
              <a:t>    int x = input;</a:t>
            </a:r>
          </a:p>
          <a:p>
            <a:pPr algn="l">
              <a:defRPr sz="1425" b="0">
                <a:solidFill>
                  <a:srgbClr val="17202A"/>
                </a:solidFill>
              </a:defRPr>
            </a:pPr>
            <a:r>
              <a:rPr sz="1425" b="0">
                <a:solidFill>
                  <a:srgbClr val="17202A"/>
                </a:solidFill>
              </a:rPr>
              <a:t>    int y = 0;</a:t>
            </a:r>
          </a:p>
          <a:p>
            <a:pPr algn="l">
              <a:defRPr sz="1425" b="0">
                <a:solidFill>
                  <a:srgbClr val="17202A"/>
                </a:solidFill>
              </a:defRPr>
            </a:pPr>
            <a:r>
              <a:rPr sz="1425" b="0">
                <a:solidFill>
                  <a:srgbClr val="17202A"/>
                </a:solidFill>
              </a:rPr>
              <a:t>    if (b1) x++;</a:t>
            </a:r>
          </a:p>
          <a:p>
            <a:pPr algn="l">
              <a:defRPr sz="1425" b="0">
                <a:solidFill>
                  <a:srgbClr val="17202A"/>
                </a:solidFill>
              </a:defRPr>
            </a:pPr>
            <a:r>
              <a:rPr sz="1425" b="0">
                <a:solidFill>
                  <a:srgbClr val="17202A"/>
                </a:solidFill>
              </a:rPr>
              <a:t>    if (b2) x--;</a:t>
            </a:r>
          </a:p>
          <a:p>
            <a:pPr algn="l">
              <a:defRPr sz="1425" b="0">
                <a:solidFill>
                  <a:srgbClr val="17202A"/>
                </a:solidFill>
              </a:defRPr>
            </a:pPr>
            <a:r>
              <a:rPr sz="1425" b="0">
                <a:solidFill>
                  <a:srgbClr val="17202A"/>
                </a:solidFill>
              </a:rPr>
              <a:t>    if (b3) y = x;</a:t>
            </a:r>
          </a:p>
          <a:p>
            <a:pPr algn="l">
              <a:defRPr sz="1425" b="0">
                <a:solidFill>
                  <a:srgbClr val="17202A"/>
                </a:solidFill>
              </a:defRPr>
            </a:pPr>
            <a:r>
              <a:rPr sz="1425" b="0">
                <a:solidFill>
                  <a:srgbClr val="17202A"/>
                </a:solidFill>
              </a:rPr>
              <a:t>    return y;</a:t>
            </a:r>
          </a:p>
          <a:p>
            <a:pPr algn="l">
              <a:defRPr sz="1425" b="0">
                <a:solidFill>
                  <a:srgbClr val="17202A"/>
                </a:solidFill>
              </a:defRPr>
            </a:pPr>
            <a:r>
              <a:rPr sz="1425" b="0">
                <a:solidFill>
                  <a:srgbClr val="17202A"/>
                </a:solidFill>
              </a:rPr>
              <a:t>}</a:t>
            </a:r>
          </a:p>
        </p:txBody>
      </p:sp>
      <p:sp>
        <p:nvSpPr>
          <p:cNvPr id="5" name="decisions-head">
            <a:extLst>
              <a:ext uri="{FF2B5EF4-FFF2-40B4-BE49-F238E27FC236}">
                <a16:creationId xmlns:a16="http://schemas.microsoft.com/office/drawing/2014/main" id="{AF4EF7FD-CE5A-4604-8433-9311497FD7F5}"/>
              </a:ext>
            </a:extLst>
          </p:cNvPr>
          <p:cNvSpPr>
            <a:spLocks noGrp="1"/>
          </p:cNvSpPr>
          <p:nvPr/>
        </p:nvSpPr>
        <p:spPr>
          <a:xfrm>
            <a:off x="7372350" y="1619250"/>
            <a:ext cx="3733800" cy="285750"/>
          </a:xfrm>
          <a:prstGeom prst="rect">
            <a:avLst/>
          </a:prstGeom>
          <a:noFill/>
          <a:ln w="0">
            <a:noFill/>
            <a:prstDash val="solid"/>
          </a:ln>
        </p:spPr>
        <p:txBody>
          <a:bodyPr anchor="ctr"/>
          <a:lstStyle/>
          <a:p>
            <a:pPr algn="ctr">
              <a:defRPr sz="1275" b="1">
                <a:solidFill>
                  <a:srgbClr val="4E6478"/>
                </a:solidFill>
              </a:defRPr>
            </a:pPr>
            <a:r>
              <a:rPr sz="1275" b="1">
                <a:solidFill>
                  <a:srgbClr val="4E6478"/>
                </a:solidFill>
              </a:rPr>
              <a:t>THREE BOOLEAN DECISIONS</a:t>
            </a:r>
          </a:p>
        </p:txBody>
      </p:sp>
      <p:sp>
        <p:nvSpPr>
          <p:cNvPr id="6" name="d0-c">
            <a:extLst>
              <a:ext uri="{FF2B5EF4-FFF2-40B4-BE49-F238E27FC236}">
                <a16:creationId xmlns:a16="http://schemas.microsoft.com/office/drawing/2014/main" id="{01B41A87-341D-4258-8B86-9955816A5C96}"/>
              </a:ext>
            </a:extLst>
          </p:cNvPr>
          <p:cNvSpPr>
            <a:spLocks noGrp="1"/>
          </p:cNvSpPr>
          <p:nvPr/>
        </p:nvSpPr>
        <p:spPr>
          <a:xfrm>
            <a:off x="7353300" y="2095500"/>
            <a:ext cx="533400" cy="533400"/>
          </a:xfrm>
          <a:prstGeom prst="ellipse">
            <a:avLst/>
          </a:prstGeom>
          <a:solidFill>
            <a:srgbClr val="FFFFFF"/>
          </a:solidFill>
          <a:ln w="23813">
            <a:solidFill>
              <a:srgbClr val="25364A"/>
            </a:solidFill>
            <a:prstDash val="solid"/>
          </a:ln>
        </p:spPr>
        <p:txBody>
          <a:bodyPr/>
          <a:lstStyle/>
          <a:p>
            <a:endParaRPr lang="en-US"/>
          </a:p>
        </p:txBody>
      </p:sp>
      <p:sp>
        <p:nvSpPr>
          <p:cNvPr id="7" name="d0-t">
            <a:extLst>
              <a:ext uri="{FF2B5EF4-FFF2-40B4-BE49-F238E27FC236}">
                <a16:creationId xmlns:a16="http://schemas.microsoft.com/office/drawing/2014/main" id="{549E2653-6F17-47B6-984B-DB0E665957C8}"/>
              </a:ext>
            </a:extLst>
          </p:cNvPr>
          <p:cNvSpPr>
            <a:spLocks noGrp="1"/>
          </p:cNvSpPr>
          <p:nvPr/>
        </p:nvSpPr>
        <p:spPr>
          <a:xfrm>
            <a:off x="7353300" y="2085975"/>
            <a:ext cx="533400" cy="533400"/>
          </a:xfrm>
          <a:prstGeom prst="rect">
            <a:avLst/>
          </a:prstGeom>
          <a:noFill/>
          <a:ln w="0">
            <a:noFill/>
            <a:prstDash val="solid"/>
          </a:ln>
        </p:spPr>
        <p:txBody>
          <a:bodyPr anchor="ctr"/>
          <a:lstStyle/>
          <a:p>
            <a:pPr algn="ctr">
              <a:defRPr sz="1275" b="1">
                <a:solidFill>
                  <a:srgbClr val="25364A"/>
                </a:solidFill>
              </a:defRPr>
            </a:pPr>
            <a:r>
              <a:rPr sz="1275" b="1">
                <a:solidFill>
                  <a:srgbClr val="25364A"/>
                </a:solidFill>
              </a:rPr>
              <a:t>b1</a:t>
            </a:r>
          </a:p>
        </p:txBody>
      </p:sp>
      <p:sp>
        <p:nvSpPr>
          <p:cNvPr id="8" name="true-0">
            <a:extLst>
              <a:ext uri="{FF2B5EF4-FFF2-40B4-BE49-F238E27FC236}">
                <a16:creationId xmlns:a16="http://schemas.microsoft.com/office/drawing/2014/main" id="{DB9BBCF4-C791-40CD-91B2-D852C08E80A0}"/>
              </a:ext>
            </a:extLst>
          </p:cNvPr>
          <p:cNvSpPr>
            <a:spLocks noGrp="1"/>
          </p:cNvSpPr>
          <p:nvPr/>
        </p:nvSpPr>
        <p:spPr>
          <a:xfrm>
            <a:off x="8096250" y="2076450"/>
            <a:ext cx="3028950" cy="285750"/>
          </a:xfrm>
          <a:prstGeom prst="rect">
            <a:avLst/>
          </a:prstGeom>
          <a:noFill/>
          <a:ln w="0">
            <a:noFill/>
            <a:prstDash val="solid"/>
          </a:ln>
        </p:spPr>
        <p:txBody>
          <a:bodyPr anchor="ctr"/>
          <a:lstStyle/>
          <a:p>
            <a:pPr algn="l">
              <a:defRPr sz="1425" b="1">
                <a:solidFill>
                  <a:srgbClr val="25364A"/>
                </a:solidFill>
              </a:defRPr>
            </a:pPr>
            <a:r>
              <a:rPr sz="1425" b="1">
                <a:solidFill>
                  <a:srgbClr val="25364A"/>
                </a:solidFill>
              </a:rPr>
              <a:t>true: increment x</a:t>
            </a:r>
          </a:p>
        </p:txBody>
      </p:sp>
      <p:sp>
        <p:nvSpPr>
          <p:cNvPr id="9" name="false-0">
            <a:extLst>
              <a:ext uri="{FF2B5EF4-FFF2-40B4-BE49-F238E27FC236}">
                <a16:creationId xmlns:a16="http://schemas.microsoft.com/office/drawing/2014/main" id="{5A6B33DF-4068-4CEF-8A40-47EC18A35737}"/>
              </a:ext>
            </a:extLst>
          </p:cNvPr>
          <p:cNvSpPr>
            <a:spLocks noGrp="1"/>
          </p:cNvSpPr>
          <p:nvPr/>
        </p:nvSpPr>
        <p:spPr>
          <a:xfrm>
            <a:off x="8096250" y="2409825"/>
            <a:ext cx="3028950" cy="323850"/>
          </a:xfrm>
          <a:prstGeom prst="rect">
            <a:avLst/>
          </a:prstGeom>
          <a:noFill/>
          <a:ln w="0">
            <a:noFill/>
            <a:prstDash val="solid"/>
          </a:ln>
        </p:spPr>
        <p:txBody>
          <a:bodyPr anchor="ctr"/>
          <a:lstStyle/>
          <a:p>
            <a:pPr algn="l">
              <a:defRPr sz="1275" b="0">
                <a:solidFill>
                  <a:srgbClr val="66727F"/>
                </a:solidFill>
              </a:defRPr>
            </a:pPr>
            <a:r>
              <a:rPr sz="1275" b="0">
                <a:solidFill>
                  <a:srgbClr val="66727F"/>
                </a:solidFill>
              </a:rPr>
              <a:t>false: leave x unchanged</a:t>
            </a:r>
          </a:p>
        </p:txBody>
      </p:sp>
      <p:sp>
        <p:nvSpPr>
          <p:cNvPr id="10" name="d1-c">
            <a:extLst>
              <a:ext uri="{FF2B5EF4-FFF2-40B4-BE49-F238E27FC236}">
                <a16:creationId xmlns:a16="http://schemas.microsoft.com/office/drawing/2014/main" id="{BBBC3DB2-22CF-4AC3-9360-C0C528E54149}"/>
              </a:ext>
            </a:extLst>
          </p:cNvPr>
          <p:cNvSpPr>
            <a:spLocks noGrp="1"/>
          </p:cNvSpPr>
          <p:nvPr/>
        </p:nvSpPr>
        <p:spPr>
          <a:xfrm>
            <a:off x="7353300" y="3048000"/>
            <a:ext cx="533400" cy="533400"/>
          </a:xfrm>
          <a:prstGeom prst="ellipse">
            <a:avLst/>
          </a:prstGeom>
          <a:solidFill>
            <a:srgbClr val="FFFFFF"/>
          </a:solidFill>
          <a:ln w="23813">
            <a:solidFill>
              <a:srgbClr val="4C78A8"/>
            </a:solidFill>
            <a:prstDash val="solid"/>
          </a:ln>
        </p:spPr>
        <p:txBody>
          <a:bodyPr/>
          <a:lstStyle/>
          <a:p>
            <a:endParaRPr lang="en-US"/>
          </a:p>
        </p:txBody>
      </p:sp>
      <p:sp>
        <p:nvSpPr>
          <p:cNvPr id="11" name="d1-t">
            <a:extLst>
              <a:ext uri="{FF2B5EF4-FFF2-40B4-BE49-F238E27FC236}">
                <a16:creationId xmlns:a16="http://schemas.microsoft.com/office/drawing/2014/main" id="{EEC8DA19-4B89-4244-A5EC-AD81199F6AFB}"/>
              </a:ext>
            </a:extLst>
          </p:cNvPr>
          <p:cNvSpPr>
            <a:spLocks noGrp="1"/>
          </p:cNvSpPr>
          <p:nvPr/>
        </p:nvSpPr>
        <p:spPr>
          <a:xfrm>
            <a:off x="7353300" y="3038475"/>
            <a:ext cx="533400" cy="533400"/>
          </a:xfrm>
          <a:prstGeom prst="rect">
            <a:avLst/>
          </a:prstGeom>
          <a:noFill/>
          <a:ln w="0">
            <a:noFill/>
            <a:prstDash val="solid"/>
          </a:ln>
        </p:spPr>
        <p:txBody>
          <a:bodyPr anchor="ctr"/>
          <a:lstStyle/>
          <a:p>
            <a:pPr algn="ctr">
              <a:defRPr sz="1275" b="1">
                <a:solidFill>
                  <a:srgbClr val="4C78A8"/>
                </a:solidFill>
              </a:defRPr>
            </a:pPr>
            <a:r>
              <a:rPr sz="1275" b="1">
                <a:solidFill>
                  <a:srgbClr val="4C78A8"/>
                </a:solidFill>
              </a:rPr>
              <a:t>b2</a:t>
            </a:r>
          </a:p>
        </p:txBody>
      </p:sp>
      <p:sp>
        <p:nvSpPr>
          <p:cNvPr id="12" name="true-1">
            <a:extLst>
              <a:ext uri="{FF2B5EF4-FFF2-40B4-BE49-F238E27FC236}">
                <a16:creationId xmlns:a16="http://schemas.microsoft.com/office/drawing/2014/main" id="{5082F1AD-14E6-466D-ABD9-0F140AE32177}"/>
              </a:ext>
            </a:extLst>
          </p:cNvPr>
          <p:cNvSpPr>
            <a:spLocks noGrp="1"/>
          </p:cNvSpPr>
          <p:nvPr/>
        </p:nvSpPr>
        <p:spPr>
          <a:xfrm>
            <a:off x="8096250" y="3028950"/>
            <a:ext cx="3028950" cy="285750"/>
          </a:xfrm>
          <a:prstGeom prst="rect">
            <a:avLst/>
          </a:prstGeom>
          <a:noFill/>
          <a:ln w="0">
            <a:noFill/>
            <a:prstDash val="solid"/>
          </a:ln>
        </p:spPr>
        <p:txBody>
          <a:bodyPr anchor="ctr"/>
          <a:lstStyle/>
          <a:p>
            <a:pPr algn="l">
              <a:defRPr sz="1425" b="1">
                <a:solidFill>
                  <a:srgbClr val="4C78A8"/>
                </a:solidFill>
              </a:defRPr>
            </a:pPr>
            <a:r>
              <a:rPr sz="1425" b="1">
                <a:solidFill>
                  <a:srgbClr val="4C78A8"/>
                </a:solidFill>
              </a:rPr>
              <a:t>true: decrement x</a:t>
            </a:r>
          </a:p>
        </p:txBody>
      </p:sp>
      <p:sp>
        <p:nvSpPr>
          <p:cNvPr id="13" name="false-1">
            <a:extLst>
              <a:ext uri="{FF2B5EF4-FFF2-40B4-BE49-F238E27FC236}">
                <a16:creationId xmlns:a16="http://schemas.microsoft.com/office/drawing/2014/main" id="{72E06B94-43C1-4BC0-BE0F-78DC56BBEB42}"/>
              </a:ext>
            </a:extLst>
          </p:cNvPr>
          <p:cNvSpPr>
            <a:spLocks noGrp="1"/>
          </p:cNvSpPr>
          <p:nvPr/>
        </p:nvSpPr>
        <p:spPr>
          <a:xfrm>
            <a:off x="8096250" y="3362325"/>
            <a:ext cx="3028950" cy="323850"/>
          </a:xfrm>
          <a:prstGeom prst="rect">
            <a:avLst/>
          </a:prstGeom>
          <a:noFill/>
          <a:ln w="0">
            <a:noFill/>
            <a:prstDash val="solid"/>
          </a:ln>
        </p:spPr>
        <p:txBody>
          <a:bodyPr anchor="ctr"/>
          <a:lstStyle/>
          <a:p>
            <a:pPr algn="l">
              <a:defRPr sz="1275" b="0">
                <a:solidFill>
                  <a:srgbClr val="66727F"/>
                </a:solidFill>
              </a:defRPr>
            </a:pPr>
            <a:r>
              <a:rPr sz="1275" b="0">
                <a:solidFill>
                  <a:srgbClr val="66727F"/>
                </a:solidFill>
              </a:rPr>
              <a:t>false: leave x unchanged</a:t>
            </a:r>
          </a:p>
        </p:txBody>
      </p:sp>
      <p:sp>
        <p:nvSpPr>
          <p:cNvPr id="14" name="d2-c">
            <a:extLst>
              <a:ext uri="{FF2B5EF4-FFF2-40B4-BE49-F238E27FC236}">
                <a16:creationId xmlns:a16="http://schemas.microsoft.com/office/drawing/2014/main" id="{99276A98-A164-4543-A7E1-029B0EA49247}"/>
              </a:ext>
            </a:extLst>
          </p:cNvPr>
          <p:cNvSpPr>
            <a:spLocks noGrp="1"/>
          </p:cNvSpPr>
          <p:nvPr/>
        </p:nvSpPr>
        <p:spPr>
          <a:xfrm>
            <a:off x="7353300" y="4000500"/>
            <a:ext cx="533400" cy="533400"/>
          </a:xfrm>
          <a:prstGeom prst="ellipse">
            <a:avLst/>
          </a:prstGeom>
          <a:solidFill>
            <a:srgbClr val="FFFFFF"/>
          </a:solidFill>
          <a:ln w="23813">
            <a:solidFill>
              <a:srgbClr val="C49A52"/>
            </a:solidFill>
            <a:prstDash val="solid"/>
          </a:ln>
        </p:spPr>
        <p:txBody>
          <a:bodyPr/>
          <a:lstStyle/>
          <a:p>
            <a:endParaRPr lang="en-US"/>
          </a:p>
        </p:txBody>
      </p:sp>
      <p:sp>
        <p:nvSpPr>
          <p:cNvPr id="15" name="d2-t">
            <a:extLst>
              <a:ext uri="{FF2B5EF4-FFF2-40B4-BE49-F238E27FC236}">
                <a16:creationId xmlns:a16="http://schemas.microsoft.com/office/drawing/2014/main" id="{90126EBB-6214-471B-AEDA-25F4D3879D64}"/>
              </a:ext>
            </a:extLst>
          </p:cNvPr>
          <p:cNvSpPr>
            <a:spLocks noGrp="1"/>
          </p:cNvSpPr>
          <p:nvPr/>
        </p:nvSpPr>
        <p:spPr>
          <a:xfrm>
            <a:off x="7353300" y="3990975"/>
            <a:ext cx="533400" cy="533400"/>
          </a:xfrm>
          <a:prstGeom prst="rect">
            <a:avLst/>
          </a:prstGeom>
          <a:noFill/>
          <a:ln w="0">
            <a:noFill/>
            <a:prstDash val="solid"/>
          </a:ln>
        </p:spPr>
        <p:txBody>
          <a:bodyPr anchor="ctr"/>
          <a:lstStyle/>
          <a:p>
            <a:pPr algn="ctr">
              <a:defRPr sz="1275" b="1">
                <a:solidFill>
                  <a:srgbClr val="C49A52"/>
                </a:solidFill>
              </a:defRPr>
            </a:pPr>
            <a:r>
              <a:rPr sz="1275" b="1">
                <a:solidFill>
                  <a:srgbClr val="C49A52"/>
                </a:solidFill>
              </a:rPr>
              <a:t>b3</a:t>
            </a:r>
          </a:p>
        </p:txBody>
      </p:sp>
      <p:sp>
        <p:nvSpPr>
          <p:cNvPr id="16" name="true-2">
            <a:extLst>
              <a:ext uri="{FF2B5EF4-FFF2-40B4-BE49-F238E27FC236}">
                <a16:creationId xmlns:a16="http://schemas.microsoft.com/office/drawing/2014/main" id="{0D4272E7-AA6E-4319-863B-881C1C1B1491}"/>
              </a:ext>
            </a:extLst>
          </p:cNvPr>
          <p:cNvSpPr>
            <a:spLocks noGrp="1"/>
          </p:cNvSpPr>
          <p:nvPr/>
        </p:nvSpPr>
        <p:spPr>
          <a:xfrm>
            <a:off x="8096250" y="3981450"/>
            <a:ext cx="3028950" cy="285750"/>
          </a:xfrm>
          <a:prstGeom prst="rect">
            <a:avLst/>
          </a:prstGeom>
          <a:noFill/>
          <a:ln w="0">
            <a:noFill/>
            <a:prstDash val="solid"/>
          </a:ln>
        </p:spPr>
        <p:txBody>
          <a:bodyPr anchor="ctr"/>
          <a:lstStyle/>
          <a:p>
            <a:pPr algn="l">
              <a:defRPr sz="1425" b="1">
                <a:solidFill>
                  <a:srgbClr val="C49A52"/>
                </a:solidFill>
              </a:defRPr>
            </a:pPr>
            <a:r>
              <a:rPr sz="1425" b="1">
                <a:solidFill>
                  <a:srgbClr val="C49A52"/>
                </a:solidFill>
              </a:rPr>
              <a:t>true: copy x into y</a:t>
            </a:r>
          </a:p>
        </p:txBody>
      </p:sp>
      <p:sp>
        <p:nvSpPr>
          <p:cNvPr id="17" name="false-2">
            <a:extLst>
              <a:ext uri="{FF2B5EF4-FFF2-40B4-BE49-F238E27FC236}">
                <a16:creationId xmlns:a16="http://schemas.microsoft.com/office/drawing/2014/main" id="{7C7433DA-6286-4794-953E-41663CAA997E}"/>
              </a:ext>
            </a:extLst>
          </p:cNvPr>
          <p:cNvSpPr>
            <a:spLocks noGrp="1"/>
          </p:cNvSpPr>
          <p:nvPr/>
        </p:nvSpPr>
        <p:spPr>
          <a:xfrm>
            <a:off x="8096250" y="4314825"/>
            <a:ext cx="3028950" cy="323850"/>
          </a:xfrm>
          <a:prstGeom prst="rect">
            <a:avLst/>
          </a:prstGeom>
          <a:noFill/>
          <a:ln w="0">
            <a:noFill/>
            <a:prstDash val="solid"/>
          </a:ln>
        </p:spPr>
        <p:txBody>
          <a:bodyPr anchor="ctr"/>
          <a:lstStyle/>
          <a:p>
            <a:pPr algn="l">
              <a:defRPr sz="1275" b="0">
                <a:solidFill>
                  <a:srgbClr val="66727F"/>
                </a:solidFill>
              </a:defRPr>
            </a:pPr>
            <a:r>
              <a:rPr sz="1275" b="0">
                <a:solidFill>
                  <a:srgbClr val="66727F"/>
                </a:solidFill>
              </a:rPr>
              <a:t>false: leave y as 0</a:t>
            </a:r>
          </a:p>
        </p:txBody>
      </p:sp>
      <p:sp>
        <p:nvSpPr>
          <p:cNvPr id="18" name="takeaway">
            <a:extLst>
              <a:ext uri="{FF2B5EF4-FFF2-40B4-BE49-F238E27FC236}">
                <a16:creationId xmlns:a16="http://schemas.microsoft.com/office/drawing/2014/main" id="{0DB6490B-607F-428D-9B85-959C57BFECA2}"/>
              </a:ext>
            </a:extLst>
          </p:cNvPr>
          <p:cNvSpPr>
            <a:spLocks noGrp="1"/>
          </p:cNvSpPr>
          <p:nvPr/>
        </p:nvSpPr>
        <p:spPr>
          <a:xfrm>
            <a:off x="781050" y="5467350"/>
            <a:ext cx="10629900" cy="723900"/>
          </a:xfrm>
          <a:prstGeom prst="roundRect">
            <a:avLst>
              <a:gd name="adj" fmla="val 10526"/>
            </a:avLst>
          </a:prstGeom>
          <a:solidFill>
            <a:srgbClr val="F3F5F7"/>
          </a:solidFill>
          <a:ln w="19050">
            <a:solidFill>
              <a:srgbClr val="25364A"/>
            </a:solidFill>
            <a:prstDash val="solid"/>
          </a:ln>
        </p:spPr>
        <p:txBody>
          <a:bodyPr/>
          <a:lstStyle/>
          <a:p>
            <a:endParaRPr lang="en-US"/>
          </a:p>
        </p:txBody>
      </p:sp>
      <p:sp>
        <p:nvSpPr>
          <p:cNvPr id="19" name="takeaway-text">
            <a:extLst>
              <a:ext uri="{FF2B5EF4-FFF2-40B4-BE49-F238E27FC236}">
                <a16:creationId xmlns:a16="http://schemas.microsoft.com/office/drawing/2014/main" id="{93D84C06-A9DA-478F-AF2F-217431CACE59}"/>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25364A"/>
                </a:solidFill>
              </a:defRPr>
            </a:pPr>
            <a:r>
              <a:rPr sz="1800" b="1">
                <a:solidFill>
                  <a:srgbClr val="25364A"/>
                </a:solidFill>
              </a:rPr>
              <a:t>Each decision can be true or false, creating different execution paths.</a:t>
            </a:r>
          </a:p>
        </p:txBody>
      </p:sp>
    </p:spTree>
    <p:extLst>
      <p:ext uri="{BB962C8B-B14F-4D97-AF65-F5344CB8AC3E}">
        <p14:creationId xmlns:p14="http://schemas.microsoft.com/office/powerpoint/2010/main" val="587661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p:bldP spid="9" grpId="0"/>
      <p:bldP spid="10" grpId="0" animBg="1"/>
      <p:bldP spid="11" grpId="0"/>
      <p:bldP spid="12" grpId="0"/>
      <p:bldP spid="13" grpId="0"/>
      <p:bldP spid="14" grpId="0" animBg="1"/>
      <p:bldP spid="15" grpId="0"/>
      <p:bldP spid="16" grpId="0"/>
      <p:bldP spid="17" grpId="0"/>
      <p:bldP spid="18" grpId="0" animBg="1"/>
      <p:bldP spid="1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itle">
            <a:extLst>
              <a:ext uri="{FF2B5EF4-FFF2-40B4-BE49-F238E27FC236}">
                <a16:creationId xmlns:a16="http://schemas.microsoft.com/office/drawing/2014/main" id="{241AE145-3A20-4D69-9AAA-7870283F23BC}"/>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7202A"/>
                </a:solidFill>
              </a:defRPr>
            </a:pPr>
            <a:r>
              <a:rPr sz="3000" b="0">
                <a:solidFill>
                  <a:srgbClr val="17202A"/>
                </a:solidFill>
              </a:rPr>
              <a:t>Line coverage shows which executable lines ran</a:t>
            </a:r>
          </a:p>
        </p:txBody>
      </p:sp>
      <p:sp>
        <p:nvSpPr>
          <p:cNvPr id="2" name="title-rule">
            <a:extLst>
              <a:ext uri="{FF2B5EF4-FFF2-40B4-BE49-F238E27FC236}">
                <a16:creationId xmlns:a16="http://schemas.microsoft.com/office/drawing/2014/main" id="{A73CA8D7-9405-4089-8CCA-6CFFD31C9E66}"/>
              </a:ext>
            </a:extLst>
          </p:cNvPr>
          <p:cNvSpPr>
            <a:spLocks noGrp="1"/>
          </p:cNvSpPr>
          <p:nvPr/>
        </p:nvSpPr>
        <p:spPr>
          <a:xfrm>
            <a:off x="685800" y="1066800"/>
            <a:ext cx="1571625" cy="38100"/>
          </a:xfrm>
          <a:prstGeom prst="rect">
            <a:avLst/>
          </a:prstGeom>
          <a:solidFill>
            <a:srgbClr val="25364A"/>
          </a:solidFill>
          <a:ln w="0">
            <a:solidFill>
              <a:srgbClr val="25364A"/>
            </a:solidFill>
            <a:prstDash val="solid"/>
          </a:ln>
        </p:spPr>
        <p:txBody>
          <a:bodyPr/>
          <a:lstStyle/>
          <a:p>
            <a:endParaRPr lang="en-US"/>
          </a:p>
        </p:txBody>
      </p:sp>
      <p:sp>
        <p:nvSpPr>
          <p:cNvPr id="3" name="test">
            <a:extLst>
              <a:ext uri="{FF2B5EF4-FFF2-40B4-BE49-F238E27FC236}">
                <a16:creationId xmlns:a16="http://schemas.microsoft.com/office/drawing/2014/main" id="{6A86B300-8E77-476A-A6F1-F1A2823FE441}"/>
              </a:ext>
            </a:extLst>
          </p:cNvPr>
          <p:cNvSpPr>
            <a:spLocks noGrp="1"/>
          </p:cNvSpPr>
          <p:nvPr/>
        </p:nvSpPr>
        <p:spPr>
          <a:xfrm>
            <a:off x="895350" y="1352550"/>
            <a:ext cx="10401300" cy="400050"/>
          </a:xfrm>
          <a:prstGeom prst="rect">
            <a:avLst/>
          </a:prstGeom>
          <a:noFill/>
          <a:ln w="0">
            <a:noFill/>
            <a:prstDash val="solid"/>
          </a:ln>
        </p:spPr>
        <p:txBody>
          <a:bodyPr anchor="ctr"/>
          <a:lstStyle/>
          <a:p>
            <a:pPr algn="ctr">
              <a:defRPr sz="1650" b="1">
                <a:solidFill>
                  <a:srgbClr val="25364A"/>
                </a:solidFill>
              </a:defRPr>
            </a:pPr>
            <a:r>
              <a:rPr sz="1650" b="1" dirty="0">
                <a:solidFill>
                  <a:srgbClr val="25364A"/>
                </a:solidFill>
              </a:rPr>
              <a:t>Test:  foo(0, false, true, true) == −1</a:t>
            </a:r>
          </a:p>
        </p:txBody>
      </p:sp>
      <p:sp>
        <p:nvSpPr>
          <p:cNvPr id="4" name="code">
            <a:extLst>
              <a:ext uri="{FF2B5EF4-FFF2-40B4-BE49-F238E27FC236}">
                <a16:creationId xmlns:a16="http://schemas.microsoft.com/office/drawing/2014/main" id="{80EF4DDC-4780-41B9-BC8E-D7D2FEBEDD62}"/>
              </a:ext>
            </a:extLst>
          </p:cNvPr>
          <p:cNvSpPr>
            <a:spLocks noGrp="1"/>
          </p:cNvSpPr>
          <p:nvPr/>
        </p:nvSpPr>
        <p:spPr>
          <a:xfrm>
            <a:off x="876300" y="2000250"/>
            <a:ext cx="6000750" cy="2914650"/>
          </a:xfrm>
          <a:prstGeom prst="roundRect">
            <a:avLst>
              <a:gd name="adj" fmla="val 3922"/>
            </a:avLst>
          </a:prstGeom>
          <a:solidFill>
            <a:srgbClr val="F3F5F7"/>
          </a:solidFill>
          <a:ln w="19050">
            <a:solidFill>
              <a:srgbClr val="25364A"/>
            </a:solidFill>
            <a:prstDash val="solid"/>
          </a:ln>
        </p:spPr>
        <p:txBody>
          <a:bodyPr/>
          <a:lstStyle/>
          <a:p>
            <a:endParaRPr lang="en-US"/>
          </a:p>
        </p:txBody>
      </p:sp>
      <p:sp>
        <p:nvSpPr>
          <p:cNvPr id="5" name="ln-0">
            <a:extLst>
              <a:ext uri="{FF2B5EF4-FFF2-40B4-BE49-F238E27FC236}">
                <a16:creationId xmlns:a16="http://schemas.microsoft.com/office/drawing/2014/main" id="{F29D19AF-E12E-4FAF-909D-56FB3CFEC814}"/>
              </a:ext>
            </a:extLst>
          </p:cNvPr>
          <p:cNvSpPr>
            <a:spLocks noGrp="1"/>
          </p:cNvSpPr>
          <p:nvPr/>
        </p:nvSpPr>
        <p:spPr>
          <a:xfrm>
            <a:off x="1028700" y="216217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1</a:t>
            </a:r>
          </a:p>
        </p:txBody>
      </p:sp>
      <p:sp>
        <p:nvSpPr>
          <p:cNvPr id="6" name="code-0">
            <a:extLst>
              <a:ext uri="{FF2B5EF4-FFF2-40B4-BE49-F238E27FC236}">
                <a16:creationId xmlns:a16="http://schemas.microsoft.com/office/drawing/2014/main" id="{D2C0DBA2-2454-4B1C-96D7-148FEA960F7A}"/>
              </a:ext>
            </a:extLst>
          </p:cNvPr>
          <p:cNvSpPr>
            <a:spLocks noGrp="1"/>
          </p:cNvSpPr>
          <p:nvPr/>
        </p:nvSpPr>
        <p:spPr>
          <a:xfrm>
            <a:off x="1390650" y="216217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int x = input;</a:t>
            </a:r>
          </a:p>
        </p:txBody>
      </p:sp>
      <p:sp>
        <p:nvSpPr>
          <p:cNvPr id="7" name="status-0-c">
            <a:extLst>
              <a:ext uri="{FF2B5EF4-FFF2-40B4-BE49-F238E27FC236}">
                <a16:creationId xmlns:a16="http://schemas.microsoft.com/office/drawing/2014/main" id="{A22770C4-17BB-4EDC-B897-6FE7041D69E4}"/>
              </a:ext>
            </a:extLst>
          </p:cNvPr>
          <p:cNvSpPr>
            <a:spLocks noGrp="1"/>
          </p:cNvSpPr>
          <p:nvPr/>
        </p:nvSpPr>
        <p:spPr>
          <a:xfrm>
            <a:off x="6191250" y="2181225"/>
            <a:ext cx="200025" cy="200025"/>
          </a:xfrm>
          <a:prstGeom prst="ellipse">
            <a:avLst/>
          </a:prstGeom>
          <a:solidFill>
            <a:srgbClr val="FFFFFF"/>
          </a:solidFill>
          <a:ln w="23813">
            <a:solidFill>
              <a:srgbClr val="4C78A8"/>
            </a:solidFill>
            <a:prstDash val="solid"/>
          </a:ln>
        </p:spPr>
        <p:txBody>
          <a:bodyPr/>
          <a:lstStyle/>
          <a:p>
            <a:endParaRPr lang="en-US"/>
          </a:p>
        </p:txBody>
      </p:sp>
      <p:sp>
        <p:nvSpPr>
          <p:cNvPr id="8" name="status-0-t">
            <a:extLst>
              <a:ext uri="{FF2B5EF4-FFF2-40B4-BE49-F238E27FC236}">
                <a16:creationId xmlns:a16="http://schemas.microsoft.com/office/drawing/2014/main" id="{6740AFAB-17DA-49D7-812D-015E0E8271E5}"/>
              </a:ext>
            </a:extLst>
          </p:cNvPr>
          <p:cNvSpPr>
            <a:spLocks noGrp="1"/>
          </p:cNvSpPr>
          <p:nvPr/>
        </p:nvSpPr>
        <p:spPr>
          <a:xfrm>
            <a:off x="6191250" y="2171700"/>
            <a:ext cx="200025" cy="200025"/>
          </a:xfrm>
          <a:prstGeom prst="rect">
            <a:avLst/>
          </a:prstGeom>
          <a:noFill/>
          <a:ln w="0">
            <a:noFill/>
            <a:prstDash val="solid"/>
          </a:ln>
        </p:spPr>
        <p:txBody>
          <a:bodyPr anchor="ctr"/>
          <a:lstStyle/>
          <a:p>
            <a:pPr algn="ctr">
              <a:defRPr sz="900" b="1">
                <a:solidFill>
                  <a:srgbClr val="4C78A8"/>
                </a:solidFill>
              </a:defRPr>
            </a:pPr>
            <a:r>
              <a:rPr sz="900" b="1" dirty="0">
                <a:solidFill>
                  <a:srgbClr val="4C78A8"/>
                </a:solidFill>
              </a:rPr>
              <a:t>✓</a:t>
            </a:r>
          </a:p>
        </p:txBody>
      </p:sp>
      <p:sp>
        <p:nvSpPr>
          <p:cNvPr id="9" name="ln-1">
            <a:extLst>
              <a:ext uri="{FF2B5EF4-FFF2-40B4-BE49-F238E27FC236}">
                <a16:creationId xmlns:a16="http://schemas.microsoft.com/office/drawing/2014/main" id="{3CB55AE2-F96B-41DA-B7F9-D49D4D3F5F6E}"/>
              </a:ext>
            </a:extLst>
          </p:cNvPr>
          <p:cNvSpPr>
            <a:spLocks noGrp="1"/>
          </p:cNvSpPr>
          <p:nvPr/>
        </p:nvSpPr>
        <p:spPr>
          <a:xfrm>
            <a:off x="1028700" y="243840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2</a:t>
            </a:r>
          </a:p>
        </p:txBody>
      </p:sp>
      <p:sp>
        <p:nvSpPr>
          <p:cNvPr id="10" name="code-1">
            <a:extLst>
              <a:ext uri="{FF2B5EF4-FFF2-40B4-BE49-F238E27FC236}">
                <a16:creationId xmlns:a16="http://schemas.microsoft.com/office/drawing/2014/main" id="{9FF38F0D-8DC2-456C-99F1-9304FC59E39C}"/>
              </a:ext>
            </a:extLst>
          </p:cNvPr>
          <p:cNvSpPr>
            <a:spLocks noGrp="1"/>
          </p:cNvSpPr>
          <p:nvPr/>
        </p:nvSpPr>
        <p:spPr>
          <a:xfrm>
            <a:off x="1390650" y="243840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int y = 0;</a:t>
            </a:r>
          </a:p>
        </p:txBody>
      </p:sp>
      <p:sp>
        <p:nvSpPr>
          <p:cNvPr id="11" name="status-1-c">
            <a:extLst>
              <a:ext uri="{FF2B5EF4-FFF2-40B4-BE49-F238E27FC236}">
                <a16:creationId xmlns:a16="http://schemas.microsoft.com/office/drawing/2014/main" id="{2E2E7558-CB62-40D4-9286-83B3683060C0}"/>
              </a:ext>
            </a:extLst>
          </p:cNvPr>
          <p:cNvSpPr>
            <a:spLocks noGrp="1"/>
          </p:cNvSpPr>
          <p:nvPr/>
        </p:nvSpPr>
        <p:spPr>
          <a:xfrm>
            <a:off x="6191250" y="2457450"/>
            <a:ext cx="200025" cy="200025"/>
          </a:xfrm>
          <a:prstGeom prst="ellipse">
            <a:avLst/>
          </a:prstGeom>
          <a:solidFill>
            <a:srgbClr val="FFFFFF"/>
          </a:solidFill>
          <a:ln w="23813">
            <a:solidFill>
              <a:srgbClr val="4C78A8"/>
            </a:solidFill>
            <a:prstDash val="solid"/>
          </a:ln>
        </p:spPr>
        <p:txBody>
          <a:bodyPr/>
          <a:lstStyle/>
          <a:p>
            <a:endParaRPr lang="en-US"/>
          </a:p>
        </p:txBody>
      </p:sp>
      <p:sp>
        <p:nvSpPr>
          <p:cNvPr id="12" name="status-1-t">
            <a:extLst>
              <a:ext uri="{FF2B5EF4-FFF2-40B4-BE49-F238E27FC236}">
                <a16:creationId xmlns:a16="http://schemas.microsoft.com/office/drawing/2014/main" id="{9D759635-F29E-41A5-ABA8-BB18D99AC2A2}"/>
              </a:ext>
            </a:extLst>
          </p:cNvPr>
          <p:cNvSpPr>
            <a:spLocks noGrp="1"/>
          </p:cNvSpPr>
          <p:nvPr/>
        </p:nvSpPr>
        <p:spPr>
          <a:xfrm>
            <a:off x="6191250" y="2447925"/>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13" name="ln-2">
            <a:extLst>
              <a:ext uri="{FF2B5EF4-FFF2-40B4-BE49-F238E27FC236}">
                <a16:creationId xmlns:a16="http://schemas.microsoft.com/office/drawing/2014/main" id="{A5BC86BF-A674-4F08-9955-7598602C3E94}"/>
              </a:ext>
            </a:extLst>
          </p:cNvPr>
          <p:cNvSpPr>
            <a:spLocks noGrp="1"/>
          </p:cNvSpPr>
          <p:nvPr/>
        </p:nvSpPr>
        <p:spPr>
          <a:xfrm>
            <a:off x="1028700" y="271462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3</a:t>
            </a:r>
          </a:p>
        </p:txBody>
      </p:sp>
      <p:sp>
        <p:nvSpPr>
          <p:cNvPr id="14" name="code-2">
            <a:extLst>
              <a:ext uri="{FF2B5EF4-FFF2-40B4-BE49-F238E27FC236}">
                <a16:creationId xmlns:a16="http://schemas.microsoft.com/office/drawing/2014/main" id="{2F561B84-14C4-464E-8F01-209FF1FCA0F3}"/>
              </a:ext>
            </a:extLst>
          </p:cNvPr>
          <p:cNvSpPr>
            <a:spLocks noGrp="1"/>
          </p:cNvSpPr>
          <p:nvPr/>
        </p:nvSpPr>
        <p:spPr>
          <a:xfrm>
            <a:off x="1390650" y="271462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if (b1)</a:t>
            </a:r>
          </a:p>
        </p:txBody>
      </p:sp>
      <p:sp>
        <p:nvSpPr>
          <p:cNvPr id="15" name="status-2-c">
            <a:extLst>
              <a:ext uri="{FF2B5EF4-FFF2-40B4-BE49-F238E27FC236}">
                <a16:creationId xmlns:a16="http://schemas.microsoft.com/office/drawing/2014/main" id="{8B1AA56C-47C5-4D09-BC57-53B6534DED57}"/>
              </a:ext>
            </a:extLst>
          </p:cNvPr>
          <p:cNvSpPr>
            <a:spLocks noGrp="1"/>
          </p:cNvSpPr>
          <p:nvPr/>
        </p:nvSpPr>
        <p:spPr>
          <a:xfrm>
            <a:off x="6191250" y="2733675"/>
            <a:ext cx="200025" cy="200025"/>
          </a:xfrm>
          <a:prstGeom prst="ellipse">
            <a:avLst/>
          </a:prstGeom>
          <a:solidFill>
            <a:srgbClr val="FFFFFF"/>
          </a:solidFill>
          <a:ln w="23813">
            <a:solidFill>
              <a:srgbClr val="4C78A8"/>
            </a:solidFill>
            <a:prstDash val="solid"/>
          </a:ln>
        </p:spPr>
        <p:txBody>
          <a:bodyPr/>
          <a:lstStyle/>
          <a:p>
            <a:endParaRPr lang="en-US"/>
          </a:p>
        </p:txBody>
      </p:sp>
      <p:sp>
        <p:nvSpPr>
          <p:cNvPr id="16" name="status-2-t">
            <a:extLst>
              <a:ext uri="{FF2B5EF4-FFF2-40B4-BE49-F238E27FC236}">
                <a16:creationId xmlns:a16="http://schemas.microsoft.com/office/drawing/2014/main" id="{13374E44-CBA5-4E7C-855F-6EFD12AD3656}"/>
              </a:ext>
            </a:extLst>
          </p:cNvPr>
          <p:cNvSpPr>
            <a:spLocks noGrp="1"/>
          </p:cNvSpPr>
          <p:nvPr/>
        </p:nvSpPr>
        <p:spPr>
          <a:xfrm>
            <a:off x="6191250" y="272415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17" name="miss-bg-3">
            <a:extLst>
              <a:ext uri="{FF2B5EF4-FFF2-40B4-BE49-F238E27FC236}">
                <a16:creationId xmlns:a16="http://schemas.microsoft.com/office/drawing/2014/main" id="{EA592C73-FACA-4621-AE5B-C9B73A536C29}"/>
              </a:ext>
            </a:extLst>
          </p:cNvPr>
          <p:cNvSpPr>
            <a:spLocks noGrp="1"/>
          </p:cNvSpPr>
          <p:nvPr/>
        </p:nvSpPr>
        <p:spPr>
          <a:xfrm>
            <a:off x="1200150" y="2971800"/>
            <a:ext cx="4914900" cy="257175"/>
          </a:xfrm>
          <a:prstGeom prst="roundRect">
            <a:avLst>
              <a:gd name="adj" fmla="val 7407"/>
            </a:avLst>
          </a:prstGeom>
          <a:solidFill>
            <a:srgbClr val="F7F0E4"/>
          </a:solidFill>
          <a:ln w="9525">
            <a:solidFill>
              <a:srgbClr val="C49A52"/>
            </a:solidFill>
            <a:prstDash val="solid"/>
          </a:ln>
        </p:spPr>
        <p:txBody>
          <a:bodyPr/>
          <a:lstStyle/>
          <a:p>
            <a:endParaRPr lang="en-US"/>
          </a:p>
        </p:txBody>
      </p:sp>
      <p:sp>
        <p:nvSpPr>
          <p:cNvPr id="18" name="ln-3">
            <a:extLst>
              <a:ext uri="{FF2B5EF4-FFF2-40B4-BE49-F238E27FC236}">
                <a16:creationId xmlns:a16="http://schemas.microsoft.com/office/drawing/2014/main" id="{EA886520-05C2-4535-94D3-92886703AE3F}"/>
              </a:ext>
            </a:extLst>
          </p:cNvPr>
          <p:cNvSpPr>
            <a:spLocks noGrp="1"/>
          </p:cNvSpPr>
          <p:nvPr/>
        </p:nvSpPr>
        <p:spPr>
          <a:xfrm>
            <a:off x="1028700" y="299085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4</a:t>
            </a:r>
          </a:p>
        </p:txBody>
      </p:sp>
      <p:sp>
        <p:nvSpPr>
          <p:cNvPr id="19" name="code-3">
            <a:extLst>
              <a:ext uri="{FF2B5EF4-FFF2-40B4-BE49-F238E27FC236}">
                <a16:creationId xmlns:a16="http://schemas.microsoft.com/office/drawing/2014/main" id="{0E4D7CB7-D6E5-4A01-8A4B-4037F8C5DFF2}"/>
              </a:ext>
            </a:extLst>
          </p:cNvPr>
          <p:cNvSpPr>
            <a:spLocks noGrp="1"/>
          </p:cNvSpPr>
          <p:nvPr/>
        </p:nvSpPr>
        <p:spPr>
          <a:xfrm>
            <a:off x="1390650" y="299085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    x++;</a:t>
            </a:r>
          </a:p>
        </p:txBody>
      </p:sp>
      <p:sp>
        <p:nvSpPr>
          <p:cNvPr id="20" name="status-3-c">
            <a:extLst>
              <a:ext uri="{FF2B5EF4-FFF2-40B4-BE49-F238E27FC236}">
                <a16:creationId xmlns:a16="http://schemas.microsoft.com/office/drawing/2014/main" id="{33F222CB-3615-4874-837C-272D17085652}"/>
              </a:ext>
            </a:extLst>
          </p:cNvPr>
          <p:cNvSpPr>
            <a:spLocks noGrp="1"/>
          </p:cNvSpPr>
          <p:nvPr/>
        </p:nvSpPr>
        <p:spPr>
          <a:xfrm>
            <a:off x="6191250" y="3009900"/>
            <a:ext cx="200025" cy="200025"/>
          </a:xfrm>
          <a:prstGeom prst="ellipse">
            <a:avLst/>
          </a:prstGeom>
          <a:solidFill>
            <a:srgbClr val="FFFFFF"/>
          </a:solidFill>
          <a:ln w="23813">
            <a:solidFill>
              <a:srgbClr val="C49A52"/>
            </a:solidFill>
            <a:prstDash val="solid"/>
          </a:ln>
        </p:spPr>
        <p:txBody>
          <a:bodyPr/>
          <a:lstStyle/>
          <a:p>
            <a:endParaRPr lang="en-US"/>
          </a:p>
        </p:txBody>
      </p:sp>
      <p:sp>
        <p:nvSpPr>
          <p:cNvPr id="21" name="status-3-t">
            <a:extLst>
              <a:ext uri="{FF2B5EF4-FFF2-40B4-BE49-F238E27FC236}">
                <a16:creationId xmlns:a16="http://schemas.microsoft.com/office/drawing/2014/main" id="{C5CBBF9C-DD2B-4E7C-83A2-CDAD3DFF0870}"/>
              </a:ext>
            </a:extLst>
          </p:cNvPr>
          <p:cNvSpPr>
            <a:spLocks noGrp="1"/>
          </p:cNvSpPr>
          <p:nvPr/>
        </p:nvSpPr>
        <p:spPr>
          <a:xfrm>
            <a:off x="6191250" y="3000375"/>
            <a:ext cx="200025" cy="200025"/>
          </a:xfrm>
          <a:prstGeom prst="rect">
            <a:avLst/>
          </a:prstGeom>
          <a:noFill/>
          <a:ln w="0">
            <a:noFill/>
            <a:prstDash val="solid"/>
          </a:ln>
        </p:spPr>
        <p:txBody>
          <a:bodyPr anchor="ctr"/>
          <a:lstStyle/>
          <a:p>
            <a:pPr algn="ctr">
              <a:defRPr sz="900" b="1">
                <a:solidFill>
                  <a:srgbClr val="C49A52"/>
                </a:solidFill>
              </a:defRPr>
            </a:pPr>
            <a:r>
              <a:rPr sz="900" b="1">
                <a:solidFill>
                  <a:srgbClr val="C49A52"/>
                </a:solidFill>
              </a:rPr>
              <a:t>×</a:t>
            </a:r>
          </a:p>
        </p:txBody>
      </p:sp>
      <p:sp>
        <p:nvSpPr>
          <p:cNvPr id="22" name="ln-4">
            <a:extLst>
              <a:ext uri="{FF2B5EF4-FFF2-40B4-BE49-F238E27FC236}">
                <a16:creationId xmlns:a16="http://schemas.microsoft.com/office/drawing/2014/main" id="{6A918C6C-46B8-4EDD-BBD3-1BE0F89139C7}"/>
              </a:ext>
            </a:extLst>
          </p:cNvPr>
          <p:cNvSpPr>
            <a:spLocks noGrp="1"/>
          </p:cNvSpPr>
          <p:nvPr/>
        </p:nvSpPr>
        <p:spPr>
          <a:xfrm>
            <a:off x="1028700" y="326707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5</a:t>
            </a:r>
          </a:p>
        </p:txBody>
      </p:sp>
      <p:sp>
        <p:nvSpPr>
          <p:cNvPr id="23" name="code-4">
            <a:extLst>
              <a:ext uri="{FF2B5EF4-FFF2-40B4-BE49-F238E27FC236}">
                <a16:creationId xmlns:a16="http://schemas.microsoft.com/office/drawing/2014/main" id="{DD158D23-2E2D-478F-A6E3-B77F1B1AF138}"/>
              </a:ext>
            </a:extLst>
          </p:cNvPr>
          <p:cNvSpPr>
            <a:spLocks noGrp="1"/>
          </p:cNvSpPr>
          <p:nvPr/>
        </p:nvSpPr>
        <p:spPr>
          <a:xfrm>
            <a:off x="1390650" y="326707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if (b2)</a:t>
            </a:r>
          </a:p>
        </p:txBody>
      </p:sp>
      <p:sp>
        <p:nvSpPr>
          <p:cNvPr id="24" name="status-4-c">
            <a:extLst>
              <a:ext uri="{FF2B5EF4-FFF2-40B4-BE49-F238E27FC236}">
                <a16:creationId xmlns:a16="http://schemas.microsoft.com/office/drawing/2014/main" id="{C4DFB1E2-FBAA-44E5-80EF-9B847441941A}"/>
              </a:ext>
            </a:extLst>
          </p:cNvPr>
          <p:cNvSpPr>
            <a:spLocks noGrp="1"/>
          </p:cNvSpPr>
          <p:nvPr/>
        </p:nvSpPr>
        <p:spPr>
          <a:xfrm>
            <a:off x="6191250" y="3286125"/>
            <a:ext cx="200025" cy="200025"/>
          </a:xfrm>
          <a:prstGeom prst="ellipse">
            <a:avLst/>
          </a:prstGeom>
          <a:solidFill>
            <a:srgbClr val="FFFFFF"/>
          </a:solidFill>
          <a:ln w="23813">
            <a:solidFill>
              <a:srgbClr val="4C78A8"/>
            </a:solidFill>
            <a:prstDash val="solid"/>
          </a:ln>
        </p:spPr>
        <p:txBody>
          <a:bodyPr/>
          <a:lstStyle/>
          <a:p>
            <a:endParaRPr lang="en-US"/>
          </a:p>
        </p:txBody>
      </p:sp>
      <p:sp>
        <p:nvSpPr>
          <p:cNvPr id="25" name="status-4-t">
            <a:extLst>
              <a:ext uri="{FF2B5EF4-FFF2-40B4-BE49-F238E27FC236}">
                <a16:creationId xmlns:a16="http://schemas.microsoft.com/office/drawing/2014/main" id="{81504495-1E7D-4DEB-AD94-25691251979A}"/>
              </a:ext>
            </a:extLst>
          </p:cNvPr>
          <p:cNvSpPr>
            <a:spLocks noGrp="1"/>
          </p:cNvSpPr>
          <p:nvPr/>
        </p:nvSpPr>
        <p:spPr>
          <a:xfrm>
            <a:off x="6191250" y="327660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26" name="ln-5">
            <a:extLst>
              <a:ext uri="{FF2B5EF4-FFF2-40B4-BE49-F238E27FC236}">
                <a16:creationId xmlns:a16="http://schemas.microsoft.com/office/drawing/2014/main" id="{36DEE012-182D-483E-A991-1E6F01416045}"/>
              </a:ext>
            </a:extLst>
          </p:cNvPr>
          <p:cNvSpPr>
            <a:spLocks noGrp="1"/>
          </p:cNvSpPr>
          <p:nvPr/>
        </p:nvSpPr>
        <p:spPr>
          <a:xfrm>
            <a:off x="1028700" y="354330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6</a:t>
            </a:r>
          </a:p>
        </p:txBody>
      </p:sp>
      <p:sp>
        <p:nvSpPr>
          <p:cNvPr id="27" name="code-5">
            <a:extLst>
              <a:ext uri="{FF2B5EF4-FFF2-40B4-BE49-F238E27FC236}">
                <a16:creationId xmlns:a16="http://schemas.microsoft.com/office/drawing/2014/main" id="{C4F722C4-FC1D-42E2-A1C2-318060445F14}"/>
              </a:ext>
            </a:extLst>
          </p:cNvPr>
          <p:cNvSpPr>
            <a:spLocks noGrp="1"/>
          </p:cNvSpPr>
          <p:nvPr/>
        </p:nvSpPr>
        <p:spPr>
          <a:xfrm>
            <a:off x="1390650" y="354330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    x--;</a:t>
            </a:r>
          </a:p>
        </p:txBody>
      </p:sp>
      <p:sp>
        <p:nvSpPr>
          <p:cNvPr id="28" name="status-5-c">
            <a:extLst>
              <a:ext uri="{FF2B5EF4-FFF2-40B4-BE49-F238E27FC236}">
                <a16:creationId xmlns:a16="http://schemas.microsoft.com/office/drawing/2014/main" id="{333216BC-FF05-4EFB-9821-003B50E17E87}"/>
              </a:ext>
            </a:extLst>
          </p:cNvPr>
          <p:cNvSpPr>
            <a:spLocks noGrp="1"/>
          </p:cNvSpPr>
          <p:nvPr/>
        </p:nvSpPr>
        <p:spPr>
          <a:xfrm>
            <a:off x="6191250" y="3562350"/>
            <a:ext cx="200025" cy="200025"/>
          </a:xfrm>
          <a:prstGeom prst="ellipse">
            <a:avLst/>
          </a:prstGeom>
          <a:solidFill>
            <a:srgbClr val="FFFFFF"/>
          </a:solidFill>
          <a:ln w="23813">
            <a:solidFill>
              <a:srgbClr val="4C78A8"/>
            </a:solidFill>
            <a:prstDash val="solid"/>
          </a:ln>
        </p:spPr>
        <p:txBody>
          <a:bodyPr/>
          <a:lstStyle/>
          <a:p>
            <a:endParaRPr lang="en-US"/>
          </a:p>
        </p:txBody>
      </p:sp>
      <p:sp>
        <p:nvSpPr>
          <p:cNvPr id="29" name="status-5-t">
            <a:extLst>
              <a:ext uri="{FF2B5EF4-FFF2-40B4-BE49-F238E27FC236}">
                <a16:creationId xmlns:a16="http://schemas.microsoft.com/office/drawing/2014/main" id="{898DB055-AA52-4856-A2ED-2C625584EAC6}"/>
              </a:ext>
            </a:extLst>
          </p:cNvPr>
          <p:cNvSpPr>
            <a:spLocks noGrp="1"/>
          </p:cNvSpPr>
          <p:nvPr/>
        </p:nvSpPr>
        <p:spPr>
          <a:xfrm>
            <a:off x="6191250" y="3552825"/>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30" name="ln-6">
            <a:extLst>
              <a:ext uri="{FF2B5EF4-FFF2-40B4-BE49-F238E27FC236}">
                <a16:creationId xmlns:a16="http://schemas.microsoft.com/office/drawing/2014/main" id="{4CB5BBD1-7F9E-4789-A61D-61123B7E6A20}"/>
              </a:ext>
            </a:extLst>
          </p:cNvPr>
          <p:cNvSpPr>
            <a:spLocks noGrp="1"/>
          </p:cNvSpPr>
          <p:nvPr/>
        </p:nvSpPr>
        <p:spPr>
          <a:xfrm>
            <a:off x="1028700" y="381952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7</a:t>
            </a:r>
          </a:p>
        </p:txBody>
      </p:sp>
      <p:sp>
        <p:nvSpPr>
          <p:cNvPr id="31" name="code-6">
            <a:extLst>
              <a:ext uri="{FF2B5EF4-FFF2-40B4-BE49-F238E27FC236}">
                <a16:creationId xmlns:a16="http://schemas.microsoft.com/office/drawing/2014/main" id="{A0357C12-FE36-4B31-965D-C38FD70CD497}"/>
              </a:ext>
            </a:extLst>
          </p:cNvPr>
          <p:cNvSpPr>
            <a:spLocks noGrp="1"/>
          </p:cNvSpPr>
          <p:nvPr/>
        </p:nvSpPr>
        <p:spPr>
          <a:xfrm>
            <a:off x="1390650" y="381952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if (b3)</a:t>
            </a:r>
          </a:p>
        </p:txBody>
      </p:sp>
      <p:sp>
        <p:nvSpPr>
          <p:cNvPr id="32" name="status-6-c">
            <a:extLst>
              <a:ext uri="{FF2B5EF4-FFF2-40B4-BE49-F238E27FC236}">
                <a16:creationId xmlns:a16="http://schemas.microsoft.com/office/drawing/2014/main" id="{FAC4D334-5461-4782-9EA2-2E0366B58A49}"/>
              </a:ext>
            </a:extLst>
          </p:cNvPr>
          <p:cNvSpPr>
            <a:spLocks noGrp="1"/>
          </p:cNvSpPr>
          <p:nvPr/>
        </p:nvSpPr>
        <p:spPr>
          <a:xfrm>
            <a:off x="6191250" y="3838575"/>
            <a:ext cx="200025" cy="200025"/>
          </a:xfrm>
          <a:prstGeom prst="ellipse">
            <a:avLst/>
          </a:prstGeom>
          <a:solidFill>
            <a:srgbClr val="FFFFFF"/>
          </a:solidFill>
          <a:ln w="23813">
            <a:solidFill>
              <a:srgbClr val="4C78A8"/>
            </a:solidFill>
            <a:prstDash val="solid"/>
          </a:ln>
        </p:spPr>
        <p:txBody>
          <a:bodyPr/>
          <a:lstStyle/>
          <a:p>
            <a:endParaRPr lang="en-US"/>
          </a:p>
        </p:txBody>
      </p:sp>
      <p:sp>
        <p:nvSpPr>
          <p:cNvPr id="33" name="status-6-t">
            <a:extLst>
              <a:ext uri="{FF2B5EF4-FFF2-40B4-BE49-F238E27FC236}">
                <a16:creationId xmlns:a16="http://schemas.microsoft.com/office/drawing/2014/main" id="{E86C839F-8FB3-44D9-976D-3A78B3F2AABD}"/>
              </a:ext>
            </a:extLst>
          </p:cNvPr>
          <p:cNvSpPr>
            <a:spLocks noGrp="1"/>
          </p:cNvSpPr>
          <p:nvPr/>
        </p:nvSpPr>
        <p:spPr>
          <a:xfrm>
            <a:off x="6191250" y="382905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34" name="ln-7">
            <a:extLst>
              <a:ext uri="{FF2B5EF4-FFF2-40B4-BE49-F238E27FC236}">
                <a16:creationId xmlns:a16="http://schemas.microsoft.com/office/drawing/2014/main" id="{61EDD3DE-E1F6-4FB7-9A18-41C18EEEBB5A}"/>
              </a:ext>
            </a:extLst>
          </p:cNvPr>
          <p:cNvSpPr>
            <a:spLocks noGrp="1"/>
          </p:cNvSpPr>
          <p:nvPr/>
        </p:nvSpPr>
        <p:spPr>
          <a:xfrm>
            <a:off x="1028700" y="409575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8</a:t>
            </a:r>
          </a:p>
        </p:txBody>
      </p:sp>
      <p:sp>
        <p:nvSpPr>
          <p:cNvPr id="35" name="code-7">
            <a:extLst>
              <a:ext uri="{FF2B5EF4-FFF2-40B4-BE49-F238E27FC236}">
                <a16:creationId xmlns:a16="http://schemas.microsoft.com/office/drawing/2014/main" id="{07304FA1-10BF-4FD3-8091-CBF0DAEBFA16}"/>
              </a:ext>
            </a:extLst>
          </p:cNvPr>
          <p:cNvSpPr>
            <a:spLocks noGrp="1"/>
          </p:cNvSpPr>
          <p:nvPr/>
        </p:nvSpPr>
        <p:spPr>
          <a:xfrm>
            <a:off x="1390650" y="409575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    y = x;</a:t>
            </a:r>
          </a:p>
        </p:txBody>
      </p:sp>
      <p:sp>
        <p:nvSpPr>
          <p:cNvPr id="36" name="status-7-c">
            <a:extLst>
              <a:ext uri="{FF2B5EF4-FFF2-40B4-BE49-F238E27FC236}">
                <a16:creationId xmlns:a16="http://schemas.microsoft.com/office/drawing/2014/main" id="{840A23C7-BC50-4831-8CC9-AD91BD2C5060}"/>
              </a:ext>
            </a:extLst>
          </p:cNvPr>
          <p:cNvSpPr>
            <a:spLocks noGrp="1"/>
          </p:cNvSpPr>
          <p:nvPr/>
        </p:nvSpPr>
        <p:spPr>
          <a:xfrm>
            <a:off x="6191250" y="4114800"/>
            <a:ext cx="200025" cy="200025"/>
          </a:xfrm>
          <a:prstGeom prst="ellipse">
            <a:avLst/>
          </a:prstGeom>
          <a:solidFill>
            <a:srgbClr val="FFFFFF"/>
          </a:solidFill>
          <a:ln w="23813">
            <a:solidFill>
              <a:srgbClr val="4C78A8"/>
            </a:solidFill>
            <a:prstDash val="solid"/>
          </a:ln>
        </p:spPr>
        <p:txBody>
          <a:bodyPr/>
          <a:lstStyle/>
          <a:p>
            <a:endParaRPr lang="en-US"/>
          </a:p>
        </p:txBody>
      </p:sp>
      <p:sp>
        <p:nvSpPr>
          <p:cNvPr id="37" name="status-7-t">
            <a:extLst>
              <a:ext uri="{FF2B5EF4-FFF2-40B4-BE49-F238E27FC236}">
                <a16:creationId xmlns:a16="http://schemas.microsoft.com/office/drawing/2014/main" id="{D91D967F-B557-4669-8436-348A40F89300}"/>
              </a:ext>
            </a:extLst>
          </p:cNvPr>
          <p:cNvSpPr>
            <a:spLocks noGrp="1"/>
          </p:cNvSpPr>
          <p:nvPr/>
        </p:nvSpPr>
        <p:spPr>
          <a:xfrm>
            <a:off x="6191250" y="4105275"/>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38" name="ln-8">
            <a:extLst>
              <a:ext uri="{FF2B5EF4-FFF2-40B4-BE49-F238E27FC236}">
                <a16:creationId xmlns:a16="http://schemas.microsoft.com/office/drawing/2014/main" id="{4B4C55A0-E921-41A4-85FB-BA3040C11E0C}"/>
              </a:ext>
            </a:extLst>
          </p:cNvPr>
          <p:cNvSpPr>
            <a:spLocks noGrp="1"/>
          </p:cNvSpPr>
          <p:nvPr/>
        </p:nvSpPr>
        <p:spPr>
          <a:xfrm>
            <a:off x="1028700" y="437197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9</a:t>
            </a:r>
          </a:p>
        </p:txBody>
      </p:sp>
      <p:sp>
        <p:nvSpPr>
          <p:cNvPr id="39" name="code-8">
            <a:extLst>
              <a:ext uri="{FF2B5EF4-FFF2-40B4-BE49-F238E27FC236}">
                <a16:creationId xmlns:a16="http://schemas.microsoft.com/office/drawing/2014/main" id="{BCED8D65-F67C-4E63-8C35-CFB4ED1237E4}"/>
              </a:ext>
            </a:extLst>
          </p:cNvPr>
          <p:cNvSpPr>
            <a:spLocks noGrp="1"/>
          </p:cNvSpPr>
          <p:nvPr/>
        </p:nvSpPr>
        <p:spPr>
          <a:xfrm>
            <a:off x="1390650" y="437197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return y;</a:t>
            </a:r>
          </a:p>
        </p:txBody>
      </p:sp>
      <p:sp>
        <p:nvSpPr>
          <p:cNvPr id="40" name="status-8-c">
            <a:extLst>
              <a:ext uri="{FF2B5EF4-FFF2-40B4-BE49-F238E27FC236}">
                <a16:creationId xmlns:a16="http://schemas.microsoft.com/office/drawing/2014/main" id="{924C72F9-9308-4D0B-9837-382684C2D7B9}"/>
              </a:ext>
            </a:extLst>
          </p:cNvPr>
          <p:cNvSpPr>
            <a:spLocks noGrp="1"/>
          </p:cNvSpPr>
          <p:nvPr/>
        </p:nvSpPr>
        <p:spPr>
          <a:xfrm>
            <a:off x="6191250" y="4391025"/>
            <a:ext cx="200025" cy="200025"/>
          </a:xfrm>
          <a:prstGeom prst="ellipse">
            <a:avLst/>
          </a:prstGeom>
          <a:solidFill>
            <a:srgbClr val="FFFFFF"/>
          </a:solidFill>
          <a:ln w="23813">
            <a:solidFill>
              <a:srgbClr val="4C78A8"/>
            </a:solidFill>
            <a:prstDash val="solid"/>
          </a:ln>
        </p:spPr>
        <p:txBody>
          <a:bodyPr/>
          <a:lstStyle/>
          <a:p>
            <a:endParaRPr lang="en-US"/>
          </a:p>
        </p:txBody>
      </p:sp>
      <p:sp>
        <p:nvSpPr>
          <p:cNvPr id="41" name="status-8-t">
            <a:extLst>
              <a:ext uri="{FF2B5EF4-FFF2-40B4-BE49-F238E27FC236}">
                <a16:creationId xmlns:a16="http://schemas.microsoft.com/office/drawing/2014/main" id="{4756C897-F22A-4030-A204-1B8AD7770897}"/>
              </a:ext>
            </a:extLst>
          </p:cNvPr>
          <p:cNvSpPr>
            <a:spLocks noGrp="1"/>
          </p:cNvSpPr>
          <p:nvPr/>
        </p:nvSpPr>
        <p:spPr>
          <a:xfrm>
            <a:off x="6191250" y="438150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42" name="result">
            <a:extLst>
              <a:ext uri="{FF2B5EF4-FFF2-40B4-BE49-F238E27FC236}">
                <a16:creationId xmlns:a16="http://schemas.microsoft.com/office/drawing/2014/main" id="{9724FEE3-54D1-4931-9468-B88733F8D036}"/>
              </a:ext>
            </a:extLst>
          </p:cNvPr>
          <p:cNvSpPr>
            <a:spLocks noGrp="1"/>
          </p:cNvSpPr>
          <p:nvPr/>
        </p:nvSpPr>
        <p:spPr>
          <a:xfrm>
            <a:off x="7353300" y="2000250"/>
            <a:ext cx="3962400" cy="2914650"/>
          </a:xfrm>
          <a:prstGeom prst="roundRect">
            <a:avLst>
              <a:gd name="adj" fmla="val 3922"/>
            </a:avLst>
          </a:prstGeom>
          <a:solidFill>
            <a:srgbClr val="FFFFFF"/>
          </a:solidFill>
          <a:ln w="19050">
            <a:solidFill>
              <a:srgbClr val="D7DDE3"/>
            </a:solidFill>
            <a:prstDash val="solid"/>
          </a:ln>
        </p:spPr>
        <p:txBody>
          <a:bodyPr/>
          <a:lstStyle/>
          <a:p>
            <a:endParaRPr lang="en-US"/>
          </a:p>
        </p:txBody>
      </p:sp>
      <p:sp>
        <p:nvSpPr>
          <p:cNvPr id="43" name="result-head">
            <a:extLst>
              <a:ext uri="{FF2B5EF4-FFF2-40B4-BE49-F238E27FC236}">
                <a16:creationId xmlns:a16="http://schemas.microsoft.com/office/drawing/2014/main" id="{1C16DE47-E90A-4D0B-9458-644A1DC45827}"/>
              </a:ext>
            </a:extLst>
          </p:cNvPr>
          <p:cNvSpPr>
            <a:spLocks noGrp="1"/>
          </p:cNvSpPr>
          <p:nvPr/>
        </p:nvSpPr>
        <p:spPr>
          <a:xfrm>
            <a:off x="7639050" y="2247900"/>
            <a:ext cx="3390900" cy="266700"/>
          </a:xfrm>
          <a:prstGeom prst="rect">
            <a:avLst/>
          </a:prstGeom>
          <a:noFill/>
          <a:ln w="0">
            <a:noFill/>
            <a:prstDash val="solid"/>
          </a:ln>
        </p:spPr>
        <p:txBody>
          <a:bodyPr anchor="ctr"/>
          <a:lstStyle/>
          <a:p>
            <a:pPr algn="ctr">
              <a:defRPr sz="1275" b="1">
                <a:solidFill>
                  <a:srgbClr val="4E6478"/>
                </a:solidFill>
              </a:defRPr>
            </a:pPr>
            <a:r>
              <a:rPr sz="1275" b="1">
                <a:solidFill>
                  <a:srgbClr val="4E6478"/>
                </a:solidFill>
              </a:rPr>
              <a:t>COVERAGE RESULT</a:t>
            </a:r>
          </a:p>
        </p:txBody>
      </p:sp>
      <p:sp>
        <p:nvSpPr>
          <p:cNvPr id="44" name="fraction">
            <a:extLst>
              <a:ext uri="{FF2B5EF4-FFF2-40B4-BE49-F238E27FC236}">
                <a16:creationId xmlns:a16="http://schemas.microsoft.com/office/drawing/2014/main" id="{678E7FD1-60AA-48BB-B2A0-F606C4851C75}"/>
              </a:ext>
            </a:extLst>
          </p:cNvPr>
          <p:cNvSpPr>
            <a:spLocks noGrp="1"/>
          </p:cNvSpPr>
          <p:nvPr/>
        </p:nvSpPr>
        <p:spPr>
          <a:xfrm>
            <a:off x="7639050" y="2686050"/>
            <a:ext cx="3390900" cy="552450"/>
          </a:xfrm>
          <a:prstGeom prst="rect">
            <a:avLst/>
          </a:prstGeom>
          <a:noFill/>
          <a:ln w="0">
            <a:noFill/>
            <a:prstDash val="solid"/>
          </a:ln>
        </p:spPr>
        <p:txBody>
          <a:bodyPr anchor="ctr"/>
          <a:lstStyle/>
          <a:p>
            <a:pPr algn="ctr">
              <a:defRPr sz="3000" b="1">
                <a:solidFill>
                  <a:srgbClr val="4C78A8"/>
                </a:solidFill>
              </a:defRPr>
            </a:pPr>
            <a:r>
              <a:rPr sz="3000" b="1">
                <a:solidFill>
                  <a:srgbClr val="4C78A8"/>
                </a:solidFill>
              </a:rPr>
              <a:t>8 of 9</a:t>
            </a:r>
          </a:p>
        </p:txBody>
      </p:sp>
      <p:sp>
        <p:nvSpPr>
          <p:cNvPr id="45" name="percent">
            <a:extLst>
              <a:ext uri="{FF2B5EF4-FFF2-40B4-BE49-F238E27FC236}">
                <a16:creationId xmlns:a16="http://schemas.microsoft.com/office/drawing/2014/main" id="{6C5B7E82-DDBF-4192-B074-B34E200D2EBD}"/>
              </a:ext>
            </a:extLst>
          </p:cNvPr>
          <p:cNvSpPr>
            <a:spLocks noGrp="1"/>
          </p:cNvSpPr>
          <p:nvPr/>
        </p:nvSpPr>
        <p:spPr>
          <a:xfrm>
            <a:off x="7639050" y="3257550"/>
            <a:ext cx="3390900" cy="400050"/>
          </a:xfrm>
          <a:prstGeom prst="rect">
            <a:avLst/>
          </a:prstGeom>
          <a:noFill/>
          <a:ln w="0">
            <a:noFill/>
            <a:prstDash val="solid"/>
          </a:ln>
        </p:spPr>
        <p:txBody>
          <a:bodyPr anchor="ctr"/>
          <a:lstStyle/>
          <a:p>
            <a:pPr algn="ctr">
              <a:defRPr sz="1800" b="1">
                <a:solidFill>
                  <a:srgbClr val="25364A"/>
                </a:solidFill>
              </a:defRPr>
            </a:pPr>
            <a:r>
              <a:rPr sz="1800" b="1">
                <a:solidFill>
                  <a:srgbClr val="25364A"/>
                </a:solidFill>
              </a:rPr>
              <a:t>88.9% line coverage</a:t>
            </a:r>
          </a:p>
        </p:txBody>
      </p:sp>
      <p:sp>
        <p:nvSpPr>
          <p:cNvPr id="46" name="result-divider">
            <a:extLst>
              <a:ext uri="{FF2B5EF4-FFF2-40B4-BE49-F238E27FC236}">
                <a16:creationId xmlns:a16="http://schemas.microsoft.com/office/drawing/2014/main" id="{6E951F0D-6924-4842-A630-055167CE22DD}"/>
              </a:ext>
            </a:extLst>
          </p:cNvPr>
          <p:cNvSpPr>
            <a:spLocks noGrp="1"/>
          </p:cNvSpPr>
          <p:nvPr/>
        </p:nvSpPr>
        <p:spPr>
          <a:xfrm>
            <a:off x="7810500" y="3829050"/>
            <a:ext cx="3048000" cy="19050"/>
          </a:xfrm>
          <a:prstGeom prst="rect">
            <a:avLst/>
          </a:prstGeom>
          <a:solidFill>
            <a:srgbClr val="D7DDE3"/>
          </a:solidFill>
          <a:ln w="0">
            <a:solidFill>
              <a:srgbClr val="D7DDE3"/>
            </a:solidFill>
            <a:prstDash val="solid"/>
          </a:ln>
        </p:spPr>
        <p:txBody>
          <a:bodyPr/>
          <a:lstStyle/>
          <a:p>
            <a:endParaRPr lang="en-US"/>
          </a:p>
        </p:txBody>
      </p:sp>
      <p:sp>
        <p:nvSpPr>
          <p:cNvPr id="47" name="missed">
            <a:extLst>
              <a:ext uri="{FF2B5EF4-FFF2-40B4-BE49-F238E27FC236}">
                <a16:creationId xmlns:a16="http://schemas.microsoft.com/office/drawing/2014/main" id="{E1058ADD-062C-4F6E-871F-C8B5A4CEFDAE}"/>
              </a:ext>
            </a:extLst>
          </p:cNvPr>
          <p:cNvSpPr>
            <a:spLocks noGrp="1"/>
          </p:cNvSpPr>
          <p:nvPr/>
        </p:nvSpPr>
        <p:spPr>
          <a:xfrm>
            <a:off x="7810500" y="4000500"/>
            <a:ext cx="3048000" cy="304800"/>
          </a:xfrm>
          <a:prstGeom prst="rect">
            <a:avLst/>
          </a:prstGeom>
          <a:noFill/>
          <a:ln w="0">
            <a:noFill/>
            <a:prstDash val="solid"/>
          </a:ln>
        </p:spPr>
        <p:txBody>
          <a:bodyPr anchor="ctr"/>
          <a:lstStyle/>
          <a:p>
            <a:pPr algn="ctr">
              <a:defRPr sz="1500" b="1">
                <a:solidFill>
                  <a:srgbClr val="C49A52"/>
                </a:solidFill>
              </a:defRPr>
            </a:pPr>
            <a:r>
              <a:rPr sz="1500" b="1">
                <a:solidFill>
                  <a:srgbClr val="C49A52"/>
                </a:solidFill>
              </a:rPr>
              <a:t>Missed:  x++;</a:t>
            </a:r>
          </a:p>
        </p:txBody>
      </p:sp>
      <p:sp>
        <p:nvSpPr>
          <p:cNvPr id="48" name="why">
            <a:extLst>
              <a:ext uri="{FF2B5EF4-FFF2-40B4-BE49-F238E27FC236}">
                <a16:creationId xmlns:a16="http://schemas.microsoft.com/office/drawing/2014/main" id="{2CA013CB-B4F4-4241-A69C-7221053A0413}"/>
              </a:ext>
            </a:extLst>
          </p:cNvPr>
          <p:cNvSpPr>
            <a:spLocks noGrp="1"/>
          </p:cNvSpPr>
          <p:nvPr/>
        </p:nvSpPr>
        <p:spPr>
          <a:xfrm>
            <a:off x="7810500" y="4352925"/>
            <a:ext cx="3048000" cy="285750"/>
          </a:xfrm>
          <a:prstGeom prst="rect">
            <a:avLst/>
          </a:prstGeom>
          <a:noFill/>
          <a:ln w="0">
            <a:noFill/>
            <a:prstDash val="solid"/>
          </a:ln>
        </p:spPr>
        <p:txBody>
          <a:bodyPr anchor="ctr"/>
          <a:lstStyle/>
          <a:p>
            <a:pPr algn="ctr">
              <a:defRPr sz="1275" b="0">
                <a:solidFill>
                  <a:srgbClr val="66727F"/>
                </a:solidFill>
              </a:defRPr>
            </a:pPr>
            <a:r>
              <a:rPr sz="1275" b="0">
                <a:solidFill>
                  <a:srgbClr val="66727F"/>
                </a:solidFill>
              </a:rPr>
              <a:t>because b1 is false</a:t>
            </a:r>
          </a:p>
        </p:txBody>
      </p:sp>
      <p:sp>
        <p:nvSpPr>
          <p:cNvPr id="49" name="takeaway">
            <a:extLst>
              <a:ext uri="{FF2B5EF4-FFF2-40B4-BE49-F238E27FC236}">
                <a16:creationId xmlns:a16="http://schemas.microsoft.com/office/drawing/2014/main" id="{33A8B2A4-DF9F-4745-965C-FA46A188E533}"/>
              </a:ext>
            </a:extLst>
          </p:cNvPr>
          <p:cNvSpPr>
            <a:spLocks noGrp="1"/>
          </p:cNvSpPr>
          <p:nvPr/>
        </p:nvSpPr>
        <p:spPr>
          <a:xfrm>
            <a:off x="781050" y="5467350"/>
            <a:ext cx="10629900" cy="723900"/>
          </a:xfrm>
          <a:prstGeom prst="roundRect">
            <a:avLst>
              <a:gd name="adj" fmla="val 10526"/>
            </a:avLst>
          </a:prstGeom>
          <a:solidFill>
            <a:srgbClr val="F3F5F7"/>
          </a:solidFill>
          <a:ln w="19050">
            <a:solidFill>
              <a:srgbClr val="25364A"/>
            </a:solidFill>
            <a:prstDash val="solid"/>
          </a:ln>
        </p:spPr>
        <p:txBody>
          <a:bodyPr/>
          <a:lstStyle/>
          <a:p>
            <a:endParaRPr lang="en-US"/>
          </a:p>
        </p:txBody>
      </p:sp>
      <p:sp>
        <p:nvSpPr>
          <p:cNvPr id="50" name="takeaway-text">
            <a:extLst>
              <a:ext uri="{FF2B5EF4-FFF2-40B4-BE49-F238E27FC236}">
                <a16:creationId xmlns:a16="http://schemas.microsoft.com/office/drawing/2014/main" id="{4F892692-E310-4DE8-AD2D-52A92D6AE462}"/>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25364A"/>
                </a:solidFill>
              </a:defRPr>
            </a:pPr>
            <a:r>
              <a:rPr sz="1800" b="1" dirty="0">
                <a:solidFill>
                  <a:srgbClr val="25364A"/>
                </a:solidFill>
              </a:rPr>
              <a:t>Line coverage reveals unexecuted code—not whether every decision </a:t>
            </a:r>
            <a:r>
              <a:rPr lang="en-US" sz="1800" b="1" dirty="0">
                <a:solidFill>
                  <a:srgbClr val="25364A"/>
                </a:solidFill>
              </a:rPr>
              <a:t>was tested both ways</a:t>
            </a:r>
            <a:endParaRPr sz="1800" b="1" dirty="0">
              <a:solidFill>
                <a:srgbClr val="25364A"/>
              </a:solidFill>
            </a:endParaRPr>
          </a:p>
        </p:txBody>
      </p:sp>
    </p:spTree>
    <p:extLst>
      <p:ext uri="{BB962C8B-B14F-4D97-AF65-F5344CB8AC3E}">
        <p14:creationId xmlns:p14="http://schemas.microsoft.com/office/powerpoint/2010/main" val="218489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500"/>
                                        <p:tgtEl>
                                          <p:spTgt spid="2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500"/>
                                        <p:tgtEl>
                                          <p:spTgt spid="3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500"/>
                                        <p:tgtEl>
                                          <p:spTgt spid="3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6"/>
                                        </p:tgtEl>
                                        <p:attrNameLst>
                                          <p:attrName>style.visibility</p:attrName>
                                        </p:attrNameLst>
                                      </p:cBhvr>
                                      <p:to>
                                        <p:strVal val="visible"/>
                                      </p:to>
                                    </p:set>
                                    <p:animEffect transition="in" filter="fade">
                                      <p:cBhvr>
                                        <p:cTn id="54" dur="500"/>
                                        <p:tgtEl>
                                          <p:spTgt spid="3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fade">
                                      <p:cBhvr>
                                        <p:cTn id="57" dur="500"/>
                                        <p:tgtEl>
                                          <p:spTgt spid="3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fade">
                                      <p:cBhvr>
                                        <p:cTn id="60" dur="500"/>
                                        <p:tgtEl>
                                          <p:spTgt spid="4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fade">
                                      <p:cBhvr>
                                        <p:cTn id="63" dur="500"/>
                                        <p:tgtEl>
                                          <p:spTgt spid="4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50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50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500"/>
                                        <p:tgtEl>
                                          <p:spTgt spid="4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500"/>
                                        <p:tgtEl>
                                          <p:spTgt spid="4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animEffect transition="in" filter="fade">
                                      <p:cBhvr>
                                        <p:cTn id="83" dur="500"/>
                                        <p:tgtEl>
                                          <p:spTgt spid="4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7"/>
                                        </p:tgtEl>
                                        <p:attrNameLst>
                                          <p:attrName>style.visibility</p:attrName>
                                        </p:attrNameLst>
                                      </p:cBhvr>
                                      <p:to>
                                        <p:strVal val="visible"/>
                                      </p:to>
                                    </p:set>
                                    <p:animEffect transition="in" filter="fade">
                                      <p:cBhvr>
                                        <p:cTn id="86" dur="500"/>
                                        <p:tgtEl>
                                          <p:spTgt spid="4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8"/>
                                        </p:tgtEl>
                                        <p:attrNameLst>
                                          <p:attrName>style.visibility</p:attrName>
                                        </p:attrNameLst>
                                      </p:cBhvr>
                                      <p:to>
                                        <p:strVal val="visible"/>
                                      </p:to>
                                    </p:set>
                                    <p:animEffect transition="in" filter="fade">
                                      <p:cBhvr>
                                        <p:cTn id="89" dur="500"/>
                                        <p:tgtEl>
                                          <p:spTgt spid="48"/>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49"/>
                                        </p:tgtEl>
                                        <p:attrNameLst>
                                          <p:attrName>style.visibility</p:attrName>
                                        </p:attrNameLst>
                                      </p:cBhvr>
                                      <p:to>
                                        <p:strVal val="visible"/>
                                      </p:to>
                                    </p:set>
                                    <p:animEffect transition="in" filter="fade">
                                      <p:cBhvr>
                                        <p:cTn id="94" dur="500"/>
                                        <p:tgtEl>
                                          <p:spTgt spid="49"/>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50"/>
                                        </p:tgtEl>
                                        <p:attrNameLst>
                                          <p:attrName>style.visibility</p:attrName>
                                        </p:attrNameLst>
                                      </p:cBhvr>
                                      <p:to>
                                        <p:strVal val="visible"/>
                                      </p:to>
                                    </p:set>
                                    <p:animEffect transition="in" filter="fade">
                                      <p:cBhvr>
                                        <p:cTn id="9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P spid="8" grpId="0"/>
      <p:bldP spid="11" grpId="0" animBg="1"/>
      <p:bldP spid="12" grpId="0"/>
      <p:bldP spid="15" grpId="0" animBg="1"/>
      <p:bldP spid="16" grpId="0"/>
      <p:bldP spid="17" grpId="0" animBg="1"/>
      <p:bldP spid="20" grpId="0" animBg="1"/>
      <p:bldP spid="21" grpId="0"/>
      <p:bldP spid="24" grpId="0" animBg="1"/>
      <p:bldP spid="25" grpId="0"/>
      <p:bldP spid="28" grpId="0" animBg="1"/>
      <p:bldP spid="29" grpId="0"/>
      <p:bldP spid="32" grpId="0" animBg="1"/>
      <p:bldP spid="33" grpId="0"/>
      <p:bldP spid="36" grpId="0" animBg="1"/>
      <p:bldP spid="37" grpId="0"/>
      <p:bldP spid="40" grpId="0" animBg="1"/>
      <p:bldP spid="41" grpId="0"/>
      <p:bldP spid="42" grpId="0" animBg="1"/>
      <p:bldP spid="43" grpId="0"/>
      <p:bldP spid="44" grpId="0"/>
      <p:bldP spid="45" grpId="0"/>
      <p:bldP spid="46" grpId="0" animBg="1"/>
      <p:bldP spid="47" grpId="0"/>
      <p:bldP spid="48" grpId="0"/>
      <p:bldP spid="49" grpId="0" animBg="1"/>
      <p:bldP spid="5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a:extLst>
              <a:ext uri="{FF2B5EF4-FFF2-40B4-BE49-F238E27FC236}">
                <a16:creationId xmlns:a16="http://schemas.microsoft.com/office/drawing/2014/main" id="{9707D12B-87FE-4EF0-A0DD-113812DD5948}"/>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7202A"/>
                </a:solidFill>
              </a:defRPr>
            </a:pPr>
            <a:r>
              <a:rPr sz="3000" b="0">
                <a:solidFill>
                  <a:srgbClr val="17202A"/>
                </a:solidFill>
              </a:rPr>
              <a:t>Two tests can achieve 100% branch coverage</a:t>
            </a:r>
          </a:p>
        </p:txBody>
      </p:sp>
      <p:sp>
        <p:nvSpPr>
          <p:cNvPr id="2" name="title-rule">
            <a:extLst>
              <a:ext uri="{FF2B5EF4-FFF2-40B4-BE49-F238E27FC236}">
                <a16:creationId xmlns:a16="http://schemas.microsoft.com/office/drawing/2014/main" id="{9CEC9B01-0340-4049-AB05-47E6975A72DD}"/>
              </a:ext>
            </a:extLst>
          </p:cNvPr>
          <p:cNvSpPr>
            <a:spLocks noGrp="1"/>
          </p:cNvSpPr>
          <p:nvPr/>
        </p:nvSpPr>
        <p:spPr>
          <a:xfrm>
            <a:off x="685800" y="1066800"/>
            <a:ext cx="1571625" cy="38100"/>
          </a:xfrm>
          <a:prstGeom prst="rect">
            <a:avLst/>
          </a:prstGeom>
          <a:solidFill>
            <a:srgbClr val="25364A"/>
          </a:solidFill>
          <a:ln w="0">
            <a:solidFill>
              <a:srgbClr val="25364A"/>
            </a:solidFill>
            <a:prstDash val="solid"/>
          </a:ln>
        </p:spPr>
        <p:txBody>
          <a:bodyPr/>
          <a:lstStyle/>
          <a:p>
            <a:endParaRPr lang="en-US"/>
          </a:p>
        </p:txBody>
      </p:sp>
      <p:sp>
        <p:nvSpPr>
          <p:cNvPr id="3" name="definition">
            <a:extLst>
              <a:ext uri="{FF2B5EF4-FFF2-40B4-BE49-F238E27FC236}">
                <a16:creationId xmlns:a16="http://schemas.microsoft.com/office/drawing/2014/main" id="{5CFEAA5A-7D4A-4F09-9B47-FD070B6CDB8A}"/>
              </a:ext>
            </a:extLst>
          </p:cNvPr>
          <p:cNvSpPr>
            <a:spLocks noGrp="1"/>
          </p:cNvSpPr>
          <p:nvPr/>
        </p:nvSpPr>
        <p:spPr>
          <a:xfrm>
            <a:off x="895350" y="1352550"/>
            <a:ext cx="10401300" cy="400050"/>
          </a:xfrm>
          <a:prstGeom prst="rect">
            <a:avLst/>
          </a:prstGeom>
          <a:noFill/>
          <a:ln w="0">
            <a:noFill/>
            <a:prstDash val="solid"/>
          </a:ln>
        </p:spPr>
        <p:txBody>
          <a:bodyPr anchor="ctr"/>
          <a:lstStyle/>
          <a:p>
            <a:pPr algn="ctr">
              <a:defRPr sz="1800" b="0">
                <a:solidFill>
                  <a:srgbClr val="66727F"/>
                </a:solidFill>
              </a:defRPr>
            </a:pPr>
            <a:r>
              <a:rPr sz="1800" b="0">
                <a:solidFill>
                  <a:srgbClr val="66727F"/>
                </a:solidFill>
              </a:rPr>
              <a:t>Branch coverage asks whether every decision has been true and false at least once.</a:t>
            </a:r>
          </a:p>
        </p:txBody>
      </p:sp>
      <p:sp>
        <p:nvSpPr>
          <p:cNvPr id="4" name="tests">
            <a:extLst>
              <a:ext uri="{FF2B5EF4-FFF2-40B4-BE49-F238E27FC236}">
                <a16:creationId xmlns:a16="http://schemas.microsoft.com/office/drawing/2014/main" id="{B9B1722A-1FC5-410A-8830-9D9ED33A80D5}"/>
              </a:ext>
            </a:extLst>
          </p:cNvPr>
          <p:cNvSpPr>
            <a:spLocks noGrp="1"/>
          </p:cNvSpPr>
          <p:nvPr/>
        </p:nvSpPr>
        <p:spPr>
          <a:xfrm>
            <a:off x="876300" y="2076450"/>
            <a:ext cx="4914900" cy="2571750"/>
          </a:xfrm>
          <a:prstGeom prst="roundRect">
            <a:avLst>
              <a:gd name="adj" fmla="val 4444"/>
            </a:avLst>
          </a:prstGeom>
          <a:solidFill>
            <a:srgbClr val="F3F5F7"/>
          </a:solidFill>
          <a:ln w="19050">
            <a:solidFill>
              <a:srgbClr val="25364A"/>
            </a:solidFill>
            <a:prstDash val="solid"/>
          </a:ln>
        </p:spPr>
        <p:txBody>
          <a:bodyPr/>
          <a:lstStyle/>
          <a:p>
            <a:endParaRPr lang="en-US"/>
          </a:p>
        </p:txBody>
      </p:sp>
      <p:sp>
        <p:nvSpPr>
          <p:cNvPr id="5" name="tests-title">
            <a:extLst>
              <a:ext uri="{FF2B5EF4-FFF2-40B4-BE49-F238E27FC236}">
                <a16:creationId xmlns:a16="http://schemas.microsoft.com/office/drawing/2014/main" id="{E3710C25-83A6-43EB-A98D-E1383DD8C03F}"/>
              </a:ext>
            </a:extLst>
          </p:cNvPr>
          <p:cNvSpPr>
            <a:spLocks noGrp="1"/>
          </p:cNvSpPr>
          <p:nvPr/>
        </p:nvSpPr>
        <p:spPr>
          <a:xfrm>
            <a:off x="1162050" y="2286000"/>
            <a:ext cx="4343400" cy="266700"/>
          </a:xfrm>
          <a:prstGeom prst="rect">
            <a:avLst/>
          </a:prstGeom>
          <a:noFill/>
          <a:ln w="0">
            <a:noFill/>
            <a:prstDash val="solid"/>
          </a:ln>
        </p:spPr>
        <p:txBody>
          <a:bodyPr anchor="ctr"/>
          <a:lstStyle/>
          <a:p>
            <a:pPr algn="ctr">
              <a:defRPr sz="1275" b="1">
                <a:solidFill>
                  <a:srgbClr val="4E6478"/>
                </a:solidFill>
              </a:defRPr>
            </a:pPr>
            <a:r>
              <a:rPr sz="1275" b="1">
                <a:solidFill>
                  <a:srgbClr val="4E6478"/>
                </a:solidFill>
              </a:rPr>
              <a:t>TEST CASES</a:t>
            </a:r>
          </a:p>
        </p:txBody>
      </p:sp>
      <p:sp>
        <p:nvSpPr>
          <p:cNvPr id="6" name="test1-label">
            <a:extLst>
              <a:ext uri="{FF2B5EF4-FFF2-40B4-BE49-F238E27FC236}">
                <a16:creationId xmlns:a16="http://schemas.microsoft.com/office/drawing/2014/main" id="{14DDC9D8-E526-465D-B57C-8418F00D1BC1}"/>
              </a:ext>
            </a:extLst>
          </p:cNvPr>
          <p:cNvSpPr>
            <a:spLocks noGrp="1"/>
          </p:cNvSpPr>
          <p:nvPr/>
        </p:nvSpPr>
        <p:spPr>
          <a:xfrm>
            <a:off x="1200150" y="2771775"/>
            <a:ext cx="857250" cy="304800"/>
          </a:xfrm>
          <a:prstGeom prst="rect">
            <a:avLst/>
          </a:prstGeom>
          <a:noFill/>
          <a:ln w="0">
            <a:noFill/>
            <a:prstDash val="solid"/>
          </a:ln>
        </p:spPr>
        <p:txBody>
          <a:bodyPr anchor="ctr"/>
          <a:lstStyle/>
          <a:p>
            <a:pPr algn="l">
              <a:defRPr sz="1500" b="1">
                <a:solidFill>
                  <a:srgbClr val="4C78A8"/>
                </a:solidFill>
              </a:defRPr>
            </a:pPr>
            <a:r>
              <a:rPr sz="1500" b="1" dirty="0">
                <a:solidFill>
                  <a:srgbClr val="4C78A8"/>
                </a:solidFill>
              </a:rPr>
              <a:t>Test 1</a:t>
            </a:r>
          </a:p>
        </p:txBody>
      </p:sp>
      <p:sp>
        <p:nvSpPr>
          <p:cNvPr id="7" name="test1">
            <a:extLst>
              <a:ext uri="{FF2B5EF4-FFF2-40B4-BE49-F238E27FC236}">
                <a16:creationId xmlns:a16="http://schemas.microsoft.com/office/drawing/2014/main" id="{AC380058-FFEA-4B7E-A1F7-66EC4C3B9315}"/>
              </a:ext>
            </a:extLst>
          </p:cNvPr>
          <p:cNvSpPr>
            <a:spLocks noGrp="1"/>
          </p:cNvSpPr>
          <p:nvPr/>
        </p:nvSpPr>
        <p:spPr>
          <a:xfrm>
            <a:off x="2114550" y="2733675"/>
            <a:ext cx="3333750" cy="361950"/>
          </a:xfrm>
          <a:prstGeom prst="rect">
            <a:avLst/>
          </a:prstGeom>
          <a:noFill/>
          <a:ln w="0">
            <a:noFill/>
            <a:prstDash val="solid"/>
          </a:ln>
        </p:spPr>
        <p:txBody>
          <a:bodyPr anchor="ctr"/>
          <a:lstStyle/>
          <a:p>
            <a:pPr algn="l">
              <a:defRPr sz="1275" b="0">
                <a:solidFill>
                  <a:srgbClr val="17202A"/>
                </a:solidFill>
              </a:defRPr>
            </a:pPr>
            <a:r>
              <a:rPr sz="1275" b="0" dirty="0">
                <a:solidFill>
                  <a:srgbClr val="17202A"/>
                </a:solidFill>
              </a:rPr>
              <a:t>foo(0, true, true, true) == 0</a:t>
            </a:r>
          </a:p>
        </p:txBody>
      </p:sp>
      <p:sp>
        <p:nvSpPr>
          <p:cNvPr id="8" name="test2-label">
            <a:extLst>
              <a:ext uri="{FF2B5EF4-FFF2-40B4-BE49-F238E27FC236}">
                <a16:creationId xmlns:a16="http://schemas.microsoft.com/office/drawing/2014/main" id="{8DEF5D6F-D278-4AB9-B1F8-A592A9EF01F0}"/>
              </a:ext>
            </a:extLst>
          </p:cNvPr>
          <p:cNvSpPr>
            <a:spLocks noGrp="1"/>
          </p:cNvSpPr>
          <p:nvPr/>
        </p:nvSpPr>
        <p:spPr>
          <a:xfrm>
            <a:off x="1200150" y="3476625"/>
            <a:ext cx="857250" cy="304800"/>
          </a:xfrm>
          <a:prstGeom prst="rect">
            <a:avLst/>
          </a:prstGeom>
          <a:noFill/>
          <a:ln w="0">
            <a:noFill/>
            <a:prstDash val="solid"/>
          </a:ln>
        </p:spPr>
        <p:txBody>
          <a:bodyPr anchor="ctr"/>
          <a:lstStyle/>
          <a:p>
            <a:pPr algn="l">
              <a:defRPr sz="1500" b="1">
                <a:solidFill>
                  <a:srgbClr val="4C78A8"/>
                </a:solidFill>
              </a:defRPr>
            </a:pPr>
            <a:r>
              <a:rPr sz="1500" b="1">
                <a:solidFill>
                  <a:srgbClr val="4C78A8"/>
                </a:solidFill>
              </a:rPr>
              <a:t>Test 2</a:t>
            </a:r>
          </a:p>
        </p:txBody>
      </p:sp>
      <p:sp>
        <p:nvSpPr>
          <p:cNvPr id="9" name="test2">
            <a:extLst>
              <a:ext uri="{FF2B5EF4-FFF2-40B4-BE49-F238E27FC236}">
                <a16:creationId xmlns:a16="http://schemas.microsoft.com/office/drawing/2014/main" id="{6BD990B1-B045-4795-AC18-33A9EE9159DC}"/>
              </a:ext>
            </a:extLst>
          </p:cNvPr>
          <p:cNvSpPr>
            <a:spLocks noGrp="1"/>
          </p:cNvSpPr>
          <p:nvPr/>
        </p:nvSpPr>
        <p:spPr>
          <a:xfrm>
            <a:off x="2114550" y="3438525"/>
            <a:ext cx="3333750" cy="361950"/>
          </a:xfrm>
          <a:prstGeom prst="rect">
            <a:avLst/>
          </a:prstGeom>
          <a:noFill/>
          <a:ln w="0">
            <a:noFill/>
            <a:prstDash val="solid"/>
          </a:ln>
        </p:spPr>
        <p:txBody>
          <a:bodyPr anchor="ctr"/>
          <a:lstStyle/>
          <a:p>
            <a:pPr algn="l">
              <a:defRPr sz="1275" b="0">
                <a:solidFill>
                  <a:srgbClr val="17202A"/>
                </a:solidFill>
              </a:defRPr>
            </a:pPr>
            <a:r>
              <a:rPr sz="1275" b="0" dirty="0">
                <a:solidFill>
                  <a:srgbClr val="17202A"/>
                </a:solidFill>
              </a:rPr>
              <a:t>foo(0, false, false, false) == 0</a:t>
            </a:r>
          </a:p>
        </p:txBody>
      </p:sp>
      <p:sp>
        <p:nvSpPr>
          <p:cNvPr id="10" name="test-note">
            <a:extLst>
              <a:ext uri="{FF2B5EF4-FFF2-40B4-BE49-F238E27FC236}">
                <a16:creationId xmlns:a16="http://schemas.microsoft.com/office/drawing/2014/main" id="{FDB5E98A-B97E-41D0-9DF9-8AEF63D25341}"/>
              </a:ext>
            </a:extLst>
          </p:cNvPr>
          <p:cNvSpPr>
            <a:spLocks noGrp="1"/>
          </p:cNvSpPr>
          <p:nvPr/>
        </p:nvSpPr>
        <p:spPr>
          <a:xfrm>
            <a:off x="1200150" y="4076700"/>
            <a:ext cx="4267200" cy="342900"/>
          </a:xfrm>
          <a:prstGeom prst="rect">
            <a:avLst/>
          </a:prstGeom>
          <a:noFill/>
          <a:ln w="0">
            <a:noFill/>
            <a:prstDash val="solid"/>
          </a:ln>
        </p:spPr>
        <p:txBody>
          <a:bodyPr anchor="ctr"/>
          <a:lstStyle/>
          <a:p>
            <a:pPr algn="ctr">
              <a:defRPr sz="1275" b="0">
                <a:solidFill>
                  <a:srgbClr val="66727F"/>
                </a:solidFill>
              </a:defRPr>
            </a:pPr>
            <a:r>
              <a:rPr sz="1275" b="0">
                <a:solidFill>
                  <a:srgbClr val="66727F"/>
                </a:solidFill>
              </a:rPr>
              <a:t>Together, the tests exercise both outcomes of every decision.</a:t>
            </a:r>
          </a:p>
        </p:txBody>
      </p:sp>
      <p:sp>
        <p:nvSpPr>
          <p:cNvPr id="11" name="matrix">
            <a:extLst>
              <a:ext uri="{FF2B5EF4-FFF2-40B4-BE49-F238E27FC236}">
                <a16:creationId xmlns:a16="http://schemas.microsoft.com/office/drawing/2014/main" id="{517B5817-06C4-4BF5-B9BD-F2FC47477F95}"/>
              </a:ext>
            </a:extLst>
          </p:cNvPr>
          <p:cNvSpPr>
            <a:spLocks noGrp="1"/>
          </p:cNvSpPr>
          <p:nvPr/>
        </p:nvSpPr>
        <p:spPr>
          <a:xfrm>
            <a:off x="6305550" y="2076450"/>
            <a:ext cx="5010150" cy="2571750"/>
          </a:xfrm>
          <a:prstGeom prst="roundRect">
            <a:avLst>
              <a:gd name="adj" fmla="val 4444"/>
            </a:avLst>
          </a:prstGeom>
          <a:solidFill>
            <a:srgbClr val="EAF1F8"/>
          </a:solidFill>
          <a:ln w="19050">
            <a:solidFill>
              <a:srgbClr val="4C78A8"/>
            </a:solidFill>
            <a:prstDash val="solid"/>
          </a:ln>
        </p:spPr>
        <p:txBody>
          <a:bodyPr/>
          <a:lstStyle/>
          <a:p>
            <a:endParaRPr lang="en-US"/>
          </a:p>
        </p:txBody>
      </p:sp>
      <p:sp>
        <p:nvSpPr>
          <p:cNvPr id="12" name="matrix-title">
            <a:extLst>
              <a:ext uri="{FF2B5EF4-FFF2-40B4-BE49-F238E27FC236}">
                <a16:creationId xmlns:a16="http://schemas.microsoft.com/office/drawing/2014/main" id="{6BD3581E-981A-4334-9438-22D27383C035}"/>
              </a:ext>
            </a:extLst>
          </p:cNvPr>
          <p:cNvSpPr>
            <a:spLocks noGrp="1"/>
          </p:cNvSpPr>
          <p:nvPr/>
        </p:nvSpPr>
        <p:spPr>
          <a:xfrm>
            <a:off x="6591300" y="2286000"/>
            <a:ext cx="4438650" cy="266700"/>
          </a:xfrm>
          <a:prstGeom prst="rect">
            <a:avLst/>
          </a:prstGeom>
          <a:noFill/>
          <a:ln w="0">
            <a:noFill/>
            <a:prstDash val="solid"/>
          </a:ln>
        </p:spPr>
        <p:txBody>
          <a:bodyPr anchor="ctr"/>
          <a:lstStyle/>
          <a:p>
            <a:pPr algn="ctr">
              <a:defRPr sz="1275" b="1">
                <a:solidFill>
                  <a:srgbClr val="4C78A8"/>
                </a:solidFill>
              </a:defRPr>
            </a:pPr>
            <a:r>
              <a:rPr sz="1275" b="1">
                <a:solidFill>
                  <a:srgbClr val="4C78A8"/>
                </a:solidFill>
              </a:rPr>
              <a:t>OUTCOMES EXERCISED</a:t>
            </a:r>
          </a:p>
        </p:txBody>
      </p:sp>
      <p:sp>
        <p:nvSpPr>
          <p:cNvPr id="13" name="h0">
            <a:extLst>
              <a:ext uri="{FF2B5EF4-FFF2-40B4-BE49-F238E27FC236}">
                <a16:creationId xmlns:a16="http://schemas.microsoft.com/office/drawing/2014/main" id="{A1C1842C-E34F-4137-BAAD-9AFF6A681FD5}"/>
              </a:ext>
            </a:extLst>
          </p:cNvPr>
          <p:cNvSpPr>
            <a:spLocks noGrp="1"/>
          </p:cNvSpPr>
          <p:nvPr/>
        </p:nvSpPr>
        <p:spPr>
          <a:xfrm>
            <a:off x="7239000" y="2686050"/>
            <a:ext cx="704850" cy="266700"/>
          </a:xfrm>
          <a:prstGeom prst="rect">
            <a:avLst/>
          </a:prstGeom>
          <a:noFill/>
          <a:ln w="0">
            <a:noFill/>
            <a:prstDash val="solid"/>
          </a:ln>
        </p:spPr>
        <p:txBody>
          <a:bodyPr anchor="ctr"/>
          <a:lstStyle/>
          <a:p>
            <a:pPr algn="ctr">
              <a:defRPr sz="1575" b="1">
                <a:solidFill>
                  <a:srgbClr val="25364A"/>
                </a:solidFill>
              </a:defRPr>
            </a:pPr>
            <a:r>
              <a:rPr sz="1575" b="1">
                <a:solidFill>
                  <a:srgbClr val="25364A"/>
                </a:solidFill>
              </a:rPr>
              <a:t>b1</a:t>
            </a:r>
          </a:p>
        </p:txBody>
      </p:sp>
      <p:sp>
        <p:nvSpPr>
          <p:cNvPr id="14" name="h1">
            <a:extLst>
              <a:ext uri="{FF2B5EF4-FFF2-40B4-BE49-F238E27FC236}">
                <a16:creationId xmlns:a16="http://schemas.microsoft.com/office/drawing/2014/main" id="{9EAF099F-EE14-47DA-9FC5-F32BF4C10313}"/>
              </a:ext>
            </a:extLst>
          </p:cNvPr>
          <p:cNvSpPr>
            <a:spLocks noGrp="1"/>
          </p:cNvSpPr>
          <p:nvPr/>
        </p:nvSpPr>
        <p:spPr>
          <a:xfrm>
            <a:off x="8524875" y="2686050"/>
            <a:ext cx="704850" cy="266700"/>
          </a:xfrm>
          <a:prstGeom prst="rect">
            <a:avLst/>
          </a:prstGeom>
          <a:noFill/>
          <a:ln w="0">
            <a:noFill/>
            <a:prstDash val="solid"/>
          </a:ln>
        </p:spPr>
        <p:txBody>
          <a:bodyPr anchor="ctr"/>
          <a:lstStyle/>
          <a:p>
            <a:pPr algn="ctr">
              <a:defRPr sz="1575" b="1">
                <a:solidFill>
                  <a:srgbClr val="25364A"/>
                </a:solidFill>
              </a:defRPr>
            </a:pPr>
            <a:r>
              <a:rPr sz="1575" b="1">
                <a:solidFill>
                  <a:srgbClr val="25364A"/>
                </a:solidFill>
              </a:rPr>
              <a:t>b2</a:t>
            </a:r>
          </a:p>
        </p:txBody>
      </p:sp>
      <p:sp>
        <p:nvSpPr>
          <p:cNvPr id="15" name="h2">
            <a:extLst>
              <a:ext uri="{FF2B5EF4-FFF2-40B4-BE49-F238E27FC236}">
                <a16:creationId xmlns:a16="http://schemas.microsoft.com/office/drawing/2014/main" id="{04D4AAA9-460C-4B49-B5B4-4DC6F65F58F6}"/>
              </a:ext>
            </a:extLst>
          </p:cNvPr>
          <p:cNvSpPr>
            <a:spLocks noGrp="1"/>
          </p:cNvSpPr>
          <p:nvPr/>
        </p:nvSpPr>
        <p:spPr>
          <a:xfrm>
            <a:off x="9810750" y="2686050"/>
            <a:ext cx="704850" cy="266700"/>
          </a:xfrm>
          <a:prstGeom prst="rect">
            <a:avLst/>
          </a:prstGeom>
          <a:noFill/>
          <a:ln w="0">
            <a:noFill/>
            <a:prstDash val="solid"/>
          </a:ln>
        </p:spPr>
        <p:txBody>
          <a:bodyPr anchor="ctr"/>
          <a:lstStyle/>
          <a:p>
            <a:pPr algn="ctr">
              <a:defRPr sz="1575" b="1">
                <a:solidFill>
                  <a:srgbClr val="25364A"/>
                </a:solidFill>
              </a:defRPr>
            </a:pPr>
            <a:r>
              <a:rPr sz="1575" b="1">
                <a:solidFill>
                  <a:srgbClr val="25364A"/>
                </a:solidFill>
              </a:rPr>
              <a:t>b3</a:t>
            </a:r>
          </a:p>
        </p:txBody>
      </p:sp>
      <p:sp>
        <p:nvSpPr>
          <p:cNvPr id="16" name="row0">
            <a:extLst>
              <a:ext uri="{FF2B5EF4-FFF2-40B4-BE49-F238E27FC236}">
                <a16:creationId xmlns:a16="http://schemas.microsoft.com/office/drawing/2014/main" id="{A90D2B03-0F4C-4123-A327-EBEA190FA4FF}"/>
              </a:ext>
            </a:extLst>
          </p:cNvPr>
          <p:cNvSpPr>
            <a:spLocks noGrp="1"/>
          </p:cNvSpPr>
          <p:nvPr/>
        </p:nvSpPr>
        <p:spPr>
          <a:xfrm>
            <a:off x="6524625" y="3171825"/>
            <a:ext cx="876300" cy="285750"/>
          </a:xfrm>
          <a:prstGeom prst="rect">
            <a:avLst/>
          </a:prstGeom>
          <a:noFill/>
          <a:ln w="0">
            <a:noFill/>
            <a:prstDash val="solid"/>
          </a:ln>
        </p:spPr>
        <p:txBody>
          <a:bodyPr anchor="ctr"/>
          <a:lstStyle/>
          <a:p>
            <a:pPr algn="l">
              <a:defRPr sz="1350" b="1">
                <a:solidFill>
                  <a:srgbClr val="66727F"/>
                </a:solidFill>
              </a:defRPr>
            </a:pPr>
            <a:r>
              <a:rPr sz="1350" b="1" dirty="0">
                <a:solidFill>
                  <a:srgbClr val="66727F"/>
                </a:solidFill>
              </a:rPr>
              <a:t>TRUE</a:t>
            </a:r>
          </a:p>
        </p:txBody>
      </p:sp>
      <p:sp>
        <p:nvSpPr>
          <p:cNvPr id="17" name="m00-c">
            <a:extLst>
              <a:ext uri="{FF2B5EF4-FFF2-40B4-BE49-F238E27FC236}">
                <a16:creationId xmlns:a16="http://schemas.microsoft.com/office/drawing/2014/main" id="{68C28D61-E3B2-4809-B0DD-35804F528EE6}"/>
              </a:ext>
            </a:extLst>
          </p:cNvPr>
          <p:cNvSpPr>
            <a:spLocks noGrp="1"/>
          </p:cNvSpPr>
          <p:nvPr/>
        </p:nvSpPr>
        <p:spPr>
          <a:xfrm>
            <a:off x="7400925" y="3124200"/>
            <a:ext cx="400050" cy="400050"/>
          </a:xfrm>
          <a:prstGeom prst="ellipse">
            <a:avLst/>
          </a:prstGeom>
          <a:solidFill>
            <a:srgbClr val="FFFFFF"/>
          </a:solidFill>
          <a:ln w="23813">
            <a:solidFill>
              <a:srgbClr val="4C78A8"/>
            </a:solidFill>
            <a:prstDash val="solid"/>
          </a:ln>
        </p:spPr>
        <p:txBody>
          <a:bodyPr/>
          <a:lstStyle/>
          <a:p>
            <a:endParaRPr lang="en-US"/>
          </a:p>
        </p:txBody>
      </p:sp>
      <p:sp>
        <p:nvSpPr>
          <p:cNvPr id="18" name="m00-t">
            <a:extLst>
              <a:ext uri="{FF2B5EF4-FFF2-40B4-BE49-F238E27FC236}">
                <a16:creationId xmlns:a16="http://schemas.microsoft.com/office/drawing/2014/main" id="{3CA4872F-348D-4B91-84A3-89F6F2F3B667}"/>
              </a:ext>
            </a:extLst>
          </p:cNvPr>
          <p:cNvSpPr>
            <a:spLocks noGrp="1"/>
          </p:cNvSpPr>
          <p:nvPr/>
        </p:nvSpPr>
        <p:spPr>
          <a:xfrm>
            <a:off x="7400925" y="3114675"/>
            <a:ext cx="400050" cy="400050"/>
          </a:xfrm>
          <a:prstGeom prst="rect">
            <a:avLst/>
          </a:prstGeom>
          <a:noFill/>
          <a:ln w="0">
            <a:noFill/>
            <a:prstDash val="solid"/>
          </a:ln>
        </p:spPr>
        <p:txBody>
          <a:bodyPr anchor="ctr"/>
          <a:lstStyle/>
          <a:p>
            <a:pPr algn="ctr">
              <a:defRPr sz="1350" b="1">
                <a:solidFill>
                  <a:srgbClr val="4C78A8"/>
                </a:solidFill>
              </a:defRPr>
            </a:pPr>
            <a:r>
              <a:rPr sz="1350" b="1">
                <a:solidFill>
                  <a:srgbClr val="4C78A8"/>
                </a:solidFill>
              </a:rPr>
              <a:t>✓</a:t>
            </a:r>
          </a:p>
        </p:txBody>
      </p:sp>
      <p:sp>
        <p:nvSpPr>
          <p:cNvPr id="19" name="m01-c">
            <a:extLst>
              <a:ext uri="{FF2B5EF4-FFF2-40B4-BE49-F238E27FC236}">
                <a16:creationId xmlns:a16="http://schemas.microsoft.com/office/drawing/2014/main" id="{ABB78C65-BD1F-450A-8E9C-B958F6C9F93D}"/>
              </a:ext>
            </a:extLst>
          </p:cNvPr>
          <p:cNvSpPr>
            <a:spLocks noGrp="1"/>
          </p:cNvSpPr>
          <p:nvPr/>
        </p:nvSpPr>
        <p:spPr>
          <a:xfrm>
            <a:off x="8686800" y="3124200"/>
            <a:ext cx="400050" cy="400050"/>
          </a:xfrm>
          <a:prstGeom prst="ellipse">
            <a:avLst/>
          </a:prstGeom>
          <a:solidFill>
            <a:srgbClr val="FFFFFF"/>
          </a:solidFill>
          <a:ln w="23813">
            <a:solidFill>
              <a:srgbClr val="4C78A8"/>
            </a:solidFill>
            <a:prstDash val="solid"/>
          </a:ln>
        </p:spPr>
        <p:txBody>
          <a:bodyPr/>
          <a:lstStyle/>
          <a:p>
            <a:endParaRPr lang="en-US"/>
          </a:p>
        </p:txBody>
      </p:sp>
      <p:sp>
        <p:nvSpPr>
          <p:cNvPr id="20" name="m01-t">
            <a:extLst>
              <a:ext uri="{FF2B5EF4-FFF2-40B4-BE49-F238E27FC236}">
                <a16:creationId xmlns:a16="http://schemas.microsoft.com/office/drawing/2014/main" id="{B7E3DE12-C8C9-43A5-9C45-ECD0F627DFD5}"/>
              </a:ext>
            </a:extLst>
          </p:cNvPr>
          <p:cNvSpPr>
            <a:spLocks noGrp="1"/>
          </p:cNvSpPr>
          <p:nvPr/>
        </p:nvSpPr>
        <p:spPr>
          <a:xfrm>
            <a:off x="8686800" y="3114675"/>
            <a:ext cx="400050" cy="400050"/>
          </a:xfrm>
          <a:prstGeom prst="rect">
            <a:avLst/>
          </a:prstGeom>
          <a:noFill/>
          <a:ln w="0">
            <a:noFill/>
            <a:prstDash val="solid"/>
          </a:ln>
        </p:spPr>
        <p:txBody>
          <a:bodyPr anchor="ctr"/>
          <a:lstStyle/>
          <a:p>
            <a:pPr algn="ctr">
              <a:defRPr sz="1350" b="1">
                <a:solidFill>
                  <a:srgbClr val="4C78A8"/>
                </a:solidFill>
              </a:defRPr>
            </a:pPr>
            <a:r>
              <a:rPr sz="1350" b="1">
                <a:solidFill>
                  <a:srgbClr val="4C78A8"/>
                </a:solidFill>
              </a:rPr>
              <a:t>✓</a:t>
            </a:r>
          </a:p>
        </p:txBody>
      </p:sp>
      <p:sp>
        <p:nvSpPr>
          <p:cNvPr id="21" name="m02-c">
            <a:extLst>
              <a:ext uri="{FF2B5EF4-FFF2-40B4-BE49-F238E27FC236}">
                <a16:creationId xmlns:a16="http://schemas.microsoft.com/office/drawing/2014/main" id="{2C6211EB-94BF-408E-A814-709B0D09034F}"/>
              </a:ext>
            </a:extLst>
          </p:cNvPr>
          <p:cNvSpPr>
            <a:spLocks noGrp="1"/>
          </p:cNvSpPr>
          <p:nvPr/>
        </p:nvSpPr>
        <p:spPr>
          <a:xfrm>
            <a:off x="9972675" y="3124200"/>
            <a:ext cx="400050" cy="400050"/>
          </a:xfrm>
          <a:prstGeom prst="ellipse">
            <a:avLst/>
          </a:prstGeom>
          <a:solidFill>
            <a:srgbClr val="FFFFFF"/>
          </a:solidFill>
          <a:ln w="23813">
            <a:solidFill>
              <a:srgbClr val="4C78A8"/>
            </a:solidFill>
            <a:prstDash val="solid"/>
          </a:ln>
        </p:spPr>
        <p:txBody>
          <a:bodyPr/>
          <a:lstStyle/>
          <a:p>
            <a:endParaRPr lang="en-US"/>
          </a:p>
        </p:txBody>
      </p:sp>
      <p:sp>
        <p:nvSpPr>
          <p:cNvPr id="22" name="m02-t">
            <a:extLst>
              <a:ext uri="{FF2B5EF4-FFF2-40B4-BE49-F238E27FC236}">
                <a16:creationId xmlns:a16="http://schemas.microsoft.com/office/drawing/2014/main" id="{4C2657F5-5916-41AF-A6F1-7C7F375E9474}"/>
              </a:ext>
            </a:extLst>
          </p:cNvPr>
          <p:cNvSpPr>
            <a:spLocks noGrp="1"/>
          </p:cNvSpPr>
          <p:nvPr/>
        </p:nvSpPr>
        <p:spPr>
          <a:xfrm>
            <a:off x="9972675" y="3114675"/>
            <a:ext cx="400050" cy="400050"/>
          </a:xfrm>
          <a:prstGeom prst="rect">
            <a:avLst/>
          </a:prstGeom>
          <a:noFill/>
          <a:ln w="0">
            <a:noFill/>
            <a:prstDash val="solid"/>
          </a:ln>
        </p:spPr>
        <p:txBody>
          <a:bodyPr anchor="ctr"/>
          <a:lstStyle/>
          <a:p>
            <a:pPr algn="ctr">
              <a:defRPr sz="1350" b="1">
                <a:solidFill>
                  <a:srgbClr val="4C78A8"/>
                </a:solidFill>
              </a:defRPr>
            </a:pPr>
            <a:r>
              <a:rPr sz="1350" b="1">
                <a:solidFill>
                  <a:srgbClr val="4C78A8"/>
                </a:solidFill>
              </a:rPr>
              <a:t>✓</a:t>
            </a:r>
          </a:p>
        </p:txBody>
      </p:sp>
      <p:sp>
        <p:nvSpPr>
          <p:cNvPr id="23" name="row1">
            <a:extLst>
              <a:ext uri="{FF2B5EF4-FFF2-40B4-BE49-F238E27FC236}">
                <a16:creationId xmlns:a16="http://schemas.microsoft.com/office/drawing/2014/main" id="{816B7BC2-EA77-4CB8-8E6A-9F10CB20F81B}"/>
              </a:ext>
            </a:extLst>
          </p:cNvPr>
          <p:cNvSpPr>
            <a:spLocks noGrp="1"/>
          </p:cNvSpPr>
          <p:nvPr/>
        </p:nvSpPr>
        <p:spPr>
          <a:xfrm>
            <a:off x="6524625" y="3800475"/>
            <a:ext cx="876300" cy="285750"/>
          </a:xfrm>
          <a:prstGeom prst="rect">
            <a:avLst/>
          </a:prstGeom>
          <a:noFill/>
          <a:ln w="0">
            <a:noFill/>
            <a:prstDash val="solid"/>
          </a:ln>
        </p:spPr>
        <p:txBody>
          <a:bodyPr anchor="ctr"/>
          <a:lstStyle/>
          <a:p>
            <a:pPr algn="l">
              <a:defRPr sz="1350" b="1">
                <a:solidFill>
                  <a:srgbClr val="66727F"/>
                </a:solidFill>
              </a:defRPr>
            </a:pPr>
            <a:r>
              <a:rPr sz="1350" b="1">
                <a:solidFill>
                  <a:srgbClr val="66727F"/>
                </a:solidFill>
              </a:rPr>
              <a:t>FALSE</a:t>
            </a:r>
          </a:p>
        </p:txBody>
      </p:sp>
      <p:sp>
        <p:nvSpPr>
          <p:cNvPr id="24" name="m10-c">
            <a:extLst>
              <a:ext uri="{FF2B5EF4-FFF2-40B4-BE49-F238E27FC236}">
                <a16:creationId xmlns:a16="http://schemas.microsoft.com/office/drawing/2014/main" id="{0BB1A7EF-F3A7-4342-A902-E11537164C58}"/>
              </a:ext>
            </a:extLst>
          </p:cNvPr>
          <p:cNvSpPr>
            <a:spLocks noGrp="1"/>
          </p:cNvSpPr>
          <p:nvPr/>
        </p:nvSpPr>
        <p:spPr>
          <a:xfrm>
            <a:off x="7400925" y="3752850"/>
            <a:ext cx="400050" cy="400050"/>
          </a:xfrm>
          <a:prstGeom prst="ellipse">
            <a:avLst/>
          </a:prstGeom>
          <a:solidFill>
            <a:srgbClr val="FFFFFF"/>
          </a:solidFill>
          <a:ln w="23813">
            <a:solidFill>
              <a:srgbClr val="4C78A8"/>
            </a:solidFill>
            <a:prstDash val="solid"/>
          </a:ln>
        </p:spPr>
        <p:txBody>
          <a:bodyPr/>
          <a:lstStyle/>
          <a:p>
            <a:endParaRPr lang="en-US"/>
          </a:p>
        </p:txBody>
      </p:sp>
      <p:sp>
        <p:nvSpPr>
          <p:cNvPr id="25" name="m10-t">
            <a:extLst>
              <a:ext uri="{FF2B5EF4-FFF2-40B4-BE49-F238E27FC236}">
                <a16:creationId xmlns:a16="http://schemas.microsoft.com/office/drawing/2014/main" id="{A9315419-3107-472A-AC8F-4640B3BB86B6}"/>
              </a:ext>
            </a:extLst>
          </p:cNvPr>
          <p:cNvSpPr>
            <a:spLocks noGrp="1"/>
          </p:cNvSpPr>
          <p:nvPr/>
        </p:nvSpPr>
        <p:spPr>
          <a:xfrm>
            <a:off x="7400925" y="3743325"/>
            <a:ext cx="400050" cy="400050"/>
          </a:xfrm>
          <a:prstGeom prst="rect">
            <a:avLst/>
          </a:prstGeom>
          <a:noFill/>
          <a:ln w="0">
            <a:noFill/>
            <a:prstDash val="solid"/>
          </a:ln>
        </p:spPr>
        <p:txBody>
          <a:bodyPr anchor="ctr"/>
          <a:lstStyle/>
          <a:p>
            <a:pPr algn="ctr">
              <a:defRPr sz="1350" b="1">
                <a:solidFill>
                  <a:srgbClr val="4C78A8"/>
                </a:solidFill>
              </a:defRPr>
            </a:pPr>
            <a:r>
              <a:rPr sz="1350" b="1">
                <a:solidFill>
                  <a:srgbClr val="4C78A8"/>
                </a:solidFill>
              </a:rPr>
              <a:t>✓</a:t>
            </a:r>
          </a:p>
        </p:txBody>
      </p:sp>
      <p:sp>
        <p:nvSpPr>
          <p:cNvPr id="26" name="m11-c">
            <a:extLst>
              <a:ext uri="{FF2B5EF4-FFF2-40B4-BE49-F238E27FC236}">
                <a16:creationId xmlns:a16="http://schemas.microsoft.com/office/drawing/2014/main" id="{F051408A-E0A2-4ABD-9C61-B5D34FD548F4}"/>
              </a:ext>
            </a:extLst>
          </p:cNvPr>
          <p:cNvSpPr>
            <a:spLocks noGrp="1"/>
          </p:cNvSpPr>
          <p:nvPr/>
        </p:nvSpPr>
        <p:spPr>
          <a:xfrm>
            <a:off x="8686800" y="3752850"/>
            <a:ext cx="400050" cy="400050"/>
          </a:xfrm>
          <a:prstGeom prst="ellipse">
            <a:avLst/>
          </a:prstGeom>
          <a:solidFill>
            <a:srgbClr val="FFFFFF"/>
          </a:solidFill>
          <a:ln w="23813">
            <a:solidFill>
              <a:srgbClr val="4C78A8"/>
            </a:solidFill>
            <a:prstDash val="solid"/>
          </a:ln>
        </p:spPr>
        <p:txBody>
          <a:bodyPr/>
          <a:lstStyle/>
          <a:p>
            <a:endParaRPr lang="en-US"/>
          </a:p>
        </p:txBody>
      </p:sp>
      <p:sp>
        <p:nvSpPr>
          <p:cNvPr id="27" name="m11-t">
            <a:extLst>
              <a:ext uri="{FF2B5EF4-FFF2-40B4-BE49-F238E27FC236}">
                <a16:creationId xmlns:a16="http://schemas.microsoft.com/office/drawing/2014/main" id="{1B5C5EA6-FB4B-4BA2-9B09-0AA6BDFB799B}"/>
              </a:ext>
            </a:extLst>
          </p:cNvPr>
          <p:cNvSpPr>
            <a:spLocks noGrp="1"/>
          </p:cNvSpPr>
          <p:nvPr/>
        </p:nvSpPr>
        <p:spPr>
          <a:xfrm>
            <a:off x="8686800" y="3743325"/>
            <a:ext cx="400050" cy="400050"/>
          </a:xfrm>
          <a:prstGeom prst="rect">
            <a:avLst/>
          </a:prstGeom>
          <a:noFill/>
          <a:ln w="0">
            <a:noFill/>
            <a:prstDash val="solid"/>
          </a:ln>
        </p:spPr>
        <p:txBody>
          <a:bodyPr anchor="ctr"/>
          <a:lstStyle/>
          <a:p>
            <a:pPr algn="ctr">
              <a:defRPr sz="1350" b="1">
                <a:solidFill>
                  <a:srgbClr val="4C78A8"/>
                </a:solidFill>
              </a:defRPr>
            </a:pPr>
            <a:r>
              <a:rPr sz="1350" b="1">
                <a:solidFill>
                  <a:srgbClr val="4C78A8"/>
                </a:solidFill>
              </a:rPr>
              <a:t>✓</a:t>
            </a:r>
          </a:p>
        </p:txBody>
      </p:sp>
      <p:sp>
        <p:nvSpPr>
          <p:cNvPr id="28" name="m12-c">
            <a:extLst>
              <a:ext uri="{FF2B5EF4-FFF2-40B4-BE49-F238E27FC236}">
                <a16:creationId xmlns:a16="http://schemas.microsoft.com/office/drawing/2014/main" id="{C43868A0-7FE4-43B6-9A1D-28459A7B137E}"/>
              </a:ext>
            </a:extLst>
          </p:cNvPr>
          <p:cNvSpPr>
            <a:spLocks noGrp="1"/>
          </p:cNvSpPr>
          <p:nvPr/>
        </p:nvSpPr>
        <p:spPr>
          <a:xfrm>
            <a:off x="9972675" y="3752850"/>
            <a:ext cx="400050" cy="400050"/>
          </a:xfrm>
          <a:prstGeom prst="ellipse">
            <a:avLst/>
          </a:prstGeom>
          <a:solidFill>
            <a:srgbClr val="FFFFFF"/>
          </a:solidFill>
          <a:ln w="23813">
            <a:solidFill>
              <a:srgbClr val="4C78A8"/>
            </a:solidFill>
            <a:prstDash val="solid"/>
          </a:ln>
        </p:spPr>
        <p:txBody>
          <a:bodyPr/>
          <a:lstStyle/>
          <a:p>
            <a:endParaRPr lang="en-US"/>
          </a:p>
        </p:txBody>
      </p:sp>
      <p:sp>
        <p:nvSpPr>
          <p:cNvPr id="29" name="m12-t">
            <a:extLst>
              <a:ext uri="{FF2B5EF4-FFF2-40B4-BE49-F238E27FC236}">
                <a16:creationId xmlns:a16="http://schemas.microsoft.com/office/drawing/2014/main" id="{8EEB7A15-6648-456C-86AE-E68A54FB61F2}"/>
              </a:ext>
            </a:extLst>
          </p:cNvPr>
          <p:cNvSpPr>
            <a:spLocks noGrp="1"/>
          </p:cNvSpPr>
          <p:nvPr/>
        </p:nvSpPr>
        <p:spPr>
          <a:xfrm>
            <a:off x="9972675" y="3743325"/>
            <a:ext cx="400050" cy="400050"/>
          </a:xfrm>
          <a:prstGeom prst="rect">
            <a:avLst/>
          </a:prstGeom>
          <a:noFill/>
          <a:ln w="0">
            <a:noFill/>
            <a:prstDash val="solid"/>
          </a:ln>
        </p:spPr>
        <p:txBody>
          <a:bodyPr anchor="ctr"/>
          <a:lstStyle/>
          <a:p>
            <a:pPr algn="ctr">
              <a:defRPr sz="1350" b="1">
                <a:solidFill>
                  <a:srgbClr val="4C78A8"/>
                </a:solidFill>
              </a:defRPr>
            </a:pPr>
            <a:r>
              <a:rPr sz="1350" b="1">
                <a:solidFill>
                  <a:srgbClr val="4C78A8"/>
                </a:solidFill>
              </a:rPr>
              <a:t>✓</a:t>
            </a:r>
          </a:p>
        </p:txBody>
      </p:sp>
      <p:sp>
        <p:nvSpPr>
          <p:cNvPr id="30" name="takeaway">
            <a:extLst>
              <a:ext uri="{FF2B5EF4-FFF2-40B4-BE49-F238E27FC236}">
                <a16:creationId xmlns:a16="http://schemas.microsoft.com/office/drawing/2014/main" id="{1E025939-3044-4050-96D4-805C3B2608A2}"/>
              </a:ext>
            </a:extLst>
          </p:cNvPr>
          <p:cNvSpPr>
            <a:spLocks noGrp="1"/>
          </p:cNvSpPr>
          <p:nvPr/>
        </p:nvSpPr>
        <p:spPr>
          <a:xfrm>
            <a:off x="781050" y="5467350"/>
            <a:ext cx="10629900" cy="723900"/>
          </a:xfrm>
          <a:prstGeom prst="roundRect">
            <a:avLst>
              <a:gd name="adj" fmla="val 10526"/>
            </a:avLst>
          </a:prstGeom>
          <a:solidFill>
            <a:srgbClr val="EAF1F8"/>
          </a:solidFill>
          <a:ln w="19050">
            <a:solidFill>
              <a:srgbClr val="4C78A8"/>
            </a:solidFill>
            <a:prstDash val="solid"/>
          </a:ln>
        </p:spPr>
        <p:txBody>
          <a:bodyPr/>
          <a:lstStyle/>
          <a:p>
            <a:endParaRPr lang="en-US"/>
          </a:p>
        </p:txBody>
      </p:sp>
      <p:sp>
        <p:nvSpPr>
          <p:cNvPr id="31" name="takeaway-text">
            <a:extLst>
              <a:ext uri="{FF2B5EF4-FFF2-40B4-BE49-F238E27FC236}">
                <a16:creationId xmlns:a16="http://schemas.microsoft.com/office/drawing/2014/main" id="{532A9540-CA1C-4782-B8DC-05B1D1E2A97A}"/>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4C78A8"/>
                </a:solidFill>
              </a:defRPr>
            </a:pPr>
            <a:r>
              <a:rPr sz="1800" b="1">
                <a:solidFill>
                  <a:srgbClr val="4C78A8"/>
                </a:solidFill>
              </a:rPr>
              <a:t>100% branch coverage confirms both outcomes—not every combination.</a:t>
            </a:r>
          </a:p>
        </p:txBody>
      </p:sp>
    </p:spTree>
    <p:extLst>
      <p:ext uri="{BB962C8B-B14F-4D97-AF65-F5344CB8AC3E}">
        <p14:creationId xmlns:p14="http://schemas.microsoft.com/office/powerpoint/2010/main" val="1746076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50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p:bldP spid="8" grpId="0"/>
      <p:bldP spid="9" grpId="0"/>
      <p:bldP spid="10" grpId="0"/>
      <p:bldP spid="11" grpId="0" animBg="1"/>
      <p:bldP spid="12" grpId="0"/>
      <p:bldP spid="13" grpId="0"/>
      <p:bldP spid="14" grpId="0"/>
      <p:bldP spid="15" grpId="0"/>
      <p:bldP spid="16" grpId="0"/>
      <p:bldP spid="17" grpId="0" animBg="1"/>
      <p:bldP spid="18" grpId="0"/>
      <p:bldP spid="19" grpId="0" animBg="1"/>
      <p:bldP spid="20" grpId="0"/>
      <p:bldP spid="21" grpId="0" animBg="1"/>
      <p:bldP spid="22" grpId="0"/>
      <p:bldP spid="23" grpId="0"/>
      <p:bldP spid="24" grpId="0" animBg="1"/>
      <p:bldP spid="25" grpId="0"/>
      <p:bldP spid="26" grpId="0" animBg="1"/>
      <p:bldP spid="27" grpId="0"/>
      <p:bldP spid="28" grpId="0" animBg="1"/>
      <p:bldP spid="29" grpId="0"/>
      <p:bldP spid="30" grpId="0" animBg="1"/>
      <p:bldP spid="3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a:extLst>
              <a:ext uri="{FF2B5EF4-FFF2-40B4-BE49-F238E27FC236}">
                <a16:creationId xmlns:a16="http://schemas.microsoft.com/office/drawing/2014/main" id="{E9CF6B5B-7FDF-491C-B3C8-5C07CB2B7654}"/>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7202A"/>
                </a:solidFill>
              </a:defRPr>
            </a:pPr>
            <a:r>
              <a:rPr sz="3000" b="0">
                <a:solidFill>
                  <a:srgbClr val="17202A"/>
                </a:solidFill>
              </a:rPr>
              <a:t>Three binary decisions create eight execution paths</a:t>
            </a:r>
          </a:p>
        </p:txBody>
      </p:sp>
      <p:sp>
        <p:nvSpPr>
          <p:cNvPr id="2" name="title-rule">
            <a:extLst>
              <a:ext uri="{FF2B5EF4-FFF2-40B4-BE49-F238E27FC236}">
                <a16:creationId xmlns:a16="http://schemas.microsoft.com/office/drawing/2014/main" id="{D1361F9D-382D-45AF-AE7A-34B15CAC432E}"/>
              </a:ext>
            </a:extLst>
          </p:cNvPr>
          <p:cNvSpPr>
            <a:spLocks noGrp="1"/>
          </p:cNvSpPr>
          <p:nvPr/>
        </p:nvSpPr>
        <p:spPr>
          <a:xfrm>
            <a:off x="685800" y="1066800"/>
            <a:ext cx="1571625" cy="38100"/>
          </a:xfrm>
          <a:prstGeom prst="rect">
            <a:avLst/>
          </a:prstGeom>
          <a:solidFill>
            <a:srgbClr val="25364A"/>
          </a:solidFill>
          <a:ln w="0">
            <a:solidFill>
              <a:srgbClr val="25364A"/>
            </a:solidFill>
            <a:prstDash val="solid"/>
          </a:ln>
        </p:spPr>
        <p:txBody>
          <a:bodyPr/>
          <a:lstStyle/>
          <a:p>
            <a:endParaRPr lang="en-US"/>
          </a:p>
        </p:txBody>
      </p:sp>
      <p:sp>
        <p:nvSpPr>
          <p:cNvPr id="3" name="formula">
            <a:extLst>
              <a:ext uri="{FF2B5EF4-FFF2-40B4-BE49-F238E27FC236}">
                <a16:creationId xmlns:a16="http://schemas.microsoft.com/office/drawing/2014/main" id="{1DAF0E79-294D-43C4-BD9B-A96986795F96}"/>
              </a:ext>
            </a:extLst>
          </p:cNvPr>
          <p:cNvSpPr>
            <a:spLocks noGrp="1"/>
          </p:cNvSpPr>
          <p:nvPr/>
        </p:nvSpPr>
        <p:spPr>
          <a:xfrm>
            <a:off x="895350" y="1362075"/>
            <a:ext cx="10401300" cy="400050"/>
          </a:xfrm>
          <a:prstGeom prst="rect">
            <a:avLst/>
          </a:prstGeom>
          <a:noFill/>
          <a:ln w="0">
            <a:noFill/>
            <a:prstDash val="solid"/>
          </a:ln>
        </p:spPr>
        <p:txBody>
          <a:bodyPr anchor="ctr"/>
          <a:lstStyle/>
          <a:p>
            <a:pPr algn="ctr">
              <a:defRPr sz="1800" b="0">
                <a:solidFill>
                  <a:srgbClr val="66727F"/>
                </a:solidFill>
              </a:defRPr>
            </a:pPr>
            <a:r>
              <a:rPr sz="1800" b="0" dirty="0">
                <a:solidFill>
                  <a:srgbClr val="66727F"/>
                </a:solidFill>
              </a:rPr>
              <a:t>Each of the three decisions has two outcomes: 2 × 2 × 2 = 2³ = 8 paths.</a:t>
            </a:r>
          </a:p>
        </p:txBody>
      </p:sp>
      <p:sp>
        <p:nvSpPr>
          <p:cNvPr id="4" name="key">
            <a:extLst>
              <a:ext uri="{FF2B5EF4-FFF2-40B4-BE49-F238E27FC236}">
                <a16:creationId xmlns:a16="http://schemas.microsoft.com/office/drawing/2014/main" id="{1D9EA48F-FCE3-4BD0-9147-761197ACAAB2}"/>
              </a:ext>
            </a:extLst>
          </p:cNvPr>
          <p:cNvSpPr>
            <a:spLocks noGrp="1"/>
          </p:cNvSpPr>
          <p:nvPr/>
        </p:nvSpPr>
        <p:spPr>
          <a:xfrm>
            <a:off x="895350" y="1866900"/>
            <a:ext cx="10401300" cy="266700"/>
          </a:xfrm>
          <a:prstGeom prst="rect">
            <a:avLst/>
          </a:prstGeom>
          <a:noFill/>
          <a:ln w="0">
            <a:noFill/>
            <a:prstDash val="solid"/>
          </a:ln>
        </p:spPr>
        <p:txBody>
          <a:bodyPr anchor="ctr"/>
          <a:lstStyle/>
          <a:p>
            <a:pPr algn="ctr">
              <a:defRPr sz="1275" b="1">
                <a:solidFill>
                  <a:srgbClr val="4E6478"/>
                </a:solidFill>
              </a:defRPr>
            </a:pPr>
            <a:r>
              <a:rPr sz="1275" b="1" dirty="0">
                <a:solidFill>
                  <a:srgbClr val="4E6478"/>
                </a:solidFill>
              </a:rPr>
              <a:t>T = true     F = false</a:t>
            </a:r>
          </a:p>
        </p:txBody>
      </p:sp>
      <p:sp>
        <p:nvSpPr>
          <p:cNvPr id="5" name="p0">
            <a:extLst>
              <a:ext uri="{FF2B5EF4-FFF2-40B4-BE49-F238E27FC236}">
                <a16:creationId xmlns:a16="http://schemas.microsoft.com/office/drawing/2014/main" id="{CB4B0127-75E2-4DB5-9A6B-DF04DD5FEC43}"/>
              </a:ext>
            </a:extLst>
          </p:cNvPr>
          <p:cNvSpPr>
            <a:spLocks noGrp="1"/>
          </p:cNvSpPr>
          <p:nvPr/>
        </p:nvSpPr>
        <p:spPr>
          <a:xfrm>
            <a:off x="1352550" y="240030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6" name="p0-label">
            <a:extLst>
              <a:ext uri="{FF2B5EF4-FFF2-40B4-BE49-F238E27FC236}">
                <a16:creationId xmlns:a16="http://schemas.microsoft.com/office/drawing/2014/main" id="{A4A5197B-DBD3-4235-B8CD-7B840DF97288}"/>
              </a:ext>
            </a:extLst>
          </p:cNvPr>
          <p:cNvSpPr>
            <a:spLocks noGrp="1"/>
          </p:cNvSpPr>
          <p:nvPr/>
        </p:nvSpPr>
        <p:spPr>
          <a:xfrm>
            <a:off x="1524000" y="2495550"/>
            <a:ext cx="165735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T T T</a:t>
            </a:r>
          </a:p>
        </p:txBody>
      </p:sp>
      <p:sp>
        <p:nvSpPr>
          <p:cNvPr id="7" name="p1">
            <a:extLst>
              <a:ext uri="{FF2B5EF4-FFF2-40B4-BE49-F238E27FC236}">
                <a16:creationId xmlns:a16="http://schemas.microsoft.com/office/drawing/2014/main" id="{82575E1B-100D-4F4A-AC55-4FDDFFDB2FBF}"/>
              </a:ext>
            </a:extLst>
          </p:cNvPr>
          <p:cNvSpPr>
            <a:spLocks noGrp="1"/>
          </p:cNvSpPr>
          <p:nvPr/>
        </p:nvSpPr>
        <p:spPr>
          <a:xfrm>
            <a:off x="3790950" y="240030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8" name="p1-label">
            <a:extLst>
              <a:ext uri="{FF2B5EF4-FFF2-40B4-BE49-F238E27FC236}">
                <a16:creationId xmlns:a16="http://schemas.microsoft.com/office/drawing/2014/main" id="{858CF65B-AC93-4854-B9FE-E2A0CE0390FA}"/>
              </a:ext>
            </a:extLst>
          </p:cNvPr>
          <p:cNvSpPr>
            <a:spLocks noGrp="1"/>
          </p:cNvSpPr>
          <p:nvPr/>
        </p:nvSpPr>
        <p:spPr>
          <a:xfrm>
            <a:off x="3962400" y="2495550"/>
            <a:ext cx="165735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T T F</a:t>
            </a:r>
          </a:p>
        </p:txBody>
      </p:sp>
      <p:sp>
        <p:nvSpPr>
          <p:cNvPr id="9" name="p2">
            <a:extLst>
              <a:ext uri="{FF2B5EF4-FFF2-40B4-BE49-F238E27FC236}">
                <a16:creationId xmlns:a16="http://schemas.microsoft.com/office/drawing/2014/main" id="{36A3648A-9A2E-4945-A3B4-505C2087AC15}"/>
              </a:ext>
            </a:extLst>
          </p:cNvPr>
          <p:cNvSpPr>
            <a:spLocks noGrp="1"/>
          </p:cNvSpPr>
          <p:nvPr/>
        </p:nvSpPr>
        <p:spPr>
          <a:xfrm>
            <a:off x="6229350" y="240030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10" name="p2-label">
            <a:extLst>
              <a:ext uri="{FF2B5EF4-FFF2-40B4-BE49-F238E27FC236}">
                <a16:creationId xmlns:a16="http://schemas.microsoft.com/office/drawing/2014/main" id="{642827DE-D26F-4B07-954A-2E9BB0CA8346}"/>
              </a:ext>
            </a:extLst>
          </p:cNvPr>
          <p:cNvSpPr>
            <a:spLocks noGrp="1"/>
          </p:cNvSpPr>
          <p:nvPr/>
        </p:nvSpPr>
        <p:spPr>
          <a:xfrm>
            <a:off x="6400800" y="2495550"/>
            <a:ext cx="165735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T F T</a:t>
            </a:r>
          </a:p>
        </p:txBody>
      </p:sp>
      <p:sp>
        <p:nvSpPr>
          <p:cNvPr id="11" name="p3">
            <a:extLst>
              <a:ext uri="{FF2B5EF4-FFF2-40B4-BE49-F238E27FC236}">
                <a16:creationId xmlns:a16="http://schemas.microsoft.com/office/drawing/2014/main" id="{1B1A7A52-A6A1-4DDA-A76B-D8D4C4499FC2}"/>
              </a:ext>
            </a:extLst>
          </p:cNvPr>
          <p:cNvSpPr>
            <a:spLocks noGrp="1"/>
          </p:cNvSpPr>
          <p:nvPr/>
        </p:nvSpPr>
        <p:spPr>
          <a:xfrm>
            <a:off x="8667750" y="240030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12" name="p3-label">
            <a:extLst>
              <a:ext uri="{FF2B5EF4-FFF2-40B4-BE49-F238E27FC236}">
                <a16:creationId xmlns:a16="http://schemas.microsoft.com/office/drawing/2014/main" id="{EED9837F-27FE-4139-A84F-22E72D3E47AF}"/>
              </a:ext>
            </a:extLst>
          </p:cNvPr>
          <p:cNvSpPr>
            <a:spLocks noGrp="1"/>
          </p:cNvSpPr>
          <p:nvPr/>
        </p:nvSpPr>
        <p:spPr>
          <a:xfrm>
            <a:off x="8839200" y="2495550"/>
            <a:ext cx="165735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T F F</a:t>
            </a:r>
          </a:p>
        </p:txBody>
      </p:sp>
      <p:sp>
        <p:nvSpPr>
          <p:cNvPr id="13" name="p4">
            <a:extLst>
              <a:ext uri="{FF2B5EF4-FFF2-40B4-BE49-F238E27FC236}">
                <a16:creationId xmlns:a16="http://schemas.microsoft.com/office/drawing/2014/main" id="{AEC1386C-2B66-4D8E-9B38-F55FB7ED652C}"/>
              </a:ext>
            </a:extLst>
          </p:cNvPr>
          <p:cNvSpPr>
            <a:spLocks noGrp="1"/>
          </p:cNvSpPr>
          <p:nvPr/>
        </p:nvSpPr>
        <p:spPr>
          <a:xfrm>
            <a:off x="1352550" y="339090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14" name="p4-label">
            <a:extLst>
              <a:ext uri="{FF2B5EF4-FFF2-40B4-BE49-F238E27FC236}">
                <a16:creationId xmlns:a16="http://schemas.microsoft.com/office/drawing/2014/main" id="{A5CB9A99-0BCD-4921-B988-802995A294F0}"/>
              </a:ext>
            </a:extLst>
          </p:cNvPr>
          <p:cNvSpPr>
            <a:spLocks noGrp="1"/>
          </p:cNvSpPr>
          <p:nvPr/>
        </p:nvSpPr>
        <p:spPr>
          <a:xfrm>
            <a:off x="1524000" y="3486150"/>
            <a:ext cx="165735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F T T</a:t>
            </a:r>
          </a:p>
        </p:txBody>
      </p:sp>
      <p:sp>
        <p:nvSpPr>
          <p:cNvPr id="15" name="p5">
            <a:extLst>
              <a:ext uri="{FF2B5EF4-FFF2-40B4-BE49-F238E27FC236}">
                <a16:creationId xmlns:a16="http://schemas.microsoft.com/office/drawing/2014/main" id="{B80205C0-FFCB-479A-A21F-1F347D99A4AD}"/>
              </a:ext>
            </a:extLst>
          </p:cNvPr>
          <p:cNvSpPr>
            <a:spLocks noGrp="1"/>
          </p:cNvSpPr>
          <p:nvPr/>
        </p:nvSpPr>
        <p:spPr>
          <a:xfrm>
            <a:off x="3790950" y="339090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16" name="p5-label">
            <a:extLst>
              <a:ext uri="{FF2B5EF4-FFF2-40B4-BE49-F238E27FC236}">
                <a16:creationId xmlns:a16="http://schemas.microsoft.com/office/drawing/2014/main" id="{004A32AE-0D6D-4B9E-A8EC-C22DC0B1A8E1}"/>
              </a:ext>
            </a:extLst>
          </p:cNvPr>
          <p:cNvSpPr>
            <a:spLocks noGrp="1"/>
          </p:cNvSpPr>
          <p:nvPr/>
        </p:nvSpPr>
        <p:spPr>
          <a:xfrm>
            <a:off x="3962400" y="3486150"/>
            <a:ext cx="165735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F T F</a:t>
            </a:r>
          </a:p>
        </p:txBody>
      </p:sp>
      <p:sp>
        <p:nvSpPr>
          <p:cNvPr id="17" name="p6">
            <a:extLst>
              <a:ext uri="{FF2B5EF4-FFF2-40B4-BE49-F238E27FC236}">
                <a16:creationId xmlns:a16="http://schemas.microsoft.com/office/drawing/2014/main" id="{C67CCD4F-9E13-4D19-B8AC-1781A3094399}"/>
              </a:ext>
            </a:extLst>
          </p:cNvPr>
          <p:cNvSpPr>
            <a:spLocks noGrp="1"/>
          </p:cNvSpPr>
          <p:nvPr/>
        </p:nvSpPr>
        <p:spPr>
          <a:xfrm>
            <a:off x="6229350" y="339090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18" name="p6-label">
            <a:extLst>
              <a:ext uri="{FF2B5EF4-FFF2-40B4-BE49-F238E27FC236}">
                <a16:creationId xmlns:a16="http://schemas.microsoft.com/office/drawing/2014/main" id="{AD91D736-8B82-45B0-8CC2-EFA7B639A253}"/>
              </a:ext>
            </a:extLst>
          </p:cNvPr>
          <p:cNvSpPr>
            <a:spLocks noGrp="1"/>
          </p:cNvSpPr>
          <p:nvPr/>
        </p:nvSpPr>
        <p:spPr>
          <a:xfrm>
            <a:off x="6400800" y="3486150"/>
            <a:ext cx="165735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F F T</a:t>
            </a:r>
          </a:p>
        </p:txBody>
      </p:sp>
      <p:sp>
        <p:nvSpPr>
          <p:cNvPr id="19" name="p7">
            <a:extLst>
              <a:ext uri="{FF2B5EF4-FFF2-40B4-BE49-F238E27FC236}">
                <a16:creationId xmlns:a16="http://schemas.microsoft.com/office/drawing/2014/main" id="{12CFC5BC-9AA0-462F-9B9F-D39C30E694DE}"/>
              </a:ext>
            </a:extLst>
          </p:cNvPr>
          <p:cNvSpPr>
            <a:spLocks noGrp="1"/>
          </p:cNvSpPr>
          <p:nvPr/>
        </p:nvSpPr>
        <p:spPr>
          <a:xfrm>
            <a:off x="8667750" y="339090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20" name="p7-label">
            <a:extLst>
              <a:ext uri="{FF2B5EF4-FFF2-40B4-BE49-F238E27FC236}">
                <a16:creationId xmlns:a16="http://schemas.microsoft.com/office/drawing/2014/main" id="{1BA48353-6171-4B64-8036-66EDFA87161E}"/>
              </a:ext>
            </a:extLst>
          </p:cNvPr>
          <p:cNvSpPr>
            <a:spLocks noGrp="1"/>
          </p:cNvSpPr>
          <p:nvPr/>
        </p:nvSpPr>
        <p:spPr>
          <a:xfrm>
            <a:off x="8839200" y="3486150"/>
            <a:ext cx="165735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F F F</a:t>
            </a:r>
          </a:p>
        </p:txBody>
      </p:sp>
      <p:sp>
        <p:nvSpPr>
          <p:cNvPr id="21" name="takeaway">
            <a:extLst>
              <a:ext uri="{FF2B5EF4-FFF2-40B4-BE49-F238E27FC236}">
                <a16:creationId xmlns:a16="http://schemas.microsoft.com/office/drawing/2014/main" id="{78D0DBDD-E91B-437F-BCD5-9678C563033A}"/>
              </a:ext>
            </a:extLst>
          </p:cNvPr>
          <p:cNvSpPr>
            <a:spLocks noGrp="1"/>
          </p:cNvSpPr>
          <p:nvPr/>
        </p:nvSpPr>
        <p:spPr>
          <a:xfrm>
            <a:off x="781050" y="5467350"/>
            <a:ext cx="10629900" cy="723900"/>
          </a:xfrm>
          <a:prstGeom prst="roundRect">
            <a:avLst>
              <a:gd name="adj" fmla="val 10526"/>
            </a:avLst>
          </a:prstGeom>
          <a:solidFill>
            <a:srgbClr val="F3F5F7"/>
          </a:solidFill>
          <a:ln w="19050">
            <a:solidFill>
              <a:srgbClr val="25364A"/>
            </a:solidFill>
            <a:prstDash val="solid"/>
          </a:ln>
        </p:spPr>
        <p:txBody>
          <a:bodyPr/>
          <a:lstStyle/>
          <a:p>
            <a:endParaRPr lang="en-US"/>
          </a:p>
        </p:txBody>
      </p:sp>
      <p:sp>
        <p:nvSpPr>
          <p:cNvPr id="22" name="takeaway-text">
            <a:extLst>
              <a:ext uri="{FF2B5EF4-FFF2-40B4-BE49-F238E27FC236}">
                <a16:creationId xmlns:a16="http://schemas.microsoft.com/office/drawing/2014/main" id="{205D53F6-6666-495D-9388-C9863D24F673}"/>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25364A"/>
                </a:solidFill>
              </a:defRPr>
            </a:pPr>
            <a:r>
              <a:rPr sz="1800" b="1">
                <a:solidFill>
                  <a:srgbClr val="25364A"/>
                </a:solidFill>
              </a:rPr>
              <a:t>Path coverage considers combinations of decisions, not only individual outcomes.</a:t>
            </a:r>
          </a:p>
        </p:txBody>
      </p:sp>
    </p:spTree>
    <p:extLst>
      <p:ext uri="{BB962C8B-B14F-4D97-AF65-F5344CB8AC3E}">
        <p14:creationId xmlns:p14="http://schemas.microsoft.com/office/powerpoint/2010/main" val="1385857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itle">
            <a:extLst>
              <a:ext uri="{FF2B5EF4-FFF2-40B4-BE49-F238E27FC236}">
                <a16:creationId xmlns:a16="http://schemas.microsoft.com/office/drawing/2014/main" id="{F44DDB06-A9F6-411C-AA35-7C042EDDA5C7}"/>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7202A"/>
                </a:solidFill>
              </a:defRPr>
            </a:pPr>
            <a:r>
              <a:rPr sz="3000" b="0">
                <a:solidFill>
                  <a:srgbClr val="17202A"/>
                </a:solidFill>
              </a:rPr>
              <a:t>100% branch coverage can still cover only 2 of 8 paths</a:t>
            </a:r>
          </a:p>
        </p:txBody>
      </p:sp>
      <p:sp>
        <p:nvSpPr>
          <p:cNvPr id="2" name="title-rule">
            <a:extLst>
              <a:ext uri="{FF2B5EF4-FFF2-40B4-BE49-F238E27FC236}">
                <a16:creationId xmlns:a16="http://schemas.microsoft.com/office/drawing/2014/main" id="{524D27E5-5AA3-429D-A437-48D09F863E9F}"/>
              </a:ext>
            </a:extLst>
          </p:cNvPr>
          <p:cNvSpPr>
            <a:spLocks noGrp="1"/>
          </p:cNvSpPr>
          <p:nvPr/>
        </p:nvSpPr>
        <p:spPr>
          <a:xfrm>
            <a:off x="685800" y="1066800"/>
            <a:ext cx="1571625" cy="38100"/>
          </a:xfrm>
          <a:prstGeom prst="rect">
            <a:avLst/>
          </a:prstGeom>
          <a:solidFill>
            <a:srgbClr val="25364A"/>
          </a:solidFill>
          <a:ln w="0">
            <a:solidFill>
              <a:srgbClr val="25364A"/>
            </a:solidFill>
            <a:prstDash val="solid"/>
          </a:ln>
        </p:spPr>
        <p:txBody>
          <a:bodyPr/>
          <a:lstStyle/>
          <a:p>
            <a:endParaRPr lang="en-US"/>
          </a:p>
        </p:txBody>
      </p:sp>
      <p:sp>
        <p:nvSpPr>
          <p:cNvPr id="3" name="tests-used">
            <a:extLst>
              <a:ext uri="{FF2B5EF4-FFF2-40B4-BE49-F238E27FC236}">
                <a16:creationId xmlns:a16="http://schemas.microsoft.com/office/drawing/2014/main" id="{EC7978B8-4F7D-4D50-93DF-06B8BB748E1C}"/>
              </a:ext>
            </a:extLst>
          </p:cNvPr>
          <p:cNvSpPr>
            <a:spLocks noGrp="1"/>
          </p:cNvSpPr>
          <p:nvPr/>
        </p:nvSpPr>
        <p:spPr>
          <a:xfrm>
            <a:off x="1714500" y="1314450"/>
            <a:ext cx="8763000" cy="762000"/>
          </a:xfrm>
          <a:prstGeom prst="roundRect">
            <a:avLst>
              <a:gd name="adj" fmla="val 10000"/>
            </a:avLst>
          </a:prstGeom>
          <a:solidFill>
            <a:srgbClr val="F3F5F7"/>
          </a:solidFill>
          <a:ln w="14288">
            <a:solidFill>
              <a:srgbClr val="D7DDE3"/>
            </a:solidFill>
            <a:prstDash val="solid"/>
          </a:ln>
        </p:spPr>
        <p:txBody>
          <a:bodyPr/>
          <a:lstStyle/>
          <a:p>
            <a:endParaRPr lang="en-US"/>
          </a:p>
        </p:txBody>
      </p:sp>
      <p:sp>
        <p:nvSpPr>
          <p:cNvPr id="4" name="test-a">
            <a:extLst>
              <a:ext uri="{FF2B5EF4-FFF2-40B4-BE49-F238E27FC236}">
                <a16:creationId xmlns:a16="http://schemas.microsoft.com/office/drawing/2014/main" id="{7029F2F8-B5D1-4296-B44E-1177E4CD7624}"/>
              </a:ext>
            </a:extLst>
          </p:cNvPr>
          <p:cNvSpPr>
            <a:spLocks noGrp="1"/>
          </p:cNvSpPr>
          <p:nvPr/>
        </p:nvSpPr>
        <p:spPr>
          <a:xfrm>
            <a:off x="2019300" y="1390650"/>
            <a:ext cx="5334000" cy="266700"/>
          </a:xfrm>
          <a:prstGeom prst="rect">
            <a:avLst/>
          </a:prstGeom>
          <a:noFill/>
          <a:ln w="0">
            <a:noFill/>
            <a:prstDash val="solid"/>
          </a:ln>
        </p:spPr>
        <p:txBody>
          <a:bodyPr anchor="ctr"/>
          <a:lstStyle/>
          <a:p>
            <a:pPr algn="l">
              <a:defRPr sz="1275" b="1">
                <a:solidFill>
                  <a:srgbClr val="25364A"/>
                </a:solidFill>
              </a:defRPr>
            </a:pPr>
            <a:r>
              <a:rPr sz="1275" b="1">
                <a:solidFill>
                  <a:srgbClr val="25364A"/>
                </a:solidFill>
              </a:rPr>
              <a:t>Test 1:  foo(0, true, true, true) == 0</a:t>
            </a:r>
          </a:p>
        </p:txBody>
      </p:sp>
      <p:sp>
        <p:nvSpPr>
          <p:cNvPr id="5" name="path-a">
            <a:extLst>
              <a:ext uri="{FF2B5EF4-FFF2-40B4-BE49-F238E27FC236}">
                <a16:creationId xmlns:a16="http://schemas.microsoft.com/office/drawing/2014/main" id="{AE9EE7E0-72E2-4FC1-8573-1148DD468A39}"/>
              </a:ext>
            </a:extLst>
          </p:cNvPr>
          <p:cNvSpPr>
            <a:spLocks noGrp="1"/>
          </p:cNvSpPr>
          <p:nvPr/>
        </p:nvSpPr>
        <p:spPr>
          <a:xfrm>
            <a:off x="7810500" y="1390650"/>
            <a:ext cx="2095500" cy="266700"/>
          </a:xfrm>
          <a:prstGeom prst="rect">
            <a:avLst/>
          </a:prstGeom>
          <a:noFill/>
          <a:ln w="0">
            <a:noFill/>
            <a:prstDash val="solid"/>
          </a:ln>
        </p:spPr>
        <p:txBody>
          <a:bodyPr anchor="ctr"/>
          <a:lstStyle/>
          <a:p>
            <a:pPr algn="l">
              <a:defRPr sz="1350" b="1">
                <a:solidFill>
                  <a:srgbClr val="4C78A8"/>
                </a:solidFill>
              </a:defRPr>
            </a:pPr>
            <a:r>
              <a:rPr sz="1350" b="1">
                <a:solidFill>
                  <a:srgbClr val="4C78A8"/>
                </a:solidFill>
              </a:rPr>
              <a:t>→  T T T</a:t>
            </a:r>
          </a:p>
        </p:txBody>
      </p:sp>
      <p:sp>
        <p:nvSpPr>
          <p:cNvPr id="6" name="test-b">
            <a:extLst>
              <a:ext uri="{FF2B5EF4-FFF2-40B4-BE49-F238E27FC236}">
                <a16:creationId xmlns:a16="http://schemas.microsoft.com/office/drawing/2014/main" id="{FB558FFA-5604-4FCC-A25A-8A4425EFADE2}"/>
              </a:ext>
            </a:extLst>
          </p:cNvPr>
          <p:cNvSpPr>
            <a:spLocks noGrp="1"/>
          </p:cNvSpPr>
          <p:nvPr/>
        </p:nvSpPr>
        <p:spPr>
          <a:xfrm>
            <a:off x="2019300" y="1733550"/>
            <a:ext cx="5524500" cy="266700"/>
          </a:xfrm>
          <a:prstGeom prst="rect">
            <a:avLst/>
          </a:prstGeom>
          <a:noFill/>
          <a:ln w="0">
            <a:noFill/>
            <a:prstDash val="solid"/>
          </a:ln>
        </p:spPr>
        <p:txBody>
          <a:bodyPr anchor="ctr"/>
          <a:lstStyle/>
          <a:p>
            <a:pPr algn="l">
              <a:defRPr sz="1275" b="1">
                <a:solidFill>
                  <a:srgbClr val="25364A"/>
                </a:solidFill>
              </a:defRPr>
            </a:pPr>
            <a:r>
              <a:rPr sz="1275" b="1">
                <a:solidFill>
                  <a:srgbClr val="25364A"/>
                </a:solidFill>
              </a:rPr>
              <a:t>Test 2:  foo(0, false, false, false) == 0</a:t>
            </a:r>
          </a:p>
        </p:txBody>
      </p:sp>
      <p:sp>
        <p:nvSpPr>
          <p:cNvPr id="7" name="path-b">
            <a:extLst>
              <a:ext uri="{FF2B5EF4-FFF2-40B4-BE49-F238E27FC236}">
                <a16:creationId xmlns:a16="http://schemas.microsoft.com/office/drawing/2014/main" id="{965E2E40-1D60-4AD1-B604-EB3E638585BE}"/>
              </a:ext>
            </a:extLst>
          </p:cNvPr>
          <p:cNvSpPr>
            <a:spLocks noGrp="1"/>
          </p:cNvSpPr>
          <p:nvPr/>
        </p:nvSpPr>
        <p:spPr>
          <a:xfrm>
            <a:off x="7810500" y="1733550"/>
            <a:ext cx="2095500" cy="266700"/>
          </a:xfrm>
          <a:prstGeom prst="rect">
            <a:avLst/>
          </a:prstGeom>
          <a:noFill/>
          <a:ln w="0">
            <a:noFill/>
            <a:prstDash val="solid"/>
          </a:ln>
        </p:spPr>
        <p:txBody>
          <a:bodyPr anchor="ctr"/>
          <a:lstStyle/>
          <a:p>
            <a:pPr algn="l">
              <a:defRPr sz="1350" b="1">
                <a:solidFill>
                  <a:srgbClr val="4C78A8"/>
                </a:solidFill>
              </a:defRPr>
            </a:pPr>
            <a:r>
              <a:rPr sz="1350" b="1">
                <a:solidFill>
                  <a:srgbClr val="4C78A8"/>
                </a:solidFill>
              </a:rPr>
              <a:t>→  F F F</a:t>
            </a:r>
          </a:p>
        </p:txBody>
      </p:sp>
      <p:sp>
        <p:nvSpPr>
          <p:cNvPr id="8" name="p0">
            <a:extLst>
              <a:ext uri="{FF2B5EF4-FFF2-40B4-BE49-F238E27FC236}">
                <a16:creationId xmlns:a16="http://schemas.microsoft.com/office/drawing/2014/main" id="{CF3E9A01-BF20-47F5-A4E7-C3A482F5D0C8}"/>
              </a:ext>
            </a:extLst>
          </p:cNvPr>
          <p:cNvSpPr>
            <a:spLocks noGrp="1"/>
          </p:cNvSpPr>
          <p:nvPr/>
        </p:nvSpPr>
        <p:spPr>
          <a:xfrm>
            <a:off x="876300" y="2247900"/>
            <a:ext cx="2000250" cy="609600"/>
          </a:xfrm>
          <a:prstGeom prst="roundRect">
            <a:avLst>
              <a:gd name="adj" fmla="val 12500"/>
            </a:avLst>
          </a:prstGeom>
          <a:solidFill>
            <a:srgbClr val="EAF1F8"/>
          </a:solidFill>
          <a:ln w="19050">
            <a:solidFill>
              <a:srgbClr val="4C78A8"/>
            </a:solidFill>
            <a:prstDash val="solid"/>
          </a:ln>
        </p:spPr>
        <p:txBody>
          <a:bodyPr/>
          <a:lstStyle/>
          <a:p>
            <a:endParaRPr lang="en-US"/>
          </a:p>
        </p:txBody>
      </p:sp>
      <p:sp>
        <p:nvSpPr>
          <p:cNvPr id="9" name="p0-label">
            <a:extLst>
              <a:ext uri="{FF2B5EF4-FFF2-40B4-BE49-F238E27FC236}">
                <a16:creationId xmlns:a16="http://schemas.microsoft.com/office/drawing/2014/main" id="{6132651E-74C1-453D-B289-98E08D5AB8DD}"/>
              </a:ext>
            </a:extLst>
          </p:cNvPr>
          <p:cNvSpPr>
            <a:spLocks noGrp="1"/>
          </p:cNvSpPr>
          <p:nvPr/>
        </p:nvSpPr>
        <p:spPr>
          <a:xfrm>
            <a:off x="1047750" y="2343150"/>
            <a:ext cx="1104900" cy="400050"/>
          </a:xfrm>
          <a:prstGeom prst="rect">
            <a:avLst/>
          </a:prstGeom>
          <a:noFill/>
          <a:ln w="0">
            <a:noFill/>
            <a:prstDash val="solid"/>
          </a:ln>
        </p:spPr>
        <p:txBody>
          <a:bodyPr anchor="ctr"/>
          <a:lstStyle/>
          <a:p>
            <a:pPr algn="ctr">
              <a:defRPr sz="1650" b="1">
                <a:solidFill>
                  <a:srgbClr val="4C78A8"/>
                </a:solidFill>
              </a:defRPr>
            </a:pPr>
            <a:r>
              <a:rPr sz="1650" b="1">
                <a:solidFill>
                  <a:srgbClr val="4C78A8"/>
                </a:solidFill>
              </a:rPr>
              <a:t>T T T</a:t>
            </a:r>
          </a:p>
        </p:txBody>
      </p:sp>
      <p:sp>
        <p:nvSpPr>
          <p:cNvPr id="10" name="p0-status">
            <a:extLst>
              <a:ext uri="{FF2B5EF4-FFF2-40B4-BE49-F238E27FC236}">
                <a16:creationId xmlns:a16="http://schemas.microsoft.com/office/drawing/2014/main" id="{ADF29929-A2F9-44BF-A05E-299A0E351FEE}"/>
              </a:ext>
            </a:extLst>
          </p:cNvPr>
          <p:cNvSpPr>
            <a:spLocks noGrp="1"/>
          </p:cNvSpPr>
          <p:nvPr/>
        </p:nvSpPr>
        <p:spPr>
          <a:xfrm>
            <a:off x="2133600" y="2352675"/>
            <a:ext cx="628650" cy="381000"/>
          </a:xfrm>
          <a:prstGeom prst="rect">
            <a:avLst/>
          </a:prstGeom>
          <a:noFill/>
          <a:ln w="0">
            <a:noFill/>
            <a:prstDash val="solid"/>
          </a:ln>
        </p:spPr>
        <p:txBody>
          <a:bodyPr anchor="ctr"/>
          <a:lstStyle/>
          <a:p>
            <a:pPr algn="ctr">
              <a:defRPr sz="1725" b="1">
                <a:solidFill>
                  <a:srgbClr val="4C78A8"/>
                </a:solidFill>
              </a:defRPr>
            </a:pPr>
            <a:r>
              <a:rPr sz="1725" b="1" dirty="0">
                <a:solidFill>
                  <a:srgbClr val="4C78A8"/>
                </a:solidFill>
              </a:rPr>
              <a:t>✓</a:t>
            </a:r>
          </a:p>
        </p:txBody>
      </p:sp>
      <p:sp>
        <p:nvSpPr>
          <p:cNvPr id="11" name="p1">
            <a:extLst>
              <a:ext uri="{FF2B5EF4-FFF2-40B4-BE49-F238E27FC236}">
                <a16:creationId xmlns:a16="http://schemas.microsoft.com/office/drawing/2014/main" id="{A24B83C8-F531-4E1A-B633-08B869BCE4E6}"/>
              </a:ext>
            </a:extLst>
          </p:cNvPr>
          <p:cNvSpPr>
            <a:spLocks noGrp="1"/>
          </p:cNvSpPr>
          <p:nvPr/>
        </p:nvSpPr>
        <p:spPr>
          <a:xfrm>
            <a:off x="3143250" y="224790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12" name="p1-label">
            <a:extLst>
              <a:ext uri="{FF2B5EF4-FFF2-40B4-BE49-F238E27FC236}">
                <a16:creationId xmlns:a16="http://schemas.microsoft.com/office/drawing/2014/main" id="{0090A445-4B1E-4903-AA85-FBAE5E7820D6}"/>
              </a:ext>
            </a:extLst>
          </p:cNvPr>
          <p:cNvSpPr>
            <a:spLocks noGrp="1"/>
          </p:cNvSpPr>
          <p:nvPr/>
        </p:nvSpPr>
        <p:spPr>
          <a:xfrm>
            <a:off x="3314700" y="2343150"/>
            <a:ext cx="110490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T T F</a:t>
            </a:r>
          </a:p>
        </p:txBody>
      </p:sp>
      <p:sp>
        <p:nvSpPr>
          <p:cNvPr id="13" name="p1-status">
            <a:extLst>
              <a:ext uri="{FF2B5EF4-FFF2-40B4-BE49-F238E27FC236}">
                <a16:creationId xmlns:a16="http://schemas.microsoft.com/office/drawing/2014/main" id="{34849392-2D3F-4BB3-AF9A-D165F23D489D}"/>
              </a:ext>
            </a:extLst>
          </p:cNvPr>
          <p:cNvSpPr>
            <a:spLocks noGrp="1"/>
          </p:cNvSpPr>
          <p:nvPr/>
        </p:nvSpPr>
        <p:spPr>
          <a:xfrm>
            <a:off x="4400550" y="2352675"/>
            <a:ext cx="628650" cy="381000"/>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not tested</a:t>
            </a:r>
          </a:p>
        </p:txBody>
      </p:sp>
      <p:sp>
        <p:nvSpPr>
          <p:cNvPr id="14" name="p2">
            <a:extLst>
              <a:ext uri="{FF2B5EF4-FFF2-40B4-BE49-F238E27FC236}">
                <a16:creationId xmlns:a16="http://schemas.microsoft.com/office/drawing/2014/main" id="{C89588D3-5EF0-4557-B029-1361F7E3E977}"/>
              </a:ext>
            </a:extLst>
          </p:cNvPr>
          <p:cNvSpPr>
            <a:spLocks noGrp="1"/>
          </p:cNvSpPr>
          <p:nvPr/>
        </p:nvSpPr>
        <p:spPr>
          <a:xfrm>
            <a:off x="5410200" y="224790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15" name="p2-label">
            <a:extLst>
              <a:ext uri="{FF2B5EF4-FFF2-40B4-BE49-F238E27FC236}">
                <a16:creationId xmlns:a16="http://schemas.microsoft.com/office/drawing/2014/main" id="{59E3097A-F48A-4BA8-BFF3-A0E4578C9232}"/>
              </a:ext>
            </a:extLst>
          </p:cNvPr>
          <p:cNvSpPr>
            <a:spLocks noGrp="1"/>
          </p:cNvSpPr>
          <p:nvPr/>
        </p:nvSpPr>
        <p:spPr>
          <a:xfrm>
            <a:off x="5581650" y="2343150"/>
            <a:ext cx="110490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T F T</a:t>
            </a:r>
          </a:p>
        </p:txBody>
      </p:sp>
      <p:sp>
        <p:nvSpPr>
          <p:cNvPr id="16" name="p2-status">
            <a:extLst>
              <a:ext uri="{FF2B5EF4-FFF2-40B4-BE49-F238E27FC236}">
                <a16:creationId xmlns:a16="http://schemas.microsoft.com/office/drawing/2014/main" id="{38A89197-C99F-4A63-98C8-58185C96C853}"/>
              </a:ext>
            </a:extLst>
          </p:cNvPr>
          <p:cNvSpPr>
            <a:spLocks noGrp="1"/>
          </p:cNvSpPr>
          <p:nvPr/>
        </p:nvSpPr>
        <p:spPr>
          <a:xfrm>
            <a:off x="6667500" y="2352675"/>
            <a:ext cx="628650" cy="381000"/>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not tested</a:t>
            </a:r>
          </a:p>
        </p:txBody>
      </p:sp>
      <p:sp>
        <p:nvSpPr>
          <p:cNvPr id="17" name="p2-bug-c">
            <a:extLst>
              <a:ext uri="{FF2B5EF4-FFF2-40B4-BE49-F238E27FC236}">
                <a16:creationId xmlns:a16="http://schemas.microsoft.com/office/drawing/2014/main" id="{188C087A-6D43-4332-B12D-A24006278409}"/>
              </a:ext>
            </a:extLst>
          </p:cNvPr>
          <p:cNvSpPr>
            <a:spLocks noGrp="1"/>
          </p:cNvSpPr>
          <p:nvPr/>
        </p:nvSpPr>
        <p:spPr>
          <a:xfrm>
            <a:off x="7134225" y="2124075"/>
            <a:ext cx="304800" cy="304800"/>
          </a:xfrm>
          <a:prstGeom prst="ellipse">
            <a:avLst/>
          </a:prstGeom>
          <a:solidFill>
            <a:srgbClr val="F6ECE9"/>
          </a:solidFill>
          <a:ln w="23813">
            <a:solidFill>
              <a:srgbClr val="B86B5E"/>
            </a:solidFill>
            <a:prstDash val="solid"/>
          </a:ln>
        </p:spPr>
        <p:txBody>
          <a:bodyPr/>
          <a:lstStyle/>
          <a:p>
            <a:endParaRPr lang="en-US"/>
          </a:p>
        </p:txBody>
      </p:sp>
      <p:sp>
        <p:nvSpPr>
          <p:cNvPr id="18" name="p2-bug-t">
            <a:extLst>
              <a:ext uri="{FF2B5EF4-FFF2-40B4-BE49-F238E27FC236}">
                <a16:creationId xmlns:a16="http://schemas.microsoft.com/office/drawing/2014/main" id="{A168E02C-584C-474B-8C5B-4A91F5895663}"/>
              </a:ext>
            </a:extLst>
          </p:cNvPr>
          <p:cNvSpPr>
            <a:spLocks noGrp="1"/>
          </p:cNvSpPr>
          <p:nvPr/>
        </p:nvSpPr>
        <p:spPr>
          <a:xfrm>
            <a:off x="7134225" y="2114550"/>
            <a:ext cx="304800" cy="304800"/>
          </a:xfrm>
          <a:prstGeom prst="rect">
            <a:avLst/>
          </a:prstGeom>
          <a:noFill/>
          <a:ln w="0">
            <a:noFill/>
            <a:prstDash val="solid"/>
          </a:ln>
        </p:spPr>
        <p:txBody>
          <a:bodyPr anchor="ctr"/>
          <a:lstStyle/>
          <a:p>
            <a:pPr algn="ctr">
              <a:defRPr sz="1275" b="1">
                <a:solidFill>
                  <a:srgbClr val="B86B5E"/>
                </a:solidFill>
              </a:defRPr>
            </a:pPr>
            <a:r>
              <a:rPr sz="1275" b="1">
                <a:solidFill>
                  <a:srgbClr val="B86B5E"/>
                </a:solidFill>
              </a:rPr>
              <a:t>!</a:t>
            </a:r>
          </a:p>
        </p:txBody>
      </p:sp>
      <p:sp>
        <p:nvSpPr>
          <p:cNvPr id="19" name="p3">
            <a:extLst>
              <a:ext uri="{FF2B5EF4-FFF2-40B4-BE49-F238E27FC236}">
                <a16:creationId xmlns:a16="http://schemas.microsoft.com/office/drawing/2014/main" id="{426C8184-4201-495B-874F-810D7EDEC9BC}"/>
              </a:ext>
            </a:extLst>
          </p:cNvPr>
          <p:cNvSpPr>
            <a:spLocks noGrp="1"/>
          </p:cNvSpPr>
          <p:nvPr/>
        </p:nvSpPr>
        <p:spPr>
          <a:xfrm>
            <a:off x="7677150" y="224790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20" name="p3-label">
            <a:extLst>
              <a:ext uri="{FF2B5EF4-FFF2-40B4-BE49-F238E27FC236}">
                <a16:creationId xmlns:a16="http://schemas.microsoft.com/office/drawing/2014/main" id="{63731A8F-DDAC-4675-AE5E-FE688FF4ADF8}"/>
              </a:ext>
            </a:extLst>
          </p:cNvPr>
          <p:cNvSpPr>
            <a:spLocks noGrp="1"/>
          </p:cNvSpPr>
          <p:nvPr/>
        </p:nvSpPr>
        <p:spPr>
          <a:xfrm>
            <a:off x="7848600" y="2343150"/>
            <a:ext cx="110490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T F F</a:t>
            </a:r>
          </a:p>
        </p:txBody>
      </p:sp>
      <p:sp>
        <p:nvSpPr>
          <p:cNvPr id="21" name="p3-status">
            <a:extLst>
              <a:ext uri="{FF2B5EF4-FFF2-40B4-BE49-F238E27FC236}">
                <a16:creationId xmlns:a16="http://schemas.microsoft.com/office/drawing/2014/main" id="{881828EC-430B-4EA6-AF5C-161B5288EA55}"/>
              </a:ext>
            </a:extLst>
          </p:cNvPr>
          <p:cNvSpPr>
            <a:spLocks noGrp="1"/>
          </p:cNvSpPr>
          <p:nvPr/>
        </p:nvSpPr>
        <p:spPr>
          <a:xfrm>
            <a:off x="8934450" y="2352675"/>
            <a:ext cx="628650" cy="381000"/>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not tested</a:t>
            </a:r>
          </a:p>
        </p:txBody>
      </p:sp>
      <p:sp>
        <p:nvSpPr>
          <p:cNvPr id="22" name="p4">
            <a:extLst>
              <a:ext uri="{FF2B5EF4-FFF2-40B4-BE49-F238E27FC236}">
                <a16:creationId xmlns:a16="http://schemas.microsoft.com/office/drawing/2014/main" id="{AE812020-3FBF-4377-9971-76E59A498210}"/>
              </a:ext>
            </a:extLst>
          </p:cNvPr>
          <p:cNvSpPr>
            <a:spLocks noGrp="1"/>
          </p:cNvSpPr>
          <p:nvPr/>
        </p:nvSpPr>
        <p:spPr>
          <a:xfrm>
            <a:off x="876300" y="314325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23" name="p4-label">
            <a:extLst>
              <a:ext uri="{FF2B5EF4-FFF2-40B4-BE49-F238E27FC236}">
                <a16:creationId xmlns:a16="http://schemas.microsoft.com/office/drawing/2014/main" id="{39AA861C-0626-4354-B3FB-B999946619CD}"/>
              </a:ext>
            </a:extLst>
          </p:cNvPr>
          <p:cNvSpPr>
            <a:spLocks noGrp="1"/>
          </p:cNvSpPr>
          <p:nvPr/>
        </p:nvSpPr>
        <p:spPr>
          <a:xfrm>
            <a:off x="1047750" y="3238500"/>
            <a:ext cx="110490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F T T</a:t>
            </a:r>
          </a:p>
        </p:txBody>
      </p:sp>
      <p:sp>
        <p:nvSpPr>
          <p:cNvPr id="24" name="p4-status">
            <a:extLst>
              <a:ext uri="{FF2B5EF4-FFF2-40B4-BE49-F238E27FC236}">
                <a16:creationId xmlns:a16="http://schemas.microsoft.com/office/drawing/2014/main" id="{3D6FFA2D-1411-4C62-A3D5-57A02836748E}"/>
              </a:ext>
            </a:extLst>
          </p:cNvPr>
          <p:cNvSpPr>
            <a:spLocks noGrp="1"/>
          </p:cNvSpPr>
          <p:nvPr/>
        </p:nvSpPr>
        <p:spPr>
          <a:xfrm>
            <a:off x="2133600" y="3248025"/>
            <a:ext cx="628650" cy="381000"/>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not tested</a:t>
            </a:r>
          </a:p>
        </p:txBody>
      </p:sp>
      <p:sp>
        <p:nvSpPr>
          <p:cNvPr id="25" name="p5">
            <a:extLst>
              <a:ext uri="{FF2B5EF4-FFF2-40B4-BE49-F238E27FC236}">
                <a16:creationId xmlns:a16="http://schemas.microsoft.com/office/drawing/2014/main" id="{89419DBC-29D0-4BDD-9EE8-A9ABA5C9BCF2}"/>
              </a:ext>
            </a:extLst>
          </p:cNvPr>
          <p:cNvSpPr>
            <a:spLocks noGrp="1"/>
          </p:cNvSpPr>
          <p:nvPr/>
        </p:nvSpPr>
        <p:spPr>
          <a:xfrm>
            <a:off x="3143250" y="314325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26" name="p5-label">
            <a:extLst>
              <a:ext uri="{FF2B5EF4-FFF2-40B4-BE49-F238E27FC236}">
                <a16:creationId xmlns:a16="http://schemas.microsoft.com/office/drawing/2014/main" id="{1706755D-240E-42E5-932B-328BFD5E60B7}"/>
              </a:ext>
            </a:extLst>
          </p:cNvPr>
          <p:cNvSpPr>
            <a:spLocks noGrp="1"/>
          </p:cNvSpPr>
          <p:nvPr/>
        </p:nvSpPr>
        <p:spPr>
          <a:xfrm>
            <a:off x="3314700" y="3238500"/>
            <a:ext cx="110490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F T F</a:t>
            </a:r>
          </a:p>
        </p:txBody>
      </p:sp>
      <p:sp>
        <p:nvSpPr>
          <p:cNvPr id="27" name="p5-status">
            <a:extLst>
              <a:ext uri="{FF2B5EF4-FFF2-40B4-BE49-F238E27FC236}">
                <a16:creationId xmlns:a16="http://schemas.microsoft.com/office/drawing/2014/main" id="{EC19DBEF-27EA-4037-A2A0-E23A0D6D9E9E}"/>
              </a:ext>
            </a:extLst>
          </p:cNvPr>
          <p:cNvSpPr>
            <a:spLocks noGrp="1"/>
          </p:cNvSpPr>
          <p:nvPr/>
        </p:nvSpPr>
        <p:spPr>
          <a:xfrm>
            <a:off x="4400550" y="3248025"/>
            <a:ext cx="628650" cy="381000"/>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not tested</a:t>
            </a:r>
          </a:p>
        </p:txBody>
      </p:sp>
      <p:sp>
        <p:nvSpPr>
          <p:cNvPr id="28" name="p6">
            <a:extLst>
              <a:ext uri="{FF2B5EF4-FFF2-40B4-BE49-F238E27FC236}">
                <a16:creationId xmlns:a16="http://schemas.microsoft.com/office/drawing/2014/main" id="{3BBFD8D3-C067-48D3-AF90-237A81C948B8}"/>
              </a:ext>
            </a:extLst>
          </p:cNvPr>
          <p:cNvSpPr>
            <a:spLocks noGrp="1"/>
          </p:cNvSpPr>
          <p:nvPr/>
        </p:nvSpPr>
        <p:spPr>
          <a:xfrm>
            <a:off x="5410200" y="3143250"/>
            <a:ext cx="2000250" cy="609600"/>
          </a:xfrm>
          <a:prstGeom prst="roundRect">
            <a:avLst>
              <a:gd name="adj" fmla="val 12500"/>
            </a:avLst>
          </a:prstGeom>
          <a:solidFill>
            <a:srgbClr val="F3F5F7"/>
          </a:solidFill>
          <a:ln w="19050">
            <a:solidFill>
              <a:srgbClr val="D7DDE3"/>
            </a:solidFill>
            <a:prstDash val="solid"/>
          </a:ln>
        </p:spPr>
        <p:txBody>
          <a:bodyPr/>
          <a:lstStyle/>
          <a:p>
            <a:endParaRPr lang="en-US"/>
          </a:p>
        </p:txBody>
      </p:sp>
      <p:sp>
        <p:nvSpPr>
          <p:cNvPr id="29" name="p6-label">
            <a:extLst>
              <a:ext uri="{FF2B5EF4-FFF2-40B4-BE49-F238E27FC236}">
                <a16:creationId xmlns:a16="http://schemas.microsoft.com/office/drawing/2014/main" id="{61C42D04-C246-45B5-AD8D-330A3F8436FE}"/>
              </a:ext>
            </a:extLst>
          </p:cNvPr>
          <p:cNvSpPr>
            <a:spLocks noGrp="1"/>
          </p:cNvSpPr>
          <p:nvPr/>
        </p:nvSpPr>
        <p:spPr>
          <a:xfrm>
            <a:off x="5581650" y="3238500"/>
            <a:ext cx="1104900" cy="400050"/>
          </a:xfrm>
          <a:prstGeom prst="rect">
            <a:avLst/>
          </a:prstGeom>
          <a:noFill/>
          <a:ln w="0">
            <a:noFill/>
            <a:prstDash val="solid"/>
          </a:ln>
        </p:spPr>
        <p:txBody>
          <a:bodyPr anchor="ctr"/>
          <a:lstStyle/>
          <a:p>
            <a:pPr algn="ctr">
              <a:defRPr sz="1650" b="1">
                <a:solidFill>
                  <a:srgbClr val="25364A"/>
                </a:solidFill>
              </a:defRPr>
            </a:pPr>
            <a:r>
              <a:rPr sz="1650" b="1">
                <a:solidFill>
                  <a:srgbClr val="25364A"/>
                </a:solidFill>
              </a:rPr>
              <a:t>F F T</a:t>
            </a:r>
          </a:p>
        </p:txBody>
      </p:sp>
      <p:sp>
        <p:nvSpPr>
          <p:cNvPr id="30" name="p6-status">
            <a:extLst>
              <a:ext uri="{FF2B5EF4-FFF2-40B4-BE49-F238E27FC236}">
                <a16:creationId xmlns:a16="http://schemas.microsoft.com/office/drawing/2014/main" id="{FBC4B0C4-81EA-48B0-9080-49482367DA57}"/>
              </a:ext>
            </a:extLst>
          </p:cNvPr>
          <p:cNvSpPr>
            <a:spLocks noGrp="1"/>
          </p:cNvSpPr>
          <p:nvPr/>
        </p:nvSpPr>
        <p:spPr>
          <a:xfrm>
            <a:off x="6667500" y="3248025"/>
            <a:ext cx="628650" cy="381000"/>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not tested</a:t>
            </a:r>
          </a:p>
        </p:txBody>
      </p:sp>
      <p:sp>
        <p:nvSpPr>
          <p:cNvPr id="31" name="p7">
            <a:extLst>
              <a:ext uri="{FF2B5EF4-FFF2-40B4-BE49-F238E27FC236}">
                <a16:creationId xmlns:a16="http://schemas.microsoft.com/office/drawing/2014/main" id="{A1793A26-C7E0-4350-AFCA-05D3A8BB3E83}"/>
              </a:ext>
            </a:extLst>
          </p:cNvPr>
          <p:cNvSpPr>
            <a:spLocks noGrp="1"/>
          </p:cNvSpPr>
          <p:nvPr/>
        </p:nvSpPr>
        <p:spPr>
          <a:xfrm>
            <a:off x="7677150" y="3143250"/>
            <a:ext cx="2000250" cy="609600"/>
          </a:xfrm>
          <a:prstGeom prst="roundRect">
            <a:avLst>
              <a:gd name="adj" fmla="val 12500"/>
            </a:avLst>
          </a:prstGeom>
          <a:solidFill>
            <a:srgbClr val="EAF1F8"/>
          </a:solidFill>
          <a:ln w="19050">
            <a:solidFill>
              <a:srgbClr val="4C78A8"/>
            </a:solidFill>
            <a:prstDash val="solid"/>
          </a:ln>
        </p:spPr>
        <p:txBody>
          <a:bodyPr/>
          <a:lstStyle/>
          <a:p>
            <a:endParaRPr lang="en-US"/>
          </a:p>
        </p:txBody>
      </p:sp>
      <p:sp>
        <p:nvSpPr>
          <p:cNvPr id="32" name="p7-label">
            <a:extLst>
              <a:ext uri="{FF2B5EF4-FFF2-40B4-BE49-F238E27FC236}">
                <a16:creationId xmlns:a16="http://schemas.microsoft.com/office/drawing/2014/main" id="{89F254A2-4508-4FC1-80C7-4331FB41009F}"/>
              </a:ext>
            </a:extLst>
          </p:cNvPr>
          <p:cNvSpPr>
            <a:spLocks noGrp="1"/>
          </p:cNvSpPr>
          <p:nvPr/>
        </p:nvSpPr>
        <p:spPr>
          <a:xfrm>
            <a:off x="7848600" y="3238500"/>
            <a:ext cx="1104900" cy="400050"/>
          </a:xfrm>
          <a:prstGeom prst="rect">
            <a:avLst/>
          </a:prstGeom>
          <a:noFill/>
          <a:ln w="0">
            <a:noFill/>
            <a:prstDash val="solid"/>
          </a:ln>
        </p:spPr>
        <p:txBody>
          <a:bodyPr anchor="ctr"/>
          <a:lstStyle/>
          <a:p>
            <a:pPr algn="ctr">
              <a:defRPr sz="1650" b="1">
                <a:solidFill>
                  <a:srgbClr val="4C78A8"/>
                </a:solidFill>
              </a:defRPr>
            </a:pPr>
            <a:r>
              <a:rPr sz="1650" b="1">
                <a:solidFill>
                  <a:srgbClr val="4C78A8"/>
                </a:solidFill>
              </a:rPr>
              <a:t>F F F</a:t>
            </a:r>
          </a:p>
        </p:txBody>
      </p:sp>
      <p:sp>
        <p:nvSpPr>
          <p:cNvPr id="33" name="p7-status">
            <a:extLst>
              <a:ext uri="{FF2B5EF4-FFF2-40B4-BE49-F238E27FC236}">
                <a16:creationId xmlns:a16="http://schemas.microsoft.com/office/drawing/2014/main" id="{6F45A9D6-5062-432D-9CDF-5BE630D2A5CA}"/>
              </a:ext>
            </a:extLst>
          </p:cNvPr>
          <p:cNvSpPr>
            <a:spLocks noGrp="1"/>
          </p:cNvSpPr>
          <p:nvPr/>
        </p:nvSpPr>
        <p:spPr>
          <a:xfrm>
            <a:off x="8934450" y="3248025"/>
            <a:ext cx="628650" cy="381000"/>
          </a:xfrm>
          <a:prstGeom prst="rect">
            <a:avLst/>
          </a:prstGeom>
          <a:noFill/>
          <a:ln w="0">
            <a:noFill/>
            <a:prstDash val="solid"/>
          </a:ln>
        </p:spPr>
        <p:txBody>
          <a:bodyPr anchor="ctr"/>
          <a:lstStyle/>
          <a:p>
            <a:pPr algn="ctr">
              <a:defRPr sz="1725" b="1">
                <a:solidFill>
                  <a:srgbClr val="4C78A8"/>
                </a:solidFill>
              </a:defRPr>
            </a:pPr>
            <a:r>
              <a:rPr sz="1725" b="1">
                <a:solidFill>
                  <a:srgbClr val="4C78A8"/>
                </a:solidFill>
              </a:rPr>
              <a:t>✓</a:t>
            </a:r>
          </a:p>
        </p:txBody>
      </p:sp>
      <p:sp>
        <p:nvSpPr>
          <p:cNvPr id="34" name="metric">
            <a:extLst>
              <a:ext uri="{FF2B5EF4-FFF2-40B4-BE49-F238E27FC236}">
                <a16:creationId xmlns:a16="http://schemas.microsoft.com/office/drawing/2014/main" id="{48767EA3-81E0-4A29-A8C9-8FE7B3035013}"/>
              </a:ext>
            </a:extLst>
          </p:cNvPr>
          <p:cNvSpPr>
            <a:spLocks noGrp="1"/>
          </p:cNvSpPr>
          <p:nvPr/>
        </p:nvSpPr>
        <p:spPr>
          <a:xfrm>
            <a:off x="9925055" y="2247900"/>
            <a:ext cx="1695450" cy="2400300"/>
          </a:xfrm>
          <a:prstGeom prst="roundRect">
            <a:avLst>
              <a:gd name="adj" fmla="val 6742"/>
            </a:avLst>
          </a:prstGeom>
          <a:solidFill>
            <a:srgbClr val="F6ECE9"/>
          </a:solidFill>
          <a:ln w="19050">
            <a:solidFill>
              <a:srgbClr val="B86B5E"/>
            </a:solidFill>
            <a:prstDash val="solid"/>
          </a:ln>
        </p:spPr>
        <p:txBody>
          <a:bodyPr/>
          <a:lstStyle/>
          <a:p>
            <a:endParaRPr lang="en-US"/>
          </a:p>
        </p:txBody>
      </p:sp>
      <p:sp>
        <p:nvSpPr>
          <p:cNvPr id="35" name="metric-num">
            <a:extLst>
              <a:ext uri="{FF2B5EF4-FFF2-40B4-BE49-F238E27FC236}">
                <a16:creationId xmlns:a16="http://schemas.microsoft.com/office/drawing/2014/main" id="{426B8E59-02C6-4C9B-847D-8755DBD87655}"/>
              </a:ext>
            </a:extLst>
          </p:cNvPr>
          <p:cNvSpPr>
            <a:spLocks noGrp="1"/>
          </p:cNvSpPr>
          <p:nvPr/>
        </p:nvSpPr>
        <p:spPr>
          <a:xfrm>
            <a:off x="9925055" y="2571750"/>
            <a:ext cx="1695450" cy="685800"/>
          </a:xfrm>
          <a:prstGeom prst="rect">
            <a:avLst/>
          </a:prstGeom>
          <a:noFill/>
          <a:ln w="0">
            <a:noFill/>
            <a:prstDash val="solid"/>
          </a:ln>
        </p:spPr>
        <p:txBody>
          <a:bodyPr anchor="ctr"/>
          <a:lstStyle/>
          <a:p>
            <a:pPr algn="ctr">
              <a:defRPr sz="3450" b="1">
                <a:solidFill>
                  <a:srgbClr val="B86B5E"/>
                </a:solidFill>
              </a:defRPr>
            </a:pPr>
            <a:r>
              <a:rPr sz="3450" b="1">
                <a:solidFill>
                  <a:srgbClr val="B86B5E"/>
                </a:solidFill>
              </a:rPr>
              <a:t>25%</a:t>
            </a:r>
          </a:p>
        </p:txBody>
      </p:sp>
      <p:sp>
        <p:nvSpPr>
          <p:cNvPr id="36" name="metric-label">
            <a:extLst>
              <a:ext uri="{FF2B5EF4-FFF2-40B4-BE49-F238E27FC236}">
                <a16:creationId xmlns:a16="http://schemas.microsoft.com/office/drawing/2014/main" id="{C7D8EB12-B667-4584-98AC-7B16FBD93648}"/>
              </a:ext>
            </a:extLst>
          </p:cNvPr>
          <p:cNvSpPr>
            <a:spLocks noGrp="1"/>
          </p:cNvSpPr>
          <p:nvPr/>
        </p:nvSpPr>
        <p:spPr>
          <a:xfrm>
            <a:off x="9925055" y="3276600"/>
            <a:ext cx="1695450" cy="609600"/>
          </a:xfrm>
          <a:prstGeom prst="rect">
            <a:avLst/>
          </a:prstGeom>
          <a:noFill/>
          <a:ln w="0">
            <a:noFill/>
            <a:prstDash val="solid"/>
          </a:ln>
        </p:spPr>
        <p:txBody>
          <a:bodyPr anchor="ctr"/>
          <a:lstStyle/>
          <a:p>
            <a:pPr algn="ctr">
              <a:defRPr sz="1500" b="1">
                <a:solidFill>
                  <a:srgbClr val="B86B5E"/>
                </a:solidFill>
              </a:defRPr>
            </a:pPr>
            <a:r>
              <a:rPr sz="1500" b="1">
                <a:solidFill>
                  <a:srgbClr val="B86B5E"/>
                </a:solidFill>
              </a:rPr>
              <a:t>PATH</a:t>
            </a:r>
          </a:p>
          <a:p>
            <a:pPr algn="ctr">
              <a:defRPr sz="1500" b="1">
                <a:solidFill>
                  <a:srgbClr val="B86B5E"/>
                </a:solidFill>
              </a:defRPr>
            </a:pPr>
            <a:r>
              <a:rPr sz="1500" b="1">
                <a:solidFill>
                  <a:srgbClr val="B86B5E"/>
                </a:solidFill>
              </a:rPr>
              <a:t>COVERAGE</a:t>
            </a:r>
          </a:p>
        </p:txBody>
      </p:sp>
      <p:sp>
        <p:nvSpPr>
          <p:cNvPr id="37" name="metric-sub">
            <a:extLst>
              <a:ext uri="{FF2B5EF4-FFF2-40B4-BE49-F238E27FC236}">
                <a16:creationId xmlns:a16="http://schemas.microsoft.com/office/drawing/2014/main" id="{87CE7232-8670-41B0-9432-27D940AC4629}"/>
              </a:ext>
            </a:extLst>
          </p:cNvPr>
          <p:cNvSpPr>
            <a:spLocks noGrp="1"/>
          </p:cNvSpPr>
          <p:nvPr/>
        </p:nvSpPr>
        <p:spPr>
          <a:xfrm>
            <a:off x="9925055" y="4048125"/>
            <a:ext cx="1695450" cy="304800"/>
          </a:xfrm>
          <a:prstGeom prst="rect">
            <a:avLst/>
          </a:prstGeom>
          <a:noFill/>
          <a:ln w="0">
            <a:noFill/>
            <a:prstDash val="solid"/>
          </a:ln>
        </p:spPr>
        <p:txBody>
          <a:bodyPr anchor="ctr"/>
          <a:lstStyle/>
          <a:p>
            <a:pPr algn="ctr">
              <a:defRPr sz="1275" b="0">
                <a:solidFill>
                  <a:srgbClr val="66727F"/>
                </a:solidFill>
              </a:defRPr>
            </a:pPr>
            <a:r>
              <a:rPr sz="1275" b="0">
                <a:solidFill>
                  <a:srgbClr val="66727F"/>
                </a:solidFill>
              </a:rPr>
              <a:t>2 of 8 paths</a:t>
            </a:r>
          </a:p>
        </p:txBody>
      </p:sp>
      <p:sp>
        <p:nvSpPr>
          <p:cNvPr id="38" name="takeaway">
            <a:extLst>
              <a:ext uri="{FF2B5EF4-FFF2-40B4-BE49-F238E27FC236}">
                <a16:creationId xmlns:a16="http://schemas.microsoft.com/office/drawing/2014/main" id="{0F4BC51E-F3D2-496D-BAAF-2126F7218420}"/>
              </a:ext>
            </a:extLst>
          </p:cNvPr>
          <p:cNvSpPr>
            <a:spLocks noGrp="1"/>
          </p:cNvSpPr>
          <p:nvPr/>
        </p:nvSpPr>
        <p:spPr>
          <a:xfrm>
            <a:off x="781050" y="5467350"/>
            <a:ext cx="10629900" cy="723900"/>
          </a:xfrm>
          <a:prstGeom prst="roundRect">
            <a:avLst>
              <a:gd name="adj" fmla="val 10526"/>
            </a:avLst>
          </a:prstGeom>
          <a:solidFill>
            <a:srgbClr val="F6ECE9"/>
          </a:solidFill>
          <a:ln w="19050">
            <a:solidFill>
              <a:srgbClr val="B86B5E"/>
            </a:solidFill>
            <a:prstDash val="solid"/>
          </a:ln>
        </p:spPr>
        <p:txBody>
          <a:bodyPr/>
          <a:lstStyle/>
          <a:p>
            <a:endParaRPr lang="en-US"/>
          </a:p>
        </p:txBody>
      </p:sp>
      <p:sp>
        <p:nvSpPr>
          <p:cNvPr id="39" name="takeaway-text">
            <a:extLst>
              <a:ext uri="{FF2B5EF4-FFF2-40B4-BE49-F238E27FC236}">
                <a16:creationId xmlns:a16="http://schemas.microsoft.com/office/drawing/2014/main" id="{147EBABC-5037-47B5-8FCA-F6A3A46C8E2E}"/>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B86B5E"/>
                </a:solidFill>
              </a:defRPr>
            </a:pPr>
            <a:r>
              <a:rPr sz="1800" b="1">
                <a:solidFill>
                  <a:srgbClr val="B86B5E"/>
                </a:solidFill>
              </a:rPr>
              <a:t>A defect in an untested combination can remain hidden—even with 100% branch coverage.</a:t>
            </a:r>
          </a:p>
        </p:txBody>
      </p:sp>
    </p:spTree>
    <p:extLst>
      <p:ext uri="{BB962C8B-B14F-4D97-AF65-F5344CB8AC3E}">
        <p14:creationId xmlns:p14="http://schemas.microsoft.com/office/powerpoint/2010/main" val="1123818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500"/>
                                        <p:tgtEl>
                                          <p:spTgt spid="3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500"/>
                                        <p:tgtEl>
                                          <p:spTgt spid="3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500"/>
                                        <p:tgtEl>
                                          <p:spTgt spid="3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500"/>
                                        <p:tgtEl>
                                          <p:spTgt spid="3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50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p:bldP spid="7" grpId="0"/>
      <p:bldP spid="10" grpId="0"/>
      <p:bldP spid="33" grpId="0"/>
      <p:bldP spid="34" grpId="0" animBg="1"/>
      <p:bldP spid="35" grpId="0"/>
      <p:bldP spid="36" grpId="0"/>
      <p:bldP spid="37" grpId="0"/>
      <p:bldP spid="38" grpId="0" animBg="1"/>
      <p:bldP spid="3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9DFFC-8FA8-EE41-1911-729E07160D28}"/>
              </a:ext>
            </a:extLst>
          </p:cNvPr>
          <p:cNvSpPr>
            <a:spLocks noGrp="1"/>
          </p:cNvSpPr>
          <p:nvPr>
            <p:ph type="title"/>
          </p:nvPr>
        </p:nvSpPr>
        <p:spPr/>
        <p:txBody>
          <a:bodyPr/>
          <a:lstStyle/>
          <a:p>
            <a:r>
              <a:rPr lang="en-GB" dirty="0"/>
              <a:t>Test drive the development</a:t>
            </a:r>
            <a:endParaRPr lang="en-BE" dirty="0"/>
          </a:p>
        </p:txBody>
      </p:sp>
      <p:sp>
        <p:nvSpPr>
          <p:cNvPr id="3" name="Content Placeholder 2">
            <a:extLst>
              <a:ext uri="{FF2B5EF4-FFF2-40B4-BE49-F238E27FC236}">
                <a16:creationId xmlns:a16="http://schemas.microsoft.com/office/drawing/2014/main" id="{4A0BD4AA-24AE-4EA8-AE76-56DB2E408BFF}"/>
              </a:ext>
            </a:extLst>
          </p:cNvPr>
          <p:cNvSpPr>
            <a:spLocks noGrp="1"/>
          </p:cNvSpPr>
          <p:nvPr>
            <p:ph idx="1"/>
          </p:nvPr>
        </p:nvSpPr>
        <p:spPr/>
        <p:txBody>
          <a:bodyPr>
            <a:normAutofit/>
          </a:bodyPr>
          <a:lstStyle/>
          <a:p>
            <a:r>
              <a:rPr lang="en-GB" sz="3200" dirty="0"/>
              <a:t>TDD is a software development approach where tests are written before the actual code. The cycle can be summarized as </a:t>
            </a:r>
            <a:r>
              <a:rPr lang="en-GB" sz="3200" b="1" dirty="0">
                <a:solidFill>
                  <a:srgbClr val="C00000"/>
                </a:solidFill>
              </a:rPr>
              <a:t>Red</a:t>
            </a:r>
            <a:r>
              <a:rPr lang="en-GB" sz="3200" b="1" dirty="0"/>
              <a:t>-</a:t>
            </a:r>
            <a:r>
              <a:rPr lang="en-GB" sz="3200" b="1" dirty="0">
                <a:solidFill>
                  <a:srgbClr val="17792D"/>
                </a:solidFill>
              </a:rPr>
              <a:t>Green</a:t>
            </a:r>
            <a:r>
              <a:rPr lang="en-GB" sz="3200" b="1" dirty="0"/>
              <a:t>-</a:t>
            </a:r>
            <a:r>
              <a:rPr lang="en-GB" sz="3200" b="1" dirty="0">
                <a:solidFill>
                  <a:srgbClr val="0C00FF"/>
                </a:solidFill>
              </a:rPr>
              <a:t>Refactor</a:t>
            </a:r>
            <a:r>
              <a:rPr lang="en-GB" sz="3200" dirty="0"/>
              <a:t>.</a:t>
            </a:r>
          </a:p>
          <a:p>
            <a:pPr lvl="1"/>
            <a:r>
              <a:rPr lang="en-GB" sz="2800" b="1" dirty="0">
                <a:solidFill>
                  <a:srgbClr val="C00000"/>
                </a:solidFill>
              </a:rPr>
              <a:t>Red</a:t>
            </a:r>
            <a:r>
              <a:rPr lang="en-GB" sz="2800" dirty="0"/>
              <a:t>: Write a failing test (indicating that the functionality doesn't exist or work yet).</a:t>
            </a:r>
          </a:p>
          <a:p>
            <a:pPr lvl="1"/>
            <a:r>
              <a:rPr lang="en-GB" sz="2800" b="1" dirty="0">
                <a:solidFill>
                  <a:srgbClr val="17792D"/>
                </a:solidFill>
              </a:rPr>
              <a:t>Green</a:t>
            </a:r>
            <a:r>
              <a:rPr lang="en-GB" sz="2800" dirty="0"/>
              <a:t>: Write the minimal amount of code to make the test pass.</a:t>
            </a:r>
          </a:p>
          <a:p>
            <a:pPr lvl="1"/>
            <a:r>
              <a:rPr lang="en-GB" sz="2800" b="1" dirty="0">
                <a:solidFill>
                  <a:srgbClr val="0C00FF"/>
                </a:solidFill>
              </a:rPr>
              <a:t>Refactor</a:t>
            </a:r>
            <a:r>
              <a:rPr lang="en-GB" sz="2800" dirty="0"/>
              <a:t>: Clean up the code while ensuring the test still passes.</a:t>
            </a:r>
          </a:p>
          <a:p>
            <a:endParaRPr lang="en-BE" dirty="0"/>
          </a:p>
        </p:txBody>
      </p:sp>
    </p:spTree>
    <p:extLst>
      <p:ext uri="{BB962C8B-B14F-4D97-AF65-F5344CB8AC3E}">
        <p14:creationId xmlns:p14="http://schemas.microsoft.com/office/powerpoint/2010/main" val="27436272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E8536-E9E7-F051-6941-0B3FB9ED173E}"/>
              </a:ext>
            </a:extLst>
          </p:cNvPr>
          <p:cNvSpPr>
            <a:spLocks noGrp="1"/>
          </p:cNvSpPr>
          <p:nvPr>
            <p:ph type="title"/>
          </p:nvPr>
        </p:nvSpPr>
        <p:spPr>
          <a:xfrm>
            <a:off x="594360" y="1"/>
            <a:ext cx="10515600" cy="938784"/>
          </a:xfrm>
        </p:spPr>
        <p:txBody>
          <a:bodyPr/>
          <a:lstStyle/>
          <a:p>
            <a:r>
              <a:rPr lang="en-BE" dirty="0"/>
              <a:t>Basic TDD workflow</a:t>
            </a:r>
          </a:p>
        </p:txBody>
      </p:sp>
      <p:cxnSp>
        <p:nvCxnSpPr>
          <p:cNvPr id="17" name="Straight Arrow Connector 16">
            <a:extLst>
              <a:ext uri="{FF2B5EF4-FFF2-40B4-BE49-F238E27FC236}">
                <a16:creationId xmlns:a16="http://schemas.microsoft.com/office/drawing/2014/main" id="{ECE58D6A-DE67-0E41-1B7A-0B35F70F259E}"/>
              </a:ext>
            </a:extLst>
          </p:cNvPr>
          <p:cNvCxnSpPr>
            <a:cxnSpLocks/>
          </p:cNvCxnSpPr>
          <p:nvPr/>
        </p:nvCxnSpPr>
        <p:spPr>
          <a:xfrm flipV="1">
            <a:off x="3998976" y="2865120"/>
            <a:ext cx="853440" cy="1264921"/>
          </a:xfrm>
          <a:prstGeom prst="straightConnector1">
            <a:avLst/>
          </a:prstGeom>
          <a:ln w="762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4ABEE3D-9BF1-D7B2-F70D-C02BBB1D3A82}"/>
              </a:ext>
            </a:extLst>
          </p:cNvPr>
          <p:cNvSpPr txBox="1"/>
          <p:nvPr/>
        </p:nvSpPr>
        <p:spPr>
          <a:xfrm>
            <a:off x="5050536" y="3282619"/>
            <a:ext cx="1426464" cy="1200329"/>
          </a:xfrm>
          <a:prstGeom prst="rect">
            <a:avLst/>
          </a:prstGeom>
          <a:noFill/>
        </p:spPr>
        <p:txBody>
          <a:bodyPr wrap="square" rtlCol="0">
            <a:spAutoFit/>
          </a:bodyPr>
          <a:lstStyle/>
          <a:p>
            <a:pPr algn="ctr"/>
            <a:r>
              <a:rPr lang="en-BE" sz="2400" dirty="0">
                <a:solidFill>
                  <a:srgbClr val="C00000"/>
                </a:solidFill>
              </a:rPr>
              <a:t>Red</a:t>
            </a:r>
            <a:r>
              <a:rPr lang="en-BE" sz="2400" dirty="0"/>
              <a:t>, </a:t>
            </a:r>
          </a:p>
          <a:p>
            <a:pPr algn="ctr"/>
            <a:r>
              <a:rPr lang="en-BE" sz="2400" dirty="0">
                <a:solidFill>
                  <a:srgbClr val="17792D"/>
                </a:solidFill>
              </a:rPr>
              <a:t>Green</a:t>
            </a:r>
            <a:r>
              <a:rPr lang="en-BE" sz="2400" dirty="0"/>
              <a:t>,</a:t>
            </a:r>
          </a:p>
          <a:p>
            <a:pPr algn="ctr"/>
            <a:r>
              <a:rPr lang="en-BE" sz="2400" dirty="0">
                <a:solidFill>
                  <a:srgbClr val="0C00FF"/>
                </a:solidFill>
              </a:rPr>
              <a:t>Refactor</a:t>
            </a:r>
          </a:p>
        </p:txBody>
      </p:sp>
      <p:grpSp>
        <p:nvGrpSpPr>
          <p:cNvPr id="23" name="Group 22">
            <a:extLst>
              <a:ext uri="{FF2B5EF4-FFF2-40B4-BE49-F238E27FC236}">
                <a16:creationId xmlns:a16="http://schemas.microsoft.com/office/drawing/2014/main" id="{2E511F23-ECE6-51CE-01C7-F167CE331AA9}"/>
              </a:ext>
            </a:extLst>
          </p:cNvPr>
          <p:cNvGrpSpPr/>
          <p:nvPr/>
        </p:nvGrpSpPr>
        <p:grpSpPr>
          <a:xfrm>
            <a:off x="4669536" y="1338071"/>
            <a:ext cx="3694176" cy="1633729"/>
            <a:chOff x="4669536" y="1338071"/>
            <a:chExt cx="3694176" cy="1633729"/>
          </a:xfrm>
        </p:grpSpPr>
        <p:sp>
          <p:nvSpPr>
            <p:cNvPr id="4" name="Oval 3">
              <a:extLst>
                <a:ext uri="{FF2B5EF4-FFF2-40B4-BE49-F238E27FC236}">
                  <a16:creationId xmlns:a16="http://schemas.microsoft.com/office/drawing/2014/main" id="{B2FB32CC-1B1F-B4EC-AC82-7234103FC371}"/>
                </a:ext>
              </a:extLst>
            </p:cNvPr>
            <p:cNvSpPr/>
            <p:nvPr/>
          </p:nvSpPr>
          <p:spPr>
            <a:xfrm>
              <a:off x="4669536" y="1338071"/>
              <a:ext cx="1706880" cy="1633729"/>
            </a:xfrm>
            <a:prstGeom prst="ellips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2400" dirty="0"/>
                <a:t>RED</a:t>
              </a:r>
            </a:p>
            <a:p>
              <a:pPr algn="ctr"/>
              <a:r>
                <a:rPr lang="en-BE" sz="2400" dirty="0"/>
                <a:t>(Fail)</a:t>
              </a:r>
            </a:p>
          </p:txBody>
        </p:sp>
        <p:sp>
          <p:nvSpPr>
            <p:cNvPr id="20" name="TextBox 19">
              <a:extLst>
                <a:ext uri="{FF2B5EF4-FFF2-40B4-BE49-F238E27FC236}">
                  <a16:creationId xmlns:a16="http://schemas.microsoft.com/office/drawing/2014/main" id="{AE975BE8-A0C1-41A9-ACDC-650ACAE24449}"/>
                </a:ext>
              </a:extLst>
            </p:cNvPr>
            <p:cNvSpPr txBox="1"/>
            <p:nvPr/>
          </p:nvSpPr>
          <p:spPr>
            <a:xfrm>
              <a:off x="6510528" y="1650414"/>
              <a:ext cx="1853184" cy="646331"/>
            </a:xfrm>
            <a:prstGeom prst="rect">
              <a:avLst/>
            </a:prstGeom>
            <a:noFill/>
          </p:spPr>
          <p:txBody>
            <a:bodyPr wrap="square" rtlCol="0">
              <a:spAutoFit/>
            </a:bodyPr>
            <a:lstStyle/>
            <a:p>
              <a:r>
                <a:rPr lang="en-BE" dirty="0">
                  <a:solidFill>
                    <a:srgbClr val="C00000"/>
                  </a:solidFill>
                </a:rPr>
                <a:t>Write test case that fails</a:t>
              </a:r>
            </a:p>
          </p:txBody>
        </p:sp>
      </p:grpSp>
      <p:grpSp>
        <p:nvGrpSpPr>
          <p:cNvPr id="24" name="Group 23">
            <a:extLst>
              <a:ext uri="{FF2B5EF4-FFF2-40B4-BE49-F238E27FC236}">
                <a16:creationId xmlns:a16="http://schemas.microsoft.com/office/drawing/2014/main" id="{D60BCA5A-50D3-AB9E-3D2C-5BDB3D69184D}"/>
              </a:ext>
            </a:extLst>
          </p:cNvPr>
          <p:cNvGrpSpPr/>
          <p:nvPr/>
        </p:nvGrpSpPr>
        <p:grpSpPr>
          <a:xfrm>
            <a:off x="6376416" y="2609088"/>
            <a:ext cx="4218432" cy="3194303"/>
            <a:chOff x="6376416" y="2609088"/>
            <a:chExt cx="4218432" cy="3194303"/>
          </a:xfrm>
        </p:grpSpPr>
        <p:sp>
          <p:nvSpPr>
            <p:cNvPr id="5" name="Oval 4">
              <a:extLst>
                <a:ext uri="{FF2B5EF4-FFF2-40B4-BE49-F238E27FC236}">
                  <a16:creationId xmlns:a16="http://schemas.microsoft.com/office/drawing/2014/main" id="{784178EA-4EB7-FAB8-7D1F-583CC412F1F9}"/>
                </a:ext>
              </a:extLst>
            </p:cNvPr>
            <p:cNvSpPr/>
            <p:nvPr/>
          </p:nvSpPr>
          <p:spPr>
            <a:xfrm>
              <a:off x="6961632" y="4169662"/>
              <a:ext cx="1706880" cy="1633729"/>
            </a:xfrm>
            <a:prstGeom prst="ellipse">
              <a:avLst/>
            </a:prstGeom>
            <a:solidFill>
              <a:srgbClr val="17792D"/>
            </a:solidFill>
            <a:ln>
              <a:solidFill>
                <a:srgbClr val="1779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2400" dirty="0"/>
                <a:t>GREEN</a:t>
              </a:r>
            </a:p>
            <a:p>
              <a:pPr algn="ctr"/>
              <a:r>
                <a:rPr lang="en-BE" sz="2400" dirty="0"/>
                <a:t>(Pass)</a:t>
              </a:r>
            </a:p>
          </p:txBody>
        </p:sp>
        <p:cxnSp>
          <p:nvCxnSpPr>
            <p:cNvPr id="13" name="Straight Arrow Connector 12">
              <a:extLst>
                <a:ext uri="{FF2B5EF4-FFF2-40B4-BE49-F238E27FC236}">
                  <a16:creationId xmlns:a16="http://schemas.microsoft.com/office/drawing/2014/main" id="{FC2BC5B2-5C55-993D-F57D-7DDB891B2457}"/>
                </a:ext>
              </a:extLst>
            </p:cNvPr>
            <p:cNvCxnSpPr/>
            <p:nvPr/>
          </p:nvCxnSpPr>
          <p:spPr>
            <a:xfrm>
              <a:off x="6376416" y="2609088"/>
              <a:ext cx="963168" cy="1402080"/>
            </a:xfrm>
            <a:prstGeom prst="straightConnector1">
              <a:avLst/>
            </a:prstGeom>
            <a:ln w="762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37466CF-EC64-A603-C5ED-F691D0814973}"/>
                </a:ext>
              </a:extLst>
            </p:cNvPr>
            <p:cNvSpPr txBox="1"/>
            <p:nvPr/>
          </p:nvSpPr>
          <p:spPr>
            <a:xfrm>
              <a:off x="8741664" y="4697909"/>
              <a:ext cx="1853184" cy="923330"/>
            </a:xfrm>
            <a:prstGeom prst="rect">
              <a:avLst/>
            </a:prstGeom>
            <a:noFill/>
          </p:spPr>
          <p:txBody>
            <a:bodyPr wrap="square" rtlCol="0">
              <a:spAutoFit/>
            </a:bodyPr>
            <a:lstStyle/>
            <a:p>
              <a:r>
                <a:rPr lang="en-BE" dirty="0">
                  <a:solidFill>
                    <a:srgbClr val="17792D"/>
                  </a:solidFill>
                </a:rPr>
                <a:t>Write code for test case – tests pass</a:t>
              </a:r>
            </a:p>
          </p:txBody>
        </p:sp>
      </p:grpSp>
      <p:grpSp>
        <p:nvGrpSpPr>
          <p:cNvPr id="25" name="Group 24">
            <a:extLst>
              <a:ext uri="{FF2B5EF4-FFF2-40B4-BE49-F238E27FC236}">
                <a16:creationId xmlns:a16="http://schemas.microsoft.com/office/drawing/2014/main" id="{1A59A064-3B25-F5A9-1A5E-5F4FB6BD1445}"/>
              </a:ext>
            </a:extLst>
          </p:cNvPr>
          <p:cNvGrpSpPr/>
          <p:nvPr/>
        </p:nvGrpSpPr>
        <p:grpSpPr>
          <a:xfrm>
            <a:off x="1164336" y="4169663"/>
            <a:ext cx="5596128" cy="1673351"/>
            <a:chOff x="1164336" y="4169663"/>
            <a:chExt cx="5596128" cy="1673351"/>
          </a:xfrm>
        </p:grpSpPr>
        <p:sp>
          <p:nvSpPr>
            <p:cNvPr id="6" name="Oval 5">
              <a:extLst>
                <a:ext uri="{FF2B5EF4-FFF2-40B4-BE49-F238E27FC236}">
                  <a16:creationId xmlns:a16="http://schemas.microsoft.com/office/drawing/2014/main" id="{96A1CE0C-4811-078E-69AE-BCA7C93AC122}"/>
                </a:ext>
              </a:extLst>
            </p:cNvPr>
            <p:cNvSpPr/>
            <p:nvPr/>
          </p:nvSpPr>
          <p:spPr>
            <a:xfrm>
              <a:off x="2865120" y="4169663"/>
              <a:ext cx="1706880" cy="1633729"/>
            </a:xfrm>
            <a:prstGeom prst="ellipse">
              <a:avLst/>
            </a:prstGeom>
            <a:solidFill>
              <a:srgbClr val="0C00FF"/>
            </a:solidFill>
            <a:ln>
              <a:solidFill>
                <a:srgbClr val="1779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REFACTOR</a:t>
              </a:r>
            </a:p>
          </p:txBody>
        </p:sp>
        <p:cxnSp>
          <p:nvCxnSpPr>
            <p:cNvPr id="14" name="Straight Arrow Connector 13">
              <a:extLst>
                <a:ext uri="{FF2B5EF4-FFF2-40B4-BE49-F238E27FC236}">
                  <a16:creationId xmlns:a16="http://schemas.microsoft.com/office/drawing/2014/main" id="{1FD75121-BE08-9C8D-E6D0-79BBCD2A9688}"/>
                </a:ext>
              </a:extLst>
            </p:cNvPr>
            <p:cNvCxnSpPr>
              <a:cxnSpLocks/>
            </p:cNvCxnSpPr>
            <p:nvPr/>
          </p:nvCxnSpPr>
          <p:spPr>
            <a:xfrm flipH="1">
              <a:off x="4767072" y="5102351"/>
              <a:ext cx="1993392" cy="0"/>
            </a:xfrm>
            <a:prstGeom prst="straightConnector1">
              <a:avLst/>
            </a:prstGeom>
            <a:ln w="762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5087929-8189-5F90-9F59-34C43C960AC2}"/>
                </a:ext>
              </a:extLst>
            </p:cNvPr>
            <p:cNvSpPr txBox="1"/>
            <p:nvPr/>
          </p:nvSpPr>
          <p:spPr>
            <a:xfrm>
              <a:off x="1164336" y="5196683"/>
              <a:ext cx="1853184" cy="646331"/>
            </a:xfrm>
            <a:prstGeom prst="rect">
              <a:avLst/>
            </a:prstGeom>
            <a:noFill/>
          </p:spPr>
          <p:txBody>
            <a:bodyPr wrap="square" rtlCol="0">
              <a:spAutoFit/>
            </a:bodyPr>
            <a:lstStyle/>
            <a:p>
              <a:r>
                <a:rPr lang="en-BE" dirty="0">
                  <a:solidFill>
                    <a:srgbClr val="0C00FF"/>
                  </a:solidFill>
                </a:rPr>
                <a:t>Improve the code quality</a:t>
              </a:r>
            </a:p>
          </p:txBody>
        </p:sp>
      </p:grpSp>
      <p:sp>
        <p:nvSpPr>
          <p:cNvPr id="3" name="TextBox 2">
            <a:extLst>
              <a:ext uri="{FF2B5EF4-FFF2-40B4-BE49-F238E27FC236}">
                <a16:creationId xmlns:a16="http://schemas.microsoft.com/office/drawing/2014/main" id="{956DF46C-F76B-D94F-F71A-D3E26B2D14D9}"/>
              </a:ext>
            </a:extLst>
          </p:cNvPr>
          <p:cNvSpPr txBox="1"/>
          <p:nvPr/>
        </p:nvSpPr>
        <p:spPr>
          <a:xfrm>
            <a:off x="577406" y="6117596"/>
            <a:ext cx="10017442" cy="523220"/>
          </a:xfrm>
          <a:prstGeom prst="rect">
            <a:avLst/>
          </a:prstGeom>
          <a:noFill/>
          <a:ln w="28575">
            <a:solidFill>
              <a:srgbClr val="0C00FF"/>
            </a:solidFill>
          </a:ln>
        </p:spPr>
        <p:txBody>
          <a:bodyPr wrap="square" rtlCol="0">
            <a:spAutoFit/>
          </a:bodyPr>
          <a:lstStyle/>
          <a:p>
            <a:r>
              <a:rPr lang="en-BE" sz="2800" dirty="0"/>
              <a:t>I have prepared the lab which will guide you in practicing with TDD</a:t>
            </a:r>
          </a:p>
        </p:txBody>
      </p:sp>
    </p:spTree>
    <p:extLst>
      <p:ext uri="{BB962C8B-B14F-4D97-AF65-F5344CB8AC3E}">
        <p14:creationId xmlns:p14="http://schemas.microsoft.com/office/powerpoint/2010/main" val="2192513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dissolv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dissolv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dissolv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dissolve">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530C2-AFD4-AFB8-F42C-107106AB5BCE}"/>
              </a:ext>
            </a:extLst>
          </p:cNvPr>
          <p:cNvSpPr>
            <a:spLocks noGrp="1"/>
          </p:cNvSpPr>
          <p:nvPr>
            <p:ph type="title"/>
          </p:nvPr>
        </p:nvSpPr>
        <p:spPr>
          <a:xfrm>
            <a:off x="838200" y="0"/>
            <a:ext cx="10515600" cy="1325563"/>
          </a:xfrm>
        </p:spPr>
        <p:txBody>
          <a:bodyPr/>
          <a:lstStyle/>
          <a:p>
            <a:r>
              <a:rPr lang="en-BE" dirty="0"/>
              <a:t>What is CI/CD</a:t>
            </a:r>
          </a:p>
        </p:txBody>
      </p:sp>
      <p:pic>
        <p:nvPicPr>
          <p:cNvPr id="5" name="Content Placeholder 4" descr="A diagram of a software development process&#10;&#10;Description automatically generated">
            <a:extLst>
              <a:ext uri="{FF2B5EF4-FFF2-40B4-BE49-F238E27FC236}">
                <a16:creationId xmlns:a16="http://schemas.microsoft.com/office/drawing/2014/main" id="{5D7CF354-E9EE-4552-EA75-95BC936ECEA6}"/>
              </a:ext>
            </a:extLst>
          </p:cNvPr>
          <p:cNvPicPr>
            <a:picLocks noGrp="1" noChangeAspect="1"/>
          </p:cNvPicPr>
          <p:nvPr>
            <p:ph idx="1"/>
          </p:nvPr>
        </p:nvPicPr>
        <p:blipFill>
          <a:blip r:embed="rId3"/>
          <a:stretch>
            <a:fillRect/>
          </a:stretch>
        </p:blipFill>
        <p:spPr>
          <a:xfrm>
            <a:off x="288225" y="2583584"/>
            <a:ext cx="3556811" cy="1979272"/>
          </a:xfrm>
        </p:spPr>
      </p:pic>
      <p:sp>
        <p:nvSpPr>
          <p:cNvPr id="7" name="TextBox 6">
            <a:extLst>
              <a:ext uri="{FF2B5EF4-FFF2-40B4-BE49-F238E27FC236}">
                <a16:creationId xmlns:a16="http://schemas.microsoft.com/office/drawing/2014/main" id="{840D8AB5-E42B-625D-55CB-1A4C4E13FBFC}"/>
              </a:ext>
            </a:extLst>
          </p:cNvPr>
          <p:cNvSpPr txBox="1"/>
          <p:nvPr/>
        </p:nvSpPr>
        <p:spPr>
          <a:xfrm>
            <a:off x="3845037" y="1813970"/>
            <a:ext cx="7763030" cy="4154984"/>
          </a:xfrm>
          <a:prstGeom prst="rect">
            <a:avLst/>
          </a:prstGeom>
          <a:noFill/>
        </p:spPr>
        <p:txBody>
          <a:bodyPr wrap="square">
            <a:spAutoFit/>
          </a:bodyPr>
          <a:lstStyle/>
          <a:p>
            <a:pPr marL="285750" indent="-285750">
              <a:buFont typeface="Arial" panose="020B0604020202020204" pitchFamily="34" charset="0"/>
              <a:buChar char="•"/>
            </a:pPr>
            <a:r>
              <a:rPr lang="en-GB" sz="2400" dirty="0"/>
              <a:t>CI/CD are two related but distinct stages in a modern development workflow.</a:t>
            </a:r>
          </a:p>
          <a:p>
            <a:pPr marL="285750" indent="-285750">
              <a:buFont typeface="Arial" panose="020B0604020202020204" pitchFamily="34" charset="0"/>
              <a:buChar char="•"/>
            </a:pPr>
            <a:r>
              <a:rPr lang="en-GB" sz="2400" b="1" dirty="0"/>
              <a:t>Continuous Integration (CI)</a:t>
            </a:r>
            <a:r>
              <a:rPr lang="en-GB" sz="2400" dirty="0"/>
              <a:t> provides </a:t>
            </a:r>
            <a:r>
              <a:rPr lang="en-GB" sz="2400" i="1" dirty="0"/>
              <a:t>automated feedback</a:t>
            </a:r>
            <a:r>
              <a:rPr lang="en-GB" sz="2400" dirty="0"/>
              <a:t> on code changes </a:t>
            </a:r>
            <a:r>
              <a:rPr lang="en-GB" sz="2400" b="1" dirty="0"/>
              <a:t>before they are merged</a:t>
            </a:r>
            <a:r>
              <a:rPr lang="en-GB" sz="2400" dirty="0"/>
              <a:t>, typically via pull requests.</a:t>
            </a:r>
          </a:p>
          <a:p>
            <a:pPr marL="285750" indent="-285750">
              <a:buFont typeface="Arial" panose="020B0604020202020204" pitchFamily="34" charset="0"/>
              <a:buChar char="•"/>
            </a:pPr>
            <a:r>
              <a:rPr lang="en-GB" sz="2400" dirty="0"/>
              <a:t>CI answers the question: </a:t>
            </a:r>
            <a:r>
              <a:rPr lang="en-GB" sz="2400" i="1" dirty="0"/>
              <a:t>“Is this change safe to integrate?”</a:t>
            </a:r>
            <a:endParaRPr lang="en-GB" sz="2400" dirty="0"/>
          </a:p>
          <a:p>
            <a:pPr marL="285750" indent="-285750">
              <a:buFont typeface="Arial" panose="020B0604020202020204" pitchFamily="34" charset="0"/>
              <a:buChar char="•"/>
            </a:pPr>
            <a:r>
              <a:rPr lang="en-GB" sz="2400" b="1" dirty="0"/>
              <a:t>Continuous Delivery / Deployment (CD)</a:t>
            </a:r>
            <a:r>
              <a:rPr lang="en-GB" sz="2400" dirty="0"/>
              <a:t> takes validated code and </a:t>
            </a:r>
            <a:r>
              <a:rPr lang="en-GB" sz="2400" b="1" dirty="0"/>
              <a:t>releases it to an environment</a:t>
            </a:r>
            <a:r>
              <a:rPr lang="en-GB" sz="2400" dirty="0"/>
              <a:t>, either automatically or with manual approval.</a:t>
            </a:r>
          </a:p>
          <a:p>
            <a:pPr marL="285750" indent="-285750">
              <a:buFont typeface="Arial" panose="020B0604020202020204" pitchFamily="34" charset="0"/>
              <a:buChar char="•"/>
            </a:pPr>
            <a:r>
              <a:rPr lang="en-GB" sz="2400" dirty="0"/>
              <a:t>CI/CD help teams maintain velocity and trust — </a:t>
            </a:r>
            <a:r>
              <a:rPr lang="en-GB" sz="2400" b="1" dirty="0"/>
              <a:t>especially when working with AI-generated or AI-assisted code</a:t>
            </a:r>
            <a:r>
              <a:rPr lang="en-GB" sz="2400" dirty="0"/>
              <a:t>.</a:t>
            </a:r>
            <a:endParaRPr lang="en-GB" sz="2400" b="0" i="0" dirty="0">
              <a:solidFill>
                <a:srgbClr val="333333"/>
              </a:solidFill>
              <a:effectLst/>
              <a:latin typeface="OpenSans"/>
            </a:endParaRPr>
          </a:p>
        </p:txBody>
      </p:sp>
      <p:sp>
        <p:nvSpPr>
          <p:cNvPr id="4" name="Slide Number Placeholder 3">
            <a:extLst>
              <a:ext uri="{FF2B5EF4-FFF2-40B4-BE49-F238E27FC236}">
                <a16:creationId xmlns:a16="http://schemas.microsoft.com/office/drawing/2014/main" id="{AD9A37E4-C13C-CFB9-1C34-B5A39170E369}"/>
              </a:ext>
            </a:extLst>
          </p:cNvPr>
          <p:cNvSpPr>
            <a:spLocks noGrp="1"/>
          </p:cNvSpPr>
          <p:nvPr>
            <p:ph type="sldNum" sz="quarter" idx="12"/>
          </p:nvPr>
        </p:nvSpPr>
        <p:spPr/>
        <p:txBody>
          <a:bodyPr/>
          <a:lstStyle/>
          <a:p>
            <a:fld id="{6F19EB20-827F-9F40-A633-3810B83D00D5}" type="slidenum">
              <a:rPr lang="en-BE" smtClean="0"/>
              <a:t>28</a:t>
            </a:fld>
            <a:endParaRPr lang="en-BE"/>
          </a:p>
        </p:txBody>
      </p:sp>
    </p:spTree>
    <p:extLst>
      <p:ext uri="{BB962C8B-B14F-4D97-AF65-F5344CB8AC3E}">
        <p14:creationId xmlns:p14="http://schemas.microsoft.com/office/powerpoint/2010/main" val="3652846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09AED-9AF0-DF1F-982C-0DE6D5FA2A97}"/>
              </a:ext>
            </a:extLst>
          </p:cNvPr>
          <p:cNvSpPr>
            <a:spLocks noGrp="1"/>
          </p:cNvSpPr>
          <p:nvPr>
            <p:ph type="title"/>
          </p:nvPr>
        </p:nvSpPr>
        <p:spPr>
          <a:xfrm>
            <a:off x="838200" y="22980"/>
            <a:ext cx="10515600" cy="1325563"/>
          </a:xfrm>
        </p:spPr>
        <p:txBody>
          <a:bodyPr/>
          <a:lstStyle/>
          <a:p>
            <a:r>
              <a:rPr lang="en-BE" dirty="0"/>
              <a:t>CI/CD pipeline</a:t>
            </a:r>
          </a:p>
        </p:txBody>
      </p:sp>
      <p:pic>
        <p:nvPicPr>
          <p:cNvPr id="5" name="Content Placeholder 4" descr="A diagram of a software development process&#10;&#10;Description automatically generated">
            <a:extLst>
              <a:ext uri="{FF2B5EF4-FFF2-40B4-BE49-F238E27FC236}">
                <a16:creationId xmlns:a16="http://schemas.microsoft.com/office/drawing/2014/main" id="{81C1EAFE-C004-F459-8F34-13316054AA84}"/>
              </a:ext>
            </a:extLst>
          </p:cNvPr>
          <p:cNvPicPr>
            <a:picLocks noGrp="1" noChangeAspect="1"/>
          </p:cNvPicPr>
          <p:nvPr>
            <p:ph idx="1"/>
          </p:nvPr>
        </p:nvPicPr>
        <p:blipFill rotWithShape="1">
          <a:blip r:embed="rId3"/>
          <a:srcRect l="58171" t="45005" r="4606" b="43922"/>
          <a:stretch/>
        </p:blipFill>
        <p:spPr>
          <a:xfrm>
            <a:off x="6362299" y="2386345"/>
            <a:ext cx="3630716" cy="639672"/>
          </a:xfrm>
        </p:spPr>
      </p:pic>
      <p:pic>
        <p:nvPicPr>
          <p:cNvPr id="6" name="Content Placeholder 4" descr="A diagram of a software development process&#10;&#10;Description automatically generated">
            <a:extLst>
              <a:ext uri="{FF2B5EF4-FFF2-40B4-BE49-F238E27FC236}">
                <a16:creationId xmlns:a16="http://schemas.microsoft.com/office/drawing/2014/main" id="{A6762F3F-BC2A-4084-604C-D765621C8D17}"/>
              </a:ext>
            </a:extLst>
          </p:cNvPr>
          <p:cNvPicPr>
            <a:picLocks noChangeAspect="1"/>
          </p:cNvPicPr>
          <p:nvPr/>
        </p:nvPicPr>
        <p:blipFill rotWithShape="1">
          <a:blip r:embed="rId3"/>
          <a:srcRect l="1926" t="44502" r="43633" b="43029"/>
          <a:stretch/>
        </p:blipFill>
        <p:spPr>
          <a:xfrm>
            <a:off x="1468602" y="2343276"/>
            <a:ext cx="4745628" cy="643708"/>
          </a:xfrm>
          <a:prstGeom prst="rect">
            <a:avLst/>
          </a:prstGeom>
        </p:spPr>
      </p:pic>
      <p:sp>
        <p:nvSpPr>
          <p:cNvPr id="7" name="Rectangle 6">
            <a:extLst>
              <a:ext uri="{FF2B5EF4-FFF2-40B4-BE49-F238E27FC236}">
                <a16:creationId xmlns:a16="http://schemas.microsoft.com/office/drawing/2014/main" id="{FBAE7B48-6C38-E00A-ADD5-78CBFA7A922D}"/>
              </a:ext>
            </a:extLst>
          </p:cNvPr>
          <p:cNvSpPr/>
          <p:nvPr/>
        </p:nvSpPr>
        <p:spPr>
          <a:xfrm>
            <a:off x="8510352" y="983287"/>
            <a:ext cx="96252" cy="3465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12" name="Group 11">
            <a:extLst>
              <a:ext uri="{FF2B5EF4-FFF2-40B4-BE49-F238E27FC236}">
                <a16:creationId xmlns:a16="http://schemas.microsoft.com/office/drawing/2014/main" id="{16767583-8684-6B5D-FBA1-3E0F6EA719B4}"/>
              </a:ext>
            </a:extLst>
          </p:cNvPr>
          <p:cNvGrpSpPr/>
          <p:nvPr/>
        </p:nvGrpSpPr>
        <p:grpSpPr>
          <a:xfrm>
            <a:off x="1481890" y="1518001"/>
            <a:ext cx="4745628" cy="2615381"/>
            <a:chOff x="1481890" y="1936644"/>
            <a:chExt cx="4745628" cy="2615381"/>
          </a:xfrm>
        </p:grpSpPr>
        <p:sp>
          <p:nvSpPr>
            <p:cNvPr id="8" name="Rectangle 7">
              <a:extLst>
                <a:ext uri="{FF2B5EF4-FFF2-40B4-BE49-F238E27FC236}">
                  <a16:creationId xmlns:a16="http://schemas.microsoft.com/office/drawing/2014/main" id="{54400357-8CC0-4CBD-F133-ECC82F66E5A1}"/>
                </a:ext>
              </a:extLst>
            </p:cNvPr>
            <p:cNvSpPr/>
            <p:nvPr/>
          </p:nvSpPr>
          <p:spPr>
            <a:xfrm>
              <a:off x="1481890" y="1973179"/>
              <a:ext cx="4745628" cy="2578846"/>
            </a:xfrm>
            <a:prstGeom prst="rect">
              <a:avLst/>
            </a:prstGeom>
            <a:noFill/>
            <a:ln w="28575">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0" name="TextBox 9">
              <a:extLst>
                <a:ext uri="{FF2B5EF4-FFF2-40B4-BE49-F238E27FC236}">
                  <a16:creationId xmlns:a16="http://schemas.microsoft.com/office/drawing/2014/main" id="{97875492-527B-5B73-AD0F-466587EAAC46}"/>
                </a:ext>
              </a:extLst>
            </p:cNvPr>
            <p:cNvSpPr txBox="1"/>
            <p:nvPr/>
          </p:nvSpPr>
          <p:spPr>
            <a:xfrm>
              <a:off x="2191728" y="1936644"/>
              <a:ext cx="3291038" cy="369332"/>
            </a:xfrm>
            <a:prstGeom prst="rect">
              <a:avLst/>
            </a:prstGeom>
            <a:noFill/>
          </p:spPr>
          <p:txBody>
            <a:bodyPr wrap="square" rtlCol="0">
              <a:spAutoFit/>
            </a:bodyPr>
            <a:lstStyle/>
            <a:p>
              <a:pPr algn="ctr"/>
              <a:r>
                <a:rPr lang="en-BE" dirty="0"/>
                <a:t>Continuous Intergration</a:t>
              </a:r>
            </a:p>
          </p:txBody>
        </p:sp>
      </p:grpSp>
      <p:grpSp>
        <p:nvGrpSpPr>
          <p:cNvPr id="13" name="Group 12">
            <a:extLst>
              <a:ext uri="{FF2B5EF4-FFF2-40B4-BE49-F238E27FC236}">
                <a16:creationId xmlns:a16="http://schemas.microsoft.com/office/drawing/2014/main" id="{25780692-CEED-C22C-CD60-EB3A32C27E1B}"/>
              </a:ext>
            </a:extLst>
          </p:cNvPr>
          <p:cNvGrpSpPr/>
          <p:nvPr/>
        </p:nvGrpSpPr>
        <p:grpSpPr>
          <a:xfrm>
            <a:off x="6304549" y="1554536"/>
            <a:ext cx="3782727" cy="2579571"/>
            <a:chOff x="6304549" y="1973179"/>
            <a:chExt cx="3782727" cy="2579571"/>
          </a:xfrm>
        </p:grpSpPr>
        <p:sp>
          <p:nvSpPr>
            <p:cNvPr id="9" name="Rectangle 8">
              <a:extLst>
                <a:ext uri="{FF2B5EF4-FFF2-40B4-BE49-F238E27FC236}">
                  <a16:creationId xmlns:a16="http://schemas.microsoft.com/office/drawing/2014/main" id="{3E314F7F-0089-5C3A-8AEA-E6D558E3CE03}"/>
                </a:ext>
              </a:extLst>
            </p:cNvPr>
            <p:cNvSpPr/>
            <p:nvPr/>
          </p:nvSpPr>
          <p:spPr>
            <a:xfrm>
              <a:off x="6304549" y="1973179"/>
              <a:ext cx="3782727" cy="2579571"/>
            </a:xfrm>
            <a:prstGeom prst="rect">
              <a:avLst/>
            </a:prstGeom>
            <a:noFill/>
            <a:ln w="28575">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TextBox 10">
              <a:extLst>
                <a:ext uri="{FF2B5EF4-FFF2-40B4-BE49-F238E27FC236}">
                  <a16:creationId xmlns:a16="http://schemas.microsoft.com/office/drawing/2014/main" id="{51352F16-6ADB-272E-46FF-F5E79AE41291}"/>
                </a:ext>
              </a:extLst>
            </p:cNvPr>
            <p:cNvSpPr txBox="1"/>
            <p:nvPr/>
          </p:nvSpPr>
          <p:spPr>
            <a:xfrm>
              <a:off x="6532138" y="2019752"/>
              <a:ext cx="3291038" cy="369332"/>
            </a:xfrm>
            <a:prstGeom prst="rect">
              <a:avLst/>
            </a:prstGeom>
            <a:noFill/>
          </p:spPr>
          <p:txBody>
            <a:bodyPr wrap="square" rtlCol="0">
              <a:spAutoFit/>
            </a:bodyPr>
            <a:lstStyle/>
            <a:p>
              <a:pPr algn="ctr"/>
              <a:r>
                <a:rPr lang="en-BE" dirty="0"/>
                <a:t>Continuous Delivery</a:t>
              </a:r>
            </a:p>
          </p:txBody>
        </p:sp>
      </p:grpSp>
      <p:grpSp>
        <p:nvGrpSpPr>
          <p:cNvPr id="20" name="Group 19">
            <a:extLst>
              <a:ext uri="{FF2B5EF4-FFF2-40B4-BE49-F238E27FC236}">
                <a16:creationId xmlns:a16="http://schemas.microsoft.com/office/drawing/2014/main" id="{4B50F984-0504-4286-DADE-8FEF9963C393}"/>
              </a:ext>
            </a:extLst>
          </p:cNvPr>
          <p:cNvGrpSpPr/>
          <p:nvPr/>
        </p:nvGrpSpPr>
        <p:grpSpPr>
          <a:xfrm>
            <a:off x="3592701" y="1916053"/>
            <a:ext cx="1697496" cy="1321338"/>
            <a:chOff x="3592701" y="2334696"/>
            <a:chExt cx="1697496" cy="1321338"/>
          </a:xfrm>
        </p:grpSpPr>
        <p:sp>
          <p:nvSpPr>
            <p:cNvPr id="14" name="Curved Up Arrow 13">
              <a:extLst>
                <a:ext uri="{FF2B5EF4-FFF2-40B4-BE49-F238E27FC236}">
                  <a16:creationId xmlns:a16="http://schemas.microsoft.com/office/drawing/2014/main" id="{0843006D-3FD9-E52C-A40C-6D313A586713}"/>
                </a:ext>
              </a:extLst>
            </p:cNvPr>
            <p:cNvSpPr/>
            <p:nvPr/>
          </p:nvSpPr>
          <p:spPr>
            <a:xfrm rot="20228259" flipV="1">
              <a:off x="3595518" y="2334696"/>
              <a:ext cx="1199017" cy="497300"/>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solidFill>
                  <a:schemeClr val="tx1"/>
                </a:solidFill>
              </a:endParaRPr>
            </a:p>
          </p:txBody>
        </p:sp>
        <p:sp>
          <p:nvSpPr>
            <p:cNvPr id="15" name="Curved Up Arrow 14">
              <a:extLst>
                <a:ext uri="{FF2B5EF4-FFF2-40B4-BE49-F238E27FC236}">
                  <a16:creationId xmlns:a16="http://schemas.microsoft.com/office/drawing/2014/main" id="{8B268543-8CB9-0FAB-63DC-6309C763E261}"/>
                </a:ext>
              </a:extLst>
            </p:cNvPr>
            <p:cNvSpPr/>
            <p:nvPr/>
          </p:nvSpPr>
          <p:spPr>
            <a:xfrm rot="5400000" flipV="1">
              <a:off x="4434516" y="2800353"/>
              <a:ext cx="1212178" cy="499184"/>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solidFill>
                  <a:schemeClr val="tx1"/>
                </a:solidFill>
              </a:endParaRPr>
            </a:p>
          </p:txBody>
        </p:sp>
        <p:sp>
          <p:nvSpPr>
            <p:cNvPr id="16" name="Curved Up Arrow 15">
              <a:extLst>
                <a:ext uri="{FF2B5EF4-FFF2-40B4-BE49-F238E27FC236}">
                  <a16:creationId xmlns:a16="http://schemas.microsoft.com/office/drawing/2014/main" id="{8E04D356-6437-4BD9-A65A-D1EBF4573A14}"/>
                </a:ext>
              </a:extLst>
            </p:cNvPr>
            <p:cNvSpPr/>
            <p:nvPr/>
          </p:nvSpPr>
          <p:spPr>
            <a:xfrm rot="12410772" flipV="1">
              <a:off x="3592701" y="3255077"/>
              <a:ext cx="1127988" cy="399882"/>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solidFill>
                  <a:schemeClr val="tx1"/>
                </a:solidFill>
              </a:endParaRPr>
            </a:p>
          </p:txBody>
        </p:sp>
      </p:grpSp>
      <p:grpSp>
        <p:nvGrpSpPr>
          <p:cNvPr id="21" name="Group 20">
            <a:extLst>
              <a:ext uri="{FF2B5EF4-FFF2-40B4-BE49-F238E27FC236}">
                <a16:creationId xmlns:a16="http://schemas.microsoft.com/office/drawing/2014/main" id="{EAE279BC-C6F4-8730-2F59-F5A6362E7E9D}"/>
              </a:ext>
            </a:extLst>
          </p:cNvPr>
          <p:cNvGrpSpPr/>
          <p:nvPr/>
        </p:nvGrpSpPr>
        <p:grpSpPr>
          <a:xfrm>
            <a:off x="7158700" y="1943363"/>
            <a:ext cx="1697496" cy="1321338"/>
            <a:chOff x="7158700" y="2362006"/>
            <a:chExt cx="1697496" cy="1321338"/>
          </a:xfrm>
        </p:grpSpPr>
        <p:sp>
          <p:nvSpPr>
            <p:cNvPr id="17" name="Curved Up Arrow 16">
              <a:extLst>
                <a:ext uri="{FF2B5EF4-FFF2-40B4-BE49-F238E27FC236}">
                  <a16:creationId xmlns:a16="http://schemas.microsoft.com/office/drawing/2014/main" id="{6C36F8D1-24F2-2A70-791D-3CF01E2AEC78}"/>
                </a:ext>
              </a:extLst>
            </p:cNvPr>
            <p:cNvSpPr/>
            <p:nvPr/>
          </p:nvSpPr>
          <p:spPr>
            <a:xfrm rot="20228259" flipV="1">
              <a:off x="7161517" y="2362006"/>
              <a:ext cx="1199017" cy="497300"/>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solidFill>
                  <a:schemeClr val="tx1"/>
                </a:solidFill>
              </a:endParaRPr>
            </a:p>
          </p:txBody>
        </p:sp>
        <p:sp>
          <p:nvSpPr>
            <p:cNvPr id="18" name="Curved Up Arrow 17">
              <a:extLst>
                <a:ext uri="{FF2B5EF4-FFF2-40B4-BE49-F238E27FC236}">
                  <a16:creationId xmlns:a16="http://schemas.microsoft.com/office/drawing/2014/main" id="{CB848328-9A9E-2DB4-C383-B5988ADCC7B1}"/>
                </a:ext>
              </a:extLst>
            </p:cNvPr>
            <p:cNvSpPr/>
            <p:nvPr/>
          </p:nvSpPr>
          <p:spPr>
            <a:xfrm rot="5400000" flipV="1">
              <a:off x="8000515" y="2827663"/>
              <a:ext cx="1212178" cy="499184"/>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solidFill>
                  <a:schemeClr val="tx1"/>
                </a:solidFill>
              </a:endParaRPr>
            </a:p>
          </p:txBody>
        </p:sp>
        <p:sp>
          <p:nvSpPr>
            <p:cNvPr id="19" name="Curved Up Arrow 18">
              <a:extLst>
                <a:ext uri="{FF2B5EF4-FFF2-40B4-BE49-F238E27FC236}">
                  <a16:creationId xmlns:a16="http://schemas.microsoft.com/office/drawing/2014/main" id="{AC45631E-7AF9-6963-C3DD-A5FEE708A99C}"/>
                </a:ext>
              </a:extLst>
            </p:cNvPr>
            <p:cNvSpPr/>
            <p:nvPr/>
          </p:nvSpPr>
          <p:spPr>
            <a:xfrm rot="12410772" flipV="1">
              <a:off x="7158700" y="3282387"/>
              <a:ext cx="1127988" cy="399882"/>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solidFill>
                  <a:schemeClr val="tx1"/>
                </a:solidFill>
              </a:endParaRPr>
            </a:p>
          </p:txBody>
        </p:sp>
      </p:grpSp>
      <p:sp>
        <p:nvSpPr>
          <p:cNvPr id="3" name="Rectangle 2">
            <a:extLst>
              <a:ext uri="{FF2B5EF4-FFF2-40B4-BE49-F238E27FC236}">
                <a16:creationId xmlns:a16="http://schemas.microsoft.com/office/drawing/2014/main" id="{F0531923-7ACB-4606-4E81-0438E6BA8E60}"/>
              </a:ext>
            </a:extLst>
          </p:cNvPr>
          <p:cNvSpPr/>
          <p:nvPr/>
        </p:nvSpPr>
        <p:spPr>
          <a:xfrm>
            <a:off x="1481890" y="1554532"/>
            <a:ext cx="4745628" cy="2579571"/>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 name="TextBox 3">
            <a:extLst>
              <a:ext uri="{FF2B5EF4-FFF2-40B4-BE49-F238E27FC236}">
                <a16:creationId xmlns:a16="http://schemas.microsoft.com/office/drawing/2014/main" id="{5DCD2C4F-B35C-33D4-EFE2-3064806DF1D3}"/>
              </a:ext>
            </a:extLst>
          </p:cNvPr>
          <p:cNvSpPr txBox="1"/>
          <p:nvPr/>
        </p:nvSpPr>
        <p:spPr>
          <a:xfrm>
            <a:off x="2702560" y="1028420"/>
            <a:ext cx="2304288" cy="523220"/>
          </a:xfrm>
          <a:prstGeom prst="rect">
            <a:avLst/>
          </a:prstGeom>
          <a:noFill/>
        </p:spPr>
        <p:txBody>
          <a:bodyPr wrap="square" rtlCol="0">
            <a:spAutoFit/>
          </a:bodyPr>
          <a:lstStyle/>
          <a:p>
            <a:r>
              <a:rPr lang="en-BE" sz="2800" dirty="0"/>
              <a:t>Project focus</a:t>
            </a:r>
          </a:p>
        </p:txBody>
      </p:sp>
      <p:sp>
        <p:nvSpPr>
          <p:cNvPr id="22" name="TextBox 21">
            <a:extLst>
              <a:ext uri="{FF2B5EF4-FFF2-40B4-BE49-F238E27FC236}">
                <a16:creationId xmlns:a16="http://schemas.microsoft.com/office/drawing/2014/main" id="{576983AA-3C08-801A-9482-506302E1E371}"/>
              </a:ext>
            </a:extLst>
          </p:cNvPr>
          <p:cNvSpPr txBox="1"/>
          <p:nvPr/>
        </p:nvSpPr>
        <p:spPr>
          <a:xfrm>
            <a:off x="6362299" y="4271262"/>
            <a:ext cx="5392699" cy="2031325"/>
          </a:xfrm>
          <a:prstGeom prst="rect">
            <a:avLst/>
          </a:prstGeom>
          <a:noFill/>
          <a:ln w="28575">
            <a:solidFill>
              <a:srgbClr val="0000EA"/>
            </a:solidFill>
          </a:ln>
        </p:spPr>
        <p:txBody>
          <a:bodyPr wrap="square" rtlCol="0">
            <a:spAutoFit/>
          </a:bodyPr>
          <a:lstStyle/>
          <a:p>
            <a:pPr marL="285750" indent="-285750">
              <a:buFont typeface="Arial" panose="020B0604020202020204" pitchFamily="34" charset="0"/>
              <a:buChar char="•"/>
            </a:pPr>
            <a:r>
              <a:rPr lang="en-GB" b="1" dirty="0"/>
              <a:t>Continuous Delivery (CD)</a:t>
            </a:r>
            <a:r>
              <a:rPr lang="en-GB" dirty="0"/>
              <a:t> focuses on what happens </a:t>
            </a:r>
            <a:r>
              <a:rPr lang="en-GB" i="1" dirty="0"/>
              <a:t>after</a:t>
            </a:r>
            <a:r>
              <a:rPr lang="en-GB" dirty="0"/>
              <a:t> code has been integrated.</a:t>
            </a:r>
          </a:p>
          <a:p>
            <a:pPr marL="285750" indent="-285750">
              <a:buFont typeface="Arial" panose="020B0604020202020204" pitchFamily="34" charset="0"/>
              <a:buChar char="•"/>
            </a:pPr>
            <a:r>
              <a:rPr lang="en-GB" dirty="0"/>
              <a:t>It includes the </a:t>
            </a:r>
            <a:r>
              <a:rPr lang="en-GB" b="1" dirty="0"/>
              <a:t>Release</a:t>
            </a:r>
            <a:r>
              <a:rPr lang="en-GB" dirty="0"/>
              <a:t>, </a:t>
            </a:r>
            <a:r>
              <a:rPr lang="en-GB" b="1" dirty="0"/>
              <a:t>Deploy</a:t>
            </a:r>
            <a:r>
              <a:rPr lang="en-GB" dirty="0"/>
              <a:t>, and </a:t>
            </a:r>
            <a:r>
              <a:rPr lang="en-GB" b="1" dirty="0"/>
              <a:t>Operate</a:t>
            </a:r>
            <a:r>
              <a:rPr lang="en-GB" dirty="0"/>
              <a:t> phases, where validated binaries are packaged, deployed to an environment, and monitored in operation — sometimes automatically, sometimes with manual approval.</a:t>
            </a:r>
            <a:endParaRPr lang="en-US" dirty="0"/>
          </a:p>
        </p:txBody>
      </p:sp>
      <p:sp>
        <p:nvSpPr>
          <p:cNvPr id="23" name="TextBox 22">
            <a:extLst>
              <a:ext uri="{FF2B5EF4-FFF2-40B4-BE49-F238E27FC236}">
                <a16:creationId xmlns:a16="http://schemas.microsoft.com/office/drawing/2014/main" id="{AFC82141-0A76-EAB9-520A-42D31380B67B}"/>
              </a:ext>
            </a:extLst>
          </p:cNvPr>
          <p:cNvSpPr txBox="1"/>
          <p:nvPr/>
        </p:nvSpPr>
        <p:spPr>
          <a:xfrm>
            <a:off x="1222729" y="4271262"/>
            <a:ext cx="4991501" cy="2123658"/>
          </a:xfrm>
          <a:prstGeom prst="rect">
            <a:avLst/>
          </a:prstGeom>
          <a:noFill/>
          <a:ln w="28575">
            <a:solidFill>
              <a:srgbClr val="0000EA"/>
            </a:solidFill>
          </a:ln>
        </p:spPr>
        <p:txBody>
          <a:bodyPr wrap="square" rtlCol="0">
            <a:spAutoFit/>
          </a:bodyPr>
          <a:lstStyle/>
          <a:p>
            <a:pPr marL="285750" indent="-285750">
              <a:buFont typeface="Arial" panose="020B0604020202020204" pitchFamily="34" charset="0"/>
              <a:buChar char="•"/>
            </a:pPr>
            <a:r>
              <a:rPr lang="en-GB" dirty="0"/>
              <a:t>CI is a </a:t>
            </a:r>
            <a:r>
              <a:rPr lang="en-GB" i="1" dirty="0"/>
              <a:t>repeating feedback loop</a:t>
            </a:r>
            <a:r>
              <a:rPr lang="en-GB" dirty="0"/>
              <a:t> that evaluates proposed changes as they are proposed.</a:t>
            </a:r>
          </a:p>
          <a:p>
            <a:pPr marL="285750" indent="-285750">
              <a:buFont typeface="Arial" panose="020B0604020202020204" pitchFamily="34" charset="0"/>
              <a:buChar char="•"/>
            </a:pPr>
            <a:r>
              <a:rPr lang="en-GB" sz="1600" dirty="0"/>
              <a:t>Developers write code, and CI automatically builds and tests those changes to answer one key question: “</a:t>
            </a:r>
            <a:r>
              <a:rPr lang="en-GB" sz="1600" b="1" dirty="0"/>
              <a:t>Is this change safe to integrate?</a:t>
            </a:r>
            <a:r>
              <a:rPr lang="en-GB" sz="1600" dirty="0"/>
              <a:t>”</a:t>
            </a:r>
          </a:p>
          <a:p>
            <a:pPr marL="285750" indent="-285750">
              <a:buFont typeface="Arial" panose="020B0604020202020204" pitchFamily="34" charset="0"/>
              <a:buChar char="•"/>
            </a:pPr>
            <a:r>
              <a:rPr lang="en-GB" sz="1600" dirty="0"/>
              <a:t>CI runs many times throughout development — not to finish the system, but to keep changes small, compatible, and reviewable.</a:t>
            </a:r>
            <a:endParaRPr lang="en-US" sz="1600" dirty="0"/>
          </a:p>
        </p:txBody>
      </p:sp>
      <p:sp>
        <p:nvSpPr>
          <p:cNvPr id="25" name="Slide Number Placeholder 24">
            <a:extLst>
              <a:ext uri="{FF2B5EF4-FFF2-40B4-BE49-F238E27FC236}">
                <a16:creationId xmlns:a16="http://schemas.microsoft.com/office/drawing/2014/main" id="{52C9C033-2596-2245-6F0B-C136A6DBB57E}"/>
              </a:ext>
            </a:extLst>
          </p:cNvPr>
          <p:cNvSpPr>
            <a:spLocks noGrp="1"/>
          </p:cNvSpPr>
          <p:nvPr>
            <p:ph type="sldNum" sz="quarter" idx="12"/>
          </p:nvPr>
        </p:nvSpPr>
        <p:spPr/>
        <p:txBody>
          <a:bodyPr/>
          <a:lstStyle/>
          <a:p>
            <a:fld id="{6F19EB20-827F-9F40-A633-3810B83D00D5}" type="slidenum">
              <a:rPr lang="en-BE" smtClean="0"/>
              <a:t>29</a:t>
            </a:fld>
            <a:endParaRPr lang="en-BE"/>
          </a:p>
        </p:txBody>
      </p:sp>
    </p:spTree>
    <p:extLst>
      <p:ext uri="{BB962C8B-B14F-4D97-AF65-F5344CB8AC3E}">
        <p14:creationId xmlns:p14="http://schemas.microsoft.com/office/powerpoint/2010/main" val="2583919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dissolve">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dissolve">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22" grpId="0" animBg="1"/>
      <p:bldP spid="2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46" descr="A diagram of a bug-fix branch&#10;&#10;Description automatically generated">
            <a:extLst>
              <a:ext uri="{FF2B5EF4-FFF2-40B4-BE49-F238E27FC236}">
                <a16:creationId xmlns:a16="http://schemas.microsoft.com/office/drawing/2014/main" id="{3778FE61-D900-085C-4A4F-F7B86D2BF30E}"/>
              </a:ext>
            </a:extLst>
          </p:cNvPr>
          <p:cNvPicPr>
            <a:picLocks noChangeAspect="1"/>
          </p:cNvPicPr>
          <p:nvPr/>
        </p:nvPicPr>
        <p:blipFill>
          <a:blip r:embed="rId3"/>
          <a:stretch>
            <a:fillRect/>
          </a:stretch>
        </p:blipFill>
        <p:spPr>
          <a:xfrm>
            <a:off x="1259784" y="1584187"/>
            <a:ext cx="3086929" cy="1400382"/>
          </a:xfrm>
          <a:prstGeom prst="rect">
            <a:avLst/>
          </a:prstGeom>
        </p:spPr>
      </p:pic>
      <p:sp>
        <p:nvSpPr>
          <p:cNvPr id="48" name="TextBox 47">
            <a:extLst>
              <a:ext uri="{FF2B5EF4-FFF2-40B4-BE49-F238E27FC236}">
                <a16:creationId xmlns:a16="http://schemas.microsoft.com/office/drawing/2014/main" id="{85754DF1-A49A-7925-F72E-6A34CC6EA0AD}"/>
              </a:ext>
            </a:extLst>
          </p:cNvPr>
          <p:cNvSpPr txBox="1"/>
          <p:nvPr/>
        </p:nvSpPr>
        <p:spPr>
          <a:xfrm>
            <a:off x="1099930" y="649357"/>
            <a:ext cx="4081670" cy="523220"/>
          </a:xfrm>
          <a:prstGeom prst="rect">
            <a:avLst/>
          </a:prstGeom>
          <a:noFill/>
        </p:spPr>
        <p:txBody>
          <a:bodyPr wrap="square" rtlCol="0">
            <a:spAutoFit/>
          </a:bodyPr>
          <a:lstStyle/>
          <a:p>
            <a:r>
              <a:rPr lang="en-BE" sz="2800" dirty="0"/>
              <a:t>Traditional Development</a:t>
            </a:r>
          </a:p>
        </p:txBody>
      </p:sp>
      <p:sp>
        <p:nvSpPr>
          <p:cNvPr id="49" name="TextBox 48">
            <a:extLst>
              <a:ext uri="{FF2B5EF4-FFF2-40B4-BE49-F238E27FC236}">
                <a16:creationId xmlns:a16="http://schemas.microsoft.com/office/drawing/2014/main" id="{CECBF2B3-0580-3464-3884-F2E4357C7DB0}"/>
              </a:ext>
            </a:extLst>
          </p:cNvPr>
          <p:cNvSpPr txBox="1"/>
          <p:nvPr/>
        </p:nvSpPr>
        <p:spPr>
          <a:xfrm>
            <a:off x="7235688" y="655743"/>
            <a:ext cx="3233530" cy="523220"/>
          </a:xfrm>
          <a:prstGeom prst="rect">
            <a:avLst/>
          </a:prstGeom>
          <a:noFill/>
        </p:spPr>
        <p:txBody>
          <a:bodyPr wrap="square" rtlCol="0">
            <a:spAutoFit/>
          </a:bodyPr>
          <a:lstStyle/>
          <a:p>
            <a:r>
              <a:rPr lang="en-BE" sz="2800" dirty="0"/>
              <a:t>CI Development</a:t>
            </a:r>
          </a:p>
        </p:txBody>
      </p:sp>
      <p:sp>
        <p:nvSpPr>
          <p:cNvPr id="50" name="TextBox 49">
            <a:extLst>
              <a:ext uri="{FF2B5EF4-FFF2-40B4-BE49-F238E27FC236}">
                <a16:creationId xmlns:a16="http://schemas.microsoft.com/office/drawing/2014/main" id="{6908026B-FE29-CB67-CC0C-346995E818C6}"/>
              </a:ext>
            </a:extLst>
          </p:cNvPr>
          <p:cNvSpPr txBox="1"/>
          <p:nvPr/>
        </p:nvSpPr>
        <p:spPr>
          <a:xfrm>
            <a:off x="490331" y="3260345"/>
            <a:ext cx="5459895" cy="2308324"/>
          </a:xfrm>
          <a:prstGeom prst="rect">
            <a:avLst/>
          </a:prstGeom>
          <a:noFill/>
        </p:spPr>
        <p:txBody>
          <a:bodyPr wrap="square" rtlCol="0">
            <a:spAutoFit/>
          </a:bodyPr>
          <a:lstStyle/>
          <a:p>
            <a:pPr marL="285750" indent="-285750">
              <a:buFont typeface="Arial" panose="020B0604020202020204" pitchFamily="34" charset="0"/>
              <a:buChar char="•"/>
            </a:pPr>
            <a:r>
              <a:rPr lang="en-BE" sz="2400" dirty="0"/>
              <a:t>Developers often work on large features</a:t>
            </a:r>
          </a:p>
          <a:p>
            <a:pPr marL="285750" indent="-285750">
              <a:buFont typeface="Arial" panose="020B0604020202020204" pitchFamily="34" charset="0"/>
              <a:buChar char="•"/>
            </a:pPr>
            <a:r>
              <a:rPr lang="en-BE" sz="2400" dirty="0"/>
              <a:t>Develop for extended periods of time</a:t>
            </a:r>
          </a:p>
          <a:p>
            <a:pPr marL="285750" indent="-285750">
              <a:buFont typeface="Arial" panose="020B0604020202020204" pitchFamily="34" charset="0"/>
              <a:buChar char="•"/>
            </a:pPr>
            <a:r>
              <a:rPr lang="en-BE" sz="2400" dirty="0"/>
              <a:t>Teasting, integration, and building happen late after wor is done</a:t>
            </a:r>
          </a:p>
          <a:p>
            <a:pPr marL="285750" indent="-285750">
              <a:buFont typeface="Arial" panose="020B0604020202020204" pitchFamily="34" charset="0"/>
              <a:buChar char="•"/>
            </a:pPr>
            <a:r>
              <a:rPr lang="en-BE" sz="2400" dirty="0"/>
              <a:t>Continued development on branches causes drift</a:t>
            </a:r>
          </a:p>
        </p:txBody>
      </p:sp>
      <p:cxnSp>
        <p:nvCxnSpPr>
          <p:cNvPr id="52" name="Straight Connector 51">
            <a:extLst>
              <a:ext uri="{FF2B5EF4-FFF2-40B4-BE49-F238E27FC236}">
                <a16:creationId xmlns:a16="http://schemas.microsoft.com/office/drawing/2014/main" id="{5933A89C-D917-9641-DC9F-C6A4203D642D}"/>
              </a:ext>
            </a:extLst>
          </p:cNvPr>
          <p:cNvCxnSpPr>
            <a:cxnSpLocks/>
          </p:cNvCxnSpPr>
          <p:nvPr/>
        </p:nvCxnSpPr>
        <p:spPr>
          <a:xfrm>
            <a:off x="5950226" y="649357"/>
            <a:ext cx="0" cy="515094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55" name="Picture 54" descr="A diagram of a code&#10;&#10;Description automatically generated">
            <a:extLst>
              <a:ext uri="{FF2B5EF4-FFF2-40B4-BE49-F238E27FC236}">
                <a16:creationId xmlns:a16="http://schemas.microsoft.com/office/drawing/2014/main" id="{397DFB28-D2CD-168D-BBC3-A1B34EF6F20E}"/>
              </a:ext>
            </a:extLst>
          </p:cNvPr>
          <p:cNvPicPr>
            <a:picLocks noChangeAspect="1"/>
          </p:cNvPicPr>
          <p:nvPr/>
        </p:nvPicPr>
        <p:blipFill>
          <a:blip r:embed="rId4"/>
          <a:stretch>
            <a:fillRect/>
          </a:stretch>
        </p:blipFill>
        <p:spPr>
          <a:xfrm>
            <a:off x="7360481" y="1584187"/>
            <a:ext cx="2983943" cy="1382037"/>
          </a:xfrm>
          <a:prstGeom prst="rect">
            <a:avLst/>
          </a:prstGeom>
        </p:spPr>
      </p:pic>
      <p:sp>
        <p:nvSpPr>
          <p:cNvPr id="57" name="TextBox 56">
            <a:extLst>
              <a:ext uri="{FF2B5EF4-FFF2-40B4-BE49-F238E27FC236}">
                <a16:creationId xmlns:a16="http://schemas.microsoft.com/office/drawing/2014/main" id="{7CCE7A4E-8396-3239-7014-9275E725D8F5}"/>
              </a:ext>
            </a:extLst>
          </p:cNvPr>
          <p:cNvSpPr txBox="1"/>
          <p:nvPr/>
        </p:nvSpPr>
        <p:spPr>
          <a:xfrm>
            <a:off x="6732105" y="3371448"/>
            <a:ext cx="5459895" cy="2677656"/>
          </a:xfrm>
          <a:prstGeom prst="rect">
            <a:avLst/>
          </a:prstGeom>
          <a:noFill/>
        </p:spPr>
        <p:txBody>
          <a:bodyPr wrap="square" rtlCol="0">
            <a:spAutoFit/>
          </a:bodyPr>
          <a:lstStyle/>
          <a:p>
            <a:pPr marL="285750" indent="-285750">
              <a:buFont typeface="Arial" panose="020B0604020202020204" pitchFamily="34" charset="0"/>
              <a:buChar char="•"/>
            </a:pPr>
            <a:r>
              <a:rPr lang="en-BE" sz="2400" dirty="0"/>
              <a:t>Short-lived branches</a:t>
            </a:r>
          </a:p>
          <a:p>
            <a:pPr marL="285750" indent="-285750">
              <a:buFont typeface="Arial" panose="020B0604020202020204" pitchFamily="34" charset="0"/>
              <a:buChar char="•"/>
            </a:pPr>
            <a:r>
              <a:rPr lang="en-BE" sz="2400" dirty="0"/>
              <a:t>Frequent pull requests</a:t>
            </a:r>
          </a:p>
          <a:p>
            <a:pPr marL="285750" indent="-285750">
              <a:buFont typeface="Arial" panose="020B0604020202020204" pitchFamily="34" charset="0"/>
              <a:buChar char="•"/>
            </a:pPr>
            <a:r>
              <a:rPr lang="en-BE" sz="2400" dirty="0"/>
              <a:t>Automated CI tools help with feedback befoere integration</a:t>
            </a:r>
          </a:p>
          <a:p>
            <a:pPr marL="285750" indent="-285750">
              <a:buFont typeface="Arial" panose="020B0604020202020204" pitchFamily="34" charset="0"/>
              <a:buChar char="•"/>
            </a:pPr>
            <a:r>
              <a:rPr lang="en-GB" sz="2400" dirty="0"/>
              <a:t>The goal is not speed for its own sake, but </a:t>
            </a:r>
            <a:r>
              <a:rPr lang="en-GB" sz="2400" b="1" dirty="0"/>
              <a:t>early feedback, smaller changes, and reduced integration risk</a:t>
            </a:r>
            <a:r>
              <a:rPr lang="en-GB" sz="2400" dirty="0"/>
              <a:t>.</a:t>
            </a:r>
            <a:endParaRPr lang="en-BE" sz="2400" dirty="0"/>
          </a:p>
        </p:txBody>
      </p:sp>
      <p:sp>
        <p:nvSpPr>
          <p:cNvPr id="4" name="TextBox 3">
            <a:extLst>
              <a:ext uri="{FF2B5EF4-FFF2-40B4-BE49-F238E27FC236}">
                <a16:creationId xmlns:a16="http://schemas.microsoft.com/office/drawing/2014/main" id="{283592FE-65A7-C6A1-F60F-BB1393DD053D}"/>
              </a:ext>
            </a:extLst>
          </p:cNvPr>
          <p:cNvSpPr txBox="1"/>
          <p:nvPr/>
        </p:nvSpPr>
        <p:spPr>
          <a:xfrm>
            <a:off x="3102196" y="6125517"/>
            <a:ext cx="6277963" cy="461665"/>
          </a:xfrm>
          <a:prstGeom prst="rect">
            <a:avLst/>
          </a:prstGeom>
          <a:noFill/>
          <a:ln w="28575">
            <a:solidFill>
              <a:srgbClr val="C00000"/>
            </a:solidFill>
          </a:ln>
        </p:spPr>
        <p:txBody>
          <a:bodyPr wrap="square">
            <a:spAutoFit/>
          </a:bodyPr>
          <a:lstStyle/>
          <a:p>
            <a:r>
              <a:rPr lang="en-GB" sz="2400" dirty="0"/>
              <a:t>CI doesn’t prevent bugs — it prevents </a:t>
            </a:r>
            <a:r>
              <a:rPr lang="en-GB" sz="2400" i="1" dirty="0"/>
              <a:t>surprises</a:t>
            </a:r>
            <a:r>
              <a:rPr lang="en-GB" sz="2400" dirty="0"/>
              <a:t>.”</a:t>
            </a:r>
            <a:endParaRPr lang="en-US" sz="2400" dirty="0"/>
          </a:p>
        </p:txBody>
      </p:sp>
      <p:sp>
        <p:nvSpPr>
          <p:cNvPr id="6" name="Slide Number Placeholder 5">
            <a:extLst>
              <a:ext uri="{FF2B5EF4-FFF2-40B4-BE49-F238E27FC236}">
                <a16:creationId xmlns:a16="http://schemas.microsoft.com/office/drawing/2014/main" id="{90011830-7D82-C695-6C08-96931775FCED}"/>
              </a:ext>
            </a:extLst>
          </p:cNvPr>
          <p:cNvSpPr>
            <a:spLocks noGrp="1"/>
          </p:cNvSpPr>
          <p:nvPr>
            <p:ph type="sldNum" sz="quarter" idx="12"/>
          </p:nvPr>
        </p:nvSpPr>
        <p:spPr/>
        <p:txBody>
          <a:bodyPr/>
          <a:lstStyle/>
          <a:p>
            <a:fld id="{6F19EB20-827F-9F40-A633-3810B83D00D5}" type="slidenum">
              <a:rPr lang="en-BE" smtClean="0"/>
              <a:t>30</a:t>
            </a:fld>
            <a:endParaRPr lang="en-BE"/>
          </a:p>
        </p:txBody>
      </p:sp>
    </p:spTree>
    <p:extLst>
      <p:ext uri="{BB962C8B-B14F-4D97-AF65-F5344CB8AC3E}">
        <p14:creationId xmlns:p14="http://schemas.microsoft.com/office/powerpoint/2010/main" val="4035046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7" grpId="0"/>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D3C49-7E10-3E1C-7142-F44FC71BA0DB}"/>
              </a:ext>
            </a:extLst>
          </p:cNvPr>
          <p:cNvSpPr>
            <a:spLocks noGrp="1"/>
          </p:cNvSpPr>
          <p:nvPr>
            <p:ph type="title"/>
          </p:nvPr>
        </p:nvSpPr>
        <p:spPr>
          <a:xfrm>
            <a:off x="838200" y="260625"/>
            <a:ext cx="10515600" cy="840823"/>
          </a:xfrm>
        </p:spPr>
        <p:txBody>
          <a:bodyPr/>
          <a:lstStyle/>
          <a:p>
            <a:r>
              <a:rPr lang="en-BE" dirty="0"/>
              <a:t>Short-lived branches</a:t>
            </a:r>
          </a:p>
        </p:txBody>
      </p:sp>
      <p:sp>
        <p:nvSpPr>
          <p:cNvPr id="3" name="Content Placeholder 2">
            <a:extLst>
              <a:ext uri="{FF2B5EF4-FFF2-40B4-BE49-F238E27FC236}">
                <a16:creationId xmlns:a16="http://schemas.microsoft.com/office/drawing/2014/main" id="{45B9648A-A1E2-3BD0-E70B-2F52EAC5ED32}"/>
              </a:ext>
            </a:extLst>
          </p:cNvPr>
          <p:cNvSpPr>
            <a:spLocks noGrp="1"/>
          </p:cNvSpPr>
          <p:nvPr>
            <p:ph idx="1"/>
          </p:nvPr>
        </p:nvSpPr>
        <p:spPr>
          <a:xfrm>
            <a:off x="1129748" y="1838877"/>
            <a:ext cx="7881730" cy="4351338"/>
          </a:xfrm>
        </p:spPr>
        <p:txBody>
          <a:bodyPr>
            <a:normAutofit/>
          </a:bodyPr>
          <a:lstStyle/>
          <a:p>
            <a:r>
              <a:rPr lang="en-BE" sz="3200" dirty="0"/>
              <a:t>A playground for developers to create and test new features</a:t>
            </a:r>
          </a:p>
          <a:p>
            <a:r>
              <a:rPr lang="en-BE" sz="3200" dirty="0"/>
              <a:t>Meant to be deleted after being merged</a:t>
            </a:r>
          </a:p>
          <a:p>
            <a:r>
              <a:rPr lang="en-BE" sz="3200" dirty="0"/>
              <a:t>Benefits</a:t>
            </a:r>
          </a:p>
          <a:p>
            <a:pPr lvl="1"/>
            <a:r>
              <a:rPr lang="en-BE" sz="2800" dirty="0"/>
              <a:t>Reduces drift</a:t>
            </a:r>
          </a:p>
          <a:p>
            <a:pPr lvl="1"/>
            <a:r>
              <a:rPr lang="en-GB" sz="2800" dirty="0"/>
              <a:t>R</a:t>
            </a:r>
            <a:r>
              <a:rPr lang="en-BE" sz="2800" dirty="0"/>
              <a:t>educes parallel changes</a:t>
            </a:r>
          </a:p>
          <a:p>
            <a:pPr lvl="1"/>
            <a:r>
              <a:rPr lang="en-GB" sz="2800" dirty="0"/>
              <a:t>Limits the blast radius of mistakes (human or AI-generated)</a:t>
            </a:r>
            <a:endParaRPr lang="en-BE" sz="2800" dirty="0"/>
          </a:p>
        </p:txBody>
      </p:sp>
      <p:pic>
        <p:nvPicPr>
          <p:cNvPr id="4" name="Picture 3" descr="A diagram of a code&#10;&#10;Description automatically generated">
            <a:extLst>
              <a:ext uri="{FF2B5EF4-FFF2-40B4-BE49-F238E27FC236}">
                <a16:creationId xmlns:a16="http://schemas.microsoft.com/office/drawing/2014/main" id="{B6CFBED1-E837-64D1-2CEC-10186CD2FE83}"/>
              </a:ext>
            </a:extLst>
          </p:cNvPr>
          <p:cNvPicPr>
            <a:picLocks noChangeAspect="1"/>
          </p:cNvPicPr>
          <p:nvPr/>
        </p:nvPicPr>
        <p:blipFill>
          <a:blip r:embed="rId2"/>
          <a:stretch>
            <a:fillRect/>
          </a:stretch>
        </p:blipFill>
        <p:spPr>
          <a:xfrm>
            <a:off x="8892209" y="410430"/>
            <a:ext cx="2461591" cy="1140106"/>
          </a:xfrm>
          <a:prstGeom prst="rect">
            <a:avLst/>
          </a:prstGeom>
        </p:spPr>
      </p:pic>
      <p:sp>
        <p:nvSpPr>
          <p:cNvPr id="6" name="Slide Number Placeholder 5">
            <a:extLst>
              <a:ext uri="{FF2B5EF4-FFF2-40B4-BE49-F238E27FC236}">
                <a16:creationId xmlns:a16="http://schemas.microsoft.com/office/drawing/2014/main" id="{D0AFB065-527E-4322-F7FB-06B506AD17FB}"/>
              </a:ext>
            </a:extLst>
          </p:cNvPr>
          <p:cNvSpPr>
            <a:spLocks noGrp="1"/>
          </p:cNvSpPr>
          <p:nvPr>
            <p:ph type="sldNum" sz="quarter" idx="12"/>
          </p:nvPr>
        </p:nvSpPr>
        <p:spPr/>
        <p:txBody>
          <a:bodyPr/>
          <a:lstStyle/>
          <a:p>
            <a:fld id="{6F19EB20-827F-9F40-A633-3810B83D00D5}" type="slidenum">
              <a:rPr lang="en-BE" smtClean="0"/>
              <a:t>31</a:t>
            </a:fld>
            <a:endParaRPr lang="en-BE"/>
          </a:p>
        </p:txBody>
      </p:sp>
      <p:sp>
        <p:nvSpPr>
          <p:cNvPr id="8" name="TextBox 7">
            <a:extLst>
              <a:ext uri="{FF2B5EF4-FFF2-40B4-BE49-F238E27FC236}">
                <a16:creationId xmlns:a16="http://schemas.microsoft.com/office/drawing/2014/main" id="{E0EA868B-4EE1-D88C-1BAE-0D0665068F8E}"/>
              </a:ext>
            </a:extLst>
          </p:cNvPr>
          <p:cNvSpPr txBox="1"/>
          <p:nvPr/>
        </p:nvSpPr>
        <p:spPr>
          <a:xfrm>
            <a:off x="1022445" y="5987018"/>
            <a:ext cx="9936708" cy="400110"/>
          </a:xfrm>
          <a:prstGeom prst="rect">
            <a:avLst/>
          </a:prstGeom>
          <a:noFill/>
          <a:ln w="28575">
            <a:solidFill>
              <a:srgbClr val="C00000"/>
            </a:solidFill>
          </a:ln>
        </p:spPr>
        <p:txBody>
          <a:bodyPr wrap="square">
            <a:spAutoFit/>
          </a:bodyPr>
          <a:lstStyle/>
          <a:p>
            <a:r>
              <a:rPr lang="en-GB" sz="2000" dirty="0"/>
              <a:t>AI makes it easy to generate a lot of code quickly. Short-lived branches make it safe to do that.</a:t>
            </a:r>
            <a:endParaRPr lang="en-US" sz="2000" dirty="0"/>
          </a:p>
        </p:txBody>
      </p:sp>
    </p:spTree>
    <p:extLst>
      <p:ext uri="{BB962C8B-B14F-4D97-AF65-F5344CB8AC3E}">
        <p14:creationId xmlns:p14="http://schemas.microsoft.com/office/powerpoint/2010/main" val="1225743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D3C49-7E10-3E1C-7142-F44FC71BA0DB}"/>
              </a:ext>
            </a:extLst>
          </p:cNvPr>
          <p:cNvSpPr>
            <a:spLocks noGrp="1"/>
          </p:cNvSpPr>
          <p:nvPr>
            <p:ph type="title"/>
          </p:nvPr>
        </p:nvSpPr>
        <p:spPr>
          <a:xfrm>
            <a:off x="838200" y="260625"/>
            <a:ext cx="10515600" cy="840823"/>
          </a:xfrm>
        </p:spPr>
        <p:txBody>
          <a:bodyPr/>
          <a:lstStyle/>
          <a:p>
            <a:r>
              <a:rPr lang="en-BE" dirty="0"/>
              <a:t>Frequent pull requests</a:t>
            </a:r>
          </a:p>
        </p:txBody>
      </p:sp>
      <p:sp>
        <p:nvSpPr>
          <p:cNvPr id="3" name="Content Placeholder 2">
            <a:extLst>
              <a:ext uri="{FF2B5EF4-FFF2-40B4-BE49-F238E27FC236}">
                <a16:creationId xmlns:a16="http://schemas.microsoft.com/office/drawing/2014/main" id="{45B9648A-A1E2-3BD0-E70B-2F52EAC5ED32}"/>
              </a:ext>
            </a:extLst>
          </p:cNvPr>
          <p:cNvSpPr>
            <a:spLocks noGrp="1"/>
          </p:cNvSpPr>
          <p:nvPr>
            <p:ph idx="1"/>
          </p:nvPr>
        </p:nvSpPr>
        <p:spPr>
          <a:xfrm>
            <a:off x="1129748" y="1838877"/>
            <a:ext cx="10224052" cy="4351338"/>
          </a:xfrm>
        </p:spPr>
        <p:txBody>
          <a:bodyPr>
            <a:normAutofit/>
          </a:bodyPr>
          <a:lstStyle/>
          <a:p>
            <a:r>
              <a:rPr lang="en-BE" sz="3200" dirty="0"/>
              <a:t>Created for a specific feature or bug-fix</a:t>
            </a:r>
          </a:p>
          <a:p>
            <a:r>
              <a:rPr lang="en-BE" sz="3200" dirty="0"/>
              <a:t>Merged by maintaners/owners</a:t>
            </a:r>
          </a:p>
          <a:p>
            <a:r>
              <a:rPr lang="en-GB" sz="3200" dirty="0"/>
              <a:t>Each pull request represents a small, reviewable decision</a:t>
            </a:r>
          </a:p>
          <a:p>
            <a:r>
              <a:rPr lang="en-GB" sz="3200" dirty="0"/>
              <a:t>Smaller PRs are easier to review, reason about, and reject</a:t>
            </a:r>
            <a:endParaRPr lang="en-BE" sz="3200" dirty="0"/>
          </a:p>
          <a:p>
            <a:r>
              <a:rPr lang="en-BE" sz="3200" dirty="0"/>
              <a:t>Benefits:</a:t>
            </a:r>
          </a:p>
          <a:p>
            <a:pPr lvl="1"/>
            <a:r>
              <a:rPr lang="en-BE" sz="2800" dirty="0"/>
              <a:t>Frequent feedback from increased collaboration -  PR review </a:t>
            </a:r>
          </a:p>
          <a:p>
            <a:pPr lvl="1"/>
            <a:r>
              <a:rPr lang="en-GB" sz="2800" dirty="0"/>
              <a:t>F</a:t>
            </a:r>
            <a:r>
              <a:rPr lang="en-BE" sz="2800" dirty="0"/>
              <a:t>aster reaction to changes</a:t>
            </a:r>
          </a:p>
          <a:p>
            <a:pPr lvl="1"/>
            <a:r>
              <a:rPr lang="en-BE" sz="2800" dirty="0"/>
              <a:t>Reduced management risks</a:t>
            </a:r>
          </a:p>
          <a:p>
            <a:endParaRPr lang="en-BE" sz="3200" dirty="0"/>
          </a:p>
        </p:txBody>
      </p:sp>
      <p:pic>
        <p:nvPicPr>
          <p:cNvPr id="31" name="Picture 30" descr="A diagram of a code&#10;&#10;Description automatically generated">
            <a:extLst>
              <a:ext uri="{FF2B5EF4-FFF2-40B4-BE49-F238E27FC236}">
                <a16:creationId xmlns:a16="http://schemas.microsoft.com/office/drawing/2014/main" id="{38A41E90-5559-0EAE-1885-A34CC5FE44D0}"/>
              </a:ext>
            </a:extLst>
          </p:cNvPr>
          <p:cNvPicPr>
            <a:picLocks noChangeAspect="1"/>
          </p:cNvPicPr>
          <p:nvPr/>
        </p:nvPicPr>
        <p:blipFill>
          <a:blip r:embed="rId3"/>
          <a:stretch>
            <a:fillRect/>
          </a:stretch>
        </p:blipFill>
        <p:spPr>
          <a:xfrm>
            <a:off x="8892209" y="410430"/>
            <a:ext cx="2461591" cy="1140106"/>
          </a:xfrm>
          <a:prstGeom prst="rect">
            <a:avLst/>
          </a:prstGeom>
        </p:spPr>
      </p:pic>
      <p:sp>
        <p:nvSpPr>
          <p:cNvPr id="5" name="Slide Number Placeholder 4">
            <a:extLst>
              <a:ext uri="{FF2B5EF4-FFF2-40B4-BE49-F238E27FC236}">
                <a16:creationId xmlns:a16="http://schemas.microsoft.com/office/drawing/2014/main" id="{9C2C2485-5995-2058-AC7D-48811A912C4C}"/>
              </a:ext>
            </a:extLst>
          </p:cNvPr>
          <p:cNvSpPr>
            <a:spLocks noGrp="1"/>
          </p:cNvSpPr>
          <p:nvPr>
            <p:ph type="sldNum" sz="quarter" idx="12"/>
          </p:nvPr>
        </p:nvSpPr>
        <p:spPr/>
        <p:txBody>
          <a:bodyPr/>
          <a:lstStyle/>
          <a:p>
            <a:fld id="{6F19EB20-827F-9F40-A633-3810B83D00D5}" type="slidenum">
              <a:rPr lang="en-BE" smtClean="0"/>
              <a:t>32</a:t>
            </a:fld>
            <a:endParaRPr lang="en-BE"/>
          </a:p>
        </p:txBody>
      </p:sp>
    </p:spTree>
    <p:extLst>
      <p:ext uri="{BB962C8B-B14F-4D97-AF65-F5344CB8AC3E}">
        <p14:creationId xmlns:p14="http://schemas.microsoft.com/office/powerpoint/2010/main" val="35148387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524E3-4CD1-B18A-6044-6BB089DE6CDD}"/>
              </a:ext>
            </a:extLst>
          </p:cNvPr>
          <p:cNvSpPr>
            <a:spLocks noGrp="1"/>
          </p:cNvSpPr>
          <p:nvPr>
            <p:ph type="title"/>
          </p:nvPr>
        </p:nvSpPr>
        <p:spPr>
          <a:xfrm>
            <a:off x="400878" y="355323"/>
            <a:ext cx="10515600" cy="648666"/>
          </a:xfrm>
        </p:spPr>
        <p:txBody>
          <a:bodyPr>
            <a:noAutofit/>
          </a:bodyPr>
          <a:lstStyle/>
          <a:p>
            <a:r>
              <a:rPr lang="en-BE" sz="4000" dirty="0"/>
              <a:t>Benefits of CI</a:t>
            </a:r>
          </a:p>
        </p:txBody>
      </p:sp>
      <p:sp>
        <p:nvSpPr>
          <p:cNvPr id="3" name="Content Placeholder 2">
            <a:extLst>
              <a:ext uri="{FF2B5EF4-FFF2-40B4-BE49-F238E27FC236}">
                <a16:creationId xmlns:a16="http://schemas.microsoft.com/office/drawing/2014/main" id="{C55AFBBD-89C6-BC4F-2B13-616702E43D11}"/>
              </a:ext>
            </a:extLst>
          </p:cNvPr>
          <p:cNvSpPr>
            <a:spLocks noGrp="1"/>
          </p:cNvSpPr>
          <p:nvPr>
            <p:ph idx="1"/>
          </p:nvPr>
        </p:nvSpPr>
        <p:spPr>
          <a:xfrm>
            <a:off x="692426" y="1487693"/>
            <a:ext cx="10515600" cy="3786672"/>
          </a:xfrm>
        </p:spPr>
        <p:txBody>
          <a:bodyPr>
            <a:normAutofit lnSpcReduction="10000"/>
          </a:bodyPr>
          <a:lstStyle/>
          <a:p>
            <a:r>
              <a:rPr lang="en-BE" sz="3600" dirty="0"/>
              <a:t>Faster code-change reaction time</a:t>
            </a:r>
          </a:p>
          <a:p>
            <a:pPr lvl="1"/>
            <a:r>
              <a:rPr lang="en-BE" sz="3200" dirty="0"/>
              <a:t>You make a change to your code</a:t>
            </a:r>
          </a:p>
          <a:p>
            <a:pPr lvl="1"/>
            <a:r>
              <a:rPr lang="en-BE" sz="3200" dirty="0"/>
              <a:t>Code gets tested</a:t>
            </a:r>
          </a:p>
          <a:p>
            <a:pPr lvl="2"/>
            <a:r>
              <a:rPr lang="en-GB" sz="2400" dirty="0">
                <a:solidFill>
                  <a:srgbClr val="333333"/>
                </a:solidFill>
              </a:rPr>
              <a:t>E</a:t>
            </a:r>
            <a:r>
              <a:rPr lang="en-GB" sz="2400" b="0" i="0" dirty="0">
                <a:solidFill>
                  <a:srgbClr val="333333"/>
                </a:solidFill>
                <a:effectLst/>
              </a:rPr>
              <a:t>ven if you forgot to run the tests, the CI tool will test it.</a:t>
            </a:r>
          </a:p>
          <a:p>
            <a:pPr lvl="2"/>
            <a:r>
              <a:rPr lang="en-GB" sz="2400" dirty="0"/>
              <a:t>Fast feedback before mistakes become expensive</a:t>
            </a:r>
            <a:endParaRPr lang="en-BE" sz="2400" dirty="0"/>
          </a:p>
          <a:p>
            <a:pPr lvl="1"/>
            <a:r>
              <a:rPr lang="en-BE" sz="3200" dirty="0"/>
              <a:t>Change gets built</a:t>
            </a:r>
          </a:p>
          <a:p>
            <a:pPr lvl="2"/>
            <a:r>
              <a:rPr lang="en-GB" sz="2400" b="0" i="0" dirty="0">
                <a:solidFill>
                  <a:srgbClr val="333333"/>
                </a:solidFill>
                <a:effectLst/>
              </a:rPr>
              <a:t>Even if you forgot to check if the build works, the CI tool will check it.</a:t>
            </a:r>
            <a:endParaRPr lang="en-BE" sz="2400" dirty="0"/>
          </a:p>
          <a:p>
            <a:pPr lvl="1"/>
            <a:r>
              <a:rPr lang="en-BE" sz="3200" dirty="0"/>
              <a:t>Deliver solutions quickly into customer’s hands</a:t>
            </a:r>
          </a:p>
          <a:p>
            <a:pPr lvl="2"/>
            <a:r>
              <a:rPr lang="en-GB" sz="2400" dirty="0">
                <a:solidFill>
                  <a:srgbClr val="333333"/>
                </a:solidFill>
              </a:rPr>
              <a:t>K</a:t>
            </a:r>
            <a:r>
              <a:rPr lang="en-GB" sz="2400" b="0" i="0" dirty="0">
                <a:solidFill>
                  <a:srgbClr val="333333"/>
                </a:solidFill>
                <a:effectLst/>
              </a:rPr>
              <a:t>nowing that all the tests have passed, and the build is not broken.</a:t>
            </a:r>
          </a:p>
          <a:p>
            <a:pPr algn="l"/>
            <a:endParaRPr lang="en-GB" sz="1600" b="0" i="0" dirty="0">
              <a:solidFill>
                <a:srgbClr val="333333"/>
              </a:solidFill>
              <a:effectLst/>
              <a:latin typeface="OpenSans"/>
            </a:endParaRPr>
          </a:p>
          <a:p>
            <a:pPr lvl="1"/>
            <a:endParaRPr lang="en-BE" sz="3200" dirty="0"/>
          </a:p>
          <a:p>
            <a:pPr marL="457200" lvl="1" indent="0">
              <a:buNone/>
            </a:pPr>
            <a:endParaRPr lang="en-BE" dirty="0"/>
          </a:p>
        </p:txBody>
      </p:sp>
      <p:sp>
        <p:nvSpPr>
          <p:cNvPr id="5" name="Slide Number Placeholder 4">
            <a:extLst>
              <a:ext uri="{FF2B5EF4-FFF2-40B4-BE49-F238E27FC236}">
                <a16:creationId xmlns:a16="http://schemas.microsoft.com/office/drawing/2014/main" id="{5B7E1495-599F-2F12-6BF4-00B073FDA9B9}"/>
              </a:ext>
            </a:extLst>
          </p:cNvPr>
          <p:cNvSpPr>
            <a:spLocks noGrp="1"/>
          </p:cNvSpPr>
          <p:nvPr>
            <p:ph type="sldNum" sz="quarter" idx="12"/>
          </p:nvPr>
        </p:nvSpPr>
        <p:spPr/>
        <p:txBody>
          <a:bodyPr/>
          <a:lstStyle/>
          <a:p>
            <a:fld id="{6F19EB20-827F-9F40-A633-3810B83D00D5}" type="slidenum">
              <a:rPr lang="en-BE" smtClean="0"/>
              <a:t>33</a:t>
            </a:fld>
            <a:endParaRPr lang="en-BE"/>
          </a:p>
        </p:txBody>
      </p:sp>
      <p:sp>
        <p:nvSpPr>
          <p:cNvPr id="7" name="TextBox 6">
            <a:extLst>
              <a:ext uri="{FF2B5EF4-FFF2-40B4-BE49-F238E27FC236}">
                <a16:creationId xmlns:a16="http://schemas.microsoft.com/office/drawing/2014/main" id="{ECE6EF63-ACCF-A452-2736-1E8E79F8B16D}"/>
              </a:ext>
            </a:extLst>
          </p:cNvPr>
          <p:cNvSpPr txBox="1"/>
          <p:nvPr/>
        </p:nvSpPr>
        <p:spPr>
          <a:xfrm>
            <a:off x="1064525" y="5710019"/>
            <a:ext cx="10289275" cy="461665"/>
          </a:xfrm>
          <a:prstGeom prst="rect">
            <a:avLst/>
          </a:prstGeom>
          <a:noFill/>
          <a:ln w="28575">
            <a:solidFill>
              <a:srgbClr val="C00000"/>
            </a:solidFill>
          </a:ln>
        </p:spPr>
        <p:txBody>
          <a:bodyPr wrap="square">
            <a:spAutoFit/>
          </a:bodyPr>
          <a:lstStyle/>
          <a:p>
            <a:r>
              <a:rPr lang="en-GB" sz="2400" dirty="0"/>
              <a:t>CI isn’t about saving time — it’s about failing fast while the change is still small.”</a:t>
            </a:r>
            <a:endParaRPr lang="en-US" sz="2400" dirty="0"/>
          </a:p>
        </p:txBody>
      </p:sp>
    </p:spTree>
    <p:extLst>
      <p:ext uri="{BB962C8B-B14F-4D97-AF65-F5344CB8AC3E}">
        <p14:creationId xmlns:p14="http://schemas.microsoft.com/office/powerpoint/2010/main" val="15656884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5AFBBD-89C6-BC4F-2B13-616702E43D11}"/>
              </a:ext>
            </a:extLst>
          </p:cNvPr>
          <p:cNvSpPr>
            <a:spLocks noGrp="1"/>
          </p:cNvSpPr>
          <p:nvPr>
            <p:ph idx="1"/>
          </p:nvPr>
        </p:nvSpPr>
        <p:spPr>
          <a:xfrm>
            <a:off x="740664" y="1626577"/>
            <a:ext cx="8756174" cy="4140240"/>
          </a:xfrm>
        </p:spPr>
        <p:txBody>
          <a:bodyPr>
            <a:normAutofit fontScale="92500" lnSpcReduction="20000"/>
          </a:bodyPr>
          <a:lstStyle/>
          <a:p>
            <a:pPr lvl="1">
              <a:buNone/>
            </a:pPr>
            <a:r>
              <a:rPr sz="3200"/>
              <a:t>Every Pull request = code review opportunity</a:t>
            </a:r>
          </a:p>
          <a:p>
            <a:pPr lvl="1">
              <a:buNone/>
            </a:pPr>
            <a:endParaRPr/>
          </a:p>
          <a:p>
            <a:pPr lvl="1">
              <a:buNone/>
            </a:pPr>
            <a:endParaRPr/>
          </a:p>
          <a:p>
            <a:pPr lvl="1">
              <a:buNone/>
            </a:pPr>
            <a:r>
              <a:rPr sz="3200"/>
              <a:t>When someone makes a pull request, go and look at the code</a:t>
            </a:r>
          </a:p>
          <a:p>
            <a:pPr lvl="2">
              <a:buNone/>
            </a:pPr>
            <a:r>
              <a:rPr sz="2600"/>
              <a:t>Extra pair set of eyes</a:t>
            </a:r>
          </a:p>
          <a:p>
            <a:pPr lvl="1">
              <a:buNone/>
            </a:pPr>
            <a:endParaRPr/>
          </a:p>
          <a:p>
            <a:pPr lvl="1">
              <a:buNone/>
            </a:pPr>
            <a:r>
              <a:rPr sz="3200"/>
              <a:t>Pull request review:</a:t>
            </a:r>
          </a:p>
          <a:p>
            <a:pPr lvl="2">
              <a:buNone/>
            </a:pPr>
            <a:r>
              <a:rPr sz="2400"/>
              <a:t>All is good - “Yeah it looks good to me” or</a:t>
            </a:r>
          </a:p>
          <a:p>
            <a:pPr lvl="2">
              <a:buNone/>
            </a:pPr>
            <a:r>
              <a:rPr sz="2400">
                <a:solidFill>
                  <a:srgbClr val="333333"/>
                </a:solidFill>
              </a:rPr>
              <a:t>Code is not doing what it’s supposed to do - “why are you changing this?”</a:t>
            </a:r>
          </a:p>
          <a:p>
            <a:pPr lvl="2">
              <a:buNone/>
            </a:pPr>
            <a:r>
              <a:rPr sz="2400"/>
              <a:t>PR reviews verify </a:t>
            </a:r>
            <a:r>
              <a:rPr sz="2400" i="1"/>
              <a:t>intent</a:t>
            </a:r>
            <a:r>
              <a:rPr sz="2400"/>
              <a:t>, not just correctness</a:t>
            </a:r>
          </a:p>
          <a:p>
            <a:pPr lvl="2">
              <a:buNone/>
            </a:pPr>
            <a:endParaRPr/>
          </a:p>
          <a:p>
            <a:pPr lvl="1">
              <a:buNone/>
            </a:pPr>
            <a:endParaRPr/>
          </a:p>
        </p:txBody>
      </p:sp>
      <p:sp>
        <p:nvSpPr>
          <p:cNvPr id="4" name="Title 1">
            <a:extLst>
              <a:ext uri="{FF2B5EF4-FFF2-40B4-BE49-F238E27FC236}">
                <a16:creationId xmlns:a16="http://schemas.microsoft.com/office/drawing/2014/main" id="{5A12F435-6CD8-2DD6-74D1-5A399C14A968}"/>
              </a:ext>
            </a:extLst>
          </p:cNvPr>
          <p:cNvSpPr>
            <a:spLocks noGrp="1"/>
          </p:cNvSpPr>
          <p:nvPr/>
        </p:nvSpPr>
        <p:spPr>
          <a:xfrm>
            <a:off x="400878" y="355323"/>
            <a:ext cx="10515600" cy="648666"/>
          </a:xfrm>
          <a:prstGeom prst="rect">
            <a:avLst/>
          </a:prstGeom>
        </p:spPr>
        <p:txBody>
          <a:bodyPr vert="horz" lIns="91440" tIns="45720" rIns="91440" bIns="45720" anchor="ctr">
            <a:noAutofit/>
          </a:bodyPr>
          <a:lstStyle>
            <a:lvl1pPr algn="l" defTabSz="914400">
              <a:lnSpc>
                <a:spcPct val="90000"/>
              </a:lnSpc>
              <a:spcBef>
                <a:spcPct val="0"/>
              </a:spcBef>
              <a:buNone/>
              <a:defRPr sz="4400" kern="1200">
                <a:solidFill>
                  <a:schemeClr val="tx1"/>
                </a:solidFill>
                <a:latin typeface="+mj-lt"/>
                <a:ea typeface="+mj-lt"/>
                <a:cs typeface="+mj-lt"/>
              </a:defRPr>
            </a:lvl1pPr>
          </a:lstStyle>
          <a:p>
            <a:r>
              <a:rPr sz="4000"/>
              <a:t>Benefits of CI – Higher code quality</a:t>
            </a:r>
          </a:p>
        </p:txBody>
      </p:sp>
      <p:pic>
        <p:nvPicPr>
          <p:cNvPr id="10" name="Picture 8"/>
          <p:cNvPicPr>
            <a:picLocks noChangeAspect="1"/>
          </p:cNvPicPr>
          <p:nvPr/>
        </p:nvPicPr>
        <p:blipFill>
          <a:blip r:embed="rId3"/>
          <a:stretch>
            <a:fillRect/>
          </a:stretch>
        </p:blipFill>
        <p:spPr>
          <a:xfrm>
            <a:off x="9394133" y="1427437"/>
            <a:ext cx="2562087" cy="1095513"/>
          </a:xfrm>
          <a:prstGeom prst="rect">
            <a:avLst/>
          </a:prstGeom>
        </p:spPr>
      </p:pic>
      <p:pic>
        <p:nvPicPr>
          <p:cNvPr id="11" name="Picture 2"/>
          <p:cNvPicPr>
            <a:picLocks noChangeAspect="1"/>
          </p:cNvPicPr>
          <p:nvPr/>
        </p:nvPicPr>
        <p:blipFill rotWithShape="1">
          <a:blip r:embed="rId4"/>
          <a:srcRect l="6010" t="8717" r="38918" b="66304"/>
          <a:stretch/>
        </p:blipFill>
        <p:spPr>
          <a:xfrm>
            <a:off x="9559786" y="2919895"/>
            <a:ext cx="2230783" cy="674530"/>
          </a:xfrm>
          <a:prstGeom prst="rect">
            <a:avLst/>
          </a:prstGeom>
        </p:spPr>
      </p:pic>
      <p:sp>
        <p:nvSpPr>
          <p:cNvPr id="5" name="Slide Number Placeholder 4">
            <a:extLst>
              <a:ext uri="{FF2B5EF4-FFF2-40B4-BE49-F238E27FC236}">
                <a16:creationId xmlns:a16="http://schemas.microsoft.com/office/drawing/2014/main" id="{7E4C019A-156D-454E-1B52-17B627460EC0}"/>
              </a:ext>
            </a:extLst>
          </p:cNvPr>
          <p:cNvSpPr>
            <a:spLocks noGrp="1"/>
          </p:cNvSpPr>
          <p:nvPr>
            <p:ph type="sldNum" idx="12"/>
          </p:nvPr>
        </p:nvSpPr>
        <p:spPr/>
        <p:txBody>
          <a:bodyPr/>
          <a:lstStyle/>
          <a:p>
            <a:fld id="{6F19EB20-827F-9F40-A633-3810B83D00D5}" type="slidenum">
              <a:rPr/>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FE6CC210-4AE2-4138-8242-706E03113B39}"/>
              </a:ext>
            </a:extLst>
          </p:cNvPr>
          <p:cNvGrpSpPr/>
          <p:nvPr/>
        </p:nvGrpSpPr>
        <p:grpSpPr>
          <a:xfrm>
            <a:off x="3813089" y="1144345"/>
            <a:ext cx="4071249" cy="2169616"/>
            <a:chOff x="856348" y="1750139"/>
            <a:chExt cx="4071249" cy="2169616"/>
          </a:xfrm>
        </p:grpSpPr>
        <p:grpSp>
          <p:nvGrpSpPr>
            <p:cNvPr id="5" name="Group 4">
              <a:extLst>
                <a:ext uri="{FF2B5EF4-FFF2-40B4-BE49-F238E27FC236}">
                  <a16:creationId xmlns:a16="http://schemas.microsoft.com/office/drawing/2014/main" id="{C952F55B-A7BA-3AC2-0AEC-67B5E53301DD}"/>
                </a:ext>
              </a:extLst>
            </p:cNvPr>
            <p:cNvGrpSpPr/>
            <p:nvPr/>
          </p:nvGrpSpPr>
          <p:grpSpPr>
            <a:xfrm>
              <a:off x="856348" y="1787675"/>
              <a:ext cx="1475169" cy="1801622"/>
              <a:chOff x="856348" y="1787675"/>
              <a:chExt cx="1475169" cy="1801622"/>
            </a:xfrm>
          </p:grpSpPr>
          <p:sp>
            <p:nvSpPr>
              <p:cNvPr id="4" name="TextBox 3">
                <a:extLst>
                  <a:ext uri="{FF2B5EF4-FFF2-40B4-BE49-F238E27FC236}">
                    <a16:creationId xmlns:a16="http://schemas.microsoft.com/office/drawing/2014/main" id="{A2909C71-FC33-4CAF-83E1-96F46AC2F769}"/>
                  </a:ext>
                </a:extLst>
              </p:cNvPr>
              <p:cNvSpPr txBox="1"/>
              <p:nvPr/>
            </p:nvSpPr>
            <p:spPr>
              <a:xfrm>
                <a:off x="988197" y="1787675"/>
                <a:ext cx="1166191" cy="400110"/>
              </a:xfrm>
              <a:prstGeom prst="rect">
                <a:avLst/>
              </a:prstGeom>
              <a:noFill/>
            </p:spPr>
            <p:txBody>
              <a:bodyPr wrap="square" rtlCol="0">
                <a:spAutoFit/>
              </a:bodyPr>
              <a:lstStyle/>
              <a:p>
                <a:pPr algn="ctr"/>
                <a:r>
                  <a:rPr lang="en-BE" sz="2000" dirty="0"/>
                  <a:t>Test 1</a:t>
                </a:r>
              </a:p>
            </p:txBody>
          </p:sp>
          <p:pic>
            <p:nvPicPr>
              <p:cNvPr id="1030" name="Picture 6" descr="Pass Fail Icon #247708 - Free Icons Library">
                <a:extLst>
                  <a:ext uri="{FF2B5EF4-FFF2-40B4-BE49-F238E27FC236}">
                    <a16:creationId xmlns:a16="http://schemas.microsoft.com/office/drawing/2014/main" id="{0AE1ED96-8200-7AEE-4D71-4465E27BA7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6348" y="2114128"/>
                <a:ext cx="1475169" cy="147516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 name="Group 5">
              <a:extLst>
                <a:ext uri="{FF2B5EF4-FFF2-40B4-BE49-F238E27FC236}">
                  <a16:creationId xmlns:a16="http://schemas.microsoft.com/office/drawing/2014/main" id="{5693B3D5-50F7-8502-2546-5257B41FDB3E}"/>
                </a:ext>
              </a:extLst>
            </p:cNvPr>
            <p:cNvGrpSpPr/>
            <p:nvPr/>
          </p:nvGrpSpPr>
          <p:grpSpPr>
            <a:xfrm>
              <a:off x="2188310" y="1750139"/>
              <a:ext cx="1475169" cy="1839157"/>
              <a:chOff x="-1356647" y="1750139"/>
              <a:chExt cx="1475169" cy="1839157"/>
            </a:xfrm>
          </p:grpSpPr>
          <p:sp>
            <p:nvSpPr>
              <p:cNvPr id="7" name="TextBox 6">
                <a:extLst>
                  <a:ext uri="{FF2B5EF4-FFF2-40B4-BE49-F238E27FC236}">
                    <a16:creationId xmlns:a16="http://schemas.microsoft.com/office/drawing/2014/main" id="{3ACD9D04-5B3E-CDCA-D6F0-726DD4FF1B08}"/>
                  </a:ext>
                </a:extLst>
              </p:cNvPr>
              <p:cNvSpPr txBox="1"/>
              <p:nvPr/>
            </p:nvSpPr>
            <p:spPr>
              <a:xfrm>
                <a:off x="-1258720" y="1750139"/>
                <a:ext cx="1166191" cy="400110"/>
              </a:xfrm>
              <a:prstGeom prst="rect">
                <a:avLst/>
              </a:prstGeom>
              <a:noFill/>
            </p:spPr>
            <p:txBody>
              <a:bodyPr wrap="square" rtlCol="0">
                <a:spAutoFit/>
              </a:bodyPr>
              <a:lstStyle/>
              <a:p>
                <a:pPr algn="ctr"/>
                <a:r>
                  <a:rPr lang="en-BE" sz="2000" dirty="0"/>
                  <a:t>Test 2</a:t>
                </a:r>
              </a:p>
            </p:txBody>
          </p:sp>
          <p:pic>
            <p:nvPicPr>
              <p:cNvPr id="8" name="Picture 6" descr="Pass Fail Icon #247708 - Free Icons Library">
                <a:extLst>
                  <a:ext uri="{FF2B5EF4-FFF2-40B4-BE49-F238E27FC236}">
                    <a16:creationId xmlns:a16="http://schemas.microsoft.com/office/drawing/2014/main" id="{F487D978-7C8D-5AA6-6908-CE47362CF7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6647" y="2114127"/>
                <a:ext cx="1475169" cy="147516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Group 8">
              <a:extLst>
                <a:ext uri="{FF2B5EF4-FFF2-40B4-BE49-F238E27FC236}">
                  <a16:creationId xmlns:a16="http://schemas.microsoft.com/office/drawing/2014/main" id="{EF1BBDB1-54DA-1A6E-59C4-86DA17A7BD22}"/>
                </a:ext>
              </a:extLst>
            </p:cNvPr>
            <p:cNvGrpSpPr/>
            <p:nvPr/>
          </p:nvGrpSpPr>
          <p:grpSpPr>
            <a:xfrm>
              <a:off x="3452428" y="1787675"/>
              <a:ext cx="1475169" cy="1801620"/>
              <a:chOff x="-3982042" y="1796750"/>
              <a:chExt cx="1475169" cy="1801620"/>
            </a:xfrm>
          </p:grpSpPr>
          <p:sp>
            <p:nvSpPr>
              <p:cNvPr id="10" name="TextBox 9">
                <a:extLst>
                  <a:ext uri="{FF2B5EF4-FFF2-40B4-BE49-F238E27FC236}">
                    <a16:creationId xmlns:a16="http://schemas.microsoft.com/office/drawing/2014/main" id="{C5424EB1-F61A-E590-CC68-40D707A6D76A}"/>
                  </a:ext>
                </a:extLst>
              </p:cNvPr>
              <p:cNvSpPr txBox="1"/>
              <p:nvPr/>
            </p:nvSpPr>
            <p:spPr>
              <a:xfrm>
                <a:off x="-3816271" y="1796750"/>
                <a:ext cx="1166191" cy="400110"/>
              </a:xfrm>
              <a:prstGeom prst="rect">
                <a:avLst/>
              </a:prstGeom>
              <a:noFill/>
            </p:spPr>
            <p:txBody>
              <a:bodyPr wrap="square" rtlCol="0">
                <a:spAutoFit/>
              </a:bodyPr>
              <a:lstStyle/>
              <a:p>
                <a:pPr algn="ctr"/>
                <a:r>
                  <a:rPr lang="en-BE" sz="2000" dirty="0"/>
                  <a:t>Test 2</a:t>
                </a:r>
              </a:p>
            </p:txBody>
          </p:sp>
          <p:pic>
            <p:nvPicPr>
              <p:cNvPr id="11" name="Picture 6" descr="Pass Fail Icon #247708 - Free Icons Library">
                <a:extLst>
                  <a:ext uri="{FF2B5EF4-FFF2-40B4-BE49-F238E27FC236}">
                    <a16:creationId xmlns:a16="http://schemas.microsoft.com/office/drawing/2014/main" id="{7839EEB2-3BC6-59E0-D4B4-E9AB31BE66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2042" y="2123201"/>
                <a:ext cx="1475169" cy="1475169"/>
              </a:xfrm>
              <a:prstGeom prst="rect">
                <a:avLst/>
              </a:prstGeom>
              <a:noFill/>
              <a:extLst>
                <a:ext uri="{909E8E84-426E-40DD-AFC4-6F175D3DCCD1}">
                  <a14:hiddenFill xmlns:a14="http://schemas.microsoft.com/office/drawing/2010/main">
                    <a:solidFill>
                      <a:srgbClr val="FFFFFF"/>
                    </a:solidFill>
                  </a14:hiddenFill>
                </a:ext>
              </a:extLst>
            </p:spPr>
          </p:pic>
        </p:grpSp>
        <p:sp>
          <p:nvSpPr>
            <p:cNvPr id="14" name="TextBox 13">
              <a:extLst>
                <a:ext uri="{FF2B5EF4-FFF2-40B4-BE49-F238E27FC236}">
                  <a16:creationId xmlns:a16="http://schemas.microsoft.com/office/drawing/2014/main" id="{6A9DACDF-2154-A461-9D45-10138BDD4217}"/>
                </a:ext>
              </a:extLst>
            </p:cNvPr>
            <p:cNvSpPr txBox="1"/>
            <p:nvPr/>
          </p:nvSpPr>
          <p:spPr>
            <a:xfrm>
              <a:off x="1707947" y="3458090"/>
              <a:ext cx="2435893" cy="461665"/>
            </a:xfrm>
            <a:prstGeom prst="rect">
              <a:avLst/>
            </a:prstGeom>
            <a:noFill/>
          </p:spPr>
          <p:txBody>
            <a:bodyPr wrap="square" rtlCol="0">
              <a:spAutoFit/>
            </a:bodyPr>
            <a:lstStyle/>
            <a:p>
              <a:r>
                <a:rPr lang="en-BE" sz="2400" dirty="0"/>
                <a:t>Do all tests pass?</a:t>
              </a:r>
            </a:p>
          </p:txBody>
        </p:sp>
      </p:grpSp>
      <p:sp>
        <p:nvSpPr>
          <p:cNvPr id="3" name="TextBox 2">
            <a:extLst>
              <a:ext uri="{FF2B5EF4-FFF2-40B4-BE49-F238E27FC236}">
                <a16:creationId xmlns:a16="http://schemas.microsoft.com/office/drawing/2014/main" id="{A21C1696-1134-B383-2992-50E474092F3E}"/>
              </a:ext>
            </a:extLst>
          </p:cNvPr>
          <p:cNvSpPr txBox="1"/>
          <p:nvPr/>
        </p:nvSpPr>
        <p:spPr>
          <a:xfrm>
            <a:off x="5145051" y="3989380"/>
            <a:ext cx="6620230" cy="2000548"/>
          </a:xfrm>
          <a:prstGeom prst="rect">
            <a:avLst/>
          </a:prstGeom>
          <a:noFill/>
          <a:ln w="28575">
            <a:solidFill>
              <a:srgbClr val="0432FF"/>
            </a:solidFill>
          </a:ln>
        </p:spPr>
        <p:txBody>
          <a:bodyPr wrap="square" rtlCol="0">
            <a:spAutoFit/>
          </a:bodyPr>
          <a:lstStyle/>
          <a:p>
            <a:r>
              <a:rPr lang="en-BE" sz="2400" dirty="0"/>
              <a:t>What happened?</a:t>
            </a:r>
          </a:p>
          <a:p>
            <a:pPr marL="285750" indent="-285750">
              <a:buFont typeface="Arial" panose="020B0604020202020204" pitchFamily="34" charset="0"/>
              <a:buChar char="•"/>
            </a:pPr>
            <a:r>
              <a:rPr lang="en-BE" sz="2000" dirty="0"/>
              <a:t>Wrote code but didn’t test? </a:t>
            </a:r>
          </a:p>
          <a:p>
            <a:pPr marL="285750" indent="-285750">
              <a:buFont typeface="Arial" panose="020B0604020202020204" pitchFamily="34" charset="0"/>
              <a:buChar char="•"/>
            </a:pPr>
            <a:r>
              <a:rPr lang="en-BE" sz="2000" dirty="0"/>
              <a:t>PR Review - </a:t>
            </a:r>
            <a:r>
              <a:rPr lang="en-GB" sz="2000" b="0" i="0" dirty="0">
                <a:solidFill>
                  <a:srgbClr val="333333"/>
                </a:solidFill>
                <a:effectLst/>
              </a:rPr>
              <a:t>“the code coverage went down and so I’m not going to approve this yet. Please write more test cases”</a:t>
            </a:r>
          </a:p>
          <a:p>
            <a:pPr marL="285750" indent="-285750">
              <a:buFont typeface="Arial" panose="020B0604020202020204" pitchFamily="34" charset="0"/>
              <a:buChar char="•"/>
            </a:pPr>
            <a:r>
              <a:rPr lang="en-GB" sz="2000" dirty="0">
                <a:solidFill>
                  <a:srgbClr val="333333"/>
                </a:solidFill>
              </a:rPr>
              <a:t>New update, Coverage &gt;= 95%, </a:t>
            </a:r>
          </a:p>
          <a:p>
            <a:pPr marL="742950" lvl="1" indent="-285750">
              <a:buFont typeface="Arial" panose="020B0604020202020204" pitchFamily="34" charset="0"/>
              <a:buChar char="•"/>
            </a:pPr>
            <a:r>
              <a:rPr lang="en-GB" sz="2000" dirty="0">
                <a:solidFill>
                  <a:srgbClr val="333333"/>
                </a:solidFill>
              </a:rPr>
              <a:t>PR Review – “I accept the PR now”.</a:t>
            </a:r>
            <a:endParaRPr lang="en-BE" sz="2000" dirty="0"/>
          </a:p>
        </p:txBody>
      </p:sp>
      <p:grpSp>
        <p:nvGrpSpPr>
          <p:cNvPr id="24" name="Group 23">
            <a:extLst>
              <a:ext uri="{FF2B5EF4-FFF2-40B4-BE49-F238E27FC236}">
                <a16:creationId xmlns:a16="http://schemas.microsoft.com/office/drawing/2014/main" id="{85FE9F34-5F46-EC5A-02CA-7A1FB5CF796A}"/>
              </a:ext>
            </a:extLst>
          </p:cNvPr>
          <p:cNvGrpSpPr/>
          <p:nvPr/>
        </p:nvGrpSpPr>
        <p:grpSpPr>
          <a:xfrm>
            <a:off x="939054" y="3936893"/>
            <a:ext cx="3506402" cy="2819554"/>
            <a:chOff x="939054" y="3936893"/>
            <a:chExt cx="3506402" cy="2819554"/>
          </a:xfrm>
        </p:grpSpPr>
        <p:grpSp>
          <p:nvGrpSpPr>
            <p:cNvPr id="23" name="Group 22">
              <a:extLst>
                <a:ext uri="{FF2B5EF4-FFF2-40B4-BE49-F238E27FC236}">
                  <a16:creationId xmlns:a16="http://schemas.microsoft.com/office/drawing/2014/main" id="{535A888D-166B-A2AB-F864-18D6C325D178}"/>
                </a:ext>
              </a:extLst>
            </p:cNvPr>
            <p:cNvGrpSpPr/>
            <p:nvPr/>
          </p:nvGrpSpPr>
          <p:grpSpPr>
            <a:xfrm>
              <a:off x="939054" y="3936893"/>
              <a:ext cx="3506402" cy="2819554"/>
              <a:chOff x="939054" y="3936893"/>
              <a:chExt cx="3506402" cy="2819554"/>
            </a:xfrm>
          </p:grpSpPr>
          <p:grpSp>
            <p:nvGrpSpPr>
              <p:cNvPr id="20" name="Group 19">
                <a:extLst>
                  <a:ext uri="{FF2B5EF4-FFF2-40B4-BE49-F238E27FC236}">
                    <a16:creationId xmlns:a16="http://schemas.microsoft.com/office/drawing/2014/main" id="{92D6A7E2-D536-6F06-1680-860914E07165}"/>
                  </a:ext>
                </a:extLst>
              </p:cNvPr>
              <p:cNvGrpSpPr/>
              <p:nvPr/>
            </p:nvGrpSpPr>
            <p:grpSpPr>
              <a:xfrm>
                <a:off x="939054" y="4908529"/>
                <a:ext cx="1264478" cy="1847918"/>
                <a:chOff x="1103601" y="4669990"/>
                <a:chExt cx="1264478" cy="1847918"/>
              </a:xfrm>
            </p:grpSpPr>
            <p:pic>
              <p:nvPicPr>
                <p:cNvPr id="12" name="Picture 11" descr="A black and white pattern with circles and lines&#10;&#10;Description automatically generated">
                  <a:extLst>
                    <a:ext uri="{FF2B5EF4-FFF2-40B4-BE49-F238E27FC236}">
                      <a16:creationId xmlns:a16="http://schemas.microsoft.com/office/drawing/2014/main" id="{ED25E148-95B5-29BC-933D-A009874005C0}"/>
                    </a:ext>
                  </a:extLst>
                </p:cNvPr>
                <p:cNvPicPr>
                  <a:picLocks noChangeAspect="1"/>
                </p:cNvPicPr>
                <p:nvPr/>
              </p:nvPicPr>
              <p:blipFill>
                <a:blip r:embed="rId4"/>
                <a:stretch>
                  <a:fillRect/>
                </a:stretch>
              </p:blipFill>
              <p:spPr>
                <a:xfrm>
                  <a:off x="1103601" y="4669990"/>
                  <a:ext cx="1264478" cy="1297754"/>
                </a:xfrm>
                <a:prstGeom prst="rect">
                  <a:avLst/>
                </a:prstGeom>
              </p:spPr>
            </p:pic>
            <p:sp>
              <p:nvSpPr>
                <p:cNvPr id="16" name="TextBox 15">
                  <a:extLst>
                    <a:ext uri="{FF2B5EF4-FFF2-40B4-BE49-F238E27FC236}">
                      <a16:creationId xmlns:a16="http://schemas.microsoft.com/office/drawing/2014/main" id="{E9C9593F-289F-634C-D3B1-AF50FB184BE4}"/>
                    </a:ext>
                  </a:extLst>
                </p:cNvPr>
                <p:cNvSpPr txBox="1"/>
                <p:nvPr/>
              </p:nvSpPr>
              <p:spPr>
                <a:xfrm>
                  <a:off x="1298713" y="6056243"/>
                  <a:ext cx="848139" cy="461665"/>
                </a:xfrm>
                <a:prstGeom prst="rect">
                  <a:avLst/>
                </a:prstGeom>
                <a:noFill/>
              </p:spPr>
              <p:txBody>
                <a:bodyPr wrap="square" rtlCol="0">
                  <a:spAutoFit/>
                </a:bodyPr>
                <a:lstStyle/>
                <a:p>
                  <a:r>
                    <a:rPr lang="en-BE" sz="2400" b="1" dirty="0">
                      <a:solidFill>
                        <a:srgbClr val="00A000"/>
                      </a:solidFill>
                    </a:rPr>
                    <a:t>95%</a:t>
                  </a:r>
                </a:p>
              </p:txBody>
            </p:sp>
          </p:grpSp>
          <p:grpSp>
            <p:nvGrpSpPr>
              <p:cNvPr id="18" name="Group 17">
                <a:extLst>
                  <a:ext uri="{FF2B5EF4-FFF2-40B4-BE49-F238E27FC236}">
                    <a16:creationId xmlns:a16="http://schemas.microsoft.com/office/drawing/2014/main" id="{008587E5-4665-13FE-5684-07B2D21B30E3}"/>
                  </a:ext>
                </a:extLst>
              </p:cNvPr>
              <p:cNvGrpSpPr/>
              <p:nvPr/>
            </p:nvGrpSpPr>
            <p:grpSpPr>
              <a:xfrm>
                <a:off x="2851882" y="4989654"/>
                <a:ext cx="1593574" cy="1766793"/>
                <a:chOff x="3610353" y="4669990"/>
                <a:chExt cx="1593574" cy="1766793"/>
              </a:xfrm>
            </p:grpSpPr>
            <p:pic>
              <p:nvPicPr>
                <p:cNvPr id="13" name="Picture 12" descr="A black lines and circles&#10;&#10;Description automatically generated with medium confidence">
                  <a:extLst>
                    <a:ext uri="{FF2B5EF4-FFF2-40B4-BE49-F238E27FC236}">
                      <a16:creationId xmlns:a16="http://schemas.microsoft.com/office/drawing/2014/main" id="{5F764828-5469-F2E8-33B7-7C6417AE9555}"/>
                    </a:ext>
                  </a:extLst>
                </p:cNvPr>
                <p:cNvPicPr>
                  <a:picLocks noChangeAspect="1"/>
                </p:cNvPicPr>
                <p:nvPr/>
              </p:nvPicPr>
              <p:blipFill>
                <a:blip r:embed="rId5"/>
                <a:stretch>
                  <a:fillRect/>
                </a:stretch>
              </p:blipFill>
              <p:spPr>
                <a:xfrm>
                  <a:off x="3610353" y="4669990"/>
                  <a:ext cx="1593574" cy="1292566"/>
                </a:xfrm>
                <a:prstGeom prst="rect">
                  <a:avLst/>
                </a:prstGeom>
              </p:spPr>
            </p:pic>
            <p:sp>
              <p:nvSpPr>
                <p:cNvPr id="17" name="TextBox 16">
                  <a:extLst>
                    <a:ext uri="{FF2B5EF4-FFF2-40B4-BE49-F238E27FC236}">
                      <a16:creationId xmlns:a16="http://schemas.microsoft.com/office/drawing/2014/main" id="{BEF2FB97-332A-9310-F8F2-537320A942AC}"/>
                    </a:ext>
                  </a:extLst>
                </p:cNvPr>
                <p:cNvSpPr txBox="1"/>
                <p:nvPr/>
              </p:nvSpPr>
              <p:spPr>
                <a:xfrm>
                  <a:off x="3983070" y="5975118"/>
                  <a:ext cx="848139" cy="461665"/>
                </a:xfrm>
                <a:prstGeom prst="rect">
                  <a:avLst/>
                </a:prstGeom>
                <a:noFill/>
              </p:spPr>
              <p:txBody>
                <a:bodyPr wrap="square" rtlCol="0">
                  <a:spAutoFit/>
                </a:bodyPr>
                <a:lstStyle/>
                <a:p>
                  <a:r>
                    <a:rPr lang="en-BE" sz="2400" b="1" dirty="0">
                      <a:solidFill>
                        <a:srgbClr val="C00000"/>
                      </a:solidFill>
                    </a:rPr>
                    <a:t>91%</a:t>
                  </a:r>
                </a:p>
              </p:txBody>
            </p:sp>
          </p:grpSp>
          <p:sp>
            <p:nvSpPr>
              <p:cNvPr id="19" name="TextBox 18">
                <a:extLst>
                  <a:ext uri="{FF2B5EF4-FFF2-40B4-BE49-F238E27FC236}">
                    <a16:creationId xmlns:a16="http://schemas.microsoft.com/office/drawing/2014/main" id="{B928CBA2-272D-079F-6489-A2E32F4D8463}"/>
                  </a:ext>
                </a:extLst>
              </p:cNvPr>
              <p:cNvSpPr txBox="1"/>
              <p:nvPr/>
            </p:nvSpPr>
            <p:spPr>
              <a:xfrm>
                <a:off x="1554891" y="3936893"/>
                <a:ext cx="2258198" cy="461665"/>
              </a:xfrm>
              <a:prstGeom prst="rect">
                <a:avLst/>
              </a:prstGeom>
              <a:noFill/>
            </p:spPr>
            <p:txBody>
              <a:bodyPr wrap="square" rtlCol="0">
                <a:spAutoFit/>
              </a:bodyPr>
              <a:lstStyle/>
              <a:p>
                <a:r>
                  <a:rPr lang="en-BE" sz="2400" dirty="0"/>
                  <a:t>Code coverage</a:t>
                </a:r>
              </a:p>
            </p:txBody>
          </p:sp>
        </p:grpSp>
        <p:grpSp>
          <p:nvGrpSpPr>
            <p:cNvPr id="2" name="Group 1">
              <a:extLst>
                <a:ext uri="{FF2B5EF4-FFF2-40B4-BE49-F238E27FC236}">
                  <a16:creationId xmlns:a16="http://schemas.microsoft.com/office/drawing/2014/main" id="{8CEDAAA0-BFF4-8CF5-3660-172AA45FB210}"/>
                </a:ext>
              </a:extLst>
            </p:cNvPr>
            <p:cNvGrpSpPr/>
            <p:nvPr/>
          </p:nvGrpSpPr>
          <p:grpSpPr>
            <a:xfrm>
              <a:off x="998397" y="4557693"/>
              <a:ext cx="3206765" cy="381926"/>
              <a:chOff x="998397" y="4557693"/>
              <a:chExt cx="3206765" cy="381926"/>
            </a:xfrm>
          </p:grpSpPr>
          <p:sp>
            <p:nvSpPr>
              <p:cNvPr id="21" name="TextBox 20">
                <a:extLst>
                  <a:ext uri="{FF2B5EF4-FFF2-40B4-BE49-F238E27FC236}">
                    <a16:creationId xmlns:a16="http://schemas.microsoft.com/office/drawing/2014/main" id="{6E8A8652-1490-5CD3-B3F9-2325F758BEB6}"/>
                  </a:ext>
                </a:extLst>
              </p:cNvPr>
              <p:cNvSpPr txBox="1"/>
              <p:nvPr/>
            </p:nvSpPr>
            <p:spPr>
              <a:xfrm>
                <a:off x="998397" y="4570287"/>
                <a:ext cx="1112988" cy="369332"/>
              </a:xfrm>
              <a:prstGeom prst="rect">
                <a:avLst/>
              </a:prstGeom>
              <a:noFill/>
            </p:spPr>
            <p:txBody>
              <a:bodyPr wrap="square" rtlCol="0">
                <a:spAutoFit/>
              </a:bodyPr>
              <a:lstStyle/>
              <a:p>
                <a:r>
                  <a:rPr lang="en-BE" dirty="0"/>
                  <a:t>Standard</a:t>
                </a:r>
              </a:p>
            </p:txBody>
          </p:sp>
          <p:sp>
            <p:nvSpPr>
              <p:cNvPr id="22" name="TextBox 21">
                <a:extLst>
                  <a:ext uri="{FF2B5EF4-FFF2-40B4-BE49-F238E27FC236}">
                    <a16:creationId xmlns:a16="http://schemas.microsoft.com/office/drawing/2014/main" id="{FEA6E8E0-BD12-9B87-C32D-212EAAC0026E}"/>
                  </a:ext>
                </a:extLst>
              </p:cNvPr>
              <p:cNvSpPr txBox="1"/>
              <p:nvPr/>
            </p:nvSpPr>
            <p:spPr>
              <a:xfrm>
                <a:off x="3092174" y="4557693"/>
                <a:ext cx="1112988" cy="369332"/>
              </a:xfrm>
              <a:prstGeom prst="rect">
                <a:avLst/>
              </a:prstGeom>
              <a:noFill/>
            </p:spPr>
            <p:txBody>
              <a:bodyPr wrap="square" rtlCol="0">
                <a:spAutoFit/>
              </a:bodyPr>
              <a:lstStyle/>
              <a:p>
                <a:r>
                  <a:rPr lang="en-BE" dirty="0"/>
                  <a:t>After PR</a:t>
                </a:r>
              </a:p>
            </p:txBody>
          </p:sp>
        </p:grpSp>
      </p:grpSp>
      <p:sp>
        <p:nvSpPr>
          <p:cNvPr id="26" name="Title 1">
            <a:extLst>
              <a:ext uri="{FF2B5EF4-FFF2-40B4-BE49-F238E27FC236}">
                <a16:creationId xmlns:a16="http://schemas.microsoft.com/office/drawing/2014/main" id="{21EC0861-90D6-03E3-A01C-EFEE13A6B588}"/>
              </a:ext>
            </a:extLst>
          </p:cNvPr>
          <p:cNvSpPr txBox="1">
            <a:spLocks/>
          </p:cNvSpPr>
          <p:nvPr/>
        </p:nvSpPr>
        <p:spPr>
          <a:xfrm>
            <a:off x="400878" y="355323"/>
            <a:ext cx="10515600" cy="64866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BE" sz="4000" dirty="0"/>
              <a:t>Benefits of CI – Higher code quality</a:t>
            </a:r>
          </a:p>
        </p:txBody>
      </p:sp>
      <p:sp>
        <p:nvSpPr>
          <p:cNvPr id="27" name="Slide Number Placeholder 26">
            <a:extLst>
              <a:ext uri="{FF2B5EF4-FFF2-40B4-BE49-F238E27FC236}">
                <a16:creationId xmlns:a16="http://schemas.microsoft.com/office/drawing/2014/main" id="{D41F6901-A9BE-4AF6-A308-38DE999EB34B}"/>
              </a:ext>
            </a:extLst>
          </p:cNvPr>
          <p:cNvSpPr>
            <a:spLocks noGrp="1"/>
          </p:cNvSpPr>
          <p:nvPr>
            <p:ph type="sldNum" sz="quarter" idx="12"/>
          </p:nvPr>
        </p:nvSpPr>
        <p:spPr/>
        <p:txBody>
          <a:bodyPr/>
          <a:lstStyle/>
          <a:p>
            <a:fld id="{6F19EB20-827F-9F40-A633-3810B83D00D5}" type="slidenum">
              <a:rPr lang="en-BE" smtClean="0"/>
              <a:t>35</a:t>
            </a:fld>
            <a:endParaRPr lang="en-BE"/>
          </a:p>
        </p:txBody>
      </p:sp>
    </p:spTree>
    <p:extLst>
      <p:ext uri="{BB962C8B-B14F-4D97-AF65-F5344CB8AC3E}">
        <p14:creationId xmlns:p14="http://schemas.microsoft.com/office/powerpoint/2010/main" val="2724536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dissolv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5341C-06A5-D2AF-EA6C-5DE5CC3493CF}"/>
              </a:ext>
            </a:extLst>
          </p:cNvPr>
          <p:cNvSpPr>
            <a:spLocks noGrp="1"/>
          </p:cNvSpPr>
          <p:nvPr>
            <p:ph type="title"/>
          </p:nvPr>
        </p:nvSpPr>
        <p:spPr/>
        <p:txBody>
          <a:bodyPr>
            <a:normAutofit/>
          </a:bodyPr>
          <a:lstStyle/>
          <a:p>
            <a:r>
              <a:rPr lang="en-GB" sz="3200" b="1" dirty="0"/>
              <a:t>Continuous Integration is not about speed — it’s about controlling risk.</a:t>
            </a:r>
            <a:endParaRPr lang="en-US" sz="3200" dirty="0"/>
          </a:p>
        </p:txBody>
      </p:sp>
      <p:sp>
        <p:nvSpPr>
          <p:cNvPr id="3" name="Content Placeholder 2">
            <a:extLst>
              <a:ext uri="{FF2B5EF4-FFF2-40B4-BE49-F238E27FC236}">
                <a16:creationId xmlns:a16="http://schemas.microsoft.com/office/drawing/2014/main" id="{923AB0F9-EDDE-A285-1439-B81D3EF04571}"/>
              </a:ext>
            </a:extLst>
          </p:cNvPr>
          <p:cNvSpPr>
            <a:spLocks noGrp="1"/>
          </p:cNvSpPr>
          <p:nvPr>
            <p:ph idx="1"/>
          </p:nvPr>
        </p:nvSpPr>
        <p:spPr/>
        <p:txBody>
          <a:bodyPr/>
          <a:lstStyle/>
          <a:p>
            <a:endParaRPr lang="en-GB" dirty="0"/>
          </a:p>
          <a:p>
            <a:r>
              <a:rPr lang="en-GB" sz="3200" dirty="0"/>
              <a:t>Each CI practice exists to reduce a specific failure mode:</a:t>
            </a:r>
          </a:p>
          <a:p>
            <a:pPr lvl="1"/>
            <a:r>
              <a:rPr lang="en-GB" sz="2800" b="1" dirty="0"/>
              <a:t>Short-lived branches</a:t>
            </a:r>
            <a:r>
              <a:rPr lang="en-GB" sz="2800" dirty="0"/>
              <a:t> reduce integration drift</a:t>
            </a:r>
          </a:p>
          <a:p>
            <a:pPr lvl="1"/>
            <a:r>
              <a:rPr lang="en-GB" sz="2800" b="1" dirty="0"/>
              <a:t>Frequent pull requests</a:t>
            </a:r>
            <a:r>
              <a:rPr lang="en-GB" sz="2800" dirty="0"/>
              <a:t> reduce review and merge complexity</a:t>
            </a:r>
          </a:p>
          <a:p>
            <a:pPr lvl="1"/>
            <a:r>
              <a:rPr lang="en-GB" sz="2800" b="1" dirty="0"/>
              <a:t>Automated CI</a:t>
            </a:r>
            <a:r>
              <a:rPr lang="en-GB" sz="2800" dirty="0"/>
              <a:t> reduces human error and missed checks</a:t>
            </a:r>
          </a:p>
          <a:p>
            <a:r>
              <a:rPr lang="en-GB" sz="3200" dirty="0"/>
              <a:t>Together, these practices make collaboration safe;</a:t>
            </a:r>
            <a:br>
              <a:rPr lang="en-GB" sz="3200" dirty="0"/>
            </a:br>
            <a:r>
              <a:rPr lang="en-GB" sz="3200" b="1" dirty="0"/>
              <a:t>even when changes are frequent, large, or AI-generated.</a:t>
            </a:r>
            <a:endParaRPr lang="en-GB" sz="3200" dirty="0"/>
          </a:p>
          <a:p>
            <a:pPr marL="0" indent="0">
              <a:buNone/>
            </a:pPr>
            <a:endParaRPr lang="en-US" dirty="0"/>
          </a:p>
        </p:txBody>
      </p:sp>
      <p:sp>
        <p:nvSpPr>
          <p:cNvPr id="4" name="Slide Number Placeholder 3">
            <a:extLst>
              <a:ext uri="{FF2B5EF4-FFF2-40B4-BE49-F238E27FC236}">
                <a16:creationId xmlns:a16="http://schemas.microsoft.com/office/drawing/2014/main" id="{4D6EDFC8-3383-CFC1-54FD-8084DFCDB63B}"/>
              </a:ext>
            </a:extLst>
          </p:cNvPr>
          <p:cNvSpPr>
            <a:spLocks noGrp="1"/>
          </p:cNvSpPr>
          <p:nvPr>
            <p:ph type="sldNum" sz="quarter" idx="12"/>
          </p:nvPr>
        </p:nvSpPr>
        <p:spPr/>
        <p:txBody>
          <a:bodyPr/>
          <a:lstStyle/>
          <a:p>
            <a:fld id="{6F19EB20-827F-9F40-A633-3810B83D00D5}" type="slidenum">
              <a:rPr lang="en-BE" smtClean="0"/>
              <a:t>36</a:t>
            </a:fld>
            <a:endParaRPr lang="en-BE"/>
          </a:p>
        </p:txBody>
      </p:sp>
    </p:spTree>
    <p:extLst>
      <p:ext uri="{BB962C8B-B14F-4D97-AF65-F5344CB8AC3E}">
        <p14:creationId xmlns:p14="http://schemas.microsoft.com/office/powerpoint/2010/main" val="670478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A7FC8-D0D3-73F3-1DA3-C349C18B7597}"/>
              </a:ext>
            </a:extLst>
          </p:cNvPr>
          <p:cNvSpPr>
            <a:spLocks noGrp="1"/>
          </p:cNvSpPr>
          <p:nvPr>
            <p:ph type="title"/>
          </p:nvPr>
        </p:nvSpPr>
        <p:spPr/>
        <p:txBody>
          <a:bodyPr/>
          <a:lstStyle/>
          <a:p>
            <a:r>
              <a:t>How CI becomes real on GitHub</a:t>
            </a:r>
          </a:p>
        </p:txBody>
      </p:sp>
      <p:sp>
        <p:nvSpPr>
          <p:cNvPr id="3" name="Content Placeholder 2">
            <a:extLst>
              <a:ext uri="{FF2B5EF4-FFF2-40B4-BE49-F238E27FC236}">
                <a16:creationId xmlns:a16="http://schemas.microsoft.com/office/drawing/2014/main" id="{29125052-4D11-FBD8-3E5C-D855AA3F7169}"/>
              </a:ext>
            </a:extLst>
          </p:cNvPr>
          <p:cNvSpPr>
            <a:spLocks noGrp="1"/>
          </p:cNvSpPr>
          <p:nvPr>
            <p:ph idx="1"/>
          </p:nvPr>
        </p:nvSpPr>
        <p:spPr/>
        <p:txBody>
          <a:bodyPr/>
          <a:lstStyle/>
          <a:p>
            <a:r>
              <a:t>Short-lived branches → workflows run on pull_request</a:t>
            </a:r>
          </a:p>
          <a:p>
            <a:r>
              <a:t>Frequent PRs → CI status checks on every PR</a:t>
            </a:r>
          </a:p>
          <a:p>
            <a:r>
              <a:t>Automated CI → required workflows before merge</a:t>
            </a:r>
          </a:p>
          <a:p>
            <a:r>
              <a:t>Risk reduction → failing CI blocks integration</a:t>
            </a:r>
          </a:p>
          <a:p>
            <a:endParaRPr/>
          </a:p>
        </p:txBody>
      </p:sp>
      <p:sp>
        <p:nvSpPr>
          <p:cNvPr id="4" name="Slide Number Placeholder 3">
            <a:extLst>
              <a:ext uri="{FF2B5EF4-FFF2-40B4-BE49-F238E27FC236}">
                <a16:creationId xmlns:a16="http://schemas.microsoft.com/office/drawing/2014/main" id="{AFF40C50-506F-04E1-A543-37B717D3A645}"/>
              </a:ext>
            </a:extLst>
          </p:cNvPr>
          <p:cNvSpPr>
            <a:spLocks noGrp="1"/>
          </p:cNvSpPr>
          <p:nvPr>
            <p:ph type="sldNum" idx="12"/>
          </p:nvPr>
        </p:nvSpPr>
        <p:spPr/>
        <p:txBody>
          <a:bodyPr/>
          <a:lstStyle/>
          <a:p>
            <a:fld id="{6F19EB20-827F-9F40-A633-3810B83D00D5}" type="slidenum">
              <a:rPr/>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79595-D3B3-DAE0-55E1-1E67001D8684}"/>
              </a:ext>
            </a:extLst>
          </p:cNvPr>
          <p:cNvSpPr>
            <a:spLocks noGrp="1"/>
          </p:cNvSpPr>
          <p:nvPr>
            <p:ph type="title"/>
          </p:nvPr>
        </p:nvSpPr>
        <p:spPr/>
        <p:txBody>
          <a:bodyPr/>
          <a:lstStyle/>
          <a:p>
            <a:r>
              <a:rPr lang="en-BE" dirty="0"/>
              <a:t>GitHub Actions – Marketplace</a:t>
            </a:r>
          </a:p>
        </p:txBody>
      </p:sp>
      <p:sp>
        <p:nvSpPr>
          <p:cNvPr id="3" name="Content Placeholder 2">
            <a:extLst>
              <a:ext uri="{FF2B5EF4-FFF2-40B4-BE49-F238E27FC236}">
                <a16:creationId xmlns:a16="http://schemas.microsoft.com/office/drawing/2014/main" id="{BD9B4E7A-E728-D556-6713-84DB9947F8DF}"/>
              </a:ext>
            </a:extLst>
          </p:cNvPr>
          <p:cNvSpPr>
            <a:spLocks noGrp="1"/>
          </p:cNvSpPr>
          <p:nvPr>
            <p:ph idx="1"/>
          </p:nvPr>
        </p:nvSpPr>
        <p:spPr/>
        <p:txBody>
          <a:bodyPr/>
          <a:lstStyle/>
          <a:p>
            <a:r>
              <a:rPr lang="en-GB" dirty="0"/>
              <a:t>GitHub Actions is GitHub’s native CI system</a:t>
            </a:r>
          </a:p>
          <a:p>
            <a:r>
              <a:rPr lang="en-GB" dirty="0"/>
              <a:t>It enforces CI rules directly on pull requests and branches</a:t>
            </a:r>
          </a:p>
          <a:p>
            <a:r>
              <a:rPr lang="en-BE" dirty="0"/>
              <a:t>It allows you to treat your CI pipeline as code</a:t>
            </a:r>
          </a:p>
          <a:p>
            <a:r>
              <a:rPr lang="en-BE" dirty="0"/>
              <a:t>It uses a .github/workflows/ folder to store workflow definitions as .yaml files</a:t>
            </a:r>
          </a:p>
        </p:txBody>
      </p:sp>
      <p:pic>
        <p:nvPicPr>
          <p:cNvPr id="3074" name="Picture 2" descr="GitHub Actions · GitHub">
            <a:extLst>
              <a:ext uri="{FF2B5EF4-FFF2-40B4-BE49-F238E27FC236}">
                <a16:creationId xmlns:a16="http://schemas.microsoft.com/office/drawing/2014/main" id="{5A9D3ADC-72DB-AFB9-4122-D52C6E3834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86710" y="169051"/>
            <a:ext cx="1344168" cy="1344168"/>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5714DA4A-CE6F-BFC4-ED67-28D9AB641A99}"/>
              </a:ext>
            </a:extLst>
          </p:cNvPr>
          <p:cNvSpPr>
            <a:spLocks noGrp="1"/>
          </p:cNvSpPr>
          <p:nvPr>
            <p:ph type="sldNum" sz="quarter" idx="12"/>
          </p:nvPr>
        </p:nvSpPr>
        <p:spPr/>
        <p:txBody>
          <a:bodyPr/>
          <a:lstStyle/>
          <a:p>
            <a:fld id="{6F19EB20-827F-9F40-A633-3810B83D00D5}" type="slidenum">
              <a:rPr lang="en-BE" smtClean="0"/>
              <a:t>38</a:t>
            </a:fld>
            <a:endParaRPr lang="en-BE"/>
          </a:p>
        </p:txBody>
      </p:sp>
      <p:sp>
        <p:nvSpPr>
          <p:cNvPr id="9" name="TextBox 8">
            <a:extLst>
              <a:ext uri="{FF2B5EF4-FFF2-40B4-BE49-F238E27FC236}">
                <a16:creationId xmlns:a16="http://schemas.microsoft.com/office/drawing/2014/main" id="{805BE104-1F7C-F0B8-A39C-9800DFD21FEB}"/>
              </a:ext>
            </a:extLst>
          </p:cNvPr>
          <p:cNvSpPr txBox="1"/>
          <p:nvPr/>
        </p:nvSpPr>
        <p:spPr>
          <a:xfrm>
            <a:off x="982639" y="5174330"/>
            <a:ext cx="9858913" cy="461665"/>
          </a:xfrm>
          <a:prstGeom prst="rect">
            <a:avLst/>
          </a:prstGeom>
          <a:noFill/>
          <a:ln w="28575">
            <a:solidFill>
              <a:srgbClr val="C00000"/>
            </a:solidFill>
          </a:ln>
        </p:spPr>
        <p:txBody>
          <a:bodyPr wrap="square">
            <a:spAutoFit/>
          </a:bodyPr>
          <a:lstStyle/>
          <a:p>
            <a:r>
              <a:rPr lang="en-GB" sz="2400" dirty="0"/>
              <a:t>GitHub Actions isn’t just automation — it’s how GitHub enforces CI discipline.</a:t>
            </a:r>
            <a:endParaRPr lang="en-US" sz="2400" dirty="0"/>
          </a:p>
        </p:txBody>
      </p:sp>
    </p:spTree>
    <p:extLst>
      <p:ext uri="{BB962C8B-B14F-4D97-AF65-F5344CB8AC3E}">
        <p14:creationId xmlns:p14="http://schemas.microsoft.com/office/powerpoint/2010/main" val="739145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79595-D3B3-DAE0-55E1-1E67001D8684}"/>
              </a:ext>
            </a:extLst>
          </p:cNvPr>
          <p:cNvSpPr>
            <a:spLocks noGrp="1"/>
          </p:cNvSpPr>
          <p:nvPr>
            <p:ph type="title"/>
          </p:nvPr>
        </p:nvSpPr>
        <p:spPr>
          <a:xfrm>
            <a:off x="838200" y="33822"/>
            <a:ext cx="10515600" cy="960092"/>
          </a:xfrm>
        </p:spPr>
        <p:txBody>
          <a:bodyPr/>
          <a:lstStyle/>
          <a:p>
            <a:r>
              <a:rPr lang="en-BE" dirty="0"/>
              <a:t>GitHub Actions</a:t>
            </a:r>
          </a:p>
        </p:txBody>
      </p:sp>
      <p:sp>
        <p:nvSpPr>
          <p:cNvPr id="3" name="Content Placeholder 2">
            <a:extLst>
              <a:ext uri="{FF2B5EF4-FFF2-40B4-BE49-F238E27FC236}">
                <a16:creationId xmlns:a16="http://schemas.microsoft.com/office/drawing/2014/main" id="{BD9B4E7A-E728-D556-6713-84DB9947F8DF}"/>
              </a:ext>
            </a:extLst>
          </p:cNvPr>
          <p:cNvSpPr>
            <a:spLocks noGrp="1"/>
          </p:cNvSpPr>
          <p:nvPr>
            <p:ph idx="1"/>
          </p:nvPr>
        </p:nvSpPr>
        <p:spPr>
          <a:xfrm>
            <a:off x="838200" y="993914"/>
            <a:ext cx="10515600" cy="4351338"/>
          </a:xfrm>
        </p:spPr>
        <p:txBody>
          <a:bodyPr/>
          <a:lstStyle/>
          <a:p>
            <a:r>
              <a:rPr lang="en-BE" dirty="0"/>
              <a:t>GitHub Actoins Marketplace hosts actions for workflows</a:t>
            </a:r>
          </a:p>
          <a:p>
            <a:r>
              <a:rPr lang="en-BE" dirty="0"/>
              <a:t>Large variety of actions available</a:t>
            </a:r>
          </a:p>
          <a:p>
            <a:r>
              <a:rPr lang="en-BE" dirty="0"/>
              <a:t>They help you jumpstart your workflows</a:t>
            </a:r>
          </a:p>
        </p:txBody>
      </p:sp>
      <p:pic>
        <p:nvPicPr>
          <p:cNvPr id="5" name="Picture 4" descr="A screenshot of a computer&#10;&#10;Description automatically generated">
            <a:extLst>
              <a:ext uri="{FF2B5EF4-FFF2-40B4-BE49-F238E27FC236}">
                <a16:creationId xmlns:a16="http://schemas.microsoft.com/office/drawing/2014/main" id="{21092B8E-1C97-DB7A-3366-8A323FA58DEA}"/>
              </a:ext>
            </a:extLst>
          </p:cNvPr>
          <p:cNvPicPr>
            <a:picLocks noChangeAspect="1"/>
          </p:cNvPicPr>
          <p:nvPr/>
        </p:nvPicPr>
        <p:blipFill>
          <a:blip r:embed="rId2"/>
          <a:stretch>
            <a:fillRect/>
          </a:stretch>
        </p:blipFill>
        <p:spPr>
          <a:xfrm>
            <a:off x="838200" y="2615008"/>
            <a:ext cx="4458804" cy="3436542"/>
          </a:xfrm>
          <a:prstGeom prst="rect">
            <a:avLst/>
          </a:prstGeom>
        </p:spPr>
      </p:pic>
      <p:pic>
        <p:nvPicPr>
          <p:cNvPr id="7" name="Picture 6">
            <a:extLst>
              <a:ext uri="{FF2B5EF4-FFF2-40B4-BE49-F238E27FC236}">
                <a16:creationId xmlns:a16="http://schemas.microsoft.com/office/drawing/2014/main" id="{07AB0DB5-9E8B-72C5-D4F0-DC4446FCFE31}"/>
              </a:ext>
            </a:extLst>
          </p:cNvPr>
          <p:cNvPicPr>
            <a:picLocks noChangeAspect="1"/>
          </p:cNvPicPr>
          <p:nvPr/>
        </p:nvPicPr>
        <p:blipFill>
          <a:blip r:embed="rId3"/>
          <a:stretch>
            <a:fillRect/>
          </a:stretch>
        </p:blipFill>
        <p:spPr>
          <a:xfrm>
            <a:off x="7407965" y="2164728"/>
            <a:ext cx="4337328" cy="4593119"/>
          </a:xfrm>
          <a:prstGeom prst="rect">
            <a:avLst/>
          </a:prstGeom>
        </p:spPr>
      </p:pic>
      <p:pic>
        <p:nvPicPr>
          <p:cNvPr id="4" name="Picture 2" descr="GitHub Actions · GitHub">
            <a:extLst>
              <a:ext uri="{FF2B5EF4-FFF2-40B4-BE49-F238E27FC236}">
                <a16:creationId xmlns:a16="http://schemas.microsoft.com/office/drawing/2014/main" id="{0731A076-D8C6-A676-0746-95CAC46FAE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86710" y="169051"/>
            <a:ext cx="1344168" cy="1344168"/>
          </a:xfrm>
          <a:prstGeom prst="rect">
            <a:avLst/>
          </a:prstGeom>
          <a:noFill/>
          <a:extLst>
            <a:ext uri="{909E8E84-426E-40DD-AFC4-6F175D3DCCD1}">
              <a14:hiddenFill xmlns:a14="http://schemas.microsoft.com/office/drawing/2010/main">
                <a:solidFill>
                  <a:srgbClr val="FFFFFF"/>
                </a:solidFill>
              </a14:hiddenFill>
            </a:ext>
          </a:extLst>
        </p:spPr>
      </p:pic>
      <p:sp>
        <p:nvSpPr>
          <p:cNvPr id="8" name="Slide Number Placeholder 7">
            <a:extLst>
              <a:ext uri="{FF2B5EF4-FFF2-40B4-BE49-F238E27FC236}">
                <a16:creationId xmlns:a16="http://schemas.microsoft.com/office/drawing/2014/main" id="{843CC4D6-27E4-E2AA-F491-86F05C7061C1}"/>
              </a:ext>
            </a:extLst>
          </p:cNvPr>
          <p:cNvSpPr>
            <a:spLocks noGrp="1"/>
          </p:cNvSpPr>
          <p:nvPr>
            <p:ph type="sldNum" sz="quarter" idx="12"/>
          </p:nvPr>
        </p:nvSpPr>
        <p:spPr/>
        <p:txBody>
          <a:bodyPr/>
          <a:lstStyle/>
          <a:p>
            <a:fld id="{6F19EB20-827F-9F40-A633-3810B83D00D5}" type="slidenum">
              <a:rPr lang="en-BE" smtClean="0"/>
              <a:t>39</a:t>
            </a:fld>
            <a:endParaRPr lang="en-BE"/>
          </a:p>
        </p:txBody>
      </p:sp>
      <p:sp>
        <p:nvSpPr>
          <p:cNvPr id="10" name="TextBox 9">
            <a:extLst>
              <a:ext uri="{FF2B5EF4-FFF2-40B4-BE49-F238E27FC236}">
                <a16:creationId xmlns:a16="http://schemas.microsoft.com/office/drawing/2014/main" id="{ACA50A21-64BD-7FD0-5CCB-19C853A7C925}"/>
              </a:ext>
            </a:extLst>
          </p:cNvPr>
          <p:cNvSpPr txBox="1"/>
          <p:nvPr/>
        </p:nvSpPr>
        <p:spPr>
          <a:xfrm>
            <a:off x="182156" y="6049961"/>
            <a:ext cx="7013124" cy="707886"/>
          </a:xfrm>
          <a:prstGeom prst="rect">
            <a:avLst/>
          </a:prstGeom>
          <a:noFill/>
          <a:ln w="28575">
            <a:solidFill>
              <a:srgbClr val="C00000"/>
            </a:solidFill>
          </a:ln>
        </p:spPr>
        <p:txBody>
          <a:bodyPr wrap="square">
            <a:spAutoFit/>
          </a:bodyPr>
          <a:lstStyle/>
          <a:p>
            <a:r>
              <a:rPr lang="en-GB" sz="2000" dirty="0"/>
              <a:t>Actions help you standardize and enforce checks across all contributors (human or AI)</a:t>
            </a:r>
            <a:endParaRPr lang="en-US" sz="2000" dirty="0"/>
          </a:p>
        </p:txBody>
      </p:sp>
    </p:spTree>
    <p:extLst>
      <p:ext uri="{BB962C8B-B14F-4D97-AF65-F5344CB8AC3E}">
        <p14:creationId xmlns:p14="http://schemas.microsoft.com/office/powerpoint/2010/main" val="3699025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79595-D3B3-DAE0-55E1-1E67001D8684}"/>
              </a:ext>
            </a:extLst>
          </p:cNvPr>
          <p:cNvSpPr>
            <a:spLocks noGrp="1"/>
          </p:cNvSpPr>
          <p:nvPr>
            <p:ph type="title"/>
          </p:nvPr>
        </p:nvSpPr>
        <p:spPr>
          <a:xfrm>
            <a:off x="838200" y="33822"/>
            <a:ext cx="10515600" cy="960092"/>
          </a:xfrm>
        </p:spPr>
        <p:txBody>
          <a:bodyPr/>
          <a:lstStyle/>
          <a:p>
            <a:r>
              <a:rPr lang="en-BE" dirty="0"/>
              <a:t>GitHub Actions -  setup</a:t>
            </a:r>
          </a:p>
        </p:txBody>
      </p:sp>
      <p:sp>
        <p:nvSpPr>
          <p:cNvPr id="3" name="Content Placeholder 2">
            <a:extLst>
              <a:ext uri="{FF2B5EF4-FFF2-40B4-BE49-F238E27FC236}">
                <a16:creationId xmlns:a16="http://schemas.microsoft.com/office/drawing/2014/main" id="{BD9B4E7A-E728-D556-6713-84DB9947F8DF}"/>
              </a:ext>
            </a:extLst>
          </p:cNvPr>
          <p:cNvSpPr>
            <a:spLocks noGrp="1"/>
          </p:cNvSpPr>
          <p:nvPr>
            <p:ph idx="1"/>
          </p:nvPr>
        </p:nvSpPr>
        <p:spPr>
          <a:xfrm>
            <a:off x="838200" y="993914"/>
            <a:ext cx="10515600" cy="4351338"/>
          </a:xfrm>
        </p:spPr>
        <p:txBody>
          <a:bodyPr>
            <a:normAutofit/>
          </a:bodyPr>
          <a:lstStyle/>
          <a:p>
            <a:r>
              <a:rPr lang="en-BE" sz="2400" dirty="0"/>
              <a:t>All you need is a workflows folder and a .yaml file</a:t>
            </a:r>
          </a:p>
          <a:p>
            <a:r>
              <a:rPr lang="en-GB" sz="2400" dirty="0"/>
              <a:t>Minimal configuration is needed to get started</a:t>
            </a:r>
          </a:p>
          <a:p>
            <a:r>
              <a:rPr lang="en-BE" sz="2400" dirty="0"/>
              <a:t>Starter code is also available</a:t>
            </a:r>
          </a:p>
          <a:p>
            <a:r>
              <a:rPr lang="en-GB" sz="2400" dirty="0"/>
              <a:t>Advanced rules (secrets, protections) can </a:t>
            </a:r>
          </a:p>
          <a:p>
            <a:pPr marL="0" indent="0">
              <a:buNone/>
            </a:pPr>
            <a:r>
              <a:rPr lang="en-GB" sz="2400" dirty="0"/>
              <a:t>be added incrementally</a:t>
            </a:r>
            <a:endParaRPr lang="en-BE" sz="2400" dirty="0"/>
          </a:p>
        </p:txBody>
      </p:sp>
      <p:pic>
        <p:nvPicPr>
          <p:cNvPr id="6" name="Picture 5">
            <a:extLst>
              <a:ext uri="{FF2B5EF4-FFF2-40B4-BE49-F238E27FC236}">
                <a16:creationId xmlns:a16="http://schemas.microsoft.com/office/drawing/2014/main" id="{30D69E3A-476D-FAEC-C51E-02CCAFBFFADA}"/>
              </a:ext>
            </a:extLst>
          </p:cNvPr>
          <p:cNvPicPr>
            <a:picLocks noChangeAspect="1"/>
          </p:cNvPicPr>
          <p:nvPr/>
        </p:nvPicPr>
        <p:blipFill>
          <a:blip r:embed="rId3"/>
          <a:stretch>
            <a:fillRect/>
          </a:stretch>
        </p:blipFill>
        <p:spPr>
          <a:xfrm>
            <a:off x="7119455" y="1696002"/>
            <a:ext cx="4102100" cy="4711700"/>
          </a:xfrm>
          <a:prstGeom prst="rect">
            <a:avLst/>
          </a:prstGeom>
        </p:spPr>
      </p:pic>
      <p:pic>
        <p:nvPicPr>
          <p:cNvPr id="4" name="Picture 2" descr="GitHub Actions · GitHub">
            <a:extLst>
              <a:ext uri="{FF2B5EF4-FFF2-40B4-BE49-F238E27FC236}">
                <a16:creationId xmlns:a16="http://schemas.microsoft.com/office/drawing/2014/main" id="{1C22C379-989B-9A0B-4B3C-1CE5205BAB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86710" y="169051"/>
            <a:ext cx="1344168" cy="1344168"/>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a:extLst>
              <a:ext uri="{FF2B5EF4-FFF2-40B4-BE49-F238E27FC236}">
                <a16:creationId xmlns:a16="http://schemas.microsoft.com/office/drawing/2014/main" id="{B4FDD1B0-B4B3-2CC3-5FE1-C84FFF8CB033}"/>
              </a:ext>
            </a:extLst>
          </p:cNvPr>
          <p:cNvSpPr>
            <a:spLocks noGrp="1"/>
          </p:cNvSpPr>
          <p:nvPr>
            <p:ph type="sldNum" sz="quarter" idx="12"/>
          </p:nvPr>
        </p:nvSpPr>
        <p:spPr/>
        <p:txBody>
          <a:bodyPr/>
          <a:lstStyle/>
          <a:p>
            <a:fld id="{6F19EB20-827F-9F40-A633-3810B83D00D5}" type="slidenum">
              <a:rPr lang="en-BE" smtClean="0"/>
              <a:t>40</a:t>
            </a:fld>
            <a:endParaRPr lang="en-BE"/>
          </a:p>
        </p:txBody>
      </p:sp>
    </p:spTree>
    <p:extLst>
      <p:ext uri="{BB962C8B-B14F-4D97-AF65-F5344CB8AC3E}">
        <p14:creationId xmlns:p14="http://schemas.microsoft.com/office/powerpoint/2010/main" val="4132788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79595-D3B3-DAE0-55E1-1E67001D8684}"/>
              </a:ext>
            </a:extLst>
          </p:cNvPr>
          <p:cNvSpPr>
            <a:spLocks noGrp="1"/>
          </p:cNvSpPr>
          <p:nvPr>
            <p:ph type="title"/>
          </p:nvPr>
        </p:nvSpPr>
        <p:spPr>
          <a:xfrm>
            <a:off x="838200" y="33822"/>
            <a:ext cx="10515600" cy="960092"/>
          </a:xfrm>
        </p:spPr>
        <p:txBody>
          <a:bodyPr/>
          <a:lstStyle/>
          <a:p>
            <a:r>
              <a:rPr lang="en-BE" dirty="0"/>
              <a:t>GitHub Actions setup</a:t>
            </a:r>
          </a:p>
        </p:txBody>
      </p:sp>
      <p:sp>
        <p:nvSpPr>
          <p:cNvPr id="3" name="Content Placeholder 2">
            <a:extLst>
              <a:ext uri="{FF2B5EF4-FFF2-40B4-BE49-F238E27FC236}">
                <a16:creationId xmlns:a16="http://schemas.microsoft.com/office/drawing/2014/main" id="{BD9B4E7A-E728-D556-6713-84DB9947F8DF}"/>
              </a:ext>
            </a:extLst>
          </p:cNvPr>
          <p:cNvSpPr>
            <a:spLocks noGrp="1"/>
          </p:cNvSpPr>
          <p:nvPr>
            <p:ph idx="1"/>
          </p:nvPr>
        </p:nvSpPr>
        <p:spPr>
          <a:xfrm>
            <a:off x="838200" y="2353262"/>
            <a:ext cx="1441174" cy="601973"/>
          </a:xfrm>
        </p:spPr>
        <p:txBody>
          <a:bodyPr/>
          <a:lstStyle/>
          <a:p>
            <a:pPr marL="0" indent="0">
              <a:buNone/>
            </a:pPr>
            <a:r>
              <a:rPr lang="en-BE" dirty="0"/>
              <a:t>.github</a:t>
            </a:r>
          </a:p>
        </p:txBody>
      </p:sp>
      <p:grpSp>
        <p:nvGrpSpPr>
          <p:cNvPr id="40" name="Group 39">
            <a:extLst>
              <a:ext uri="{FF2B5EF4-FFF2-40B4-BE49-F238E27FC236}">
                <a16:creationId xmlns:a16="http://schemas.microsoft.com/office/drawing/2014/main" id="{9B17D689-11CC-6548-FAF8-B3EC405AED56}"/>
              </a:ext>
            </a:extLst>
          </p:cNvPr>
          <p:cNvGrpSpPr/>
          <p:nvPr/>
        </p:nvGrpSpPr>
        <p:grpSpPr>
          <a:xfrm>
            <a:off x="7209185" y="1845907"/>
            <a:ext cx="4426226" cy="755293"/>
            <a:chOff x="7209185" y="745976"/>
            <a:chExt cx="4426226" cy="755293"/>
          </a:xfrm>
        </p:grpSpPr>
        <p:sp>
          <p:nvSpPr>
            <p:cNvPr id="6" name="Rounded Rectangular Callout 5">
              <a:extLst>
                <a:ext uri="{FF2B5EF4-FFF2-40B4-BE49-F238E27FC236}">
                  <a16:creationId xmlns:a16="http://schemas.microsoft.com/office/drawing/2014/main" id="{9B9052E9-FB83-D750-804E-7687B7DF1E39}"/>
                </a:ext>
              </a:extLst>
            </p:cNvPr>
            <p:cNvSpPr/>
            <p:nvPr/>
          </p:nvSpPr>
          <p:spPr>
            <a:xfrm rot="5400000">
              <a:off x="9044651" y="-1089490"/>
              <a:ext cx="755293" cy="4426226"/>
            </a:xfrm>
            <a:prstGeom prst="wedgeRoundRectCallout">
              <a:avLst>
                <a:gd name="adj1" fmla="val 44494"/>
                <a:gd name="adj2" fmla="val 15650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15" name="TextBox 14">
              <a:extLst>
                <a:ext uri="{FF2B5EF4-FFF2-40B4-BE49-F238E27FC236}">
                  <a16:creationId xmlns:a16="http://schemas.microsoft.com/office/drawing/2014/main" id="{A82011D1-66A3-99F5-F2BB-AEBB967CAD09}"/>
                </a:ext>
              </a:extLst>
            </p:cNvPr>
            <p:cNvSpPr txBox="1"/>
            <p:nvPr/>
          </p:nvSpPr>
          <p:spPr>
            <a:xfrm>
              <a:off x="7772402" y="848817"/>
              <a:ext cx="3299790" cy="461665"/>
            </a:xfrm>
            <a:prstGeom prst="rect">
              <a:avLst/>
            </a:prstGeom>
            <a:noFill/>
          </p:spPr>
          <p:txBody>
            <a:bodyPr wrap="square" rtlCol="0">
              <a:spAutoFit/>
            </a:bodyPr>
            <a:lstStyle/>
            <a:p>
              <a:r>
                <a:rPr lang="en-BE" sz="2400" dirty="0">
                  <a:solidFill>
                    <a:schemeClr val="bg1"/>
                  </a:solidFill>
                </a:rPr>
                <a:t>Create a ‘.github’ folder</a:t>
              </a:r>
            </a:p>
          </p:txBody>
        </p:sp>
      </p:grpSp>
      <p:grpSp>
        <p:nvGrpSpPr>
          <p:cNvPr id="43" name="Group 42">
            <a:extLst>
              <a:ext uri="{FF2B5EF4-FFF2-40B4-BE49-F238E27FC236}">
                <a16:creationId xmlns:a16="http://schemas.microsoft.com/office/drawing/2014/main" id="{E827E624-8C78-3E42-8FD7-DB014DD6B195}"/>
              </a:ext>
            </a:extLst>
          </p:cNvPr>
          <p:cNvGrpSpPr/>
          <p:nvPr/>
        </p:nvGrpSpPr>
        <p:grpSpPr>
          <a:xfrm>
            <a:off x="1298713" y="2955235"/>
            <a:ext cx="2345634" cy="601973"/>
            <a:chOff x="1298713" y="1855304"/>
            <a:chExt cx="2345634" cy="601973"/>
          </a:xfrm>
        </p:grpSpPr>
        <p:cxnSp>
          <p:nvCxnSpPr>
            <p:cNvPr id="17" name="Straight Connector 16">
              <a:extLst>
                <a:ext uri="{FF2B5EF4-FFF2-40B4-BE49-F238E27FC236}">
                  <a16:creationId xmlns:a16="http://schemas.microsoft.com/office/drawing/2014/main" id="{6111BB02-5214-FA63-24B0-56D8F8A1396F}"/>
                </a:ext>
              </a:extLst>
            </p:cNvPr>
            <p:cNvCxnSpPr/>
            <p:nvPr/>
          </p:nvCxnSpPr>
          <p:spPr>
            <a:xfrm>
              <a:off x="1311966" y="1855304"/>
              <a:ext cx="0" cy="26504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B30AFCC-01AE-3B04-C498-719107F66C91}"/>
                </a:ext>
              </a:extLst>
            </p:cNvPr>
            <p:cNvCxnSpPr/>
            <p:nvPr/>
          </p:nvCxnSpPr>
          <p:spPr>
            <a:xfrm>
              <a:off x="1298713" y="2107096"/>
              <a:ext cx="662609"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0" name="Content Placeholder 2">
              <a:extLst>
                <a:ext uri="{FF2B5EF4-FFF2-40B4-BE49-F238E27FC236}">
                  <a16:creationId xmlns:a16="http://schemas.microsoft.com/office/drawing/2014/main" id="{2EABF8E1-FC73-9BF3-9BE7-7048A40BEAA8}"/>
                </a:ext>
              </a:extLst>
            </p:cNvPr>
            <p:cNvSpPr txBox="1">
              <a:spLocks/>
            </p:cNvSpPr>
            <p:nvPr/>
          </p:nvSpPr>
          <p:spPr>
            <a:xfrm>
              <a:off x="1883464" y="1855304"/>
              <a:ext cx="1760883" cy="6019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BE" dirty="0"/>
                <a:t>workflows</a:t>
              </a:r>
            </a:p>
          </p:txBody>
        </p:sp>
      </p:grpSp>
      <p:grpSp>
        <p:nvGrpSpPr>
          <p:cNvPr id="41" name="Group 40">
            <a:extLst>
              <a:ext uri="{FF2B5EF4-FFF2-40B4-BE49-F238E27FC236}">
                <a16:creationId xmlns:a16="http://schemas.microsoft.com/office/drawing/2014/main" id="{61F7C4A3-7FB9-B936-6BD1-B648B49E122F}"/>
              </a:ext>
            </a:extLst>
          </p:cNvPr>
          <p:cNvGrpSpPr/>
          <p:nvPr/>
        </p:nvGrpSpPr>
        <p:grpSpPr>
          <a:xfrm>
            <a:off x="7209184" y="2726982"/>
            <a:ext cx="4426226" cy="755296"/>
            <a:chOff x="7209184" y="1627051"/>
            <a:chExt cx="4426226" cy="755296"/>
          </a:xfrm>
        </p:grpSpPr>
        <p:sp>
          <p:nvSpPr>
            <p:cNvPr id="21" name="Rounded Rectangular Callout 20">
              <a:extLst>
                <a:ext uri="{FF2B5EF4-FFF2-40B4-BE49-F238E27FC236}">
                  <a16:creationId xmlns:a16="http://schemas.microsoft.com/office/drawing/2014/main" id="{CE502583-87EA-CFF8-4C5C-7E580EC23BB6}"/>
                </a:ext>
              </a:extLst>
            </p:cNvPr>
            <p:cNvSpPr/>
            <p:nvPr/>
          </p:nvSpPr>
          <p:spPr>
            <a:xfrm rot="5400000">
              <a:off x="9044649" y="-208414"/>
              <a:ext cx="755296" cy="4426226"/>
            </a:xfrm>
            <a:prstGeom prst="wedgeRoundRectCallout">
              <a:avLst>
                <a:gd name="adj1" fmla="val 7998"/>
                <a:gd name="adj2" fmla="val 13374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23" name="TextBox 22">
              <a:extLst>
                <a:ext uri="{FF2B5EF4-FFF2-40B4-BE49-F238E27FC236}">
                  <a16:creationId xmlns:a16="http://schemas.microsoft.com/office/drawing/2014/main" id="{9D06802C-5196-F97F-525D-8988B3869C1F}"/>
                </a:ext>
              </a:extLst>
            </p:cNvPr>
            <p:cNvSpPr txBox="1"/>
            <p:nvPr/>
          </p:nvSpPr>
          <p:spPr>
            <a:xfrm>
              <a:off x="7663070" y="1730803"/>
              <a:ext cx="3690730" cy="461665"/>
            </a:xfrm>
            <a:prstGeom prst="rect">
              <a:avLst/>
            </a:prstGeom>
            <a:noFill/>
          </p:spPr>
          <p:txBody>
            <a:bodyPr wrap="square" rtlCol="0">
              <a:spAutoFit/>
            </a:bodyPr>
            <a:lstStyle/>
            <a:p>
              <a:r>
                <a:rPr lang="en-BE" sz="2400" dirty="0">
                  <a:solidFill>
                    <a:schemeClr val="bg1"/>
                  </a:solidFill>
                </a:rPr>
                <a:t>Create a workflows’ folder</a:t>
              </a:r>
            </a:p>
          </p:txBody>
        </p:sp>
      </p:grpSp>
      <p:grpSp>
        <p:nvGrpSpPr>
          <p:cNvPr id="44" name="Group 43">
            <a:extLst>
              <a:ext uri="{FF2B5EF4-FFF2-40B4-BE49-F238E27FC236}">
                <a16:creationId xmlns:a16="http://schemas.microsoft.com/office/drawing/2014/main" id="{9FAA7E3D-1E93-29D2-0DD0-0A67917E7C33}"/>
              </a:ext>
            </a:extLst>
          </p:cNvPr>
          <p:cNvGrpSpPr/>
          <p:nvPr/>
        </p:nvGrpSpPr>
        <p:grpSpPr>
          <a:xfrm>
            <a:off x="2551044" y="3425307"/>
            <a:ext cx="2975109" cy="1339109"/>
            <a:chOff x="2551044" y="2325376"/>
            <a:chExt cx="2975109" cy="1339109"/>
          </a:xfrm>
        </p:grpSpPr>
        <p:grpSp>
          <p:nvGrpSpPr>
            <p:cNvPr id="27" name="Group 26">
              <a:extLst>
                <a:ext uri="{FF2B5EF4-FFF2-40B4-BE49-F238E27FC236}">
                  <a16:creationId xmlns:a16="http://schemas.microsoft.com/office/drawing/2014/main" id="{BEB4DD8D-FCBA-58AA-DA28-AED24EF1F4B7}"/>
                </a:ext>
              </a:extLst>
            </p:cNvPr>
            <p:cNvGrpSpPr/>
            <p:nvPr/>
          </p:nvGrpSpPr>
          <p:grpSpPr>
            <a:xfrm>
              <a:off x="2551044" y="2352260"/>
              <a:ext cx="662609" cy="265044"/>
              <a:chOff x="2551044" y="2352260"/>
              <a:chExt cx="662609" cy="265044"/>
            </a:xfrm>
          </p:grpSpPr>
          <p:cxnSp>
            <p:nvCxnSpPr>
              <p:cNvPr id="24" name="Straight Connector 23">
                <a:extLst>
                  <a:ext uri="{FF2B5EF4-FFF2-40B4-BE49-F238E27FC236}">
                    <a16:creationId xmlns:a16="http://schemas.microsoft.com/office/drawing/2014/main" id="{3F08EB26-B3E8-4ACB-4767-E7C90635A2B2}"/>
                  </a:ext>
                </a:extLst>
              </p:cNvPr>
              <p:cNvCxnSpPr/>
              <p:nvPr/>
            </p:nvCxnSpPr>
            <p:spPr>
              <a:xfrm>
                <a:off x="2564297" y="2352260"/>
                <a:ext cx="0" cy="26504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C93C8-71FA-ED8B-EB48-47254FAA55C3}"/>
                  </a:ext>
                </a:extLst>
              </p:cNvPr>
              <p:cNvCxnSpPr/>
              <p:nvPr/>
            </p:nvCxnSpPr>
            <p:spPr>
              <a:xfrm>
                <a:off x="2551044" y="2604052"/>
                <a:ext cx="662609" cy="0"/>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36928DC8-FDAA-97E0-4F08-0AB707707540}"/>
                </a:ext>
              </a:extLst>
            </p:cNvPr>
            <p:cNvGrpSpPr/>
            <p:nvPr/>
          </p:nvGrpSpPr>
          <p:grpSpPr>
            <a:xfrm>
              <a:off x="2551044" y="2618306"/>
              <a:ext cx="662609" cy="397564"/>
              <a:chOff x="2551044" y="2352260"/>
              <a:chExt cx="662609" cy="397564"/>
            </a:xfrm>
          </p:grpSpPr>
          <p:cxnSp>
            <p:nvCxnSpPr>
              <p:cNvPr id="29" name="Straight Connector 28">
                <a:extLst>
                  <a:ext uri="{FF2B5EF4-FFF2-40B4-BE49-F238E27FC236}">
                    <a16:creationId xmlns:a16="http://schemas.microsoft.com/office/drawing/2014/main" id="{C55BB67D-C4C3-09D6-41CF-2699C9A55033}"/>
                  </a:ext>
                </a:extLst>
              </p:cNvPr>
              <p:cNvCxnSpPr>
                <a:cxnSpLocks/>
              </p:cNvCxnSpPr>
              <p:nvPr/>
            </p:nvCxnSpPr>
            <p:spPr>
              <a:xfrm>
                <a:off x="2564297" y="2352260"/>
                <a:ext cx="0" cy="39756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155B995-55D3-EB37-13D9-C5CE44A28781}"/>
                  </a:ext>
                </a:extLst>
              </p:cNvPr>
              <p:cNvCxnSpPr/>
              <p:nvPr/>
            </p:nvCxnSpPr>
            <p:spPr>
              <a:xfrm>
                <a:off x="2551044" y="2749824"/>
                <a:ext cx="662609" cy="0"/>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A5E11262-A6CF-504A-91BE-61486CDFA2B5}"/>
                </a:ext>
              </a:extLst>
            </p:cNvPr>
            <p:cNvGrpSpPr/>
            <p:nvPr/>
          </p:nvGrpSpPr>
          <p:grpSpPr>
            <a:xfrm>
              <a:off x="2551044" y="3011556"/>
              <a:ext cx="662609" cy="397564"/>
              <a:chOff x="2551044" y="2352260"/>
              <a:chExt cx="662609" cy="397564"/>
            </a:xfrm>
          </p:grpSpPr>
          <p:cxnSp>
            <p:nvCxnSpPr>
              <p:cNvPr id="33" name="Straight Connector 32">
                <a:extLst>
                  <a:ext uri="{FF2B5EF4-FFF2-40B4-BE49-F238E27FC236}">
                    <a16:creationId xmlns:a16="http://schemas.microsoft.com/office/drawing/2014/main" id="{01EBF4EF-84BE-6723-2203-120B8981567B}"/>
                  </a:ext>
                </a:extLst>
              </p:cNvPr>
              <p:cNvCxnSpPr>
                <a:cxnSpLocks/>
              </p:cNvCxnSpPr>
              <p:nvPr/>
            </p:nvCxnSpPr>
            <p:spPr>
              <a:xfrm>
                <a:off x="2564297" y="2352260"/>
                <a:ext cx="0" cy="39756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F428264-AECE-683B-30A7-B081B2EFEDD3}"/>
                  </a:ext>
                </a:extLst>
              </p:cNvPr>
              <p:cNvCxnSpPr/>
              <p:nvPr/>
            </p:nvCxnSpPr>
            <p:spPr>
              <a:xfrm>
                <a:off x="2551044" y="2749824"/>
                <a:ext cx="662609" cy="0"/>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35" name="TextBox 34">
              <a:extLst>
                <a:ext uri="{FF2B5EF4-FFF2-40B4-BE49-F238E27FC236}">
                  <a16:creationId xmlns:a16="http://schemas.microsoft.com/office/drawing/2014/main" id="{61410DDA-AB3E-E078-D946-A8C6F5154B0F}"/>
                </a:ext>
              </a:extLst>
            </p:cNvPr>
            <p:cNvSpPr txBox="1"/>
            <p:nvPr/>
          </p:nvSpPr>
          <p:spPr>
            <a:xfrm>
              <a:off x="3356110" y="2325376"/>
              <a:ext cx="1563757" cy="523220"/>
            </a:xfrm>
            <a:prstGeom prst="rect">
              <a:avLst/>
            </a:prstGeom>
            <a:noFill/>
          </p:spPr>
          <p:txBody>
            <a:bodyPr wrap="square" rtlCol="0">
              <a:spAutoFit/>
            </a:bodyPr>
            <a:lstStyle/>
            <a:p>
              <a:r>
                <a:rPr lang="en-BE" sz="2800" dirty="0"/>
                <a:t>ci.yaml</a:t>
              </a:r>
            </a:p>
          </p:txBody>
        </p:sp>
        <p:sp>
          <p:nvSpPr>
            <p:cNvPr id="36" name="TextBox 35">
              <a:extLst>
                <a:ext uri="{FF2B5EF4-FFF2-40B4-BE49-F238E27FC236}">
                  <a16:creationId xmlns:a16="http://schemas.microsoft.com/office/drawing/2014/main" id="{7E4FED72-7265-89A2-CEF9-C9E3E0F7F7E5}"/>
                </a:ext>
              </a:extLst>
            </p:cNvPr>
            <p:cNvSpPr txBox="1"/>
            <p:nvPr/>
          </p:nvSpPr>
          <p:spPr>
            <a:xfrm>
              <a:off x="3356109" y="2749946"/>
              <a:ext cx="1563757" cy="523220"/>
            </a:xfrm>
            <a:prstGeom prst="rect">
              <a:avLst/>
            </a:prstGeom>
            <a:noFill/>
          </p:spPr>
          <p:txBody>
            <a:bodyPr wrap="square" rtlCol="0">
              <a:spAutoFit/>
            </a:bodyPr>
            <a:lstStyle/>
            <a:p>
              <a:r>
                <a:rPr lang="en-BE" sz="2800" dirty="0"/>
                <a:t>cd.yaml</a:t>
              </a:r>
            </a:p>
          </p:txBody>
        </p:sp>
        <p:sp>
          <p:nvSpPr>
            <p:cNvPr id="37" name="TextBox 36">
              <a:extLst>
                <a:ext uri="{FF2B5EF4-FFF2-40B4-BE49-F238E27FC236}">
                  <a16:creationId xmlns:a16="http://schemas.microsoft.com/office/drawing/2014/main" id="{DBBB4325-92FE-5F3B-8DE1-9CF62B66FFE2}"/>
                </a:ext>
              </a:extLst>
            </p:cNvPr>
            <p:cNvSpPr txBox="1"/>
            <p:nvPr/>
          </p:nvSpPr>
          <p:spPr>
            <a:xfrm>
              <a:off x="3356108" y="3141265"/>
              <a:ext cx="2170045" cy="523220"/>
            </a:xfrm>
            <a:prstGeom prst="rect">
              <a:avLst/>
            </a:prstGeom>
            <a:noFill/>
          </p:spPr>
          <p:txBody>
            <a:bodyPr wrap="square" rtlCol="0">
              <a:spAutoFit/>
            </a:bodyPr>
            <a:lstStyle/>
            <a:p>
              <a:r>
                <a:rPr lang="en-GB" sz="2800" dirty="0"/>
                <a:t>P</a:t>
              </a:r>
              <a:r>
                <a:rPr lang="en-BE" sz="2800" dirty="0"/>
                <a:t>ublish.yaml</a:t>
              </a:r>
            </a:p>
          </p:txBody>
        </p:sp>
      </p:grpSp>
      <p:grpSp>
        <p:nvGrpSpPr>
          <p:cNvPr id="42" name="Group 41">
            <a:extLst>
              <a:ext uri="{FF2B5EF4-FFF2-40B4-BE49-F238E27FC236}">
                <a16:creationId xmlns:a16="http://schemas.microsoft.com/office/drawing/2014/main" id="{5A300199-CB5E-D51F-8C1B-FE925A94A1FA}"/>
              </a:ext>
            </a:extLst>
          </p:cNvPr>
          <p:cNvGrpSpPr/>
          <p:nvPr/>
        </p:nvGrpSpPr>
        <p:grpSpPr>
          <a:xfrm>
            <a:off x="7209184" y="3849877"/>
            <a:ext cx="4426226" cy="755296"/>
            <a:chOff x="7209184" y="2749946"/>
            <a:chExt cx="4426226" cy="755296"/>
          </a:xfrm>
        </p:grpSpPr>
        <p:sp>
          <p:nvSpPr>
            <p:cNvPr id="38" name="Rounded Rectangular Callout 37">
              <a:extLst>
                <a:ext uri="{FF2B5EF4-FFF2-40B4-BE49-F238E27FC236}">
                  <a16:creationId xmlns:a16="http://schemas.microsoft.com/office/drawing/2014/main" id="{25A87CF1-CA1D-E1EA-5BB8-089A72AE8F42}"/>
                </a:ext>
              </a:extLst>
            </p:cNvPr>
            <p:cNvSpPr/>
            <p:nvPr/>
          </p:nvSpPr>
          <p:spPr>
            <a:xfrm rot="5400000">
              <a:off x="9044649" y="914481"/>
              <a:ext cx="755296" cy="4426226"/>
            </a:xfrm>
            <a:prstGeom prst="wedgeRoundRectCallout">
              <a:avLst>
                <a:gd name="adj1" fmla="val 4489"/>
                <a:gd name="adj2" fmla="val 9153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39" name="TextBox 38">
              <a:extLst>
                <a:ext uri="{FF2B5EF4-FFF2-40B4-BE49-F238E27FC236}">
                  <a16:creationId xmlns:a16="http://schemas.microsoft.com/office/drawing/2014/main" id="{8C3EFC0E-53CC-82A6-5143-3C7D678F1682}"/>
                </a:ext>
              </a:extLst>
            </p:cNvPr>
            <p:cNvSpPr txBox="1"/>
            <p:nvPr/>
          </p:nvSpPr>
          <p:spPr>
            <a:xfrm>
              <a:off x="7381461" y="2896761"/>
              <a:ext cx="4134677" cy="461665"/>
            </a:xfrm>
            <a:prstGeom prst="rect">
              <a:avLst/>
            </a:prstGeom>
            <a:noFill/>
          </p:spPr>
          <p:txBody>
            <a:bodyPr wrap="square" rtlCol="0">
              <a:spAutoFit/>
            </a:bodyPr>
            <a:lstStyle/>
            <a:p>
              <a:r>
                <a:rPr lang="en-BE" sz="2400" dirty="0">
                  <a:solidFill>
                    <a:schemeClr val="bg1"/>
                  </a:solidFill>
                </a:rPr>
                <a:t>Place workflow .yaml files</a:t>
              </a:r>
            </a:p>
          </p:txBody>
        </p:sp>
      </p:grpSp>
      <p:sp>
        <p:nvSpPr>
          <p:cNvPr id="5" name="Slide Number Placeholder 4">
            <a:extLst>
              <a:ext uri="{FF2B5EF4-FFF2-40B4-BE49-F238E27FC236}">
                <a16:creationId xmlns:a16="http://schemas.microsoft.com/office/drawing/2014/main" id="{4938A562-37F6-99E9-7785-87BC9C917CFA}"/>
              </a:ext>
            </a:extLst>
          </p:cNvPr>
          <p:cNvSpPr>
            <a:spLocks noGrp="1"/>
          </p:cNvSpPr>
          <p:nvPr>
            <p:ph type="sldNum" sz="quarter" idx="12"/>
          </p:nvPr>
        </p:nvSpPr>
        <p:spPr/>
        <p:txBody>
          <a:bodyPr/>
          <a:lstStyle/>
          <a:p>
            <a:fld id="{6F19EB20-827F-9F40-A633-3810B83D00D5}" type="slidenum">
              <a:rPr lang="en-BE" smtClean="0"/>
              <a:t>41</a:t>
            </a:fld>
            <a:endParaRPr lang="en-BE"/>
          </a:p>
        </p:txBody>
      </p:sp>
      <p:sp>
        <p:nvSpPr>
          <p:cNvPr id="8" name="TextBox 7">
            <a:extLst>
              <a:ext uri="{FF2B5EF4-FFF2-40B4-BE49-F238E27FC236}">
                <a16:creationId xmlns:a16="http://schemas.microsoft.com/office/drawing/2014/main" id="{20E83DA0-D4C3-45B3-80B7-3E7B4C8E64EF}"/>
              </a:ext>
            </a:extLst>
          </p:cNvPr>
          <p:cNvSpPr txBox="1"/>
          <p:nvPr/>
        </p:nvSpPr>
        <p:spPr>
          <a:xfrm>
            <a:off x="557192" y="5723792"/>
            <a:ext cx="10796608" cy="430887"/>
          </a:xfrm>
          <a:prstGeom prst="rect">
            <a:avLst/>
          </a:prstGeom>
          <a:noFill/>
          <a:ln w="28575">
            <a:solidFill>
              <a:srgbClr val="C00000"/>
            </a:solidFill>
          </a:ln>
        </p:spPr>
        <p:txBody>
          <a:bodyPr wrap="square">
            <a:spAutoFit/>
          </a:bodyPr>
          <a:lstStyle/>
          <a:p>
            <a:r>
              <a:rPr lang="en-GB" sz="2200" dirty="0"/>
              <a:t>When code is written by humans </a:t>
            </a:r>
            <a:r>
              <a:rPr lang="en-GB" sz="2200" i="1" dirty="0"/>
              <a:t>or AI</a:t>
            </a:r>
            <a:r>
              <a:rPr lang="en-GB" sz="2200" dirty="0"/>
              <a:t>, this workflow is what decides whether it’s allowed in.</a:t>
            </a:r>
            <a:endParaRPr lang="en-US" sz="2200" dirty="0"/>
          </a:p>
        </p:txBody>
      </p:sp>
    </p:spTree>
    <p:extLst>
      <p:ext uri="{BB962C8B-B14F-4D97-AF65-F5344CB8AC3E}">
        <p14:creationId xmlns:p14="http://schemas.microsoft.com/office/powerpoint/2010/main" val="2453122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9" presetClass="exit" presetSubtype="0" fill="hold" nodeType="clickEffect">
                                  <p:stCondLst>
                                    <p:cond delay="0"/>
                                  </p:stCondLst>
                                  <p:childTnLst>
                                    <p:animEffect transition="out" filter="dissolve">
                                      <p:cBhvr>
                                        <p:cTn id="12" dur="500"/>
                                        <p:tgtEl>
                                          <p:spTgt spid="40"/>
                                        </p:tgtEl>
                                      </p:cBhvr>
                                    </p:animEffect>
                                    <p:set>
                                      <p:cBhvr>
                                        <p:cTn id="13" dur="1" fill="hold">
                                          <p:stCondLst>
                                            <p:cond delay="499"/>
                                          </p:stCondLst>
                                        </p:cTn>
                                        <p:tgtEl>
                                          <p:spTgt spid="40"/>
                                        </p:tgtEl>
                                        <p:attrNameLst>
                                          <p:attrName>style.visibility</p:attrName>
                                        </p:attrNameLst>
                                      </p:cBhvr>
                                      <p:to>
                                        <p:strVal val="hidden"/>
                                      </p:to>
                                    </p:set>
                                  </p:childTnLst>
                                </p:cTn>
                              </p:par>
                              <p:par>
                                <p:cTn id="14" presetID="1" presetClass="entr" presetSubtype="0" fill="hold" nodeType="withEffect">
                                  <p:stCondLst>
                                    <p:cond delay="0"/>
                                  </p:stCondLst>
                                  <p:childTnLst>
                                    <p:set>
                                      <p:cBhvr>
                                        <p:cTn id="15" dur="1" fill="hold">
                                          <p:stCondLst>
                                            <p:cond delay="0"/>
                                          </p:stCondLst>
                                        </p:cTn>
                                        <p:tgtEl>
                                          <p:spTgt spid="41"/>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4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nodeType="clickEffect">
                                  <p:stCondLst>
                                    <p:cond delay="0"/>
                                  </p:stCondLst>
                                  <p:childTnLst>
                                    <p:animEffect transition="out" filter="dissolve">
                                      <p:cBhvr>
                                        <p:cTn id="21" dur="500"/>
                                        <p:tgtEl>
                                          <p:spTgt spid="41"/>
                                        </p:tgtEl>
                                      </p:cBhvr>
                                    </p:animEffect>
                                    <p:set>
                                      <p:cBhvr>
                                        <p:cTn id="22" dur="1" fill="hold">
                                          <p:stCondLst>
                                            <p:cond delay="499"/>
                                          </p:stCondLst>
                                        </p:cTn>
                                        <p:tgtEl>
                                          <p:spTgt spid="41"/>
                                        </p:tgtEl>
                                        <p:attrNameLst>
                                          <p:attrName>style.visibility</p:attrName>
                                        </p:attrNameLst>
                                      </p:cBhvr>
                                      <p:to>
                                        <p:strVal val="hidden"/>
                                      </p:to>
                                    </p:set>
                                  </p:childTnLst>
                                </p:cTn>
                              </p:par>
                            </p:childTnLst>
                          </p:cTn>
                        </p:par>
                        <p:par>
                          <p:cTn id="23" fill="hold">
                            <p:stCondLst>
                              <p:cond delay="500"/>
                            </p:stCondLst>
                            <p:childTnLst>
                              <p:par>
                                <p:cTn id="24" presetID="1" presetClass="entr" presetSubtype="0" fill="hold" nodeType="afterEffect">
                                  <p:stCondLst>
                                    <p:cond delay="0"/>
                                  </p:stCondLst>
                                  <p:childTnLst>
                                    <p:set>
                                      <p:cBhvr>
                                        <p:cTn id="25" dur="1" fill="hold">
                                          <p:stCondLst>
                                            <p:cond delay="0"/>
                                          </p:stCondLst>
                                        </p:cTn>
                                        <p:tgtEl>
                                          <p:spTgt spid="44"/>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4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9" presetClass="exit" presetSubtype="0" fill="hold" nodeType="clickEffect">
                                  <p:stCondLst>
                                    <p:cond delay="0"/>
                                  </p:stCondLst>
                                  <p:childTnLst>
                                    <p:animEffect transition="out" filter="dissolve">
                                      <p:cBhvr>
                                        <p:cTn id="31" dur="500"/>
                                        <p:tgtEl>
                                          <p:spTgt spid="42"/>
                                        </p:tgtEl>
                                      </p:cBhvr>
                                    </p:animEffect>
                                    <p:set>
                                      <p:cBhvr>
                                        <p:cTn id="32" dur="1" fill="hold">
                                          <p:stCondLst>
                                            <p:cond delay="499"/>
                                          </p:stCondLst>
                                        </p:cTn>
                                        <p:tgtEl>
                                          <p:spTgt spid="4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79595-D3B3-DAE0-55E1-1E67001D8684}"/>
              </a:ext>
            </a:extLst>
          </p:cNvPr>
          <p:cNvSpPr>
            <a:spLocks noGrp="1"/>
          </p:cNvSpPr>
          <p:nvPr>
            <p:ph type="title"/>
          </p:nvPr>
        </p:nvSpPr>
        <p:spPr>
          <a:xfrm>
            <a:off x="838200" y="33822"/>
            <a:ext cx="10515600" cy="960092"/>
          </a:xfrm>
        </p:spPr>
        <p:txBody>
          <a:bodyPr/>
          <a:lstStyle/>
          <a:p>
            <a:r>
              <a:rPr lang="en-BE" dirty="0"/>
              <a:t>GitHub Actions -  setup basic concepts</a:t>
            </a:r>
          </a:p>
        </p:txBody>
      </p:sp>
      <p:sp>
        <p:nvSpPr>
          <p:cNvPr id="3" name="Content Placeholder 2">
            <a:extLst>
              <a:ext uri="{FF2B5EF4-FFF2-40B4-BE49-F238E27FC236}">
                <a16:creationId xmlns:a16="http://schemas.microsoft.com/office/drawing/2014/main" id="{BD9B4E7A-E728-D556-6713-84DB9947F8DF}"/>
              </a:ext>
            </a:extLst>
          </p:cNvPr>
          <p:cNvSpPr>
            <a:spLocks noGrp="1"/>
          </p:cNvSpPr>
          <p:nvPr>
            <p:ph idx="1"/>
          </p:nvPr>
        </p:nvSpPr>
        <p:spPr>
          <a:xfrm>
            <a:off x="838200" y="1253331"/>
            <a:ext cx="10515600" cy="2681771"/>
          </a:xfrm>
        </p:spPr>
        <p:txBody>
          <a:bodyPr>
            <a:normAutofit/>
          </a:bodyPr>
          <a:lstStyle/>
          <a:p>
            <a:r>
              <a:rPr lang="en-BE" dirty="0"/>
              <a:t>Workflow is the basic concept in GitHub Actions</a:t>
            </a:r>
          </a:p>
          <a:p>
            <a:r>
              <a:rPr lang="en-BE" dirty="0"/>
              <a:t>Workflows is a series of automated procedures represented as Jobs</a:t>
            </a:r>
          </a:p>
          <a:p>
            <a:pPr lvl="1"/>
            <a:r>
              <a:rPr lang="en-GB" dirty="0"/>
              <a:t>E</a:t>
            </a:r>
            <a:r>
              <a:rPr lang="en-BE" dirty="0"/>
              <a:t>.g., workflow for CI, workflow for CD, and another workflow for publishing</a:t>
            </a:r>
          </a:p>
          <a:p>
            <a:r>
              <a:rPr lang="en-BE" dirty="0"/>
              <a:t>Every repository can have any number of workflows</a:t>
            </a:r>
          </a:p>
          <a:p>
            <a:r>
              <a:rPr lang="en-BE" dirty="0"/>
              <a:t>Each workflow has the following components:</a:t>
            </a:r>
          </a:p>
        </p:txBody>
      </p:sp>
      <p:sp>
        <p:nvSpPr>
          <p:cNvPr id="4" name="Rounded Rectangle 3">
            <a:extLst>
              <a:ext uri="{FF2B5EF4-FFF2-40B4-BE49-F238E27FC236}">
                <a16:creationId xmlns:a16="http://schemas.microsoft.com/office/drawing/2014/main" id="{0EEB0B01-33A2-B29E-F5A0-A759F33A454D}"/>
              </a:ext>
            </a:extLst>
          </p:cNvPr>
          <p:cNvSpPr/>
          <p:nvPr/>
        </p:nvSpPr>
        <p:spPr>
          <a:xfrm>
            <a:off x="450574" y="4081668"/>
            <a:ext cx="1550504" cy="8216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Event</a:t>
            </a:r>
          </a:p>
        </p:txBody>
      </p:sp>
      <p:sp>
        <p:nvSpPr>
          <p:cNvPr id="9" name="TextBox 8">
            <a:extLst>
              <a:ext uri="{FF2B5EF4-FFF2-40B4-BE49-F238E27FC236}">
                <a16:creationId xmlns:a16="http://schemas.microsoft.com/office/drawing/2014/main" id="{830A39F5-DCBD-DABD-A790-2118BF9A953A}"/>
              </a:ext>
            </a:extLst>
          </p:cNvPr>
          <p:cNvSpPr txBox="1"/>
          <p:nvPr/>
        </p:nvSpPr>
        <p:spPr>
          <a:xfrm>
            <a:off x="119268" y="5185777"/>
            <a:ext cx="2252871" cy="1477328"/>
          </a:xfrm>
          <a:prstGeom prst="rect">
            <a:avLst/>
          </a:prstGeom>
          <a:noFill/>
        </p:spPr>
        <p:txBody>
          <a:bodyPr wrap="square" rtlCol="0">
            <a:spAutoFit/>
          </a:bodyPr>
          <a:lstStyle/>
          <a:p>
            <a:r>
              <a:rPr lang="en-BE" dirty="0"/>
              <a:t>Events</a:t>
            </a:r>
          </a:p>
          <a:p>
            <a:pPr marL="285750" indent="-285750">
              <a:buFont typeface="Arial" panose="020B0604020202020204" pitchFamily="34" charset="0"/>
              <a:buChar char="•"/>
            </a:pPr>
            <a:r>
              <a:rPr lang="en-BE" dirty="0"/>
              <a:t>Push</a:t>
            </a:r>
          </a:p>
          <a:p>
            <a:pPr marL="285750" indent="-285750">
              <a:buFont typeface="Arial" panose="020B0604020202020204" pitchFamily="34" charset="0"/>
              <a:buChar char="•"/>
            </a:pPr>
            <a:r>
              <a:rPr lang="en-BE" dirty="0"/>
              <a:t>Pull Request</a:t>
            </a:r>
          </a:p>
          <a:p>
            <a:pPr marL="285750" indent="-285750">
              <a:buFont typeface="Arial" panose="020B0604020202020204" pitchFamily="34" charset="0"/>
              <a:buChar char="•"/>
            </a:pPr>
            <a:r>
              <a:rPr lang="en-BE" dirty="0"/>
              <a:t>Release</a:t>
            </a:r>
          </a:p>
          <a:p>
            <a:pPr marL="285750" indent="-285750">
              <a:buFont typeface="Arial" panose="020B0604020202020204" pitchFamily="34" charset="0"/>
              <a:buChar char="•"/>
            </a:pPr>
            <a:r>
              <a:rPr lang="en-BE" dirty="0"/>
              <a:t>Issue</a:t>
            </a:r>
          </a:p>
        </p:txBody>
      </p:sp>
      <p:sp>
        <p:nvSpPr>
          <p:cNvPr id="10" name="TextBox 9">
            <a:extLst>
              <a:ext uri="{FF2B5EF4-FFF2-40B4-BE49-F238E27FC236}">
                <a16:creationId xmlns:a16="http://schemas.microsoft.com/office/drawing/2014/main" id="{29D51B6F-9C87-459B-617A-6281F4909CA6}"/>
              </a:ext>
            </a:extLst>
          </p:cNvPr>
          <p:cNvSpPr txBox="1"/>
          <p:nvPr/>
        </p:nvSpPr>
        <p:spPr>
          <a:xfrm>
            <a:off x="2017644" y="5229420"/>
            <a:ext cx="2484781" cy="1200329"/>
          </a:xfrm>
          <a:prstGeom prst="rect">
            <a:avLst/>
          </a:prstGeom>
          <a:noFill/>
        </p:spPr>
        <p:txBody>
          <a:bodyPr wrap="square" rtlCol="0">
            <a:spAutoFit/>
          </a:bodyPr>
          <a:lstStyle/>
          <a:p>
            <a:r>
              <a:rPr lang="en-BE" dirty="0"/>
              <a:t>Workflow contains a runner that execute jobs</a:t>
            </a:r>
          </a:p>
          <a:p>
            <a:pPr marL="285750" indent="-285750">
              <a:buFont typeface="Arial" panose="020B0604020202020204" pitchFamily="34" charset="0"/>
              <a:buChar char="•"/>
            </a:pPr>
            <a:r>
              <a:rPr lang="en-BE" dirty="0"/>
              <a:t>Built-in runners</a:t>
            </a:r>
          </a:p>
          <a:p>
            <a:pPr marL="285750" indent="-285750">
              <a:buFont typeface="Arial" panose="020B0604020202020204" pitchFamily="34" charset="0"/>
              <a:buChar char="•"/>
            </a:pPr>
            <a:r>
              <a:rPr lang="en-GB" dirty="0"/>
              <a:t>H</a:t>
            </a:r>
            <a:r>
              <a:rPr lang="en-BE" dirty="0"/>
              <a:t>osted runners</a:t>
            </a:r>
          </a:p>
        </p:txBody>
      </p:sp>
      <p:sp>
        <p:nvSpPr>
          <p:cNvPr id="11" name="TextBox 10">
            <a:extLst>
              <a:ext uri="{FF2B5EF4-FFF2-40B4-BE49-F238E27FC236}">
                <a16:creationId xmlns:a16="http://schemas.microsoft.com/office/drawing/2014/main" id="{5A9D42D3-1B4E-3D0F-658F-F94E9D94B2F2}"/>
              </a:ext>
            </a:extLst>
          </p:cNvPr>
          <p:cNvSpPr txBox="1"/>
          <p:nvPr/>
        </p:nvSpPr>
        <p:spPr>
          <a:xfrm>
            <a:off x="4379839" y="5176702"/>
            <a:ext cx="3425691" cy="1200329"/>
          </a:xfrm>
          <a:prstGeom prst="rect">
            <a:avLst/>
          </a:prstGeom>
          <a:noFill/>
        </p:spPr>
        <p:txBody>
          <a:bodyPr wrap="square" rtlCol="0">
            <a:spAutoFit/>
          </a:bodyPr>
          <a:lstStyle/>
          <a:p>
            <a:r>
              <a:rPr lang="en-BE" dirty="0"/>
              <a:t>Workflow contains Jobs</a:t>
            </a:r>
          </a:p>
          <a:p>
            <a:pPr marL="285750" indent="-285750">
              <a:buFont typeface="Arial" panose="020B0604020202020204" pitchFamily="34" charset="0"/>
              <a:buChar char="•"/>
            </a:pPr>
            <a:r>
              <a:rPr lang="en-BE" dirty="0"/>
              <a:t>Builds component</a:t>
            </a:r>
          </a:p>
          <a:p>
            <a:pPr marL="285750" indent="-285750">
              <a:buFont typeface="Arial" panose="020B0604020202020204" pitchFamily="34" charset="0"/>
              <a:buChar char="•"/>
            </a:pPr>
            <a:r>
              <a:rPr lang="en-BE" dirty="0"/>
              <a:t>Publishes to artifact repository</a:t>
            </a:r>
          </a:p>
          <a:p>
            <a:pPr marL="285750" indent="-285750">
              <a:buFont typeface="Arial" panose="020B0604020202020204" pitchFamily="34" charset="0"/>
              <a:buChar char="•"/>
            </a:pPr>
            <a:r>
              <a:rPr lang="en-BE" dirty="0"/>
              <a:t>Deploys it to an environment</a:t>
            </a:r>
          </a:p>
        </p:txBody>
      </p:sp>
      <p:sp>
        <p:nvSpPr>
          <p:cNvPr id="12" name="TextBox 11">
            <a:extLst>
              <a:ext uri="{FF2B5EF4-FFF2-40B4-BE49-F238E27FC236}">
                <a16:creationId xmlns:a16="http://schemas.microsoft.com/office/drawing/2014/main" id="{4EB21426-DED5-410A-5EAC-9B9B130F2D1E}"/>
              </a:ext>
            </a:extLst>
          </p:cNvPr>
          <p:cNvSpPr txBox="1"/>
          <p:nvPr/>
        </p:nvSpPr>
        <p:spPr>
          <a:xfrm>
            <a:off x="7566992" y="5229420"/>
            <a:ext cx="2252871" cy="923330"/>
          </a:xfrm>
          <a:prstGeom prst="rect">
            <a:avLst/>
          </a:prstGeom>
          <a:noFill/>
        </p:spPr>
        <p:txBody>
          <a:bodyPr wrap="square" rtlCol="0">
            <a:spAutoFit/>
          </a:bodyPr>
          <a:lstStyle/>
          <a:p>
            <a:r>
              <a:rPr lang="en-BE" dirty="0"/>
              <a:t>Jobs Contain steps</a:t>
            </a:r>
          </a:p>
          <a:p>
            <a:pPr marL="285750" indent="-285750">
              <a:buFont typeface="Arial" panose="020B0604020202020204" pitchFamily="34" charset="0"/>
              <a:buChar char="•"/>
            </a:pPr>
            <a:r>
              <a:rPr lang="en-GB" dirty="0"/>
              <a:t>R</a:t>
            </a:r>
            <a:r>
              <a:rPr lang="en-BE" dirty="0"/>
              <a:t>un linter</a:t>
            </a:r>
          </a:p>
          <a:p>
            <a:pPr marL="285750" indent="-285750">
              <a:buFont typeface="Arial" panose="020B0604020202020204" pitchFamily="34" charset="0"/>
              <a:buChar char="•"/>
            </a:pPr>
            <a:r>
              <a:rPr lang="en-GB" dirty="0"/>
              <a:t>R</a:t>
            </a:r>
            <a:r>
              <a:rPr lang="en-BE" dirty="0"/>
              <a:t>un test suite</a:t>
            </a:r>
          </a:p>
        </p:txBody>
      </p:sp>
      <p:sp>
        <p:nvSpPr>
          <p:cNvPr id="14" name="TextBox 13">
            <a:extLst>
              <a:ext uri="{FF2B5EF4-FFF2-40B4-BE49-F238E27FC236}">
                <a16:creationId xmlns:a16="http://schemas.microsoft.com/office/drawing/2014/main" id="{3937F83D-9D21-339A-EF63-85E1D5A97ED9}"/>
              </a:ext>
            </a:extLst>
          </p:cNvPr>
          <p:cNvSpPr txBox="1"/>
          <p:nvPr/>
        </p:nvSpPr>
        <p:spPr>
          <a:xfrm>
            <a:off x="9647584" y="5175620"/>
            <a:ext cx="2617306" cy="1477328"/>
          </a:xfrm>
          <a:prstGeom prst="rect">
            <a:avLst/>
          </a:prstGeom>
          <a:noFill/>
        </p:spPr>
        <p:txBody>
          <a:bodyPr wrap="square" rtlCol="0">
            <a:spAutoFit/>
          </a:bodyPr>
          <a:lstStyle/>
          <a:p>
            <a:r>
              <a:rPr lang="en-BE" dirty="0"/>
              <a:t>Steps contain Actions of shell commands</a:t>
            </a:r>
          </a:p>
          <a:p>
            <a:pPr marL="285750" indent="-285750">
              <a:buFont typeface="Arial" panose="020B0604020202020204" pitchFamily="34" charset="0"/>
              <a:buChar char="•"/>
            </a:pPr>
            <a:r>
              <a:rPr lang="en-GB" dirty="0"/>
              <a:t>C</a:t>
            </a:r>
            <a:r>
              <a:rPr lang="en-BE" dirty="0"/>
              <a:t>heckout code</a:t>
            </a:r>
          </a:p>
          <a:p>
            <a:pPr marL="285750" indent="-285750">
              <a:buFont typeface="Arial" panose="020B0604020202020204" pitchFamily="34" charset="0"/>
              <a:buChar char="•"/>
            </a:pPr>
            <a:r>
              <a:rPr lang="en-GB" dirty="0"/>
              <a:t>Compile code</a:t>
            </a:r>
          </a:p>
          <a:p>
            <a:pPr marL="285750" indent="-285750">
              <a:buFont typeface="Arial" panose="020B0604020202020204" pitchFamily="34" charset="0"/>
              <a:buChar char="•"/>
            </a:pPr>
            <a:r>
              <a:rPr lang="en-GB" dirty="0"/>
              <a:t>R</a:t>
            </a:r>
            <a:r>
              <a:rPr lang="en-BE" dirty="0"/>
              <a:t>un tests</a:t>
            </a:r>
          </a:p>
        </p:txBody>
      </p:sp>
      <p:grpSp>
        <p:nvGrpSpPr>
          <p:cNvPr id="19" name="Group 18">
            <a:extLst>
              <a:ext uri="{FF2B5EF4-FFF2-40B4-BE49-F238E27FC236}">
                <a16:creationId xmlns:a16="http://schemas.microsoft.com/office/drawing/2014/main" id="{502488E4-7E10-7E30-52AE-09ADF56A6296}"/>
              </a:ext>
            </a:extLst>
          </p:cNvPr>
          <p:cNvGrpSpPr/>
          <p:nvPr/>
        </p:nvGrpSpPr>
        <p:grpSpPr>
          <a:xfrm>
            <a:off x="2001078" y="4087680"/>
            <a:ext cx="2166729" cy="821635"/>
            <a:chOff x="1984512" y="4004531"/>
            <a:chExt cx="2166729" cy="821635"/>
          </a:xfrm>
        </p:grpSpPr>
        <p:sp>
          <p:nvSpPr>
            <p:cNvPr id="5" name="Rounded Rectangle 4">
              <a:extLst>
                <a:ext uri="{FF2B5EF4-FFF2-40B4-BE49-F238E27FC236}">
                  <a16:creationId xmlns:a16="http://schemas.microsoft.com/office/drawing/2014/main" id="{C75A97E8-0821-356D-B938-455788901B4B}"/>
                </a:ext>
              </a:extLst>
            </p:cNvPr>
            <p:cNvSpPr/>
            <p:nvPr/>
          </p:nvSpPr>
          <p:spPr>
            <a:xfrm>
              <a:off x="2600737" y="4004531"/>
              <a:ext cx="1550504" cy="8216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Runner</a:t>
              </a:r>
            </a:p>
          </p:txBody>
        </p:sp>
        <p:sp>
          <p:nvSpPr>
            <p:cNvPr id="15" name="Right Arrow 14">
              <a:extLst>
                <a:ext uri="{FF2B5EF4-FFF2-40B4-BE49-F238E27FC236}">
                  <a16:creationId xmlns:a16="http://schemas.microsoft.com/office/drawing/2014/main" id="{A54A3D59-9B0F-1FAA-DBDB-34EBAFE702BE}"/>
                </a:ext>
              </a:extLst>
            </p:cNvPr>
            <p:cNvSpPr/>
            <p:nvPr/>
          </p:nvSpPr>
          <p:spPr>
            <a:xfrm>
              <a:off x="1984512" y="4359963"/>
              <a:ext cx="616225" cy="1855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20" name="Group 19">
            <a:extLst>
              <a:ext uri="{FF2B5EF4-FFF2-40B4-BE49-F238E27FC236}">
                <a16:creationId xmlns:a16="http://schemas.microsoft.com/office/drawing/2014/main" id="{47820BE5-979B-1724-FA22-B122FB4D7172}"/>
              </a:ext>
            </a:extLst>
          </p:cNvPr>
          <p:cNvGrpSpPr/>
          <p:nvPr/>
        </p:nvGrpSpPr>
        <p:grpSpPr>
          <a:xfrm>
            <a:off x="4167807" y="4093586"/>
            <a:ext cx="2690192" cy="821635"/>
            <a:chOff x="3854655" y="4042039"/>
            <a:chExt cx="2690192" cy="821635"/>
          </a:xfrm>
        </p:grpSpPr>
        <p:sp>
          <p:nvSpPr>
            <p:cNvPr id="7" name="Rounded Rectangle 6">
              <a:extLst>
                <a:ext uri="{FF2B5EF4-FFF2-40B4-BE49-F238E27FC236}">
                  <a16:creationId xmlns:a16="http://schemas.microsoft.com/office/drawing/2014/main" id="{EAD2FA89-8439-0E9A-A1E4-ACA43F1959C1}"/>
                </a:ext>
              </a:extLst>
            </p:cNvPr>
            <p:cNvSpPr/>
            <p:nvPr/>
          </p:nvSpPr>
          <p:spPr>
            <a:xfrm>
              <a:off x="4994343" y="4042039"/>
              <a:ext cx="1550504" cy="8216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Jobs</a:t>
              </a:r>
            </a:p>
          </p:txBody>
        </p:sp>
        <p:sp>
          <p:nvSpPr>
            <p:cNvPr id="16" name="Right Arrow 15">
              <a:extLst>
                <a:ext uri="{FF2B5EF4-FFF2-40B4-BE49-F238E27FC236}">
                  <a16:creationId xmlns:a16="http://schemas.microsoft.com/office/drawing/2014/main" id="{8597F075-51D2-A15E-6041-A09842A300BD}"/>
                </a:ext>
              </a:extLst>
            </p:cNvPr>
            <p:cNvSpPr/>
            <p:nvPr/>
          </p:nvSpPr>
          <p:spPr>
            <a:xfrm>
              <a:off x="3854655" y="4362341"/>
              <a:ext cx="1139688" cy="2147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21" name="Group 20">
            <a:extLst>
              <a:ext uri="{FF2B5EF4-FFF2-40B4-BE49-F238E27FC236}">
                <a16:creationId xmlns:a16="http://schemas.microsoft.com/office/drawing/2014/main" id="{5A2FDE8E-0C6D-66C9-73E2-F05A8B5C3A48}"/>
              </a:ext>
            </a:extLst>
          </p:cNvPr>
          <p:cNvGrpSpPr/>
          <p:nvPr/>
        </p:nvGrpSpPr>
        <p:grpSpPr>
          <a:xfrm>
            <a:off x="6874565" y="3988902"/>
            <a:ext cx="2312501" cy="821635"/>
            <a:chOff x="6874565" y="3988902"/>
            <a:chExt cx="2312501" cy="821635"/>
          </a:xfrm>
        </p:grpSpPr>
        <p:sp>
          <p:nvSpPr>
            <p:cNvPr id="13" name="Rounded Rectangle 12">
              <a:extLst>
                <a:ext uri="{FF2B5EF4-FFF2-40B4-BE49-F238E27FC236}">
                  <a16:creationId xmlns:a16="http://schemas.microsoft.com/office/drawing/2014/main" id="{E24408C6-8C39-7A6B-E777-3730E4240B25}"/>
                </a:ext>
              </a:extLst>
            </p:cNvPr>
            <p:cNvSpPr/>
            <p:nvPr/>
          </p:nvSpPr>
          <p:spPr>
            <a:xfrm>
              <a:off x="7636562" y="3988902"/>
              <a:ext cx="1550504" cy="8216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Steps</a:t>
              </a:r>
            </a:p>
          </p:txBody>
        </p:sp>
        <p:sp>
          <p:nvSpPr>
            <p:cNvPr id="17" name="Right Arrow 16">
              <a:extLst>
                <a:ext uri="{FF2B5EF4-FFF2-40B4-BE49-F238E27FC236}">
                  <a16:creationId xmlns:a16="http://schemas.microsoft.com/office/drawing/2014/main" id="{5BBCBED0-9228-E6BF-B861-B6036C848D2B}"/>
                </a:ext>
              </a:extLst>
            </p:cNvPr>
            <p:cNvSpPr/>
            <p:nvPr/>
          </p:nvSpPr>
          <p:spPr>
            <a:xfrm>
              <a:off x="6874565" y="4407927"/>
              <a:ext cx="761997" cy="1929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22" name="Group 21">
            <a:extLst>
              <a:ext uri="{FF2B5EF4-FFF2-40B4-BE49-F238E27FC236}">
                <a16:creationId xmlns:a16="http://schemas.microsoft.com/office/drawing/2014/main" id="{097C07AA-E9A9-73DA-C5B7-4FC6EBD95A54}"/>
              </a:ext>
            </a:extLst>
          </p:cNvPr>
          <p:cNvGrpSpPr/>
          <p:nvPr/>
        </p:nvGrpSpPr>
        <p:grpSpPr>
          <a:xfrm>
            <a:off x="9187066" y="4004531"/>
            <a:ext cx="2183301" cy="821635"/>
            <a:chOff x="9187066" y="4004531"/>
            <a:chExt cx="2183301" cy="821635"/>
          </a:xfrm>
        </p:grpSpPr>
        <p:sp>
          <p:nvSpPr>
            <p:cNvPr id="8" name="Rounded Rectangle 7">
              <a:extLst>
                <a:ext uri="{FF2B5EF4-FFF2-40B4-BE49-F238E27FC236}">
                  <a16:creationId xmlns:a16="http://schemas.microsoft.com/office/drawing/2014/main" id="{783D325D-7D34-3C67-02EE-6763155AC562}"/>
                </a:ext>
              </a:extLst>
            </p:cNvPr>
            <p:cNvSpPr/>
            <p:nvPr/>
          </p:nvSpPr>
          <p:spPr>
            <a:xfrm>
              <a:off x="9819863" y="4004531"/>
              <a:ext cx="1550504" cy="8216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Actions</a:t>
              </a:r>
            </a:p>
          </p:txBody>
        </p:sp>
        <p:sp>
          <p:nvSpPr>
            <p:cNvPr id="18" name="Right Arrow 17">
              <a:extLst>
                <a:ext uri="{FF2B5EF4-FFF2-40B4-BE49-F238E27FC236}">
                  <a16:creationId xmlns:a16="http://schemas.microsoft.com/office/drawing/2014/main" id="{2F166004-2E46-81F6-2397-EF6F692A4A8A}"/>
                </a:ext>
              </a:extLst>
            </p:cNvPr>
            <p:cNvSpPr/>
            <p:nvPr/>
          </p:nvSpPr>
          <p:spPr>
            <a:xfrm>
              <a:off x="9187066" y="4339690"/>
              <a:ext cx="632797" cy="1929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23" name="Slide Number Placeholder 22">
            <a:extLst>
              <a:ext uri="{FF2B5EF4-FFF2-40B4-BE49-F238E27FC236}">
                <a16:creationId xmlns:a16="http://schemas.microsoft.com/office/drawing/2014/main" id="{A57D9EC6-D75D-D318-D940-1A0802BF447E}"/>
              </a:ext>
            </a:extLst>
          </p:cNvPr>
          <p:cNvSpPr>
            <a:spLocks noGrp="1"/>
          </p:cNvSpPr>
          <p:nvPr>
            <p:ph type="sldNum" sz="quarter" idx="12"/>
          </p:nvPr>
        </p:nvSpPr>
        <p:spPr/>
        <p:txBody>
          <a:bodyPr/>
          <a:lstStyle/>
          <a:p>
            <a:fld id="{6F19EB20-827F-9F40-A633-3810B83D00D5}" type="slidenum">
              <a:rPr lang="en-BE" smtClean="0"/>
              <a:t>42</a:t>
            </a:fld>
            <a:endParaRPr lang="en-BE"/>
          </a:p>
        </p:txBody>
      </p:sp>
    </p:spTree>
    <p:extLst>
      <p:ext uri="{BB962C8B-B14F-4D97-AF65-F5344CB8AC3E}">
        <p14:creationId xmlns:p14="http://schemas.microsoft.com/office/powerpoint/2010/main" val="1037264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9"/>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10"/>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1"/>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12"/>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p:bldP spid="9" grpId="1"/>
      <p:bldP spid="10" grpId="0"/>
      <p:bldP spid="10" grpId="1"/>
      <p:bldP spid="11" grpId="0"/>
      <p:bldP spid="11" grpId="1"/>
      <p:bldP spid="12" grpId="0"/>
      <p:bldP spid="12" grpId="1"/>
      <p:bldP spid="14" grpId="0"/>
      <p:bldP spid="14" grpId="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79595-D3B3-DAE0-55E1-1E67001D8684}"/>
              </a:ext>
            </a:extLst>
          </p:cNvPr>
          <p:cNvSpPr>
            <a:spLocks noGrp="1"/>
          </p:cNvSpPr>
          <p:nvPr>
            <p:ph type="title"/>
          </p:nvPr>
        </p:nvSpPr>
        <p:spPr>
          <a:xfrm>
            <a:off x="838200" y="33822"/>
            <a:ext cx="10515600" cy="960092"/>
          </a:xfrm>
        </p:spPr>
        <p:txBody>
          <a:bodyPr/>
          <a:lstStyle/>
          <a:p>
            <a:r>
              <a:rPr lang="en-BE" dirty="0"/>
              <a:t>GitHub Actions -  setup basic concepts</a:t>
            </a:r>
          </a:p>
        </p:txBody>
      </p:sp>
      <p:sp>
        <p:nvSpPr>
          <p:cNvPr id="3" name="Content Placeholder 2">
            <a:extLst>
              <a:ext uri="{FF2B5EF4-FFF2-40B4-BE49-F238E27FC236}">
                <a16:creationId xmlns:a16="http://schemas.microsoft.com/office/drawing/2014/main" id="{BD9B4E7A-E728-D556-6713-84DB9947F8DF}"/>
              </a:ext>
            </a:extLst>
          </p:cNvPr>
          <p:cNvSpPr>
            <a:spLocks noGrp="1"/>
          </p:cNvSpPr>
          <p:nvPr>
            <p:ph idx="1"/>
          </p:nvPr>
        </p:nvSpPr>
        <p:spPr>
          <a:xfrm>
            <a:off x="838200" y="1253331"/>
            <a:ext cx="10515600" cy="2681771"/>
          </a:xfrm>
        </p:spPr>
        <p:txBody>
          <a:bodyPr>
            <a:normAutofit/>
          </a:bodyPr>
          <a:lstStyle/>
          <a:p>
            <a:r>
              <a:rPr lang="en-BE" dirty="0"/>
              <a:t>Workflow is the basic concept in GitHub Actions</a:t>
            </a:r>
          </a:p>
          <a:p>
            <a:r>
              <a:rPr lang="en-BE" dirty="0"/>
              <a:t>Workflows is a series of automated procedures represented as Jobs</a:t>
            </a:r>
          </a:p>
          <a:p>
            <a:pPr lvl="1"/>
            <a:r>
              <a:rPr lang="en-GB" dirty="0"/>
              <a:t>E</a:t>
            </a:r>
            <a:r>
              <a:rPr lang="en-BE" dirty="0"/>
              <a:t>.g., workflow for CI, workflow for CD, and another workflow for publishing</a:t>
            </a:r>
          </a:p>
          <a:p>
            <a:r>
              <a:rPr lang="en-BE" dirty="0"/>
              <a:t>Every repository can have any number of workflows</a:t>
            </a:r>
          </a:p>
          <a:p>
            <a:r>
              <a:rPr lang="en-BE" dirty="0"/>
              <a:t>Each workflow has the following components:</a:t>
            </a:r>
          </a:p>
        </p:txBody>
      </p:sp>
      <p:sp>
        <p:nvSpPr>
          <p:cNvPr id="4" name="Rounded Rectangle 3">
            <a:extLst>
              <a:ext uri="{FF2B5EF4-FFF2-40B4-BE49-F238E27FC236}">
                <a16:creationId xmlns:a16="http://schemas.microsoft.com/office/drawing/2014/main" id="{0EEB0B01-33A2-B29E-F5A0-A759F33A454D}"/>
              </a:ext>
            </a:extLst>
          </p:cNvPr>
          <p:cNvSpPr/>
          <p:nvPr/>
        </p:nvSpPr>
        <p:spPr>
          <a:xfrm>
            <a:off x="450574" y="4081668"/>
            <a:ext cx="1550504" cy="8216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Event</a:t>
            </a:r>
          </a:p>
        </p:txBody>
      </p:sp>
      <p:sp>
        <p:nvSpPr>
          <p:cNvPr id="9" name="TextBox 8">
            <a:extLst>
              <a:ext uri="{FF2B5EF4-FFF2-40B4-BE49-F238E27FC236}">
                <a16:creationId xmlns:a16="http://schemas.microsoft.com/office/drawing/2014/main" id="{830A39F5-DCBD-DABD-A790-2118BF9A953A}"/>
              </a:ext>
            </a:extLst>
          </p:cNvPr>
          <p:cNvSpPr txBox="1"/>
          <p:nvPr/>
        </p:nvSpPr>
        <p:spPr>
          <a:xfrm>
            <a:off x="119268" y="5185777"/>
            <a:ext cx="2252871" cy="1477328"/>
          </a:xfrm>
          <a:prstGeom prst="rect">
            <a:avLst/>
          </a:prstGeom>
          <a:noFill/>
        </p:spPr>
        <p:txBody>
          <a:bodyPr wrap="square" rtlCol="0">
            <a:spAutoFit/>
          </a:bodyPr>
          <a:lstStyle/>
          <a:p>
            <a:r>
              <a:rPr lang="en-BE" dirty="0"/>
              <a:t>Events</a:t>
            </a:r>
          </a:p>
          <a:p>
            <a:pPr marL="285750" indent="-285750">
              <a:buFont typeface="Arial" panose="020B0604020202020204" pitchFamily="34" charset="0"/>
              <a:buChar char="•"/>
            </a:pPr>
            <a:r>
              <a:rPr lang="en-BE" dirty="0"/>
              <a:t>Push</a:t>
            </a:r>
          </a:p>
          <a:p>
            <a:pPr marL="285750" indent="-285750">
              <a:buFont typeface="Arial" panose="020B0604020202020204" pitchFamily="34" charset="0"/>
              <a:buChar char="•"/>
            </a:pPr>
            <a:r>
              <a:rPr lang="en-BE" dirty="0"/>
              <a:t>Pull Request</a:t>
            </a:r>
          </a:p>
          <a:p>
            <a:pPr marL="285750" indent="-285750">
              <a:buFont typeface="Arial" panose="020B0604020202020204" pitchFamily="34" charset="0"/>
              <a:buChar char="•"/>
            </a:pPr>
            <a:r>
              <a:rPr lang="en-BE" dirty="0"/>
              <a:t>Release</a:t>
            </a:r>
          </a:p>
          <a:p>
            <a:pPr marL="285750" indent="-285750">
              <a:buFont typeface="Arial" panose="020B0604020202020204" pitchFamily="34" charset="0"/>
              <a:buChar char="•"/>
            </a:pPr>
            <a:r>
              <a:rPr lang="en-BE" dirty="0"/>
              <a:t>Issue</a:t>
            </a:r>
          </a:p>
        </p:txBody>
      </p:sp>
      <p:sp>
        <p:nvSpPr>
          <p:cNvPr id="10" name="TextBox 9">
            <a:extLst>
              <a:ext uri="{FF2B5EF4-FFF2-40B4-BE49-F238E27FC236}">
                <a16:creationId xmlns:a16="http://schemas.microsoft.com/office/drawing/2014/main" id="{29D51B6F-9C87-459B-617A-6281F4909CA6}"/>
              </a:ext>
            </a:extLst>
          </p:cNvPr>
          <p:cNvSpPr txBox="1"/>
          <p:nvPr/>
        </p:nvSpPr>
        <p:spPr>
          <a:xfrm>
            <a:off x="2017644" y="5229420"/>
            <a:ext cx="2484781" cy="1200329"/>
          </a:xfrm>
          <a:prstGeom prst="rect">
            <a:avLst/>
          </a:prstGeom>
          <a:noFill/>
        </p:spPr>
        <p:txBody>
          <a:bodyPr wrap="square" rtlCol="0">
            <a:spAutoFit/>
          </a:bodyPr>
          <a:lstStyle/>
          <a:p>
            <a:r>
              <a:rPr lang="en-BE" dirty="0"/>
              <a:t>Workflow contains a runner that execute jobs</a:t>
            </a:r>
          </a:p>
          <a:p>
            <a:pPr marL="285750" indent="-285750">
              <a:buFont typeface="Arial" panose="020B0604020202020204" pitchFamily="34" charset="0"/>
              <a:buChar char="•"/>
            </a:pPr>
            <a:r>
              <a:rPr lang="en-BE" dirty="0"/>
              <a:t>Built-in runners</a:t>
            </a:r>
          </a:p>
          <a:p>
            <a:pPr marL="285750" indent="-285750">
              <a:buFont typeface="Arial" panose="020B0604020202020204" pitchFamily="34" charset="0"/>
              <a:buChar char="•"/>
            </a:pPr>
            <a:r>
              <a:rPr lang="en-GB" dirty="0"/>
              <a:t>H</a:t>
            </a:r>
            <a:r>
              <a:rPr lang="en-BE" dirty="0"/>
              <a:t>osted runners</a:t>
            </a:r>
          </a:p>
        </p:txBody>
      </p:sp>
      <p:sp>
        <p:nvSpPr>
          <p:cNvPr id="11" name="TextBox 10">
            <a:extLst>
              <a:ext uri="{FF2B5EF4-FFF2-40B4-BE49-F238E27FC236}">
                <a16:creationId xmlns:a16="http://schemas.microsoft.com/office/drawing/2014/main" id="{5A9D42D3-1B4E-3D0F-658F-F94E9D94B2F2}"/>
              </a:ext>
            </a:extLst>
          </p:cNvPr>
          <p:cNvSpPr txBox="1"/>
          <p:nvPr/>
        </p:nvSpPr>
        <p:spPr>
          <a:xfrm>
            <a:off x="4379839" y="5176702"/>
            <a:ext cx="3425691" cy="1200329"/>
          </a:xfrm>
          <a:prstGeom prst="rect">
            <a:avLst/>
          </a:prstGeom>
          <a:noFill/>
        </p:spPr>
        <p:txBody>
          <a:bodyPr wrap="square" rtlCol="0">
            <a:spAutoFit/>
          </a:bodyPr>
          <a:lstStyle/>
          <a:p>
            <a:r>
              <a:rPr lang="en-BE" dirty="0"/>
              <a:t>Workflow contains Jobs</a:t>
            </a:r>
          </a:p>
          <a:p>
            <a:pPr marL="285750" indent="-285750">
              <a:buFont typeface="Arial" panose="020B0604020202020204" pitchFamily="34" charset="0"/>
              <a:buChar char="•"/>
            </a:pPr>
            <a:r>
              <a:rPr lang="en-BE" dirty="0"/>
              <a:t>Builds component</a:t>
            </a:r>
          </a:p>
          <a:p>
            <a:pPr marL="285750" indent="-285750">
              <a:buFont typeface="Arial" panose="020B0604020202020204" pitchFamily="34" charset="0"/>
              <a:buChar char="•"/>
            </a:pPr>
            <a:r>
              <a:rPr lang="en-BE" dirty="0"/>
              <a:t>Publishes to artifact repository</a:t>
            </a:r>
          </a:p>
          <a:p>
            <a:pPr marL="285750" indent="-285750">
              <a:buFont typeface="Arial" panose="020B0604020202020204" pitchFamily="34" charset="0"/>
              <a:buChar char="•"/>
            </a:pPr>
            <a:r>
              <a:rPr lang="en-BE" dirty="0"/>
              <a:t>Deploys it to an environment</a:t>
            </a:r>
          </a:p>
        </p:txBody>
      </p:sp>
      <p:sp>
        <p:nvSpPr>
          <p:cNvPr id="12" name="TextBox 11">
            <a:extLst>
              <a:ext uri="{FF2B5EF4-FFF2-40B4-BE49-F238E27FC236}">
                <a16:creationId xmlns:a16="http://schemas.microsoft.com/office/drawing/2014/main" id="{4EB21426-DED5-410A-5EAC-9B9B130F2D1E}"/>
              </a:ext>
            </a:extLst>
          </p:cNvPr>
          <p:cNvSpPr txBox="1"/>
          <p:nvPr/>
        </p:nvSpPr>
        <p:spPr>
          <a:xfrm>
            <a:off x="7566992" y="5229420"/>
            <a:ext cx="2252871" cy="923330"/>
          </a:xfrm>
          <a:prstGeom prst="rect">
            <a:avLst/>
          </a:prstGeom>
          <a:noFill/>
        </p:spPr>
        <p:txBody>
          <a:bodyPr wrap="square" rtlCol="0">
            <a:spAutoFit/>
          </a:bodyPr>
          <a:lstStyle/>
          <a:p>
            <a:r>
              <a:rPr lang="en-BE" dirty="0"/>
              <a:t>Jobs Contain steps</a:t>
            </a:r>
          </a:p>
          <a:p>
            <a:pPr marL="285750" indent="-285750">
              <a:buFont typeface="Arial" panose="020B0604020202020204" pitchFamily="34" charset="0"/>
              <a:buChar char="•"/>
            </a:pPr>
            <a:r>
              <a:rPr lang="en-GB" dirty="0"/>
              <a:t>R</a:t>
            </a:r>
            <a:r>
              <a:rPr lang="en-BE" dirty="0"/>
              <a:t>un linter</a:t>
            </a:r>
          </a:p>
          <a:p>
            <a:pPr marL="285750" indent="-285750">
              <a:buFont typeface="Arial" panose="020B0604020202020204" pitchFamily="34" charset="0"/>
              <a:buChar char="•"/>
            </a:pPr>
            <a:r>
              <a:rPr lang="en-GB" dirty="0"/>
              <a:t>R</a:t>
            </a:r>
            <a:r>
              <a:rPr lang="en-BE" dirty="0"/>
              <a:t>un test suite</a:t>
            </a:r>
          </a:p>
        </p:txBody>
      </p:sp>
      <p:sp>
        <p:nvSpPr>
          <p:cNvPr id="14" name="TextBox 13">
            <a:extLst>
              <a:ext uri="{FF2B5EF4-FFF2-40B4-BE49-F238E27FC236}">
                <a16:creationId xmlns:a16="http://schemas.microsoft.com/office/drawing/2014/main" id="{3937F83D-9D21-339A-EF63-85E1D5A97ED9}"/>
              </a:ext>
            </a:extLst>
          </p:cNvPr>
          <p:cNvSpPr txBox="1"/>
          <p:nvPr/>
        </p:nvSpPr>
        <p:spPr>
          <a:xfrm>
            <a:off x="9647584" y="5175620"/>
            <a:ext cx="2617306" cy="1477328"/>
          </a:xfrm>
          <a:prstGeom prst="rect">
            <a:avLst/>
          </a:prstGeom>
          <a:noFill/>
        </p:spPr>
        <p:txBody>
          <a:bodyPr wrap="square" rtlCol="0">
            <a:spAutoFit/>
          </a:bodyPr>
          <a:lstStyle/>
          <a:p>
            <a:r>
              <a:rPr lang="en-BE" dirty="0"/>
              <a:t>Steps contain Actions of shell commands</a:t>
            </a:r>
          </a:p>
          <a:p>
            <a:pPr marL="285750" indent="-285750">
              <a:buFont typeface="Arial" panose="020B0604020202020204" pitchFamily="34" charset="0"/>
              <a:buChar char="•"/>
            </a:pPr>
            <a:r>
              <a:rPr lang="en-GB" dirty="0"/>
              <a:t>C</a:t>
            </a:r>
            <a:r>
              <a:rPr lang="en-BE" dirty="0"/>
              <a:t>heckout code</a:t>
            </a:r>
          </a:p>
          <a:p>
            <a:pPr marL="285750" indent="-285750">
              <a:buFont typeface="Arial" panose="020B0604020202020204" pitchFamily="34" charset="0"/>
              <a:buChar char="•"/>
            </a:pPr>
            <a:r>
              <a:rPr lang="en-GB" dirty="0"/>
              <a:t>Compile code</a:t>
            </a:r>
          </a:p>
          <a:p>
            <a:pPr marL="285750" indent="-285750">
              <a:buFont typeface="Arial" panose="020B0604020202020204" pitchFamily="34" charset="0"/>
              <a:buChar char="•"/>
            </a:pPr>
            <a:r>
              <a:rPr lang="en-GB" dirty="0"/>
              <a:t>R</a:t>
            </a:r>
            <a:r>
              <a:rPr lang="en-BE" dirty="0"/>
              <a:t>un tests</a:t>
            </a:r>
          </a:p>
        </p:txBody>
      </p:sp>
      <p:grpSp>
        <p:nvGrpSpPr>
          <p:cNvPr id="19" name="Group 18">
            <a:extLst>
              <a:ext uri="{FF2B5EF4-FFF2-40B4-BE49-F238E27FC236}">
                <a16:creationId xmlns:a16="http://schemas.microsoft.com/office/drawing/2014/main" id="{502488E4-7E10-7E30-52AE-09ADF56A6296}"/>
              </a:ext>
            </a:extLst>
          </p:cNvPr>
          <p:cNvGrpSpPr/>
          <p:nvPr/>
        </p:nvGrpSpPr>
        <p:grpSpPr>
          <a:xfrm>
            <a:off x="2001078" y="4087680"/>
            <a:ext cx="2166729" cy="821635"/>
            <a:chOff x="1984512" y="4004531"/>
            <a:chExt cx="2166729" cy="821635"/>
          </a:xfrm>
        </p:grpSpPr>
        <p:sp>
          <p:nvSpPr>
            <p:cNvPr id="5" name="Rounded Rectangle 4">
              <a:extLst>
                <a:ext uri="{FF2B5EF4-FFF2-40B4-BE49-F238E27FC236}">
                  <a16:creationId xmlns:a16="http://schemas.microsoft.com/office/drawing/2014/main" id="{C75A97E8-0821-356D-B938-455788901B4B}"/>
                </a:ext>
              </a:extLst>
            </p:cNvPr>
            <p:cNvSpPr/>
            <p:nvPr/>
          </p:nvSpPr>
          <p:spPr>
            <a:xfrm>
              <a:off x="2600737" y="4004531"/>
              <a:ext cx="1550504" cy="8216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Runner</a:t>
              </a:r>
            </a:p>
          </p:txBody>
        </p:sp>
        <p:sp>
          <p:nvSpPr>
            <p:cNvPr id="15" name="Right Arrow 14">
              <a:extLst>
                <a:ext uri="{FF2B5EF4-FFF2-40B4-BE49-F238E27FC236}">
                  <a16:creationId xmlns:a16="http://schemas.microsoft.com/office/drawing/2014/main" id="{A54A3D59-9B0F-1FAA-DBDB-34EBAFE702BE}"/>
                </a:ext>
              </a:extLst>
            </p:cNvPr>
            <p:cNvSpPr/>
            <p:nvPr/>
          </p:nvSpPr>
          <p:spPr>
            <a:xfrm>
              <a:off x="1984512" y="4359963"/>
              <a:ext cx="616225" cy="1855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20" name="Group 19">
            <a:extLst>
              <a:ext uri="{FF2B5EF4-FFF2-40B4-BE49-F238E27FC236}">
                <a16:creationId xmlns:a16="http://schemas.microsoft.com/office/drawing/2014/main" id="{47820BE5-979B-1724-FA22-B122FB4D7172}"/>
              </a:ext>
            </a:extLst>
          </p:cNvPr>
          <p:cNvGrpSpPr/>
          <p:nvPr/>
        </p:nvGrpSpPr>
        <p:grpSpPr>
          <a:xfrm>
            <a:off x="4167807" y="4093586"/>
            <a:ext cx="2690192" cy="821635"/>
            <a:chOff x="3854655" y="4042039"/>
            <a:chExt cx="2690192" cy="821635"/>
          </a:xfrm>
        </p:grpSpPr>
        <p:sp>
          <p:nvSpPr>
            <p:cNvPr id="7" name="Rounded Rectangle 6">
              <a:extLst>
                <a:ext uri="{FF2B5EF4-FFF2-40B4-BE49-F238E27FC236}">
                  <a16:creationId xmlns:a16="http://schemas.microsoft.com/office/drawing/2014/main" id="{EAD2FA89-8439-0E9A-A1E4-ACA43F1959C1}"/>
                </a:ext>
              </a:extLst>
            </p:cNvPr>
            <p:cNvSpPr/>
            <p:nvPr/>
          </p:nvSpPr>
          <p:spPr>
            <a:xfrm>
              <a:off x="4994343" y="4042039"/>
              <a:ext cx="1550504" cy="8216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Jobs</a:t>
              </a:r>
            </a:p>
          </p:txBody>
        </p:sp>
        <p:sp>
          <p:nvSpPr>
            <p:cNvPr id="16" name="Right Arrow 15">
              <a:extLst>
                <a:ext uri="{FF2B5EF4-FFF2-40B4-BE49-F238E27FC236}">
                  <a16:creationId xmlns:a16="http://schemas.microsoft.com/office/drawing/2014/main" id="{8597F075-51D2-A15E-6041-A09842A300BD}"/>
                </a:ext>
              </a:extLst>
            </p:cNvPr>
            <p:cNvSpPr/>
            <p:nvPr/>
          </p:nvSpPr>
          <p:spPr>
            <a:xfrm>
              <a:off x="3854655" y="4362341"/>
              <a:ext cx="1139688" cy="2147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21" name="Group 20">
            <a:extLst>
              <a:ext uri="{FF2B5EF4-FFF2-40B4-BE49-F238E27FC236}">
                <a16:creationId xmlns:a16="http://schemas.microsoft.com/office/drawing/2014/main" id="{5A2FDE8E-0C6D-66C9-73E2-F05A8B5C3A48}"/>
              </a:ext>
            </a:extLst>
          </p:cNvPr>
          <p:cNvGrpSpPr/>
          <p:nvPr/>
        </p:nvGrpSpPr>
        <p:grpSpPr>
          <a:xfrm>
            <a:off x="6874565" y="3988902"/>
            <a:ext cx="2312501" cy="821635"/>
            <a:chOff x="6874565" y="3988902"/>
            <a:chExt cx="2312501" cy="821635"/>
          </a:xfrm>
        </p:grpSpPr>
        <p:sp>
          <p:nvSpPr>
            <p:cNvPr id="13" name="Rounded Rectangle 12">
              <a:extLst>
                <a:ext uri="{FF2B5EF4-FFF2-40B4-BE49-F238E27FC236}">
                  <a16:creationId xmlns:a16="http://schemas.microsoft.com/office/drawing/2014/main" id="{E24408C6-8C39-7A6B-E777-3730E4240B25}"/>
                </a:ext>
              </a:extLst>
            </p:cNvPr>
            <p:cNvSpPr/>
            <p:nvPr/>
          </p:nvSpPr>
          <p:spPr>
            <a:xfrm>
              <a:off x="7636562" y="3988902"/>
              <a:ext cx="1550504" cy="8216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Steps</a:t>
              </a:r>
            </a:p>
          </p:txBody>
        </p:sp>
        <p:sp>
          <p:nvSpPr>
            <p:cNvPr id="17" name="Right Arrow 16">
              <a:extLst>
                <a:ext uri="{FF2B5EF4-FFF2-40B4-BE49-F238E27FC236}">
                  <a16:creationId xmlns:a16="http://schemas.microsoft.com/office/drawing/2014/main" id="{5BBCBED0-9228-E6BF-B861-B6036C848D2B}"/>
                </a:ext>
              </a:extLst>
            </p:cNvPr>
            <p:cNvSpPr/>
            <p:nvPr/>
          </p:nvSpPr>
          <p:spPr>
            <a:xfrm>
              <a:off x="6874565" y="4407927"/>
              <a:ext cx="761997" cy="1929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22" name="Group 21">
            <a:extLst>
              <a:ext uri="{FF2B5EF4-FFF2-40B4-BE49-F238E27FC236}">
                <a16:creationId xmlns:a16="http://schemas.microsoft.com/office/drawing/2014/main" id="{097C07AA-E9A9-73DA-C5B7-4FC6EBD95A54}"/>
              </a:ext>
            </a:extLst>
          </p:cNvPr>
          <p:cNvGrpSpPr/>
          <p:nvPr/>
        </p:nvGrpSpPr>
        <p:grpSpPr>
          <a:xfrm>
            <a:off x="9187066" y="4004531"/>
            <a:ext cx="2183301" cy="821635"/>
            <a:chOff x="9187066" y="4004531"/>
            <a:chExt cx="2183301" cy="821635"/>
          </a:xfrm>
        </p:grpSpPr>
        <p:sp>
          <p:nvSpPr>
            <p:cNvPr id="8" name="Rounded Rectangle 7">
              <a:extLst>
                <a:ext uri="{FF2B5EF4-FFF2-40B4-BE49-F238E27FC236}">
                  <a16:creationId xmlns:a16="http://schemas.microsoft.com/office/drawing/2014/main" id="{783D325D-7D34-3C67-02EE-6763155AC562}"/>
                </a:ext>
              </a:extLst>
            </p:cNvPr>
            <p:cNvSpPr/>
            <p:nvPr/>
          </p:nvSpPr>
          <p:spPr>
            <a:xfrm>
              <a:off x="9819863" y="4004531"/>
              <a:ext cx="1550504" cy="8216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t>Actions</a:t>
              </a:r>
            </a:p>
          </p:txBody>
        </p:sp>
        <p:sp>
          <p:nvSpPr>
            <p:cNvPr id="18" name="Right Arrow 17">
              <a:extLst>
                <a:ext uri="{FF2B5EF4-FFF2-40B4-BE49-F238E27FC236}">
                  <a16:creationId xmlns:a16="http://schemas.microsoft.com/office/drawing/2014/main" id="{2F166004-2E46-81F6-2397-EF6F692A4A8A}"/>
                </a:ext>
              </a:extLst>
            </p:cNvPr>
            <p:cNvSpPr/>
            <p:nvPr/>
          </p:nvSpPr>
          <p:spPr>
            <a:xfrm>
              <a:off x="9187066" y="4339690"/>
              <a:ext cx="632797" cy="1929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23" name="Slide Number Placeholder 22">
            <a:extLst>
              <a:ext uri="{FF2B5EF4-FFF2-40B4-BE49-F238E27FC236}">
                <a16:creationId xmlns:a16="http://schemas.microsoft.com/office/drawing/2014/main" id="{A57D9EC6-D75D-D318-D940-1A0802BF447E}"/>
              </a:ext>
            </a:extLst>
          </p:cNvPr>
          <p:cNvSpPr>
            <a:spLocks noGrp="1"/>
          </p:cNvSpPr>
          <p:nvPr>
            <p:ph type="sldNum" sz="quarter" idx="12"/>
          </p:nvPr>
        </p:nvSpPr>
        <p:spPr/>
        <p:txBody>
          <a:bodyPr/>
          <a:lstStyle/>
          <a:p>
            <a:fld id="{6F19EB20-827F-9F40-A633-3810B83D00D5}" type="slidenum">
              <a:rPr lang="en-BE" smtClean="0"/>
              <a:t>43</a:t>
            </a:fld>
            <a:endParaRPr lang="en-BE"/>
          </a:p>
        </p:txBody>
      </p:sp>
    </p:spTree>
    <p:extLst>
      <p:ext uri="{BB962C8B-B14F-4D97-AF65-F5344CB8AC3E}">
        <p14:creationId xmlns:p14="http://schemas.microsoft.com/office/powerpoint/2010/main" val="1142381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9"/>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10"/>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1"/>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12"/>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p:bldP spid="9" grpId="1"/>
      <p:bldP spid="10" grpId="0"/>
      <p:bldP spid="10" grpId="1"/>
      <p:bldP spid="11" grpId="0"/>
      <p:bldP spid="11" grpId="1"/>
      <p:bldP spid="12" grpId="0"/>
      <p:bldP spid="12" grpId="1"/>
      <p:bldP spid="14" grpId="0"/>
      <p:bldP spid="14" grpId="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8B01A-4141-3459-A171-CE16A8B6E867}"/>
              </a:ext>
            </a:extLst>
          </p:cNvPr>
          <p:cNvSpPr>
            <a:spLocks noGrp="1"/>
          </p:cNvSpPr>
          <p:nvPr>
            <p:ph type="title"/>
          </p:nvPr>
        </p:nvSpPr>
        <p:spPr/>
        <p:txBody>
          <a:bodyPr/>
          <a:lstStyle/>
          <a:p>
            <a:r>
              <a:rPr lang="en-BE" dirty="0"/>
              <a:t>Project</a:t>
            </a:r>
          </a:p>
        </p:txBody>
      </p:sp>
      <p:sp>
        <p:nvSpPr>
          <p:cNvPr id="3" name="Content Placeholder 2">
            <a:extLst>
              <a:ext uri="{FF2B5EF4-FFF2-40B4-BE49-F238E27FC236}">
                <a16:creationId xmlns:a16="http://schemas.microsoft.com/office/drawing/2014/main" id="{5E311119-3463-3D3D-E41D-4D56F78E53D8}"/>
              </a:ext>
            </a:extLst>
          </p:cNvPr>
          <p:cNvSpPr>
            <a:spLocks noGrp="1"/>
          </p:cNvSpPr>
          <p:nvPr>
            <p:ph idx="1"/>
          </p:nvPr>
        </p:nvSpPr>
        <p:spPr/>
        <p:txBody>
          <a:bodyPr/>
          <a:lstStyle/>
          <a:p>
            <a:pPr marL="457200" lvl="1" indent="0">
              <a:buNone/>
            </a:pPr>
            <a:r>
              <a:rPr lang="en-BE" dirty="0"/>
              <a:t>One previous projects: </a:t>
            </a:r>
            <a:r>
              <a:rPr lang="en-GB" b="1" i="0" dirty="0">
                <a:solidFill>
                  <a:srgbClr val="1F2328"/>
                </a:solidFill>
                <a:effectLst/>
                <a:latin typeface="-apple-system"/>
                <a:hlinkClick r:id="rId2"/>
              </a:rPr>
              <a:t>Course Evaluation App</a:t>
            </a:r>
            <a:endParaRPr lang="en-BE" dirty="0"/>
          </a:p>
          <a:p>
            <a:pPr lvl="1"/>
            <a:endParaRPr lang="en-BE" dirty="0"/>
          </a:p>
        </p:txBody>
      </p:sp>
      <p:sp>
        <p:nvSpPr>
          <p:cNvPr id="6" name="Slide Number Placeholder 5">
            <a:extLst>
              <a:ext uri="{FF2B5EF4-FFF2-40B4-BE49-F238E27FC236}">
                <a16:creationId xmlns:a16="http://schemas.microsoft.com/office/drawing/2014/main" id="{50AE2B98-DD54-D934-0A2B-B182A54003D6}"/>
              </a:ext>
            </a:extLst>
          </p:cNvPr>
          <p:cNvSpPr>
            <a:spLocks noGrp="1"/>
          </p:cNvSpPr>
          <p:nvPr>
            <p:ph type="sldNum" sz="quarter" idx="12"/>
          </p:nvPr>
        </p:nvSpPr>
        <p:spPr/>
        <p:txBody>
          <a:bodyPr/>
          <a:lstStyle/>
          <a:p>
            <a:fld id="{6F19EB20-827F-9F40-A633-3810B83D00D5}" type="slidenum">
              <a:rPr lang="en-BE" smtClean="0"/>
              <a:t>44</a:t>
            </a:fld>
            <a:endParaRPr lang="en-BE"/>
          </a:p>
        </p:txBody>
      </p:sp>
      <p:pic>
        <p:nvPicPr>
          <p:cNvPr id="7" name="Picture 6">
            <a:extLst>
              <a:ext uri="{FF2B5EF4-FFF2-40B4-BE49-F238E27FC236}">
                <a16:creationId xmlns:a16="http://schemas.microsoft.com/office/drawing/2014/main" id="{8F7EDCFE-BCDB-81C1-24B9-BFD3FF5DF9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1673" y="4392023"/>
            <a:ext cx="7772400" cy="1784940"/>
          </a:xfrm>
          <a:prstGeom prst="rect">
            <a:avLst/>
          </a:prstGeom>
        </p:spPr>
      </p:pic>
      <p:pic>
        <p:nvPicPr>
          <p:cNvPr id="9" name="Picture 8">
            <a:extLst>
              <a:ext uri="{FF2B5EF4-FFF2-40B4-BE49-F238E27FC236}">
                <a16:creationId xmlns:a16="http://schemas.microsoft.com/office/drawing/2014/main" id="{CD82A069-754D-69CD-E6C9-85E0926C46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7355" y="3124200"/>
            <a:ext cx="6477000" cy="609600"/>
          </a:xfrm>
          <a:prstGeom prst="rect">
            <a:avLst/>
          </a:prstGeom>
        </p:spPr>
      </p:pic>
    </p:spTree>
    <p:extLst>
      <p:ext uri="{BB962C8B-B14F-4D97-AF65-F5344CB8AC3E}">
        <p14:creationId xmlns:p14="http://schemas.microsoft.com/office/powerpoint/2010/main" val="2320522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540</TotalTime>
  <Words>6197</Words>
  <Application>Microsoft Macintosh PowerPoint</Application>
  <DocSecurity>0</DocSecurity>
  <PresentationFormat>Widescreen</PresentationFormat>
  <Paragraphs>753</Paragraphs>
  <Slides>44</Slides>
  <Notes>37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44</vt:i4>
      </vt:variant>
    </vt:vector>
  </HeadingPairs>
  <TitlesOfParts>
    <vt:vector size="54" baseType="lpstr">
      <vt:lpstr>-apple-system</vt:lpstr>
      <vt:lpstr>Arial</vt:lpstr>
      <vt:lpstr>Calibri</vt:lpstr>
      <vt:lpstr>Calibri Light</vt:lpstr>
      <vt:lpstr>Cambria Math</vt:lpstr>
      <vt:lpstr>Helvetica</vt:lpstr>
      <vt:lpstr>OpenSans</vt:lpstr>
      <vt:lpstr>Roboto</vt:lpstr>
      <vt:lpstr>Source Sans Pro</vt:lpstr>
      <vt:lpstr>Office Theme</vt:lpstr>
      <vt:lpstr>Software Testing &amp; Continuous Integration</vt:lpstr>
      <vt:lpstr>Announcements</vt:lpstr>
      <vt:lpstr>Testing</vt:lpstr>
      <vt:lpstr>The Need for Testing</vt:lpstr>
      <vt:lpstr>Learning Objectives</vt:lpstr>
      <vt:lpstr>Unit Testing</vt:lpstr>
      <vt:lpstr>The Test Pyramid</vt:lpstr>
      <vt:lpstr>PowerPoint Presentation</vt:lpstr>
      <vt:lpstr>Anatomy of a Test Case - Stack</vt:lpstr>
      <vt:lpstr>Test Case for push() and pop() function</vt:lpstr>
      <vt:lpstr>PowerPoint Presentation</vt:lpstr>
      <vt:lpstr>PowerPoint Presentation</vt:lpstr>
      <vt:lpstr>PowerPoint Presentation</vt:lpstr>
      <vt:lpstr>PowerPoint Presentation</vt:lpstr>
      <vt:lpstr>PowerPoint Presentation</vt:lpstr>
      <vt:lpstr>PowerPoint Presentation</vt:lpstr>
      <vt:lpstr>Quality of a Test Suite</vt:lpstr>
      <vt:lpstr>Test Coverage</vt:lpstr>
      <vt:lpstr>Importance of test coverage</vt:lpstr>
      <vt:lpstr>Full test coverage</vt:lpstr>
      <vt:lpstr>PowerPoint Presentation</vt:lpstr>
      <vt:lpstr>PowerPoint Presentation</vt:lpstr>
      <vt:lpstr>PowerPoint Presentation</vt:lpstr>
      <vt:lpstr>PowerPoint Presentation</vt:lpstr>
      <vt:lpstr>PowerPoint Presentation</vt:lpstr>
      <vt:lpstr>Test drive the development</vt:lpstr>
      <vt:lpstr>Basic TDD workflow</vt:lpstr>
      <vt:lpstr>What is CI/CD</vt:lpstr>
      <vt:lpstr>CI/CD pipeline</vt:lpstr>
      <vt:lpstr>PowerPoint Presentation</vt:lpstr>
      <vt:lpstr>Short-lived branches</vt:lpstr>
      <vt:lpstr>Frequent pull requests</vt:lpstr>
      <vt:lpstr>Benefits of CI</vt:lpstr>
      <vt:lpstr>PowerPoint Presentation</vt:lpstr>
      <vt:lpstr>PowerPoint Presentation</vt:lpstr>
      <vt:lpstr>Continuous Integration is not about speed — it’s about controlling risk.</vt:lpstr>
      <vt:lpstr>How CI becomes real on GitHub</vt:lpstr>
      <vt:lpstr>GitHub Actions – Marketplace</vt:lpstr>
      <vt:lpstr>GitHub Actions</vt:lpstr>
      <vt:lpstr>GitHub Actions -  setup</vt:lpstr>
      <vt:lpstr>GitHub Actions setup</vt:lpstr>
      <vt:lpstr>GitHub Actions -  setup basic concepts</vt:lpstr>
      <vt:lpstr>GitHub Actions -  setup basic concepts</vt:lpstr>
      <vt:lpstr>Project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John Businge</cp:lastModifiedBy>
  <cp:revision>5</cp:revision>
  <dcterms:created xsi:type="dcterms:W3CDTF">2026-08-17T16:51:13Z</dcterms:created>
  <dcterms:modified xsi:type="dcterms:W3CDTF">2026-09-02T21:48:35Z</dcterms:modified>
</cp:coreProperties>
</file>